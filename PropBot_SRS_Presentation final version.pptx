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7253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slide" Target="slide3.xml"/><Relationship Id="rId7"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slide" Target="slide13.xml"/><Relationship Id="rId5" Type="http://schemas.openxmlformats.org/officeDocument/2006/relationships/slide" Target="slide9.xml"/><Relationship Id="rId10" Type="http://schemas.openxmlformats.org/officeDocument/2006/relationships/slide" Target="slide44.xml"/><Relationship Id="rId4" Type="http://schemas.openxmlformats.org/officeDocument/2006/relationships/slide" Target="slide6.xml"/><Relationship Id="rId9" Type="http://schemas.openxmlformats.org/officeDocument/2006/relationships/slide" Target="slide28.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slide" Target="slide6.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slide" Target="slide7.xml"/></Relationships>
</file>

<file path=ppt/slides/_rels/slide7.xml.rels><?xml version="1.0" encoding="UTF-8" standalone="yes"?>
<Relationships xmlns="http://schemas.openxmlformats.org/package/2006/relationships"><Relationship Id="rId8" Type="http://schemas.openxmlformats.org/officeDocument/2006/relationships/slide" Target="slide33.xml"/><Relationship Id="rId13" Type="http://schemas.openxmlformats.org/officeDocument/2006/relationships/image" Target="../media/image6.jpg"/><Relationship Id="rId18" Type="http://schemas.openxmlformats.org/officeDocument/2006/relationships/slide" Target="slide39.xml"/><Relationship Id="rId3" Type="http://schemas.openxmlformats.org/officeDocument/2006/relationships/image" Target="../media/image1.jpg"/><Relationship Id="rId21" Type="http://schemas.openxmlformats.org/officeDocument/2006/relationships/image" Target="../media/image10.jpg"/><Relationship Id="rId7" Type="http://schemas.openxmlformats.org/officeDocument/2006/relationships/image" Target="../media/image3.jpg"/><Relationship Id="rId12" Type="http://schemas.openxmlformats.org/officeDocument/2006/relationships/slide" Target="slide36.xml"/><Relationship Id="rId17" Type="http://schemas.openxmlformats.org/officeDocument/2006/relationships/image" Target="../media/image8.jpg"/><Relationship Id="rId2" Type="http://schemas.openxmlformats.org/officeDocument/2006/relationships/notesSlide" Target="../notesSlides/notesSlide7.xml"/><Relationship Id="rId16" Type="http://schemas.openxmlformats.org/officeDocument/2006/relationships/slide" Target="slide43.xml"/><Relationship Id="rId20" Type="http://schemas.openxmlformats.org/officeDocument/2006/relationships/slide" Target="slide41.xml"/><Relationship Id="rId1" Type="http://schemas.openxmlformats.org/officeDocument/2006/relationships/slideLayout" Target="../slideLayouts/slideLayout1.xml"/><Relationship Id="rId6" Type="http://schemas.openxmlformats.org/officeDocument/2006/relationships/slide" Target="slide32.xml"/><Relationship Id="rId11" Type="http://schemas.openxmlformats.org/officeDocument/2006/relationships/image" Target="../media/image5.jpg"/><Relationship Id="rId24" Type="http://schemas.openxmlformats.org/officeDocument/2006/relationships/slide" Target="slide8.xml"/><Relationship Id="rId5" Type="http://schemas.openxmlformats.org/officeDocument/2006/relationships/image" Target="../media/image2.jpg"/><Relationship Id="rId15" Type="http://schemas.openxmlformats.org/officeDocument/2006/relationships/image" Target="../media/image7.jpg"/><Relationship Id="rId23" Type="http://schemas.openxmlformats.org/officeDocument/2006/relationships/slide" Target="slide2.xml"/><Relationship Id="rId10" Type="http://schemas.openxmlformats.org/officeDocument/2006/relationships/slide" Target="slide34.xml"/><Relationship Id="rId19" Type="http://schemas.openxmlformats.org/officeDocument/2006/relationships/image" Target="../media/image9.jpg"/><Relationship Id="rId4" Type="http://schemas.openxmlformats.org/officeDocument/2006/relationships/slide" Target="slide30.xml"/><Relationship Id="rId9" Type="http://schemas.openxmlformats.org/officeDocument/2006/relationships/image" Target="../media/image4.jpg"/><Relationship Id="rId14" Type="http://schemas.openxmlformats.org/officeDocument/2006/relationships/slide" Target="slide38.xml"/><Relationship Id="rId22" Type="http://schemas.openxmlformats.org/officeDocument/2006/relationships/slide" Target="slide40.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slide" Target="slide9.xml"/></Relationships>
</file>

<file path=ppt/slides/_rels/slide9.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11.xml"/><Relationship Id="rId7" Type="http://schemas.openxmlformats.org/officeDocument/2006/relationships/slide" Target="slide41.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slide" Target="slide40.xml"/><Relationship Id="rId5" Type="http://schemas.openxmlformats.org/officeDocument/2006/relationships/slide" Target="slide34.xml"/><Relationship Id="rId10" Type="http://schemas.openxmlformats.org/officeDocument/2006/relationships/slide" Target="slide10.xml"/><Relationship Id="rId4" Type="http://schemas.openxmlformats.org/officeDocument/2006/relationships/slide" Target="slide12.xml"/><Relationship Id="rId9" Type="http://schemas.openxmlformats.org/officeDocument/2006/relationships/slide" Target="slide2.xml"/></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slide" Target="slide11.xml"/></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slide" Target="slide12.xml"/></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slide" Target="slide13.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slide" Target="slide14.xml"/></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slide" Target="slide15.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slide" Target="slide16.xml"/></Relationships>
</file>

<file path=ppt/slides/_rels/slide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slide" Target="slide17.xml"/></Relationships>
</file>

<file path=ppt/slides/_rels/slide17.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 Target="slide13.xml"/><Relationship Id="rId7" Type="http://schemas.openxmlformats.org/officeDocument/2006/relationships/slide" Target="slide17.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slide" Target="slide16.xml"/><Relationship Id="rId5" Type="http://schemas.openxmlformats.org/officeDocument/2006/relationships/slide" Target="slide15.xml"/><Relationship Id="rId4" Type="http://schemas.openxmlformats.org/officeDocument/2006/relationships/slide" Target="slide14.xml"/><Relationship Id="rId9" Type="http://schemas.openxmlformats.org/officeDocument/2006/relationships/slide" Target="slide18.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slide" Target="slide19.xml"/></Relationships>
</file>

<file path=ppt/slides/_rels/slide19.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slide" Target="slide2.xml"/><Relationship Id="rId5" Type="http://schemas.openxmlformats.org/officeDocument/2006/relationships/slide" Target="slide7.xml"/><Relationship Id="rId4" Type="http://schemas.openxmlformats.org/officeDocument/2006/relationships/slide" Target="slide20.xml"/></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slide" Target="slide21.xml"/><Relationship Id="rId5" Type="http://schemas.openxmlformats.org/officeDocument/2006/relationships/slide" Target="slide41.xml"/><Relationship Id="rId4" Type="http://schemas.openxmlformats.org/officeDocument/2006/relationships/slide" Target="slide19.xml"/></Relationships>
</file>

<file path=ppt/slides/_rels/slide21.xml.rels><?xml version="1.0" encoding="UTF-8" standalone="yes"?>
<Relationships xmlns="http://schemas.openxmlformats.org/package/2006/relationships"><Relationship Id="rId8" Type="http://schemas.openxmlformats.org/officeDocument/2006/relationships/slide" Target="slide27.xml"/><Relationship Id="rId3" Type="http://schemas.openxmlformats.org/officeDocument/2006/relationships/image" Target="../media/image11.jpg"/><Relationship Id="rId7" Type="http://schemas.openxmlformats.org/officeDocument/2006/relationships/slide" Target="slide25.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slide" Target="slide24.xml"/><Relationship Id="rId5" Type="http://schemas.openxmlformats.org/officeDocument/2006/relationships/slide" Target="slide23.xml"/><Relationship Id="rId10" Type="http://schemas.openxmlformats.org/officeDocument/2006/relationships/slide" Target="slide22.xml"/><Relationship Id="rId4" Type="http://schemas.openxmlformats.org/officeDocument/2006/relationships/slide" Target="slide26.xml"/><Relationship Id="rId9" Type="http://schemas.openxmlformats.org/officeDocument/2006/relationships/slide" Target="slide2.xml"/></Relationships>
</file>

<file path=ppt/slides/_rels/slide22.xml.rels><?xml version="1.0" encoding="UTF-8" standalone="yes"?>
<Relationships xmlns="http://schemas.openxmlformats.org/package/2006/relationships"><Relationship Id="rId3" Type="http://schemas.openxmlformats.org/officeDocument/2006/relationships/slide" Target="slide23.xml"/><Relationship Id="rId7" Type="http://schemas.openxmlformats.org/officeDocument/2006/relationships/slide" Target="slide21.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slide" Target="slide2.xml"/><Relationship Id="rId5" Type="http://schemas.openxmlformats.org/officeDocument/2006/relationships/slide" Target="slide26.xml"/><Relationship Id="rId4" Type="http://schemas.openxmlformats.org/officeDocument/2006/relationships/slide" Target="slide27.xml"/></Relationships>
</file>

<file path=ppt/slides/_rels/slide23.xml.rels><?xml version="1.0" encoding="UTF-8" standalone="yes"?>
<Relationships xmlns="http://schemas.openxmlformats.org/package/2006/relationships"><Relationship Id="rId8" Type="http://schemas.openxmlformats.org/officeDocument/2006/relationships/slide" Target="slide24.xml"/><Relationship Id="rId3" Type="http://schemas.openxmlformats.org/officeDocument/2006/relationships/slide" Target="slide13.xml"/><Relationship Id="rId7" Type="http://schemas.openxmlformats.org/officeDocument/2006/relationships/slide" Target="slide21.xm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slide" Target="slide22.xml"/><Relationship Id="rId5" Type="http://schemas.openxmlformats.org/officeDocument/2006/relationships/slide" Target="slide2.xml"/><Relationship Id="rId4" Type="http://schemas.openxmlformats.org/officeDocument/2006/relationships/slide" Target="slide15.xml"/></Relationships>
</file>

<file path=ppt/slides/_rels/slide24.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slide" Target="slide13.xml"/><Relationship Id="rId7" Type="http://schemas.openxmlformats.org/officeDocument/2006/relationships/slide" Target="slide22.xm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slide" Target="slide2.xml"/><Relationship Id="rId5" Type="http://schemas.openxmlformats.org/officeDocument/2006/relationships/slide" Target="slide17.xml"/><Relationship Id="rId4" Type="http://schemas.openxmlformats.org/officeDocument/2006/relationships/slide" Target="slide14.xml"/><Relationship Id="rId9" Type="http://schemas.openxmlformats.org/officeDocument/2006/relationships/slide" Target="slide25.xml"/></Relationships>
</file>

<file path=ppt/slides/_rels/slide25.xml.rels><?xml version="1.0" encoding="UTF-8" standalone="yes"?>
<Relationships xmlns="http://schemas.openxmlformats.org/package/2006/relationships"><Relationship Id="rId8" Type="http://schemas.openxmlformats.org/officeDocument/2006/relationships/slide" Target="slide26.xml"/><Relationship Id="rId3" Type="http://schemas.openxmlformats.org/officeDocument/2006/relationships/slide" Target="slide14.xml"/><Relationship Id="rId7" Type="http://schemas.openxmlformats.org/officeDocument/2006/relationships/slide" Target="slide21.xm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slide" Target="slide22.xml"/><Relationship Id="rId5" Type="http://schemas.openxmlformats.org/officeDocument/2006/relationships/slide" Target="slide2.xml"/><Relationship Id="rId4" Type="http://schemas.openxmlformats.org/officeDocument/2006/relationships/slide" Target="slide15.xml"/></Relationships>
</file>

<file path=ppt/slides/_rels/slide26.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slide" Target="slide14.xml"/><Relationship Id="rId7" Type="http://schemas.openxmlformats.org/officeDocument/2006/relationships/slide" Target="slide22.xm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slide" Target="slide2.xml"/><Relationship Id="rId5" Type="http://schemas.openxmlformats.org/officeDocument/2006/relationships/slide" Target="slide13.xml"/><Relationship Id="rId4" Type="http://schemas.openxmlformats.org/officeDocument/2006/relationships/slide" Target="slide16.xml"/><Relationship Id="rId9" Type="http://schemas.openxmlformats.org/officeDocument/2006/relationships/slide" Target="slide27.xml"/></Relationships>
</file>

<file path=ppt/slides/_rels/slide27.xml.rels><?xml version="1.0" encoding="UTF-8" standalone="yes"?>
<Relationships xmlns="http://schemas.openxmlformats.org/package/2006/relationships"><Relationship Id="rId8" Type="http://schemas.openxmlformats.org/officeDocument/2006/relationships/slide" Target="slide22.xml"/><Relationship Id="rId3" Type="http://schemas.openxmlformats.org/officeDocument/2006/relationships/slide" Target="slide16.xml"/><Relationship Id="rId7" Type="http://schemas.openxmlformats.org/officeDocument/2006/relationships/slide" Target="slide2.xm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slide" Target="slide17.xml"/><Relationship Id="rId5" Type="http://schemas.openxmlformats.org/officeDocument/2006/relationships/slide" Target="slide15.xml"/><Relationship Id="rId10" Type="http://schemas.openxmlformats.org/officeDocument/2006/relationships/slide" Target="slide28.xml"/><Relationship Id="rId4" Type="http://schemas.openxmlformats.org/officeDocument/2006/relationships/slide" Target="slide14.xml"/><Relationship Id="rId9" Type="http://schemas.openxmlformats.org/officeDocument/2006/relationships/slide" Target="slide21.xml"/></Relationships>
</file>

<file path=ppt/slides/_rels/slide28.xml.rels><?xml version="1.0" encoding="UTF-8" standalone="yes"?>
<Relationships xmlns="http://schemas.openxmlformats.org/package/2006/relationships"><Relationship Id="rId8" Type="http://schemas.openxmlformats.org/officeDocument/2006/relationships/slide" Target="slide32.xml"/><Relationship Id="rId13" Type="http://schemas.openxmlformats.org/officeDocument/2006/relationships/image" Target="../media/image5.jpg"/><Relationship Id="rId18" Type="http://schemas.openxmlformats.org/officeDocument/2006/relationships/slide" Target="slide38.xml"/><Relationship Id="rId26" Type="http://schemas.openxmlformats.org/officeDocument/2006/relationships/slide" Target="slide42.xml"/><Relationship Id="rId3" Type="http://schemas.openxmlformats.org/officeDocument/2006/relationships/image" Target="../media/image12.jpg"/><Relationship Id="rId21" Type="http://schemas.openxmlformats.org/officeDocument/2006/relationships/image" Target="../media/image14.jpg"/><Relationship Id="rId7" Type="http://schemas.openxmlformats.org/officeDocument/2006/relationships/image" Target="../media/image2.jpg"/><Relationship Id="rId12" Type="http://schemas.openxmlformats.org/officeDocument/2006/relationships/slide" Target="slide34.xml"/><Relationship Id="rId17" Type="http://schemas.openxmlformats.org/officeDocument/2006/relationships/image" Target="../media/image7.jpg"/><Relationship Id="rId25" Type="http://schemas.openxmlformats.org/officeDocument/2006/relationships/image" Target="../media/image15.jpg"/><Relationship Id="rId2" Type="http://schemas.openxmlformats.org/officeDocument/2006/relationships/notesSlide" Target="../notesSlides/notesSlide28.xml"/><Relationship Id="rId16" Type="http://schemas.openxmlformats.org/officeDocument/2006/relationships/slide" Target="slide37.xml"/><Relationship Id="rId20" Type="http://schemas.openxmlformats.org/officeDocument/2006/relationships/slide" Target="slide39.xml"/><Relationship Id="rId29" Type="http://schemas.openxmlformats.org/officeDocument/2006/relationships/slide" Target="slide2.xml"/><Relationship Id="rId1" Type="http://schemas.openxmlformats.org/officeDocument/2006/relationships/slideLayout" Target="../slideLayouts/slideLayout1.xml"/><Relationship Id="rId6" Type="http://schemas.openxmlformats.org/officeDocument/2006/relationships/slide" Target="slide30.xml"/><Relationship Id="rId11" Type="http://schemas.openxmlformats.org/officeDocument/2006/relationships/image" Target="../media/image4.jpg"/><Relationship Id="rId24" Type="http://schemas.openxmlformats.org/officeDocument/2006/relationships/slide" Target="slide41.xml"/><Relationship Id="rId5" Type="http://schemas.openxmlformats.org/officeDocument/2006/relationships/image" Target="../media/image1.jpg"/><Relationship Id="rId15" Type="http://schemas.openxmlformats.org/officeDocument/2006/relationships/image" Target="../media/image13.jpg"/><Relationship Id="rId23" Type="http://schemas.openxmlformats.org/officeDocument/2006/relationships/image" Target="../media/image9.jpg"/><Relationship Id="rId28" Type="http://schemas.openxmlformats.org/officeDocument/2006/relationships/slide" Target="slide43.xml"/><Relationship Id="rId10" Type="http://schemas.openxmlformats.org/officeDocument/2006/relationships/slide" Target="slide33.xml"/><Relationship Id="rId19" Type="http://schemas.openxmlformats.org/officeDocument/2006/relationships/image" Target="../media/image8.jpg"/><Relationship Id="rId4" Type="http://schemas.openxmlformats.org/officeDocument/2006/relationships/slide" Target="slide29.xml"/><Relationship Id="rId9" Type="http://schemas.openxmlformats.org/officeDocument/2006/relationships/image" Target="../media/image3.jpg"/><Relationship Id="rId14" Type="http://schemas.openxmlformats.org/officeDocument/2006/relationships/slide" Target="slide36.xml"/><Relationship Id="rId22" Type="http://schemas.openxmlformats.org/officeDocument/2006/relationships/slide" Target="slide40.xml"/><Relationship Id="rId27" Type="http://schemas.openxmlformats.org/officeDocument/2006/relationships/image" Target="../media/image16.jpg"/></Relationships>
</file>

<file path=ppt/slides/_rels/slide29.xml.rels><?xml version="1.0" encoding="UTF-8" standalone="yes"?>
<Relationships xmlns="http://schemas.openxmlformats.org/package/2006/relationships"><Relationship Id="rId3" Type="http://schemas.openxmlformats.org/officeDocument/2006/relationships/image" Target="../media/image17.jpg"/><Relationship Id="rId7" Type="http://schemas.openxmlformats.org/officeDocument/2006/relationships/slide" Target="slide30.xm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slide" Target="slide25.xml"/><Relationship Id="rId5" Type="http://schemas.openxmlformats.org/officeDocument/2006/relationships/slide" Target="slide15.xml"/><Relationship Id="rId4" Type="http://schemas.openxmlformats.org/officeDocument/2006/relationships/slide" Target="slide2.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g"/><Relationship Id="rId7" Type="http://schemas.openxmlformats.org/officeDocument/2006/relationships/slide" Target="slide31.xm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slide" Target="slide23.xml"/><Relationship Id="rId5" Type="http://schemas.openxmlformats.org/officeDocument/2006/relationships/slide" Target="slide13.xml"/><Relationship Id="rId4" Type="http://schemas.openxmlformats.org/officeDocument/2006/relationships/slide" Target="slide2.xml"/></Relationships>
</file>

<file path=ppt/slides/_rels/slide31.xml.rels><?xml version="1.0" encoding="UTF-8" standalone="yes"?>
<Relationships xmlns="http://schemas.openxmlformats.org/package/2006/relationships"><Relationship Id="rId3" Type="http://schemas.openxmlformats.org/officeDocument/2006/relationships/image" Target="../media/image18.jpg"/><Relationship Id="rId7" Type="http://schemas.openxmlformats.org/officeDocument/2006/relationships/slide" Target="slide32.xml"/><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slide" Target="slide23.xml"/><Relationship Id="rId5" Type="http://schemas.openxmlformats.org/officeDocument/2006/relationships/slide" Target="slide13.xml"/><Relationship Id="rId4" Type="http://schemas.openxmlformats.org/officeDocument/2006/relationships/slide" Target="slide2.xml"/></Relationships>
</file>

<file path=ppt/slides/_rels/slide32.xml.rels><?xml version="1.0" encoding="UTF-8" standalone="yes"?>
<Relationships xmlns="http://schemas.openxmlformats.org/package/2006/relationships"><Relationship Id="rId3" Type="http://schemas.openxmlformats.org/officeDocument/2006/relationships/image" Target="../media/image19.jpg"/><Relationship Id="rId7" Type="http://schemas.openxmlformats.org/officeDocument/2006/relationships/slide" Target="slide33.xm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slide" Target="slide23.xml"/><Relationship Id="rId5" Type="http://schemas.openxmlformats.org/officeDocument/2006/relationships/slide" Target="slide13.xml"/><Relationship Id="rId4" Type="http://schemas.openxmlformats.org/officeDocument/2006/relationships/slide" Target="slide2.xml"/></Relationships>
</file>

<file path=ppt/slides/_rels/slide33.xml.rels><?xml version="1.0" encoding="UTF-8" standalone="yes"?>
<Relationships xmlns="http://schemas.openxmlformats.org/package/2006/relationships"><Relationship Id="rId3" Type="http://schemas.openxmlformats.org/officeDocument/2006/relationships/image" Target="../media/image20.jpg"/><Relationship Id="rId7" Type="http://schemas.openxmlformats.org/officeDocument/2006/relationships/slide" Target="slide34.xml"/><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slide" Target="slide23.xml"/><Relationship Id="rId5" Type="http://schemas.openxmlformats.org/officeDocument/2006/relationships/slide" Target="slide13.xml"/><Relationship Id="rId4" Type="http://schemas.openxmlformats.org/officeDocument/2006/relationships/slide" Target="slide2.xml"/></Relationships>
</file>

<file path=ppt/slides/_rels/slide34.xml.rels><?xml version="1.0" encoding="UTF-8" standalone="yes"?>
<Relationships xmlns="http://schemas.openxmlformats.org/package/2006/relationships"><Relationship Id="rId3" Type="http://schemas.openxmlformats.org/officeDocument/2006/relationships/image" Target="../media/image21.jpg"/><Relationship Id="rId7" Type="http://schemas.openxmlformats.org/officeDocument/2006/relationships/slide" Target="slide35.xml"/><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slide" Target="slide24.xml"/><Relationship Id="rId5" Type="http://schemas.openxmlformats.org/officeDocument/2006/relationships/slide" Target="slide13.xml"/><Relationship Id="rId4" Type="http://schemas.openxmlformats.org/officeDocument/2006/relationships/slide" Target="slide2.xml"/></Relationships>
</file>

<file path=ppt/slides/_rels/slide35.xml.rels><?xml version="1.0" encoding="UTF-8" standalone="yes"?>
<Relationships xmlns="http://schemas.openxmlformats.org/package/2006/relationships"><Relationship Id="rId3" Type="http://schemas.openxmlformats.org/officeDocument/2006/relationships/image" Target="../media/image21.jpg"/><Relationship Id="rId7" Type="http://schemas.openxmlformats.org/officeDocument/2006/relationships/slide" Target="slide36.xml"/><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slide" Target="slide24.xml"/><Relationship Id="rId5" Type="http://schemas.openxmlformats.org/officeDocument/2006/relationships/slide" Target="slide13.xml"/><Relationship Id="rId4" Type="http://schemas.openxmlformats.org/officeDocument/2006/relationships/slide" Target="slide2.xml"/></Relationships>
</file>

<file path=ppt/slides/_rels/slide36.xml.rels><?xml version="1.0" encoding="UTF-8" standalone="yes"?>
<Relationships xmlns="http://schemas.openxmlformats.org/package/2006/relationships"><Relationship Id="rId3" Type="http://schemas.openxmlformats.org/officeDocument/2006/relationships/image" Target="../media/image22.jpg"/><Relationship Id="rId7" Type="http://schemas.openxmlformats.org/officeDocument/2006/relationships/slide" Target="slide37.xml"/><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slide" Target="slide23.xml"/><Relationship Id="rId5" Type="http://schemas.openxmlformats.org/officeDocument/2006/relationships/slide" Target="slide13.xml"/><Relationship Id="rId4" Type="http://schemas.openxmlformats.org/officeDocument/2006/relationships/slide" Target="slide2.xml"/></Relationships>
</file>

<file path=ppt/slides/_rels/slide37.xml.rels><?xml version="1.0" encoding="UTF-8" standalone="yes"?>
<Relationships xmlns="http://schemas.openxmlformats.org/package/2006/relationships"><Relationship Id="rId3" Type="http://schemas.openxmlformats.org/officeDocument/2006/relationships/image" Target="../media/image23.jpg"/><Relationship Id="rId7" Type="http://schemas.openxmlformats.org/officeDocument/2006/relationships/slide" Target="slide38.xml"/><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slide" Target="slide25.xml"/><Relationship Id="rId5" Type="http://schemas.openxmlformats.org/officeDocument/2006/relationships/slide" Target="slide14.xml"/><Relationship Id="rId4" Type="http://schemas.openxmlformats.org/officeDocument/2006/relationships/slide" Target="slide2.xml"/></Relationships>
</file>

<file path=ppt/slides/_rels/slide38.xml.rels><?xml version="1.0" encoding="UTF-8" standalone="yes"?>
<Relationships xmlns="http://schemas.openxmlformats.org/package/2006/relationships"><Relationship Id="rId3" Type="http://schemas.openxmlformats.org/officeDocument/2006/relationships/image" Target="../media/image24.jpg"/><Relationship Id="rId7" Type="http://schemas.openxmlformats.org/officeDocument/2006/relationships/slide" Target="slide39.xml"/><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slide" Target="slide26.xml"/><Relationship Id="rId5" Type="http://schemas.openxmlformats.org/officeDocument/2006/relationships/slide" Target="slide14.xml"/><Relationship Id="rId4" Type="http://schemas.openxmlformats.org/officeDocument/2006/relationships/slide" Target="slide2.xml"/></Relationships>
</file>

<file path=ppt/slides/_rels/slide39.xml.rels><?xml version="1.0" encoding="UTF-8" standalone="yes"?>
<Relationships xmlns="http://schemas.openxmlformats.org/package/2006/relationships"><Relationship Id="rId3" Type="http://schemas.openxmlformats.org/officeDocument/2006/relationships/image" Target="../media/image25.jpg"/><Relationship Id="rId7" Type="http://schemas.openxmlformats.org/officeDocument/2006/relationships/slide" Target="slide40.xml"/><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slide" Target="slide25.xml"/><Relationship Id="rId5" Type="http://schemas.openxmlformats.org/officeDocument/2006/relationships/slide" Target="slide14.xml"/><Relationship Id="rId4" Type="http://schemas.openxmlformats.org/officeDocument/2006/relationships/slide" Target="slide2.xml"/></Relationships>
</file>

<file path=ppt/slides/_rels/slide40.xml.rels><?xml version="1.0" encoding="UTF-8" standalone="yes"?>
<Relationships xmlns="http://schemas.openxmlformats.org/package/2006/relationships"><Relationship Id="rId3" Type="http://schemas.openxmlformats.org/officeDocument/2006/relationships/image" Target="../media/image26.jpg"/><Relationship Id="rId7" Type="http://schemas.openxmlformats.org/officeDocument/2006/relationships/slide" Target="slide41.xml"/><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slide" Target="slide25.xml"/><Relationship Id="rId5" Type="http://schemas.openxmlformats.org/officeDocument/2006/relationships/slide" Target="slide15.xml"/><Relationship Id="rId4" Type="http://schemas.openxmlformats.org/officeDocument/2006/relationships/slide" Target="slide2.xml"/></Relationships>
</file>

<file path=ppt/slides/_rels/slide41.xml.rels><?xml version="1.0" encoding="UTF-8" standalone="yes"?>
<Relationships xmlns="http://schemas.openxmlformats.org/package/2006/relationships"><Relationship Id="rId3" Type="http://schemas.openxmlformats.org/officeDocument/2006/relationships/image" Target="../media/image27.jpg"/><Relationship Id="rId7" Type="http://schemas.openxmlformats.org/officeDocument/2006/relationships/slide" Target="slide42.xml"/><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slide" Target="slide25.xml"/><Relationship Id="rId5" Type="http://schemas.openxmlformats.org/officeDocument/2006/relationships/slide" Target="slide15.xml"/><Relationship Id="rId4" Type="http://schemas.openxmlformats.org/officeDocument/2006/relationships/slide" Target="slide2.xml"/></Relationships>
</file>

<file path=ppt/slides/_rels/slide42.xml.rels><?xml version="1.0" encoding="UTF-8" standalone="yes"?>
<Relationships xmlns="http://schemas.openxmlformats.org/package/2006/relationships"><Relationship Id="rId3" Type="http://schemas.openxmlformats.org/officeDocument/2006/relationships/image" Target="../media/image28.jpg"/><Relationship Id="rId7" Type="http://schemas.openxmlformats.org/officeDocument/2006/relationships/slide" Target="slide43.xml"/><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slide" Target="slide27.xml"/><Relationship Id="rId5" Type="http://schemas.openxmlformats.org/officeDocument/2006/relationships/slide" Target="slide16.xml"/><Relationship Id="rId4" Type="http://schemas.openxmlformats.org/officeDocument/2006/relationships/slide" Target="slide2.xml"/></Relationships>
</file>

<file path=ppt/slides/_rels/slide43.xml.rels><?xml version="1.0" encoding="UTF-8" standalone="yes"?>
<Relationships xmlns="http://schemas.openxmlformats.org/package/2006/relationships"><Relationship Id="rId8" Type="http://schemas.openxmlformats.org/officeDocument/2006/relationships/slide" Target="slide44.xml"/><Relationship Id="rId3" Type="http://schemas.openxmlformats.org/officeDocument/2006/relationships/image" Target="../media/image16.jpg"/><Relationship Id="rId7" Type="http://schemas.openxmlformats.org/officeDocument/2006/relationships/slide" Target="slide26.xml"/><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slide" Target="slide17.xml"/><Relationship Id="rId5" Type="http://schemas.openxmlformats.org/officeDocument/2006/relationships/slide" Target="slide2.xml"/><Relationship Id="rId4" Type="http://schemas.openxmlformats.org/officeDocument/2006/relationships/image" Target="../media/image29.jpg"/></Relationships>
</file>

<file path=ppt/slides/_rels/slide4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slide" Target="slide45.xml"/></Relationships>
</file>

<file path=ppt/slides/_rels/slide4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slide" Target="slide13.xml"/><Relationship Id="rId5" Type="http://schemas.openxmlformats.org/officeDocument/2006/relationships/slide" Target="slide28.xml"/><Relationship Id="rId4" Type="http://schemas.openxmlformats.org/officeDocument/2006/relationships/slide" Target="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0B5E"/>
        </a:solidFill>
        <a:effectLst/>
      </p:bgPr>
    </p:bg>
    <p:spTree>
      <p:nvGrpSpPr>
        <p:cNvPr id="1" name=""/>
        <p:cNvGrpSpPr/>
        <p:nvPr/>
      </p:nvGrpSpPr>
      <p:grpSpPr>
        <a:xfrm>
          <a:off x="0" y="0"/>
          <a:ext cx="0" cy="0"/>
          <a:chOff x="0" y="0"/>
          <a:chExt cx="0" cy="0"/>
        </a:xfrm>
      </p:grpSpPr>
      <p:sp>
        <p:nvSpPr>
          <p:cNvPr id="2" name="Shape 0"/>
          <p:cNvSpPr/>
          <p:nvPr/>
        </p:nvSpPr>
        <p:spPr>
          <a:xfrm>
            <a:off x="7863840" y="0"/>
            <a:ext cx="4327855" cy="6858000"/>
          </a:xfrm>
          <a:prstGeom prst="rect">
            <a:avLst/>
          </a:prstGeom>
          <a:solidFill>
            <a:srgbClr val="4B1FA0"/>
          </a:solidFill>
          <a:ln/>
        </p:spPr>
        <p:txBody>
          <a:bodyPr/>
          <a:lstStyle/>
          <a:p>
            <a:endParaRPr lang="en-PK"/>
          </a:p>
        </p:txBody>
      </p:sp>
      <p:sp>
        <p:nvSpPr>
          <p:cNvPr id="3" name="Text 1"/>
          <p:cNvSpPr txBox="1"/>
          <p:nvPr/>
        </p:nvSpPr>
        <p:spPr>
          <a:xfrm>
            <a:off x="640080" y="548640"/>
            <a:ext cx="6949440" cy="274320"/>
          </a:xfrm>
          <a:prstGeom prst="rect">
            <a:avLst/>
          </a:prstGeom>
          <a:noFill/>
          <a:ln/>
        </p:spPr>
        <p:txBody>
          <a:bodyPr wrap="square" lIns="0" tIns="0" rIns="0" bIns="0" rtlCol="0" anchor="t"/>
          <a:lstStyle/>
          <a:p>
            <a:pPr marL="0" indent="0">
              <a:buNone/>
            </a:pPr>
            <a:r>
              <a:rPr lang="en-US" sz="1100" b="1" kern="0" spc="200" dirty="0">
                <a:solidFill>
                  <a:srgbClr val="C9B6F2"/>
                </a:solidFill>
                <a:latin typeface="Calibri" pitchFamily="34" charset="0"/>
                <a:ea typeface="Calibri" pitchFamily="34" charset="-122"/>
                <a:cs typeface="Calibri" pitchFamily="34" charset="-120"/>
              </a:rPr>
              <a:t>DEPARTMENT OF COMPUTER SCIENCE · COMSATS UNIVERSITY ISLAMABAD</a:t>
            </a:r>
            <a:endParaRPr lang="en-US" sz="1100" dirty="0"/>
          </a:p>
        </p:txBody>
      </p:sp>
      <p:sp>
        <p:nvSpPr>
          <p:cNvPr id="4" name="Text 2"/>
          <p:cNvSpPr txBox="1"/>
          <p:nvPr/>
        </p:nvSpPr>
        <p:spPr>
          <a:xfrm>
            <a:off x="640080" y="1371600"/>
            <a:ext cx="6949440" cy="1005840"/>
          </a:xfrm>
          <a:prstGeom prst="rect">
            <a:avLst/>
          </a:prstGeom>
          <a:noFill/>
          <a:ln/>
        </p:spPr>
        <p:txBody>
          <a:bodyPr wrap="square" lIns="0" tIns="0" rIns="0" bIns="0" rtlCol="0" anchor="t"/>
          <a:lstStyle/>
          <a:p>
            <a:pPr marL="0" indent="0">
              <a:buNone/>
            </a:pPr>
            <a:r>
              <a:rPr lang="en-US" sz="6000" b="1" dirty="0">
                <a:solidFill>
                  <a:srgbClr val="FFFFFF"/>
                </a:solidFill>
                <a:latin typeface="Calibri" pitchFamily="34" charset="0"/>
                <a:ea typeface="Calibri" pitchFamily="34" charset="-122"/>
                <a:cs typeface="Calibri" pitchFamily="34" charset="-120"/>
              </a:rPr>
              <a:t>PropBot</a:t>
            </a:r>
            <a:endParaRPr lang="en-US" sz="6000" dirty="0"/>
          </a:p>
        </p:txBody>
      </p:sp>
      <p:sp>
        <p:nvSpPr>
          <p:cNvPr id="5" name="Text 3"/>
          <p:cNvSpPr txBox="1"/>
          <p:nvPr/>
        </p:nvSpPr>
        <p:spPr>
          <a:xfrm>
            <a:off x="640080" y="2423160"/>
            <a:ext cx="6766560" cy="822960"/>
          </a:xfrm>
          <a:prstGeom prst="rect">
            <a:avLst/>
          </a:prstGeom>
          <a:noFill/>
          <a:ln/>
        </p:spPr>
        <p:txBody>
          <a:bodyPr wrap="square" lIns="0" tIns="0" rIns="0" bIns="0" rtlCol="0" anchor="t"/>
          <a:lstStyle/>
          <a:p>
            <a:pPr marL="0" indent="0">
              <a:buNone/>
            </a:pPr>
            <a:r>
              <a:rPr lang="en-US" sz="2000" dirty="0">
                <a:solidFill>
                  <a:srgbClr val="E4DAF8"/>
                </a:solidFill>
                <a:latin typeface="Calibri" pitchFamily="34" charset="0"/>
                <a:ea typeface="Calibri" pitchFamily="34" charset="-122"/>
                <a:cs typeface="Calibri" pitchFamily="34" charset="-120"/>
              </a:rPr>
              <a:t>AI-Powered RFP and Proposal Automation Platform for Telecom Presales Teams</a:t>
            </a:r>
            <a:endParaRPr lang="en-US" sz="2000" dirty="0"/>
          </a:p>
        </p:txBody>
      </p:sp>
      <p:sp>
        <p:nvSpPr>
          <p:cNvPr id="6" name="Text 4"/>
          <p:cNvSpPr txBox="1"/>
          <p:nvPr/>
        </p:nvSpPr>
        <p:spPr>
          <a:xfrm>
            <a:off x="640080" y="3383280"/>
            <a:ext cx="6949440" cy="365760"/>
          </a:xfrm>
          <a:prstGeom prst="rect">
            <a:avLst/>
          </a:prstGeom>
          <a:noFill/>
          <a:ln/>
        </p:spPr>
        <p:txBody>
          <a:bodyPr wrap="square" lIns="0" tIns="0" rIns="0" bIns="0" rtlCol="0" anchor="t"/>
          <a:lstStyle/>
          <a:p>
            <a:pPr marL="0" indent="0">
              <a:buNone/>
            </a:pPr>
            <a:r>
              <a:rPr lang="en-US" sz="1500" b="1" dirty="0">
                <a:solidFill>
                  <a:srgbClr val="C9B6F2"/>
                </a:solidFill>
                <a:latin typeface="Calibri" pitchFamily="34" charset="0"/>
                <a:ea typeface="Calibri" pitchFamily="34" charset="-122"/>
                <a:cs typeface="Calibri" pitchFamily="34" charset="-120"/>
              </a:rPr>
              <a:t>Software Requirements Specification · FYP-I</a:t>
            </a:r>
            <a:endParaRPr lang="en-US" sz="1500" dirty="0"/>
          </a:p>
        </p:txBody>
      </p:sp>
      <p:sp>
        <p:nvSpPr>
          <p:cNvPr id="7" name="Text 5"/>
          <p:cNvSpPr txBox="1"/>
          <p:nvPr/>
        </p:nvSpPr>
        <p:spPr>
          <a:xfrm>
            <a:off x="640080" y="4114800"/>
            <a:ext cx="3657600" cy="640080"/>
          </a:xfrm>
          <a:prstGeom prst="rect">
            <a:avLst/>
          </a:prstGeom>
          <a:noFill/>
          <a:ln/>
        </p:spPr>
        <p:txBody>
          <a:bodyPr wrap="square" lIns="0" tIns="0" rIns="0" bIns="0" rtlCol="0" anchor="t"/>
          <a:lstStyle/>
          <a:p>
            <a:pPr marL="0" indent="0">
              <a:buNone/>
            </a:pPr>
            <a:r>
              <a:rPr lang="en-US" sz="1100" b="1" dirty="0">
                <a:solidFill>
                  <a:srgbClr val="C9B6F2"/>
                </a:solidFill>
                <a:latin typeface="Calibri" pitchFamily="34" charset="0"/>
                <a:ea typeface="Calibri" pitchFamily="34" charset="-122"/>
                <a:cs typeface="Calibri" pitchFamily="34" charset="-120"/>
              </a:rPr>
              <a:t>Project Supervisor</a:t>
            </a:r>
            <a:endParaRPr lang="en-US" sz="1100" dirty="0"/>
          </a:p>
          <a:p>
            <a:pPr marL="0" indent="0">
              <a:buNone/>
            </a:pPr>
            <a:r>
              <a:rPr lang="en-US" sz="1600" b="1" dirty="0">
                <a:solidFill>
                  <a:srgbClr val="FFFFFF"/>
                </a:solidFill>
                <a:latin typeface="Calibri" pitchFamily="34" charset="0"/>
                <a:ea typeface="Calibri" pitchFamily="34" charset="-122"/>
                <a:cs typeface="Calibri" pitchFamily="34" charset="-120"/>
              </a:rPr>
              <a:t>Dr. Memoona Malik</a:t>
            </a:r>
            <a:endParaRPr lang="en-US" sz="1100" dirty="0"/>
          </a:p>
        </p:txBody>
      </p:sp>
      <p:sp>
        <p:nvSpPr>
          <p:cNvPr id="8" name="Text 6"/>
          <p:cNvSpPr txBox="1"/>
          <p:nvPr/>
        </p:nvSpPr>
        <p:spPr>
          <a:xfrm>
            <a:off x="640080" y="5989320"/>
            <a:ext cx="6400800" cy="320040"/>
          </a:xfrm>
          <a:prstGeom prst="rect">
            <a:avLst/>
          </a:prstGeom>
          <a:noFill/>
          <a:ln/>
        </p:spPr>
        <p:txBody>
          <a:bodyPr wrap="square" lIns="0" tIns="0" rIns="0" bIns="0" rtlCol="0" anchor="t"/>
          <a:lstStyle/>
          <a:p>
            <a:pPr marL="0" indent="0">
              <a:buNone/>
            </a:pPr>
            <a:r>
              <a:rPr lang="en-US" sz="1200" dirty="0">
                <a:solidFill>
                  <a:srgbClr val="C9B6F2"/>
                </a:solidFill>
                <a:latin typeface="Calibri" pitchFamily="34" charset="0"/>
                <a:ea typeface="Calibri" pitchFamily="34" charset="-122"/>
                <a:cs typeface="Calibri" pitchFamily="34" charset="-120"/>
              </a:rPr>
              <a:t>BS Software Engineering (2023–2027)</a:t>
            </a:r>
            <a:endParaRPr lang="en-US" sz="1200" dirty="0"/>
          </a:p>
        </p:txBody>
      </p:sp>
      <p:sp>
        <p:nvSpPr>
          <p:cNvPr id="9" name="Text 7"/>
          <p:cNvSpPr txBox="1"/>
          <p:nvPr/>
        </p:nvSpPr>
        <p:spPr>
          <a:xfrm>
            <a:off x="8412480" y="1737360"/>
            <a:ext cx="3291840" cy="73152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Alina Raza</a:t>
            </a:r>
            <a:endParaRPr lang="en-US" sz="1800" dirty="0"/>
          </a:p>
          <a:p>
            <a:pPr marL="0" indent="0">
              <a:buNone/>
            </a:pPr>
            <a:r>
              <a:rPr lang="en-US" sz="1200" dirty="0">
                <a:solidFill>
                  <a:srgbClr val="E4DAF8"/>
                </a:solidFill>
                <a:latin typeface="Calibri" pitchFamily="34" charset="0"/>
                <a:ea typeface="Calibri" pitchFamily="34" charset="-122"/>
                <a:cs typeface="Calibri" pitchFamily="34" charset="-120"/>
              </a:rPr>
              <a:t>CIIT/FA23-BSE-015/ISB</a:t>
            </a:r>
            <a:endParaRPr lang="en-US" sz="1800" dirty="0"/>
          </a:p>
        </p:txBody>
      </p:sp>
      <p:sp>
        <p:nvSpPr>
          <p:cNvPr id="10" name="Text 8"/>
          <p:cNvSpPr txBox="1"/>
          <p:nvPr/>
        </p:nvSpPr>
        <p:spPr>
          <a:xfrm>
            <a:off x="8412480" y="2697480"/>
            <a:ext cx="3291840" cy="73152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Anna Munir</a:t>
            </a:r>
            <a:endParaRPr lang="en-US" sz="1800" dirty="0"/>
          </a:p>
          <a:p>
            <a:pPr marL="0" indent="0">
              <a:buNone/>
            </a:pPr>
            <a:r>
              <a:rPr lang="en-US" sz="1200" dirty="0">
                <a:solidFill>
                  <a:srgbClr val="E4DAF8"/>
                </a:solidFill>
                <a:latin typeface="Calibri" pitchFamily="34" charset="0"/>
                <a:ea typeface="Calibri" pitchFamily="34" charset="-122"/>
                <a:cs typeface="Calibri" pitchFamily="34" charset="-120"/>
              </a:rPr>
              <a:t>CIIT/FA23-BSE-019/ISB</a:t>
            </a:r>
            <a:endParaRPr lang="en-US" sz="1800" dirty="0"/>
          </a:p>
        </p:txBody>
      </p:sp>
      <p:sp>
        <p:nvSpPr>
          <p:cNvPr id="11" name="Text 9"/>
          <p:cNvSpPr txBox="1"/>
          <p:nvPr/>
        </p:nvSpPr>
        <p:spPr>
          <a:xfrm>
            <a:off x="8412480" y="3657600"/>
            <a:ext cx="3291840" cy="73152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Ayesha Noor</a:t>
            </a:r>
            <a:endParaRPr lang="en-US" sz="1800" dirty="0"/>
          </a:p>
          <a:p>
            <a:pPr marL="0" indent="0">
              <a:buNone/>
            </a:pPr>
            <a:r>
              <a:rPr lang="en-US" sz="1200" dirty="0">
                <a:solidFill>
                  <a:srgbClr val="E4DAF8"/>
                </a:solidFill>
                <a:latin typeface="Calibri" pitchFamily="34" charset="0"/>
                <a:ea typeface="Calibri" pitchFamily="34" charset="-122"/>
                <a:cs typeface="Calibri" pitchFamily="34" charset="-120"/>
              </a:rPr>
              <a:t>CIIT/FA23-BSE-025/ISB</a:t>
            </a:r>
            <a:endParaRPr lang="en-US" sz="1800" dirty="0"/>
          </a:p>
        </p:txBody>
      </p:sp>
      <p:sp>
        <p:nvSpPr>
          <p:cNvPr id="12" name="Text 10">
            <a:hlinkClick r:id="rId3" action="ppaction://hlinksldjump" tooltip="Contents"/>
          </p:cNvPr>
          <p:cNvSpPr/>
          <p:nvPr/>
        </p:nvSpPr>
        <p:spPr>
          <a:xfrm>
            <a:off x="8412480" y="5120640"/>
            <a:ext cx="1463040" cy="384048"/>
          </a:xfrm>
          <a:prstGeom prst="roundRect">
            <a:avLst>
              <a:gd name="adj" fmla="val 19048"/>
            </a:avLst>
          </a:prstGeom>
          <a:solidFill>
            <a:srgbClr val="FFFFFF"/>
          </a:solidFill>
          <a:ln/>
        </p:spPr>
        <p:txBody>
          <a:bodyPr wrap="square" lIns="0" tIns="0" rIns="0" bIns="0" rtlCol="0" anchor="ctr"/>
          <a:lstStyle/>
          <a:p>
            <a:pPr marL="0" indent="0" algn="ctr">
              <a:buNone/>
            </a:pPr>
            <a:r>
              <a:rPr lang="en-US" sz="1300" b="1" u="none" dirty="0">
                <a:solidFill>
                  <a:srgbClr val="2B0B5E"/>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Start →</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CONTENTS</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Presentation Contents</a:t>
            </a:r>
            <a:endParaRPr lang="en-US" sz="28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2</a:t>
            </a:r>
            <a:endParaRPr lang="en-US" sz="1000" dirty="0"/>
          </a:p>
        </p:txBody>
      </p:sp>
      <p:sp>
        <p:nvSpPr>
          <p:cNvPr id="5" name="Shape 3">
            <a:hlinkClick r:id="rId3" action="ppaction://hlinksldjump" tooltip="Introduction: Project, Problem and Users"/>
          </p:cNvPr>
          <p:cNvSpPr/>
          <p:nvPr/>
        </p:nvSpPr>
        <p:spPr>
          <a:xfrm>
            <a:off x="457200" y="1417320"/>
            <a:ext cx="5559552" cy="896112"/>
          </a:xfrm>
          <a:prstGeom prst="roundRect">
            <a:avLst>
              <a:gd name="adj" fmla="val 8163"/>
            </a:avLst>
          </a:prstGeom>
          <a:solidFill>
            <a:srgbClr val="FFFFFF"/>
          </a:solidFill>
          <a:ln w="12700">
            <a:solidFill>
              <a:srgbClr val="E6E5EC"/>
            </a:solidFill>
            <a:prstDash val="solid"/>
          </a:ln>
        </p:spPr>
        <p:txBody>
          <a:bodyPr/>
          <a:lstStyle/>
          <a:p>
            <a:endParaRPr lang="en-PK"/>
          </a:p>
        </p:txBody>
      </p:sp>
      <p:sp>
        <p:nvSpPr>
          <p:cNvPr id="6" name="Text 4"/>
          <p:cNvSpPr txBox="1"/>
          <p:nvPr/>
        </p:nvSpPr>
        <p:spPr>
          <a:xfrm>
            <a:off x="457200" y="1417320"/>
            <a:ext cx="5559552" cy="896112"/>
          </a:xfrm>
          <a:prstGeom prst="rect">
            <a:avLst/>
          </a:prstGeom>
          <a:noFill/>
          <a:ln/>
        </p:spPr>
        <p:txBody>
          <a:bodyPr wrap="square" lIns="0" tIns="203200" rIns="203200" bIns="0" rtlCol="0" anchor="ctr"/>
          <a:lstStyle/>
          <a:p>
            <a:pPr marL="0" indent="0">
              <a:buNone/>
            </a:pPr>
            <a:r>
              <a:rPr lang="en-US" sz="1800" b="1" dirty="0">
                <a:solidFill>
                  <a:srgbClr val="C9B6F2"/>
                </a:solidFill>
                <a:latin typeface="Calibri" pitchFamily="34" charset="0"/>
                <a:ea typeface="Calibri" pitchFamily="34" charset="-122"/>
                <a:cs typeface="Calibri" pitchFamily="34" charset="-120"/>
              </a:rPr>
              <a:t>01   </a:t>
            </a:r>
            <a:r>
              <a:rPr lang="en-US" sz="1800" b="1" dirty="0">
                <a:solidFill>
                  <a:srgbClr val="2B0B5E"/>
                </a:solidFill>
                <a:latin typeface="Calibri" pitchFamily="34" charset="0"/>
                <a:ea typeface="Calibri" pitchFamily="34" charset="-122"/>
                <a:cs typeface="Calibri" pitchFamily="34" charset="-120"/>
              </a:rPr>
              <a:t>Introduction: Project, Problem and Users</a:t>
            </a:r>
            <a:endParaRPr lang="en-US" sz="1800" dirty="0"/>
          </a:p>
        </p:txBody>
      </p:sp>
      <p:sp>
        <p:nvSpPr>
          <p:cNvPr id="7" name="Shape 5">
            <a:hlinkClick r:id="rId3" action="ppaction://hlinksldjump" tooltip="Introduction: Project, Problem and Users"/>
          </p:cNvPr>
          <p:cNvSpPr/>
          <p:nvPr/>
        </p:nvSpPr>
        <p:spPr>
          <a:xfrm>
            <a:off x="457200" y="1417320"/>
            <a:ext cx="5559552" cy="896112"/>
          </a:xfrm>
          <a:prstGeom prst="rect">
            <a:avLst/>
          </a:prstGeom>
          <a:solidFill>
            <a:srgbClr val="FFFFFF">
              <a:alpha val="0"/>
            </a:srgbClr>
          </a:solidFill>
          <a:ln/>
        </p:spPr>
        <p:txBody>
          <a:bodyPr/>
          <a:lstStyle/>
          <a:p>
            <a:endParaRPr lang="en-PK"/>
          </a:p>
        </p:txBody>
      </p:sp>
      <p:sp>
        <p:nvSpPr>
          <p:cNvPr id="8" name="Shape 6">
            <a:hlinkClick r:id="rId4" action="ppaction://hlinksldjump" tooltip="Proposed Solution and Workflow"/>
          </p:cNvPr>
          <p:cNvSpPr/>
          <p:nvPr/>
        </p:nvSpPr>
        <p:spPr>
          <a:xfrm>
            <a:off x="457200" y="2514600"/>
            <a:ext cx="5559552" cy="896112"/>
          </a:xfrm>
          <a:prstGeom prst="roundRect">
            <a:avLst>
              <a:gd name="adj" fmla="val 8163"/>
            </a:avLst>
          </a:prstGeom>
          <a:solidFill>
            <a:srgbClr val="FFFFFF"/>
          </a:solidFill>
          <a:ln w="12700">
            <a:solidFill>
              <a:srgbClr val="E6E5EC"/>
            </a:solidFill>
            <a:prstDash val="solid"/>
          </a:ln>
        </p:spPr>
        <p:txBody>
          <a:bodyPr/>
          <a:lstStyle/>
          <a:p>
            <a:endParaRPr lang="en-PK"/>
          </a:p>
        </p:txBody>
      </p:sp>
      <p:sp>
        <p:nvSpPr>
          <p:cNvPr id="9" name="Text 7"/>
          <p:cNvSpPr txBox="1"/>
          <p:nvPr/>
        </p:nvSpPr>
        <p:spPr>
          <a:xfrm>
            <a:off x="457200" y="2514600"/>
            <a:ext cx="5559552" cy="896112"/>
          </a:xfrm>
          <a:prstGeom prst="rect">
            <a:avLst/>
          </a:prstGeom>
          <a:noFill/>
          <a:ln/>
        </p:spPr>
        <p:txBody>
          <a:bodyPr wrap="square" lIns="0" tIns="203200" rIns="203200" bIns="0" rtlCol="0" anchor="ctr"/>
          <a:lstStyle/>
          <a:p>
            <a:pPr marL="0" indent="0">
              <a:buNone/>
            </a:pPr>
            <a:r>
              <a:rPr lang="en-US" sz="1800" b="1" dirty="0">
                <a:solidFill>
                  <a:srgbClr val="C9B6F2"/>
                </a:solidFill>
                <a:latin typeface="Calibri" pitchFamily="34" charset="0"/>
                <a:ea typeface="Calibri" pitchFamily="34" charset="-122"/>
                <a:cs typeface="Calibri" pitchFamily="34" charset="-120"/>
              </a:rPr>
              <a:t>02   </a:t>
            </a:r>
            <a:r>
              <a:rPr lang="en-US" sz="1800" b="1" dirty="0">
                <a:solidFill>
                  <a:srgbClr val="2B0B5E"/>
                </a:solidFill>
                <a:latin typeface="Calibri" pitchFamily="34" charset="0"/>
                <a:ea typeface="Calibri" pitchFamily="34" charset="-122"/>
                <a:cs typeface="Calibri" pitchFamily="34" charset="-120"/>
              </a:rPr>
              <a:t>Proposed Solution and Workflow</a:t>
            </a:r>
            <a:endParaRPr lang="en-US" sz="1800" dirty="0"/>
          </a:p>
        </p:txBody>
      </p:sp>
      <p:sp>
        <p:nvSpPr>
          <p:cNvPr id="10" name="Shape 8">
            <a:hlinkClick r:id="rId4" action="ppaction://hlinksldjump" tooltip="Proposed Solution and Workflow"/>
          </p:cNvPr>
          <p:cNvSpPr/>
          <p:nvPr/>
        </p:nvSpPr>
        <p:spPr>
          <a:xfrm>
            <a:off x="457200" y="2514600"/>
            <a:ext cx="5559552" cy="896112"/>
          </a:xfrm>
          <a:prstGeom prst="rect">
            <a:avLst/>
          </a:prstGeom>
          <a:solidFill>
            <a:srgbClr val="FFFFFF">
              <a:alpha val="0"/>
            </a:srgbClr>
          </a:solidFill>
          <a:ln/>
        </p:spPr>
        <p:txBody>
          <a:bodyPr/>
          <a:lstStyle/>
          <a:p>
            <a:endParaRPr lang="en-PK"/>
          </a:p>
        </p:txBody>
      </p:sp>
      <p:sp>
        <p:nvSpPr>
          <p:cNvPr id="11" name="Shape 9">
            <a:hlinkClick r:id="rId5" action="ppaction://hlinksldjump" tooltip="Evaluation Feedback and Our Response"/>
          </p:cNvPr>
          <p:cNvSpPr/>
          <p:nvPr/>
        </p:nvSpPr>
        <p:spPr>
          <a:xfrm>
            <a:off x="457200" y="3611880"/>
            <a:ext cx="5559552" cy="896112"/>
          </a:xfrm>
          <a:prstGeom prst="roundRect">
            <a:avLst>
              <a:gd name="adj" fmla="val 8163"/>
            </a:avLst>
          </a:prstGeom>
          <a:solidFill>
            <a:srgbClr val="FFFFFF"/>
          </a:solidFill>
          <a:ln w="12700">
            <a:solidFill>
              <a:srgbClr val="E6E5EC"/>
            </a:solidFill>
            <a:prstDash val="solid"/>
          </a:ln>
        </p:spPr>
        <p:txBody>
          <a:bodyPr/>
          <a:lstStyle/>
          <a:p>
            <a:endParaRPr lang="en-PK"/>
          </a:p>
        </p:txBody>
      </p:sp>
      <p:sp>
        <p:nvSpPr>
          <p:cNvPr id="12" name="Text 10"/>
          <p:cNvSpPr txBox="1"/>
          <p:nvPr/>
        </p:nvSpPr>
        <p:spPr>
          <a:xfrm>
            <a:off x="457200" y="3611880"/>
            <a:ext cx="5559552" cy="896112"/>
          </a:xfrm>
          <a:prstGeom prst="rect">
            <a:avLst/>
          </a:prstGeom>
          <a:noFill/>
          <a:ln/>
        </p:spPr>
        <p:txBody>
          <a:bodyPr wrap="square" lIns="0" tIns="203200" rIns="203200" bIns="0" rtlCol="0" anchor="ctr"/>
          <a:lstStyle/>
          <a:p>
            <a:pPr marL="0" indent="0">
              <a:buNone/>
            </a:pPr>
            <a:r>
              <a:rPr lang="en-US" sz="1800" b="1" dirty="0">
                <a:solidFill>
                  <a:srgbClr val="C9B6F2"/>
                </a:solidFill>
                <a:latin typeface="Calibri" pitchFamily="34" charset="0"/>
                <a:ea typeface="Calibri" pitchFamily="34" charset="-122"/>
                <a:cs typeface="Calibri" pitchFamily="34" charset="-120"/>
              </a:rPr>
              <a:t>03   </a:t>
            </a:r>
            <a:r>
              <a:rPr lang="en-US" sz="1800" b="1" dirty="0">
                <a:solidFill>
                  <a:srgbClr val="2B0B5E"/>
                </a:solidFill>
                <a:latin typeface="Calibri" pitchFamily="34" charset="0"/>
                <a:ea typeface="Calibri" pitchFamily="34" charset="-122"/>
                <a:cs typeface="Calibri" pitchFamily="34" charset="-120"/>
              </a:rPr>
              <a:t>Evaluation Feedback and Our Response</a:t>
            </a:r>
            <a:endParaRPr lang="en-US" sz="1800" dirty="0"/>
          </a:p>
        </p:txBody>
      </p:sp>
      <p:sp>
        <p:nvSpPr>
          <p:cNvPr id="13" name="Shape 11">
            <a:hlinkClick r:id="rId5" action="ppaction://hlinksldjump" tooltip="Evaluation Feedback and Our Response"/>
          </p:cNvPr>
          <p:cNvSpPr/>
          <p:nvPr/>
        </p:nvSpPr>
        <p:spPr>
          <a:xfrm>
            <a:off x="457200" y="3611880"/>
            <a:ext cx="5559552" cy="896112"/>
          </a:xfrm>
          <a:prstGeom prst="rect">
            <a:avLst/>
          </a:prstGeom>
          <a:solidFill>
            <a:srgbClr val="FFFFFF">
              <a:alpha val="0"/>
            </a:srgbClr>
          </a:solidFill>
          <a:ln/>
        </p:spPr>
        <p:txBody>
          <a:bodyPr/>
          <a:lstStyle/>
          <a:p>
            <a:endParaRPr lang="en-PK"/>
          </a:p>
        </p:txBody>
      </p:sp>
      <p:sp>
        <p:nvSpPr>
          <p:cNvPr id="14" name="Shape 12">
            <a:hlinkClick r:id="rId6" action="ppaction://hlinksldjump" tooltip="Modules and Main FRs"/>
          </p:cNvPr>
          <p:cNvSpPr/>
          <p:nvPr/>
        </p:nvSpPr>
        <p:spPr>
          <a:xfrm>
            <a:off x="457200" y="4709160"/>
            <a:ext cx="5559552" cy="896112"/>
          </a:xfrm>
          <a:prstGeom prst="roundRect">
            <a:avLst>
              <a:gd name="adj" fmla="val 8163"/>
            </a:avLst>
          </a:prstGeom>
          <a:solidFill>
            <a:srgbClr val="FFFFFF"/>
          </a:solidFill>
          <a:ln w="12700">
            <a:solidFill>
              <a:srgbClr val="E6E5EC"/>
            </a:solidFill>
            <a:prstDash val="solid"/>
          </a:ln>
        </p:spPr>
        <p:txBody>
          <a:bodyPr/>
          <a:lstStyle/>
          <a:p>
            <a:endParaRPr lang="en-PK"/>
          </a:p>
        </p:txBody>
      </p:sp>
      <p:sp>
        <p:nvSpPr>
          <p:cNvPr id="15" name="Text 13"/>
          <p:cNvSpPr txBox="1"/>
          <p:nvPr/>
        </p:nvSpPr>
        <p:spPr>
          <a:xfrm>
            <a:off x="457200" y="4709160"/>
            <a:ext cx="5559552" cy="896112"/>
          </a:xfrm>
          <a:prstGeom prst="rect">
            <a:avLst/>
          </a:prstGeom>
          <a:noFill/>
          <a:ln/>
        </p:spPr>
        <p:txBody>
          <a:bodyPr wrap="square" lIns="0" tIns="203200" rIns="203200" bIns="0" rtlCol="0" anchor="ctr"/>
          <a:lstStyle/>
          <a:p>
            <a:pPr marL="0" indent="0">
              <a:buNone/>
            </a:pPr>
            <a:r>
              <a:rPr lang="en-US" sz="1800" b="1" dirty="0">
                <a:solidFill>
                  <a:srgbClr val="C9B6F2"/>
                </a:solidFill>
                <a:latin typeface="Calibri" pitchFamily="34" charset="0"/>
                <a:ea typeface="Calibri" pitchFamily="34" charset="-122"/>
                <a:cs typeface="Calibri" pitchFamily="34" charset="-120"/>
              </a:rPr>
              <a:t>04   </a:t>
            </a:r>
            <a:r>
              <a:rPr lang="en-US" sz="1800" b="1" dirty="0">
                <a:solidFill>
                  <a:srgbClr val="2B0B5E"/>
                </a:solidFill>
                <a:latin typeface="Calibri" pitchFamily="34" charset="0"/>
                <a:ea typeface="Calibri" pitchFamily="34" charset="-122"/>
                <a:cs typeface="Calibri" pitchFamily="34" charset="-120"/>
              </a:rPr>
              <a:t>Modules and Main FRs</a:t>
            </a:r>
            <a:endParaRPr lang="en-US" sz="1800" dirty="0"/>
          </a:p>
        </p:txBody>
      </p:sp>
      <p:sp>
        <p:nvSpPr>
          <p:cNvPr id="16" name="Shape 14">
            <a:hlinkClick r:id="rId6" action="ppaction://hlinksldjump" tooltip="Modules and Main FRs"/>
          </p:cNvPr>
          <p:cNvSpPr/>
          <p:nvPr/>
        </p:nvSpPr>
        <p:spPr>
          <a:xfrm>
            <a:off x="457200" y="4709160"/>
            <a:ext cx="5559552" cy="896112"/>
          </a:xfrm>
          <a:prstGeom prst="rect">
            <a:avLst/>
          </a:prstGeom>
          <a:solidFill>
            <a:srgbClr val="FFFFFF">
              <a:alpha val="0"/>
            </a:srgbClr>
          </a:solidFill>
          <a:ln/>
        </p:spPr>
        <p:txBody>
          <a:bodyPr/>
          <a:lstStyle/>
          <a:p>
            <a:endParaRPr lang="en-PK"/>
          </a:p>
        </p:txBody>
      </p:sp>
      <p:sp>
        <p:nvSpPr>
          <p:cNvPr id="17" name="Shape 15">
            <a:hlinkClick r:id="rId7" action="ppaction://hlinksldjump" tooltip="Requirement Elicitation and Techniques"/>
          </p:cNvPr>
          <p:cNvSpPr/>
          <p:nvPr/>
        </p:nvSpPr>
        <p:spPr>
          <a:xfrm>
            <a:off x="6172200" y="1417320"/>
            <a:ext cx="5559552" cy="896112"/>
          </a:xfrm>
          <a:prstGeom prst="roundRect">
            <a:avLst>
              <a:gd name="adj" fmla="val 8163"/>
            </a:avLst>
          </a:prstGeom>
          <a:solidFill>
            <a:srgbClr val="FFFFFF"/>
          </a:solidFill>
          <a:ln w="12700">
            <a:solidFill>
              <a:srgbClr val="E6E5EC"/>
            </a:solidFill>
            <a:prstDash val="solid"/>
          </a:ln>
        </p:spPr>
        <p:txBody>
          <a:bodyPr/>
          <a:lstStyle/>
          <a:p>
            <a:endParaRPr lang="en-PK"/>
          </a:p>
        </p:txBody>
      </p:sp>
      <p:sp>
        <p:nvSpPr>
          <p:cNvPr id="18" name="Text 16"/>
          <p:cNvSpPr txBox="1"/>
          <p:nvPr/>
        </p:nvSpPr>
        <p:spPr>
          <a:xfrm>
            <a:off x="6172200" y="1417320"/>
            <a:ext cx="5559552" cy="896112"/>
          </a:xfrm>
          <a:prstGeom prst="rect">
            <a:avLst/>
          </a:prstGeom>
          <a:noFill/>
          <a:ln/>
        </p:spPr>
        <p:txBody>
          <a:bodyPr wrap="square" lIns="0" tIns="203200" rIns="203200" bIns="0" rtlCol="0" anchor="ctr"/>
          <a:lstStyle/>
          <a:p>
            <a:pPr marL="0" indent="0">
              <a:buNone/>
            </a:pPr>
            <a:r>
              <a:rPr lang="en-US" sz="1800" b="1" dirty="0">
                <a:solidFill>
                  <a:srgbClr val="C9B6F2"/>
                </a:solidFill>
                <a:latin typeface="Calibri" pitchFamily="34" charset="0"/>
                <a:ea typeface="Calibri" pitchFamily="34" charset="-122"/>
                <a:cs typeface="Calibri" pitchFamily="34" charset="-120"/>
              </a:rPr>
              <a:t>05   </a:t>
            </a:r>
            <a:r>
              <a:rPr lang="en-US" sz="1800" b="1" dirty="0">
                <a:solidFill>
                  <a:srgbClr val="2B0B5E"/>
                </a:solidFill>
                <a:latin typeface="Calibri" pitchFamily="34" charset="0"/>
                <a:ea typeface="Calibri" pitchFamily="34" charset="-122"/>
                <a:cs typeface="Calibri" pitchFamily="34" charset="-120"/>
              </a:rPr>
              <a:t>Requirement Elicitation and Techniques</a:t>
            </a:r>
            <a:endParaRPr lang="en-US" sz="1800" dirty="0"/>
          </a:p>
        </p:txBody>
      </p:sp>
      <p:sp>
        <p:nvSpPr>
          <p:cNvPr id="19" name="Shape 17">
            <a:hlinkClick r:id="rId7" action="ppaction://hlinksldjump" tooltip="Requirement Elicitation and Techniques"/>
          </p:cNvPr>
          <p:cNvSpPr/>
          <p:nvPr/>
        </p:nvSpPr>
        <p:spPr>
          <a:xfrm>
            <a:off x="6172200" y="1417320"/>
            <a:ext cx="5559552" cy="896112"/>
          </a:xfrm>
          <a:prstGeom prst="rect">
            <a:avLst/>
          </a:prstGeom>
          <a:solidFill>
            <a:srgbClr val="FFFFFF">
              <a:alpha val="0"/>
            </a:srgbClr>
          </a:solidFill>
          <a:ln/>
        </p:spPr>
        <p:txBody>
          <a:bodyPr/>
          <a:lstStyle/>
          <a:p>
            <a:endParaRPr lang="en-PK"/>
          </a:p>
        </p:txBody>
      </p:sp>
      <p:sp>
        <p:nvSpPr>
          <p:cNvPr id="20" name="Shape 18">
            <a:hlinkClick r:id="rId8" action="ppaction://hlinksldjump" tooltip="Use Case Diagram and Actors"/>
          </p:cNvPr>
          <p:cNvSpPr/>
          <p:nvPr/>
        </p:nvSpPr>
        <p:spPr>
          <a:xfrm>
            <a:off x="6172200" y="2514600"/>
            <a:ext cx="5559552" cy="896112"/>
          </a:xfrm>
          <a:prstGeom prst="roundRect">
            <a:avLst>
              <a:gd name="adj" fmla="val 8163"/>
            </a:avLst>
          </a:prstGeom>
          <a:solidFill>
            <a:srgbClr val="FFFFFF"/>
          </a:solidFill>
          <a:ln w="12700">
            <a:solidFill>
              <a:srgbClr val="E6E5EC"/>
            </a:solidFill>
            <a:prstDash val="solid"/>
          </a:ln>
        </p:spPr>
        <p:txBody>
          <a:bodyPr/>
          <a:lstStyle/>
          <a:p>
            <a:endParaRPr lang="en-PK"/>
          </a:p>
        </p:txBody>
      </p:sp>
      <p:sp>
        <p:nvSpPr>
          <p:cNvPr id="21" name="Text 19"/>
          <p:cNvSpPr txBox="1"/>
          <p:nvPr/>
        </p:nvSpPr>
        <p:spPr>
          <a:xfrm>
            <a:off x="6172200" y="2514600"/>
            <a:ext cx="5559552" cy="896112"/>
          </a:xfrm>
          <a:prstGeom prst="rect">
            <a:avLst/>
          </a:prstGeom>
          <a:noFill/>
          <a:ln/>
        </p:spPr>
        <p:txBody>
          <a:bodyPr wrap="square" lIns="0" tIns="203200" rIns="203200" bIns="0" rtlCol="0" anchor="ctr"/>
          <a:lstStyle/>
          <a:p>
            <a:pPr marL="0" indent="0">
              <a:buNone/>
            </a:pPr>
            <a:r>
              <a:rPr lang="en-US" sz="1800" b="1" dirty="0">
                <a:solidFill>
                  <a:srgbClr val="C9B6F2"/>
                </a:solidFill>
                <a:latin typeface="Calibri" pitchFamily="34" charset="0"/>
                <a:ea typeface="Calibri" pitchFamily="34" charset="-122"/>
                <a:cs typeface="Calibri" pitchFamily="34" charset="-120"/>
              </a:rPr>
              <a:t>06   </a:t>
            </a:r>
            <a:r>
              <a:rPr lang="en-US" sz="1800" b="1" dirty="0">
                <a:solidFill>
                  <a:srgbClr val="2B0B5E"/>
                </a:solidFill>
                <a:latin typeface="Calibri" pitchFamily="34" charset="0"/>
                <a:ea typeface="Calibri" pitchFamily="34" charset="-122"/>
                <a:cs typeface="Calibri" pitchFamily="34" charset="-120"/>
              </a:rPr>
              <a:t>Use Case Diagram and Actors</a:t>
            </a:r>
            <a:endParaRPr lang="en-US" sz="1800" dirty="0"/>
          </a:p>
        </p:txBody>
      </p:sp>
      <p:sp>
        <p:nvSpPr>
          <p:cNvPr id="22" name="Shape 20">
            <a:hlinkClick r:id="rId8" action="ppaction://hlinksldjump" tooltip="Use Case Diagram and Actors"/>
          </p:cNvPr>
          <p:cNvSpPr/>
          <p:nvPr/>
        </p:nvSpPr>
        <p:spPr>
          <a:xfrm>
            <a:off x="6172200" y="2514600"/>
            <a:ext cx="5559552" cy="896112"/>
          </a:xfrm>
          <a:prstGeom prst="rect">
            <a:avLst/>
          </a:prstGeom>
          <a:solidFill>
            <a:srgbClr val="FFFFFF">
              <a:alpha val="0"/>
            </a:srgbClr>
          </a:solidFill>
          <a:ln/>
        </p:spPr>
        <p:txBody>
          <a:bodyPr/>
          <a:lstStyle/>
          <a:p>
            <a:endParaRPr lang="en-PK"/>
          </a:p>
        </p:txBody>
      </p:sp>
      <p:sp>
        <p:nvSpPr>
          <p:cNvPr id="23" name="Shape 21">
            <a:hlinkClick r:id="rId9" action="ppaction://hlinksldjump" tooltip="Key Mockups with FRs and Rules"/>
          </p:cNvPr>
          <p:cNvSpPr/>
          <p:nvPr/>
        </p:nvSpPr>
        <p:spPr>
          <a:xfrm>
            <a:off x="6172200" y="3611880"/>
            <a:ext cx="5559552" cy="896112"/>
          </a:xfrm>
          <a:prstGeom prst="roundRect">
            <a:avLst>
              <a:gd name="adj" fmla="val 8163"/>
            </a:avLst>
          </a:prstGeom>
          <a:solidFill>
            <a:srgbClr val="FFFFFF"/>
          </a:solidFill>
          <a:ln w="12700">
            <a:solidFill>
              <a:srgbClr val="E6E5EC"/>
            </a:solidFill>
            <a:prstDash val="solid"/>
          </a:ln>
        </p:spPr>
        <p:txBody>
          <a:bodyPr/>
          <a:lstStyle/>
          <a:p>
            <a:endParaRPr lang="en-PK"/>
          </a:p>
        </p:txBody>
      </p:sp>
      <p:sp>
        <p:nvSpPr>
          <p:cNvPr id="24" name="Text 22"/>
          <p:cNvSpPr txBox="1"/>
          <p:nvPr/>
        </p:nvSpPr>
        <p:spPr>
          <a:xfrm>
            <a:off x="6172200" y="3611880"/>
            <a:ext cx="5559552" cy="896112"/>
          </a:xfrm>
          <a:prstGeom prst="rect">
            <a:avLst/>
          </a:prstGeom>
          <a:noFill/>
          <a:ln/>
        </p:spPr>
        <p:txBody>
          <a:bodyPr wrap="square" lIns="0" tIns="203200" rIns="203200" bIns="0" rtlCol="0" anchor="ctr"/>
          <a:lstStyle/>
          <a:p>
            <a:pPr marL="0" indent="0">
              <a:buNone/>
            </a:pPr>
            <a:r>
              <a:rPr lang="en-US" sz="1800" b="1" dirty="0">
                <a:solidFill>
                  <a:srgbClr val="C9B6F2"/>
                </a:solidFill>
                <a:latin typeface="Calibri" pitchFamily="34" charset="0"/>
                <a:ea typeface="Calibri" pitchFamily="34" charset="-122"/>
                <a:cs typeface="Calibri" pitchFamily="34" charset="-120"/>
              </a:rPr>
              <a:t>07   </a:t>
            </a:r>
            <a:r>
              <a:rPr lang="en-US" sz="1800" b="1" dirty="0">
                <a:solidFill>
                  <a:srgbClr val="2B0B5E"/>
                </a:solidFill>
                <a:latin typeface="Calibri" pitchFamily="34" charset="0"/>
                <a:ea typeface="Calibri" pitchFamily="34" charset="-122"/>
                <a:cs typeface="Calibri" pitchFamily="34" charset="-120"/>
              </a:rPr>
              <a:t>Key Mockups with FRs and Rules</a:t>
            </a:r>
            <a:endParaRPr lang="en-US" sz="1800" dirty="0"/>
          </a:p>
        </p:txBody>
      </p:sp>
      <p:sp>
        <p:nvSpPr>
          <p:cNvPr id="25" name="Shape 23">
            <a:hlinkClick r:id="rId9" action="ppaction://hlinksldjump" tooltip="Key Mockups with FRs and Rules"/>
          </p:cNvPr>
          <p:cNvSpPr/>
          <p:nvPr/>
        </p:nvSpPr>
        <p:spPr>
          <a:xfrm>
            <a:off x="6172200" y="3611880"/>
            <a:ext cx="5559552" cy="896112"/>
          </a:xfrm>
          <a:prstGeom prst="rect">
            <a:avLst/>
          </a:prstGeom>
          <a:solidFill>
            <a:srgbClr val="FFFFFF">
              <a:alpha val="0"/>
            </a:srgbClr>
          </a:solidFill>
          <a:ln/>
        </p:spPr>
        <p:txBody>
          <a:bodyPr/>
          <a:lstStyle/>
          <a:p>
            <a:endParaRPr lang="en-PK"/>
          </a:p>
        </p:txBody>
      </p:sp>
      <p:sp>
        <p:nvSpPr>
          <p:cNvPr id="26" name="Shape 24">
            <a:hlinkClick r:id="rId10" action="ppaction://hlinksldjump" tooltip="Non-Functional Requirements"/>
          </p:cNvPr>
          <p:cNvSpPr/>
          <p:nvPr/>
        </p:nvSpPr>
        <p:spPr>
          <a:xfrm>
            <a:off x="6172200" y="4709160"/>
            <a:ext cx="5559552" cy="896112"/>
          </a:xfrm>
          <a:prstGeom prst="roundRect">
            <a:avLst>
              <a:gd name="adj" fmla="val 8163"/>
            </a:avLst>
          </a:prstGeom>
          <a:solidFill>
            <a:srgbClr val="FFFFFF"/>
          </a:solidFill>
          <a:ln w="12700">
            <a:solidFill>
              <a:srgbClr val="E6E5EC"/>
            </a:solidFill>
            <a:prstDash val="solid"/>
          </a:ln>
        </p:spPr>
        <p:txBody>
          <a:bodyPr/>
          <a:lstStyle/>
          <a:p>
            <a:endParaRPr lang="en-PK"/>
          </a:p>
        </p:txBody>
      </p:sp>
      <p:sp>
        <p:nvSpPr>
          <p:cNvPr id="27" name="Text 25"/>
          <p:cNvSpPr txBox="1"/>
          <p:nvPr/>
        </p:nvSpPr>
        <p:spPr>
          <a:xfrm>
            <a:off x="6172200" y="4709160"/>
            <a:ext cx="5559552" cy="896112"/>
          </a:xfrm>
          <a:prstGeom prst="rect">
            <a:avLst/>
          </a:prstGeom>
          <a:noFill/>
          <a:ln/>
        </p:spPr>
        <p:txBody>
          <a:bodyPr wrap="square" lIns="0" tIns="203200" rIns="203200" bIns="0" rtlCol="0" anchor="ctr"/>
          <a:lstStyle/>
          <a:p>
            <a:pPr marL="0" indent="0">
              <a:buNone/>
            </a:pPr>
            <a:r>
              <a:rPr lang="en-US" sz="1800" b="1" dirty="0">
                <a:solidFill>
                  <a:srgbClr val="C9B6F2"/>
                </a:solidFill>
                <a:latin typeface="Calibri" pitchFamily="34" charset="0"/>
                <a:ea typeface="Calibri" pitchFamily="34" charset="-122"/>
                <a:cs typeface="Calibri" pitchFamily="34" charset="-120"/>
              </a:rPr>
              <a:t>08   </a:t>
            </a:r>
            <a:r>
              <a:rPr lang="en-US" sz="1800" b="1" dirty="0">
                <a:solidFill>
                  <a:srgbClr val="2B0B5E"/>
                </a:solidFill>
                <a:latin typeface="Calibri" pitchFamily="34" charset="0"/>
                <a:ea typeface="Calibri" pitchFamily="34" charset="-122"/>
                <a:cs typeface="Calibri" pitchFamily="34" charset="-120"/>
              </a:rPr>
              <a:t>Non-Functional Requirements</a:t>
            </a:r>
            <a:endParaRPr lang="en-US" sz="1800" dirty="0"/>
          </a:p>
        </p:txBody>
      </p:sp>
      <p:sp>
        <p:nvSpPr>
          <p:cNvPr id="28" name="Shape 26">
            <a:hlinkClick r:id="rId10" action="ppaction://hlinksldjump" tooltip="Non-Functional Requirements"/>
          </p:cNvPr>
          <p:cNvSpPr/>
          <p:nvPr/>
        </p:nvSpPr>
        <p:spPr>
          <a:xfrm>
            <a:off x="6172200" y="4709160"/>
            <a:ext cx="5559552" cy="896112"/>
          </a:xfrm>
          <a:prstGeom prst="rect">
            <a:avLst/>
          </a:prstGeom>
          <a:solidFill>
            <a:srgbClr val="FFFFFF">
              <a:alpha val="0"/>
            </a:srgbClr>
          </a:solidFill>
          <a:ln/>
        </p:spPr>
        <p:txBody>
          <a:bodyPr/>
          <a:lstStyle/>
          <a:p>
            <a:endParaRPr lang="en-PK"/>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INTRODUCTION</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Project Overview</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3</a:t>
            </a:r>
            <a:endParaRPr lang="en-US" sz="1000" dirty="0"/>
          </a:p>
        </p:txBody>
      </p:sp>
      <p:sp>
        <p:nvSpPr>
          <p:cNvPr id="6" name="Text 4"/>
          <p:cNvSpPr txBox="1"/>
          <p:nvPr/>
        </p:nvSpPr>
        <p:spPr>
          <a:xfrm>
            <a:off x="457200" y="1280160"/>
            <a:ext cx="6766560" cy="1005840"/>
          </a:xfrm>
          <a:prstGeom prst="rect">
            <a:avLst/>
          </a:prstGeom>
          <a:noFill/>
          <a:ln/>
        </p:spPr>
        <p:txBody>
          <a:bodyPr wrap="square" lIns="0" tIns="0" rIns="0" bIns="0" rtlCol="0" anchor="t"/>
          <a:lstStyle/>
          <a:p>
            <a:pPr marL="0" indent="0">
              <a:buNone/>
            </a:pPr>
            <a:r>
              <a:rPr lang="en-US" sz="2000" b="1" dirty="0">
                <a:solidFill>
                  <a:srgbClr val="4B1FA0"/>
                </a:solidFill>
                <a:latin typeface="Calibri" pitchFamily="34" charset="0"/>
                <a:ea typeface="Calibri" pitchFamily="34" charset="-122"/>
                <a:cs typeface="Calibri" pitchFamily="34" charset="-120"/>
              </a:rPr>
              <a:t>PropBot</a:t>
            </a:r>
            <a:r>
              <a:rPr lang="en-US" sz="2000" dirty="0">
                <a:solidFill>
                  <a:srgbClr val="1A1A22"/>
                </a:solidFill>
                <a:latin typeface="Calibri" pitchFamily="34" charset="0"/>
                <a:ea typeface="Calibri" pitchFamily="34" charset="-122"/>
                <a:cs typeface="Calibri" pitchFamily="34" charset="-120"/>
              </a:rPr>
              <a:t> is a web platform with a companion Android app that takes a telecom RFP from upload to a verified, ready-to-submit bid package.</a:t>
            </a:r>
            <a:endParaRPr lang="en-US" sz="2000" dirty="0"/>
          </a:p>
        </p:txBody>
      </p:sp>
      <p:sp>
        <p:nvSpPr>
          <p:cNvPr id="7" name="Text 5"/>
          <p:cNvSpPr txBox="1"/>
          <p:nvPr/>
        </p:nvSpPr>
        <p:spPr>
          <a:xfrm>
            <a:off x="457200" y="2377440"/>
            <a:ext cx="6766560" cy="1097280"/>
          </a:xfrm>
          <a:prstGeom prst="rect">
            <a:avLst/>
          </a:prstGeom>
          <a:noFill/>
          <a:ln/>
        </p:spPr>
        <p:txBody>
          <a:bodyPr wrap="square" lIns="0" tIns="0" rIns="0" bIns="0" rtlCol="0" anchor="t"/>
          <a:lstStyle/>
          <a:p>
            <a:pPr marL="0" indent="0">
              <a:buNone/>
            </a:pPr>
            <a:r>
              <a:rPr lang="en-US" sz="1500" dirty="0">
                <a:solidFill>
                  <a:srgbClr val="5E5E6B"/>
                </a:solidFill>
                <a:latin typeface="Calibri" pitchFamily="34" charset="0"/>
                <a:ea typeface="Calibri" pitchFamily="34" charset="-122"/>
                <a:cs typeface="Calibri" pitchFamily="34" charset="-120"/>
              </a:rPr>
              <a:t>It reads the RFP, builds the checklist and compliance matrix, drafts the proposal from the company’s own past work, fills the BOQ and network diagram, and blocks submission until everything required is in place.</a:t>
            </a:r>
            <a:endParaRPr lang="en-US" sz="1500" dirty="0"/>
          </a:p>
        </p:txBody>
      </p:sp>
      <p:sp>
        <p:nvSpPr>
          <p:cNvPr id="8" name="Text 6"/>
          <p:cNvSpPr txBox="1"/>
          <p:nvPr/>
        </p:nvSpPr>
        <p:spPr>
          <a:xfrm>
            <a:off x="457200" y="3703320"/>
            <a:ext cx="6766560" cy="274320"/>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WHAT PROPBOT PRODUCES</a:t>
            </a:r>
            <a:endParaRPr lang="en-US" sz="1100" dirty="0"/>
          </a:p>
        </p:txBody>
      </p:sp>
      <p:sp>
        <p:nvSpPr>
          <p:cNvPr id="9" name="Text 7"/>
          <p:cNvSpPr txBox="1"/>
          <p:nvPr/>
        </p:nvSpPr>
        <p:spPr>
          <a:xfrm>
            <a:off x="457200" y="4069080"/>
            <a:ext cx="1609344" cy="457200"/>
          </a:xfrm>
          <a:prstGeom prst="rect">
            <a:avLst/>
          </a:prstGeom>
          <a:solidFill>
            <a:srgbClr val="EFE7FB"/>
          </a:solidFill>
          <a:ln/>
        </p:spPr>
        <p:txBody>
          <a:bodyPr wrap="square" lIns="0" tIns="0" rIns="0" bIns="0" rtlCol="0" anchor="ctr"/>
          <a:lstStyle/>
          <a:p>
            <a:pPr marL="0" indent="0" algn="ctr">
              <a:buNone/>
            </a:pPr>
            <a:r>
              <a:rPr lang="en-US" sz="1200" b="1" dirty="0">
                <a:solidFill>
                  <a:srgbClr val="2B0B5E"/>
                </a:solidFill>
                <a:latin typeface="Calibri" pitchFamily="34" charset="0"/>
                <a:ea typeface="Calibri" pitchFamily="34" charset="-122"/>
                <a:cs typeface="Calibri" pitchFamily="34" charset="-120"/>
              </a:rPr>
              <a:t>Submission checklist</a:t>
            </a:r>
            <a:endParaRPr lang="en-US" sz="1200" dirty="0"/>
          </a:p>
        </p:txBody>
      </p:sp>
      <p:sp>
        <p:nvSpPr>
          <p:cNvPr id="10" name="Text 8"/>
          <p:cNvSpPr txBox="1"/>
          <p:nvPr/>
        </p:nvSpPr>
        <p:spPr>
          <a:xfrm>
            <a:off x="2176272" y="4069080"/>
            <a:ext cx="1609344" cy="457200"/>
          </a:xfrm>
          <a:prstGeom prst="rect">
            <a:avLst/>
          </a:prstGeom>
          <a:solidFill>
            <a:srgbClr val="EFE7FB"/>
          </a:solidFill>
          <a:ln/>
        </p:spPr>
        <p:txBody>
          <a:bodyPr wrap="square" lIns="0" tIns="0" rIns="0" bIns="0" rtlCol="0" anchor="ctr"/>
          <a:lstStyle/>
          <a:p>
            <a:pPr marL="0" indent="0" algn="ctr">
              <a:buNone/>
            </a:pPr>
            <a:r>
              <a:rPr lang="en-US" sz="1200" b="1" dirty="0">
                <a:solidFill>
                  <a:srgbClr val="2B0B5E"/>
                </a:solidFill>
                <a:latin typeface="Calibri" pitchFamily="34" charset="0"/>
                <a:ea typeface="Calibri" pitchFamily="34" charset="-122"/>
                <a:cs typeface="Calibri" pitchFamily="34" charset="-120"/>
              </a:rPr>
              <a:t>Compliance matrix</a:t>
            </a:r>
            <a:endParaRPr lang="en-US" sz="1200" dirty="0"/>
          </a:p>
        </p:txBody>
      </p:sp>
      <p:sp>
        <p:nvSpPr>
          <p:cNvPr id="11" name="Text 9"/>
          <p:cNvSpPr txBox="1"/>
          <p:nvPr/>
        </p:nvSpPr>
        <p:spPr>
          <a:xfrm>
            <a:off x="3895344" y="4069080"/>
            <a:ext cx="1609344" cy="457200"/>
          </a:xfrm>
          <a:prstGeom prst="rect">
            <a:avLst/>
          </a:prstGeom>
          <a:solidFill>
            <a:srgbClr val="EFE7FB"/>
          </a:solidFill>
          <a:ln/>
        </p:spPr>
        <p:txBody>
          <a:bodyPr wrap="square" lIns="0" tIns="0" rIns="0" bIns="0" rtlCol="0" anchor="ctr"/>
          <a:lstStyle/>
          <a:p>
            <a:pPr marL="0" indent="0" algn="ctr">
              <a:buNone/>
            </a:pPr>
            <a:r>
              <a:rPr lang="en-US" sz="1200" b="1" dirty="0">
                <a:solidFill>
                  <a:srgbClr val="2B0B5E"/>
                </a:solidFill>
                <a:latin typeface="Calibri" pitchFamily="34" charset="0"/>
                <a:ea typeface="Calibri" pitchFamily="34" charset="-122"/>
                <a:cs typeface="Calibri" pitchFamily="34" charset="-120"/>
              </a:rPr>
              <a:t>Technical proposal</a:t>
            </a:r>
            <a:endParaRPr lang="en-US" sz="1200" dirty="0"/>
          </a:p>
        </p:txBody>
      </p:sp>
      <p:sp>
        <p:nvSpPr>
          <p:cNvPr id="12" name="Text 10"/>
          <p:cNvSpPr txBox="1"/>
          <p:nvPr/>
        </p:nvSpPr>
        <p:spPr>
          <a:xfrm>
            <a:off x="5614416" y="4069080"/>
            <a:ext cx="1609344" cy="457200"/>
          </a:xfrm>
          <a:prstGeom prst="rect">
            <a:avLst/>
          </a:prstGeom>
          <a:solidFill>
            <a:srgbClr val="EFE7FB"/>
          </a:solidFill>
          <a:ln/>
        </p:spPr>
        <p:txBody>
          <a:bodyPr wrap="square" lIns="0" tIns="0" rIns="0" bIns="0" rtlCol="0" anchor="ctr"/>
          <a:lstStyle/>
          <a:p>
            <a:pPr marL="0" indent="0" algn="ctr">
              <a:buNone/>
            </a:pPr>
            <a:r>
              <a:rPr lang="en-US" sz="1200" b="1" dirty="0">
                <a:solidFill>
                  <a:srgbClr val="2B0B5E"/>
                </a:solidFill>
                <a:latin typeface="Calibri" pitchFamily="34" charset="0"/>
                <a:ea typeface="Calibri" pitchFamily="34" charset="-122"/>
                <a:cs typeface="Calibri" pitchFamily="34" charset="-120"/>
              </a:rPr>
              <a:t>Bill of Quantities</a:t>
            </a:r>
            <a:endParaRPr lang="en-US" sz="1200" dirty="0"/>
          </a:p>
        </p:txBody>
      </p:sp>
      <p:sp>
        <p:nvSpPr>
          <p:cNvPr id="13" name="Text 11"/>
          <p:cNvSpPr txBox="1"/>
          <p:nvPr/>
        </p:nvSpPr>
        <p:spPr>
          <a:xfrm>
            <a:off x="457200" y="4636008"/>
            <a:ext cx="1609344" cy="457200"/>
          </a:xfrm>
          <a:prstGeom prst="rect">
            <a:avLst/>
          </a:prstGeom>
          <a:solidFill>
            <a:srgbClr val="EFE7FB"/>
          </a:solidFill>
          <a:ln/>
        </p:spPr>
        <p:txBody>
          <a:bodyPr wrap="square" lIns="0" tIns="0" rIns="0" bIns="0" rtlCol="0" anchor="ctr"/>
          <a:lstStyle/>
          <a:p>
            <a:pPr marL="0" indent="0" algn="ctr">
              <a:buNone/>
            </a:pPr>
            <a:r>
              <a:rPr lang="en-US" sz="1200" b="1" dirty="0">
                <a:solidFill>
                  <a:srgbClr val="2B0B5E"/>
                </a:solidFill>
                <a:latin typeface="Calibri" pitchFamily="34" charset="0"/>
                <a:ea typeface="Calibri" pitchFamily="34" charset="-122"/>
                <a:cs typeface="Calibri" pitchFamily="34" charset="-120"/>
              </a:rPr>
              <a:t>HLD diagram</a:t>
            </a:r>
            <a:endParaRPr lang="en-US" sz="1200" dirty="0"/>
          </a:p>
        </p:txBody>
      </p:sp>
      <p:sp>
        <p:nvSpPr>
          <p:cNvPr id="14" name="Text 12"/>
          <p:cNvSpPr txBox="1"/>
          <p:nvPr/>
        </p:nvSpPr>
        <p:spPr>
          <a:xfrm>
            <a:off x="2176272" y="4636008"/>
            <a:ext cx="1609344" cy="457200"/>
          </a:xfrm>
          <a:prstGeom prst="rect">
            <a:avLst/>
          </a:prstGeom>
          <a:solidFill>
            <a:srgbClr val="EFE7FB"/>
          </a:solidFill>
          <a:ln/>
        </p:spPr>
        <p:txBody>
          <a:bodyPr wrap="square" lIns="0" tIns="0" rIns="0" bIns="0" rtlCol="0" anchor="ctr"/>
          <a:lstStyle/>
          <a:p>
            <a:pPr marL="0" indent="0" algn="ctr">
              <a:buNone/>
            </a:pPr>
            <a:r>
              <a:rPr lang="en-US" sz="1200" b="1" dirty="0">
                <a:solidFill>
                  <a:srgbClr val="2B0B5E"/>
                </a:solidFill>
                <a:latin typeface="Calibri" pitchFamily="34" charset="0"/>
                <a:ea typeface="Calibri" pitchFamily="34" charset="-122"/>
                <a:cs typeface="Calibri" pitchFamily="34" charset="-120"/>
              </a:rPr>
              <a:t>Responsibility matrix</a:t>
            </a:r>
            <a:endParaRPr lang="en-US" sz="1200" dirty="0"/>
          </a:p>
        </p:txBody>
      </p:sp>
      <p:sp>
        <p:nvSpPr>
          <p:cNvPr id="15" name="Text 13"/>
          <p:cNvSpPr txBox="1"/>
          <p:nvPr/>
        </p:nvSpPr>
        <p:spPr>
          <a:xfrm>
            <a:off x="3895344" y="4636008"/>
            <a:ext cx="1609344" cy="457200"/>
          </a:xfrm>
          <a:prstGeom prst="rect">
            <a:avLst/>
          </a:prstGeom>
          <a:solidFill>
            <a:srgbClr val="EFE7FB"/>
          </a:solidFill>
          <a:ln/>
        </p:spPr>
        <p:txBody>
          <a:bodyPr wrap="square" lIns="0" tIns="0" rIns="0" bIns="0" rtlCol="0" anchor="ctr"/>
          <a:lstStyle/>
          <a:p>
            <a:pPr marL="0" indent="0" algn="ctr">
              <a:buNone/>
            </a:pPr>
            <a:r>
              <a:rPr lang="en-US" sz="1200" b="1" dirty="0">
                <a:solidFill>
                  <a:srgbClr val="2B0B5E"/>
                </a:solidFill>
                <a:latin typeface="Calibri" pitchFamily="34" charset="0"/>
                <a:ea typeface="Calibri" pitchFamily="34" charset="-122"/>
                <a:cs typeface="Calibri" pitchFamily="34" charset="-120"/>
              </a:rPr>
              <a:t>ZIP package</a:t>
            </a:r>
            <a:endParaRPr lang="en-US" sz="1200" dirty="0"/>
          </a:p>
        </p:txBody>
      </p:sp>
      <p:sp>
        <p:nvSpPr>
          <p:cNvPr id="16" name="Shape 14"/>
          <p:cNvSpPr/>
          <p:nvPr/>
        </p:nvSpPr>
        <p:spPr>
          <a:xfrm>
            <a:off x="7635240" y="1280160"/>
            <a:ext cx="4096512" cy="1024128"/>
          </a:xfrm>
          <a:prstGeom prst="roundRect">
            <a:avLst>
              <a:gd name="adj" fmla="val 8929"/>
            </a:avLst>
          </a:prstGeom>
          <a:solidFill>
            <a:srgbClr val="2B0B5E"/>
          </a:solidFill>
          <a:ln w="12700">
            <a:solidFill>
              <a:srgbClr val="E6E5EC"/>
            </a:solidFill>
            <a:prstDash val="solid"/>
          </a:ln>
        </p:spPr>
        <p:txBody>
          <a:bodyPr/>
          <a:lstStyle/>
          <a:p>
            <a:endParaRPr lang="en-PK"/>
          </a:p>
        </p:txBody>
      </p:sp>
      <p:sp>
        <p:nvSpPr>
          <p:cNvPr id="17" name="Text 15"/>
          <p:cNvSpPr txBox="1"/>
          <p:nvPr/>
        </p:nvSpPr>
        <p:spPr>
          <a:xfrm>
            <a:off x="7863840" y="1389888"/>
            <a:ext cx="3657600" cy="502920"/>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18</a:t>
            </a:r>
            <a:endParaRPr lang="en-US" sz="3000" dirty="0"/>
          </a:p>
        </p:txBody>
      </p:sp>
      <p:sp>
        <p:nvSpPr>
          <p:cNvPr id="18" name="Text 16"/>
          <p:cNvSpPr txBox="1"/>
          <p:nvPr/>
        </p:nvSpPr>
        <p:spPr>
          <a:xfrm>
            <a:off x="7863840" y="1901952"/>
            <a:ext cx="3657600" cy="320040"/>
          </a:xfrm>
          <a:prstGeom prst="rect">
            <a:avLst/>
          </a:prstGeom>
          <a:noFill/>
          <a:ln/>
        </p:spPr>
        <p:txBody>
          <a:bodyPr wrap="square" lIns="0" tIns="0" rIns="0" bIns="0" rtlCol="0" anchor="t"/>
          <a:lstStyle/>
          <a:p>
            <a:pPr marL="0" indent="0">
              <a:buNone/>
            </a:pPr>
            <a:r>
              <a:rPr lang="en-US" sz="1300" dirty="0">
                <a:solidFill>
                  <a:srgbClr val="E4DAF8"/>
                </a:solidFill>
                <a:latin typeface="Calibri" pitchFamily="34" charset="0"/>
                <a:ea typeface="Calibri" pitchFamily="34" charset="-122"/>
                <a:cs typeface="Calibri" pitchFamily="34" charset="-120"/>
              </a:rPr>
              <a:t>modules</a:t>
            </a:r>
            <a:endParaRPr lang="en-US" sz="1300" dirty="0"/>
          </a:p>
        </p:txBody>
      </p:sp>
      <p:sp>
        <p:nvSpPr>
          <p:cNvPr id="19" name="Shape 17"/>
          <p:cNvSpPr/>
          <p:nvPr/>
        </p:nvSpPr>
        <p:spPr>
          <a:xfrm>
            <a:off x="7635240" y="2441448"/>
            <a:ext cx="4096512" cy="1024128"/>
          </a:xfrm>
          <a:prstGeom prst="roundRect">
            <a:avLst>
              <a:gd name="adj" fmla="val 8929"/>
            </a:avLst>
          </a:prstGeom>
          <a:solidFill>
            <a:srgbClr val="FFFFFF"/>
          </a:solidFill>
          <a:ln w="12700">
            <a:solidFill>
              <a:srgbClr val="E6E5EC"/>
            </a:solidFill>
            <a:prstDash val="solid"/>
          </a:ln>
        </p:spPr>
        <p:txBody>
          <a:bodyPr/>
          <a:lstStyle/>
          <a:p>
            <a:endParaRPr lang="en-PK"/>
          </a:p>
        </p:txBody>
      </p:sp>
      <p:sp>
        <p:nvSpPr>
          <p:cNvPr id="20" name="Text 18"/>
          <p:cNvSpPr txBox="1"/>
          <p:nvPr/>
        </p:nvSpPr>
        <p:spPr>
          <a:xfrm>
            <a:off x="7863840" y="2551176"/>
            <a:ext cx="3657600" cy="502920"/>
          </a:xfrm>
          <a:prstGeom prst="rect">
            <a:avLst/>
          </a:prstGeom>
          <a:noFill/>
          <a:ln/>
        </p:spPr>
        <p:txBody>
          <a:bodyPr wrap="square" lIns="0" tIns="0" rIns="0" bIns="0" rtlCol="0" anchor="t"/>
          <a:lstStyle/>
          <a:p>
            <a:pPr marL="0" indent="0">
              <a:buNone/>
            </a:pPr>
            <a:r>
              <a:rPr lang="en-US" sz="3000" b="1" dirty="0">
                <a:solidFill>
                  <a:srgbClr val="4B1FA0"/>
                </a:solidFill>
                <a:latin typeface="Calibri" pitchFamily="34" charset="0"/>
                <a:ea typeface="Calibri" pitchFamily="34" charset="-122"/>
                <a:cs typeface="Calibri" pitchFamily="34" charset="-120"/>
              </a:rPr>
              <a:t>5</a:t>
            </a:r>
            <a:endParaRPr lang="en-US" sz="3000" dirty="0"/>
          </a:p>
        </p:txBody>
      </p:sp>
      <p:sp>
        <p:nvSpPr>
          <p:cNvPr id="21" name="Text 19"/>
          <p:cNvSpPr txBox="1"/>
          <p:nvPr/>
        </p:nvSpPr>
        <p:spPr>
          <a:xfrm>
            <a:off x="7863840" y="3063240"/>
            <a:ext cx="3657600" cy="320040"/>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user roles</a:t>
            </a:r>
            <a:endParaRPr lang="en-US" sz="1300" dirty="0"/>
          </a:p>
        </p:txBody>
      </p:sp>
      <p:sp>
        <p:nvSpPr>
          <p:cNvPr id="22" name="Shape 20"/>
          <p:cNvSpPr/>
          <p:nvPr/>
        </p:nvSpPr>
        <p:spPr>
          <a:xfrm>
            <a:off x="7635240" y="3602736"/>
            <a:ext cx="4096512" cy="1024128"/>
          </a:xfrm>
          <a:prstGeom prst="roundRect">
            <a:avLst>
              <a:gd name="adj" fmla="val 8929"/>
            </a:avLst>
          </a:prstGeom>
          <a:solidFill>
            <a:srgbClr val="FFFFFF"/>
          </a:solidFill>
          <a:ln w="12700">
            <a:solidFill>
              <a:srgbClr val="E6E5EC"/>
            </a:solidFill>
            <a:prstDash val="solid"/>
          </a:ln>
        </p:spPr>
        <p:txBody>
          <a:bodyPr/>
          <a:lstStyle/>
          <a:p>
            <a:endParaRPr lang="en-PK"/>
          </a:p>
        </p:txBody>
      </p:sp>
      <p:sp>
        <p:nvSpPr>
          <p:cNvPr id="23" name="Text 21"/>
          <p:cNvSpPr txBox="1"/>
          <p:nvPr/>
        </p:nvSpPr>
        <p:spPr>
          <a:xfrm>
            <a:off x="7863840" y="3712464"/>
            <a:ext cx="3657600" cy="502920"/>
          </a:xfrm>
          <a:prstGeom prst="rect">
            <a:avLst/>
          </a:prstGeom>
          <a:noFill/>
          <a:ln/>
        </p:spPr>
        <p:txBody>
          <a:bodyPr wrap="square" lIns="0" tIns="0" rIns="0" bIns="0" rtlCol="0" anchor="t"/>
          <a:lstStyle/>
          <a:p>
            <a:pPr marL="0" indent="0">
              <a:buNone/>
            </a:pPr>
            <a:r>
              <a:rPr lang="en-US" sz="3000" b="1" dirty="0">
                <a:solidFill>
                  <a:srgbClr val="4B1FA0"/>
                </a:solidFill>
                <a:latin typeface="Calibri" pitchFamily="34" charset="0"/>
                <a:ea typeface="Calibri" pitchFamily="34" charset="-122"/>
                <a:cs typeface="Calibri" pitchFamily="34" charset="-120"/>
              </a:rPr>
              <a:t>118</a:t>
            </a:r>
            <a:endParaRPr lang="en-US" sz="3000" dirty="0"/>
          </a:p>
        </p:txBody>
      </p:sp>
      <p:sp>
        <p:nvSpPr>
          <p:cNvPr id="24" name="Text 22"/>
          <p:cNvSpPr txBox="1"/>
          <p:nvPr/>
        </p:nvSpPr>
        <p:spPr>
          <a:xfrm>
            <a:off x="7863840" y="4224528"/>
            <a:ext cx="3657600" cy="320040"/>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functional requirements</a:t>
            </a:r>
            <a:endParaRPr lang="en-US" sz="1300" dirty="0"/>
          </a:p>
        </p:txBody>
      </p:sp>
      <p:sp>
        <p:nvSpPr>
          <p:cNvPr id="25" name="Shape 23"/>
          <p:cNvSpPr/>
          <p:nvPr/>
        </p:nvSpPr>
        <p:spPr>
          <a:xfrm>
            <a:off x="7635240" y="4764024"/>
            <a:ext cx="4096512" cy="1024128"/>
          </a:xfrm>
          <a:prstGeom prst="roundRect">
            <a:avLst>
              <a:gd name="adj" fmla="val 8929"/>
            </a:avLst>
          </a:prstGeom>
          <a:solidFill>
            <a:srgbClr val="FFFFFF"/>
          </a:solidFill>
          <a:ln w="12700">
            <a:solidFill>
              <a:srgbClr val="E6E5EC"/>
            </a:solidFill>
            <a:prstDash val="solid"/>
          </a:ln>
        </p:spPr>
        <p:txBody>
          <a:bodyPr/>
          <a:lstStyle/>
          <a:p>
            <a:endParaRPr lang="en-PK"/>
          </a:p>
        </p:txBody>
      </p:sp>
      <p:sp>
        <p:nvSpPr>
          <p:cNvPr id="26" name="Text 24"/>
          <p:cNvSpPr txBox="1"/>
          <p:nvPr/>
        </p:nvSpPr>
        <p:spPr>
          <a:xfrm>
            <a:off x="7863840" y="4873752"/>
            <a:ext cx="3657600" cy="502920"/>
          </a:xfrm>
          <a:prstGeom prst="rect">
            <a:avLst/>
          </a:prstGeom>
          <a:noFill/>
          <a:ln/>
        </p:spPr>
        <p:txBody>
          <a:bodyPr wrap="square" lIns="0" tIns="0" rIns="0" bIns="0" rtlCol="0" anchor="t"/>
          <a:lstStyle/>
          <a:p>
            <a:pPr marL="0" indent="0">
              <a:buNone/>
            </a:pPr>
            <a:r>
              <a:rPr lang="en-US" sz="2400" b="1" dirty="0">
                <a:solidFill>
                  <a:srgbClr val="4B1FA0"/>
                </a:solidFill>
                <a:latin typeface="Calibri" pitchFamily="34" charset="0"/>
                <a:ea typeface="Calibri" pitchFamily="34" charset="-122"/>
                <a:cs typeface="Calibri" pitchFamily="34" charset="-120"/>
              </a:rPr>
              <a:t>Web + Android</a:t>
            </a:r>
            <a:endParaRPr lang="en-US" sz="2400" dirty="0"/>
          </a:p>
        </p:txBody>
      </p:sp>
      <p:sp>
        <p:nvSpPr>
          <p:cNvPr id="27" name="Text 25"/>
          <p:cNvSpPr txBox="1"/>
          <p:nvPr/>
        </p:nvSpPr>
        <p:spPr>
          <a:xfrm>
            <a:off x="7863840" y="5385816"/>
            <a:ext cx="3657600" cy="320040"/>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one backend, one set of roles</a:t>
            </a:r>
            <a:endParaRPr lang="en-US" sz="1300" dirty="0"/>
          </a:p>
        </p:txBody>
      </p:sp>
      <p:sp>
        <p:nvSpPr>
          <p:cNvPr id="28" name="Text 26">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29" name="Text 27">
            <a:hlinkClick r:id="rId3"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30" name="Text 28">
            <a:hlinkClick r:id="rId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INTRODUCTION</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Problem Statement</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4</a:t>
            </a:r>
            <a:endParaRPr lang="en-US" sz="1000" dirty="0"/>
          </a:p>
        </p:txBody>
      </p:sp>
      <p:sp>
        <p:nvSpPr>
          <p:cNvPr id="6" name="Shape 4"/>
          <p:cNvSpPr/>
          <p:nvPr/>
        </p:nvSpPr>
        <p:spPr>
          <a:xfrm>
            <a:off x="457200" y="1325880"/>
            <a:ext cx="5532120" cy="3703320"/>
          </a:xfrm>
          <a:prstGeom prst="roundRect">
            <a:avLst>
              <a:gd name="adj" fmla="val 2469"/>
            </a:avLst>
          </a:prstGeom>
          <a:solidFill>
            <a:srgbClr val="FFFFFF"/>
          </a:solidFill>
          <a:ln w="12700">
            <a:solidFill>
              <a:srgbClr val="E6E5EC"/>
            </a:solidFill>
            <a:prstDash val="solid"/>
          </a:ln>
        </p:spPr>
        <p:txBody>
          <a:bodyPr/>
          <a:lstStyle/>
          <a:p>
            <a:endParaRPr lang="en-PK"/>
          </a:p>
        </p:txBody>
      </p:sp>
      <p:sp>
        <p:nvSpPr>
          <p:cNvPr id="7" name="Text 5"/>
          <p:cNvSpPr txBox="1"/>
          <p:nvPr/>
        </p:nvSpPr>
        <p:spPr>
          <a:xfrm>
            <a:off x="640080" y="1472184"/>
            <a:ext cx="5166360" cy="365760"/>
          </a:xfrm>
          <a:prstGeom prst="rect">
            <a:avLst/>
          </a:prstGeom>
          <a:noFill/>
          <a:ln/>
        </p:spPr>
        <p:txBody>
          <a:bodyPr wrap="square" lIns="0" tIns="0" rIns="0" bIns="0" rtlCol="0" anchor="t"/>
          <a:lstStyle/>
          <a:p>
            <a:pPr marL="0" indent="0">
              <a:buNone/>
            </a:pPr>
            <a:r>
              <a:rPr lang="en-US" sz="1500" b="1" dirty="0">
                <a:solidFill>
                  <a:srgbClr val="2B0B5E"/>
                </a:solidFill>
                <a:latin typeface="Calibri" pitchFamily="34" charset="0"/>
                <a:ea typeface="Calibri" pitchFamily="34" charset="-122"/>
                <a:cs typeface="Calibri" pitchFamily="34" charset="-120"/>
              </a:rPr>
              <a:t>Problem</a:t>
            </a:r>
            <a:endParaRPr lang="en-US" sz="1500" dirty="0"/>
          </a:p>
        </p:txBody>
      </p:sp>
      <p:sp>
        <p:nvSpPr>
          <p:cNvPr id="8" name="Text 6"/>
          <p:cNvSpPr txBox="1"/>
          <p:nvPr/>
        </p:nvSpPr>
        <p:spPr>
          <a:xfrm>
            <a:off x="640080" y="1874520"/>
            <a:ext cx="5166360" cy="310896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1A1A22"/>
                </a:solidFill>
                <a:latin typeface="Calibri" pitchFamily="34" charset="0"/>
                <a:ea typeface="Calibri" pitchFamily="34" charset="-122"/>
                <a:cs typeface="Calibri" pitchFamily="34" charset="-120"/>
              </a:rPr>
              <a:t>Telecom RFPs are long and mix technical, commercial, financial and legal content in one file.</a:t>
            </a:r>
            <a:endParaRPr lang="en-US" sz="1600" dirty="0"/>
          </a:p>
          <a:p>
            <a:pPr marL="177800" indent="-177800">
              <a:spcAft>
                <a:spcPts val="500"/>
              </a:spcAft>
              <a:buSzPct val="100000"/>
              <a:buChar char="•"/>
            </a:pPr>
            <a:r>
              <a:rPr lang="en-US" sz="1600" dirty="0">
                <a:solidFill>
                  <a:srgbClr val="1A1A22"/>
                </a:solidFill>
                <a:latin typeface="Calibri" pitchFamily="34" charset="0"/>
                <a:ea typeface="Calibri" pitchFamily="34" charset="-122"/>
                <a:cs typeface="Calibri" pitchFamily="34" charset="-120"/>
              </a:rPr>
              <a:t>Presales engineers prepare the checklist, compliance sheet, BOQ, network diagram and proposal by hand for every bid.</a:t>
            </a:r>
            <a:endParaRPr lang="en-US" sz="1600" dirty="0"/>
          </a:p>
          <a:p>
            <a:pPr marL="177800" indent="-177800">
              <a:spcAft>
                <a:spcPts val="500"/>
              </a:spcAft>
              <a:buSzPct val="100000"/>
              <a:buChar char="•"/>
            </a:pPr>
            <a:r>
              <a:rPr lang="en-US" sz="1600" dirty="0">
                <a:solidFill>
                  <a:srgbClr val="1A1A22"/>
                </a:solidFill>
                <a:latin typeface="Calibri" pitchFamily="34" charset="0"/>
                <a:ea typeface="Calibri" pitchFamily="34" charset="-122"/>
                <a:cs typeface="Calibri" pitchFamily="34" charset="-120"/>
              </a:rPr>
              <a:t>Work is spread across laptops, spreadsheets and email; reviews and approvals also happen by email.</a:t>
            </a:r>
            <a:endParaRPr lang="en-US" sz="1600" dirty="0"/>
          </a:p>
          <a:p>
            <a:pPr marL="177800" indent="-177800">
              <a:spcAft>
                <a:spcPts val="500"/>
              </a:spcAft>
              <a:buSzPct val="100000"/>
              <a:buChar char="•"/>
            </a:pPr>
            <a:r>
              <a:rPr lang="en-US" sz="1600" dirty="0">
                <a:solidFill>
                  <a:srgbClr val="1A1A22"/>
                </a:solidFill>
                <a:latin typeface="Calibri" pitchFamily="34" charset="0"/>
                <a:ea typeface="Calibri" pitchFamily="34" charset="-122"/>
                <a:cs typeface="Calibri" pitchFamily="34" charset="-120"/>
              </a:rPr>
              <a:t>Several RFPs run at once, each with its own closing date.</a:t>
            </a:r>
            <a:endParaRPr lang="en-US" sz="1600" dirty="0"/>
          </a:p>
        </p:txBody>
      </p:sp>
      <p:sp>
        <p:nvSpPr>
          <p:cNvPr id="9" name="Shape 7"/>
          <p:cNvSpPr/>
          <p:nvPr/>
        </p:nvSpPr>
        <p:spPr>
          <a:xfrm>
            <a:off x="6199632" y="1325880"/>
            <a:ext cx="5532120" cy="3703320"/>
          </a:xfrm>
          <a:prstGeom prst="roundRect">
            <a:avLst>
              <a:gd name="adj" fmla="val 2469"/>
            </a:avLst>
          </a:prstGeom>
          <a:solidFill>
            <a:srgbClr val="EFE7FB"/>
          </a:solidFill>
          <a:ln w="12700">
            <a:solidFill>
              <a:srgbClr val="EFE7FB"/>
            </a:solidFill>
            <a:prstDash val="solid"/>
          </a:ln>
        </p:spPr>
        <p:txBody>
          <a:bodyPr/>
          <a:lstStyle/>
          <a:p>
            <a:endParaRPr lang="en-PK"/>
          </a:p>
        </p:txBody>
      </p:sp>
      <p:sp>
        <p:nvSpPr>
          <p:cNvPr id="10" name="Text 8"/>
          <p:cNvSpPr txBox="1"/>
          <p:nvPr/>
        </p:nvSpPr>
        <p:spPr>
          <a:xfrm>
            <a:off x="6382512" y="1472184"/>
            <a:ext cx="5166360" cy="365760"/>
          </a:xfrm>
          <a:prstGeom prst="rect">
            <a:avLst/>
          </a:prstGeom>
          <a:noFill/>
          <a:ln/>
        </p:spPr>
        <p:txBody>
          <a:bodyPr wrap="square" lIns="0" tIns="0" rIns="0" bIns="0" rtlCol="0" anchor="t"/>
          <a:lstStyle/>
          <a:p>
            <a:pPr marL="0" indent="0">
              <a:buNone/>
            </a:pPr>
            <a:r>
              <a:rPr lang="en-US" sz="1500" b="1" dirty="0">
                <a:solidFill>
                  <a:srgbClr val="2B0B5E"/>
                </a:solidFill>
                <a:latin typeface="Calibri" pitchFamily="34" charset="0"/>
                <a:ea typeface="Calibri" pitchFamily="34" charset="-122"/>
                <a:cs typeface="Calibri" pitchFamily="34" charset="-120"/>
              </a:rPr>
              <a:t>What it costs</a:t>
            </a:r>
            <a:endParaRPr lang="en-US" sz="1500" dirty="0"/>
          </a:p>
        </p:txBody>
      </p:sp>
      <p:sp>
        <p:nvSpPr>
          <p:cNvPr id="11" name="Shape 9"/>
          <p:cNvSpPr/>
          <p:nvPr/>
        </p:nvSpPr>
        <p:spPr>
          <a:xfrm>
            <a:off x="457200" y="5230368"/>
            <a:ext cx="11274552" cy="731520"/>
          </a:xfrm>
          <a:prstGeom prst="roundRect">
            <a:avLst>
              <a:gd name="adj" fmla="val 12500"/>
            </a:avLst>
          </a:prstGeom>
          <a:solidFill>
            <a:srgbClr val="2B0B5E"/>
          </a:solidFill>
          <a:ln/>
        </p:spPr>
        <p:txBody>
          <a:bodyPr/>
          <a:lstStyle/>
          <a:p>
            <a:endParaRPr lang="en-PK"/>
          </a:p>
        </p:txBody>
      </p:sp>
      <p:sp>
        <p:nvSpPr>
          <p:cNvPr id="12" name="Text 10"/>
          <p:cNvSpPr txBox="1"/>
          <p:nvPr/>
        </p:nvSpPr>
        <p:spPr>
          <a:xfrm>
            <a:off x="685800" y="5230368"/>
            <a:ext cx="10881360" cy="731520"/>
          </a:xfrm>
          <a:prstGeom prst="rect">
            <a:avLst/>
          </a:prstGeom>
          <a:noFill/>
          <a:ln/>
        </p:spPr>
        <p:txBody>
          <a:bodyPr wrap="square" lIns="0" tIns="0" rIns="0" bIns="0" rtlCol="0" anchor="ctr"/>
          <a:lstStyle/>
          <a:p>
            <a:pPr marL="0" indent="0">
              <a:buNone/>
            </a:pPr>
            <a:r>
              <a:rPr lang="en-US" sz="1600" b="1" dirty="0">
                <a:solidFill>
                  <a:srgbClr val="C9B6F2"/>
                </a:solidFill>
                <a:latin typeface="Calibri" pitchFamily="34" charset="0"/>
                <a:ea typeface="Calibri" pitchFamily="34" charset="-122"/>
                <a:cs typeface="Calibri" pitchFamily="34" charset="-120"/>
              </a:rPr>
              <a:t>Goal:  </a:t>
            </a:r>
            <a:r>
              <a:rPr lang="en-US" sz="1600" b="1" dirty="0">
                <a:solidFill>
                  <a:srgbClr val="FFFFFF"/>
                </a:solidFill>
                <a:latin typeface="Calibri" pitchFamily="34" charset="0"/>
                <a:ea typeface="Calibri" pitchFamily="34" charset="-122"/>
                <a:cs typeface="Calibri" pitchFamily="34" charset="-120"/>
              </a:rPr>
              <a:t>turn a 3–7 day manual process into a guided workflow of under 8 hours, with nothing missed at submission.</a:t>
            </a:r>
            <a:endParaRPr lang="en-US" sz="1600" dirty="0"/>
          </a:p>
        </p:txBody>
      </p:sp>
      <p:sp>
        <p:nvSpPr>
          <p:cNvPr id="13" name="Text 11"/>
          <p:cNvSpPr txBox="1"/>
          <p:nvPr/>
        </p:nvSpPr>
        <p:spPr>
          <a:xfrm>
            <a:off x="6382512" y="1874520"/>
            <a:ext cx="5166360" cy="310896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1A1A22"/>
                </a:solidFill>
                <a:latin typeface="Calibri" pitchFamily="34" charset="0"/>
                <a:ea typeface="Calibri" pitchFamily="34" charset="-122"/>
                <a:cs typeface="Calibri" pitchFamily="34" charset="-120"/>
              </a:rPr>
              <a:t>One RFP response takes 3–7 days of manual work.</a:t>
            </a:r>
            <a:endParaRPr lang="en-US" sz="1600" dirty="0"/>
          </a:p>
          <a:p>
            <a:pPr marL="177800" indent="-177800">
              <a:spcAft>
                <a:spcPts val="500"/>
              </a:spcAft>
              <a:buSzPct val="100000"/>
              <a:buChar char="•"/>
            </a:pPr>
            <a:r>
              <a:rPr lang="en-US" sz="1600" dirty="0">
                <a:solidFill>
                  <a:srgbClr val="1A1A22"/>
                </a:solidFill>
                <a:latin typeface="Calibri" pitchFamily="34" charset="0"/>
                <a:ea typeface="Calibri" pitchFamily="34" charset="-122"/>
                <a:cs typeface="Calibri" pitchFamily="34" charset="-120"/>
              </a:rPr>
              <a:t>One missing mandatory document can cost the whole bid.</a:t>
            </a:r>
            <a:endParaRPr lang="en-US" sz="1600" dirty="0"/>
          </a:p>
          <a:p>
            <a:pPr marL="177800" indent="-177800">
              <a:spcAft>
                <a:spcPts val="500"/>
              </a:spcAft>
              <a:buSzPct val="100000"/>
              <a:buChar char="•"/>
            </a:pPr>
            <a:r>
              <a:rPr lang="en-US" sz="1600" dirty="0">
                <a:solidFill>
                  <a:srgbClr val="1A1A22"/>
                </a:solidFill>
                <a:latin typeface="Calibri" pitchFamily="34" charset="0"/>
                <a:ea typeface="Calibri" pitchFamily="34" charset="-122"/>
                <a:cs typeface="Calibri" pitchFamily="34" charset="-120"/>
              </a:rPr>
              <a:t>One wrong compliance rating can disqualify the bid.</a:t>
            </a:r>
            <a:endParaRPr lang="en-US" sz="1600" dirty="0"/>
          </a:p>
          <a:p>
            <a:pPr marL="177800" indent="-177800">
              <a:spcAft>
                <a:spcPts val="500"/>
              </a:spcAft>
              <a:buSzPct val="100000"/>
              <a:buChar char="•"/>
            </a:pPr>
            <a:r>
              <a:rPr lang="en-US" sz="1600" dirty="0">
                <a:solidFill>
                  <a:srgbClr val="1A1A22"/>
                </a:solidFill>
                <a:latin typeface="Calibri" pitchFamily="34" charset="0"/>
                <a:ea typeface="Calibri" pitchFamily="34" charset="-122"/>
                <a:cs typeface="Calibri" pitchFamily="34" charset="-120"/>
              </a:rPr>
              <a:t>Proposal knowledge is lost when experienced engineers leave.</a:t>
            </a:r>
            <a:endParaRPr lang="en-US" sz="1600" dirty="0"/>
          </a:p>
          <a:p>
            <a:pPr marL="177800" indent="-177800">
              <a:spcAft>
                <a:spcPts val="500"/>
              </a:spcAft>
              <a:buSzPct val="100000"/>
              <a:buChar char="•"/>
            </a:pPr>
            <a:r>
              <a:rPr lang="en-US" sz="1600" dirty="0">
                <a:solidFill>
                  <a:srgbClr val="1A1A22"/>
                </a:solidFill>
                <a:latin typeface="Calibri" pitchFamily="34" charset="0"/>
                <a:ea typeface="Calibri" pitchFamily="34" charset="-122"/>
                <a:cs typeface="Calibri" pitchFamily="34" charset="-120"/>
              </a:rPr>
              <a:t>Approvals stall when reviewers are away from their desks.</a:t>
            </a:r>
            <a:endParaRPr lang="en-US" sz="1600" dirty="0"/>
          </a:p>
        </p:txBody>
      </p:sp>
      <p:sp>
        <p:nvSpPr>
          <p:cNvPr id="14" name="Text 12">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15" name="Text 13">
            <a:hlinkClick r:id="rId3"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16" name="Text 14">
            <a:hlinkClick r:id="rId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INTRODUCTION</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Target Users and Impact</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5</a:t>
            </a:r>
            <a:endParaRPr lang="en-US" sz="1000" dirty="0"/>
          </a:p>
        </p:txBody>
      </p:sp>
      <p:sp>
        <p:nvSpPr>
          <p:cNvPr id="6" name="Shape 4"/>
          <p:cNvSpPr/>
          <p:nvPr/>
        </p:nvSpPr>
        <p:spPr>
          <a:xfrm>
            <a:off x="457200" y="1325880"/>
            <a:ext cx="2130552" cy="2240280"/>
          </a:xfrm>
          <a:prstGeom prst="roundRect">
            <a:avLst>
              <a:gd name="adj" fmla="val 4292"/>
            </a:avLst>
          </a:prstGeom>
          <a:solidFill>
            <a:srgbClr val="FFFFFF"/>
          </a:solidFill>
          <a:ln w="12700">
            <a:solidFill>
              <a:srgbClr val="E6E5EC"/>
            </a:solidFill>
            <a:prstDash val="solid"/>
          </a:ln>
        </p:spPr>
        <p:txBody>
          <a:bodyPr/>
          <a:lstStyle/>
          <a:p>
            <a:endParaRPr lang="en-PK"/>
          </a:p>
        </p:txBody>
      </p:sp>
      <p:sp>
        <p:nvSpPr>
          <p:cNvPr id="7" name="Text 5"/>
          <p:cNvSpPr txBox="1"/>
          <p:nvPr/>
        </p:nvSpPr>
        <p:spPr>
          <a:xfrm>
            <a:off x="640080" y="1472184"/>
            <a:ext cx="1764792" cy="365760"/>
          </a:xfrm>
          <a:prstGeom prst="rect">
            <a:avLst/>
          </a:prstGeom>
          <a:noFill/>
          <a:ln/>
        </p:spPr>
        <p:txBody>
          <a:bodyPr wrap="square" lIns="0" tIns="0" rIns="0" bIns="0" rtlCol="0" anchor="t"/>
          <a:lstStyle/>
          <a:p>
            <a:pPr marL="0" indent="0">
              <a:buNone/>
            </a:pPr>
            <a:r>
              <a:rPr lang="en-US" sz="1600" b="1" dirty="0">
                <a:solidFill>
                  <a:srgbClr val="2B0B5E"/>
                </a:solidFill>
                <a:latin typeface="Calibri" pitchFamily="34" charset="0"/>
                <a:ea typeface="Calibri" pitchFamily="34" charset="-122"/>
                <a:cs typeface="Calibri" pitchFamily="34" charset="-120"/>
              </a:rPr>
              <a:t>Presales Engineer</a:t>
            </a:r>
            <a:endParaRPr lang="en-US" sz="1600" dirty="0"/>
          </a:p>
        </p:txBody>
      </p:sp>
      <p:sp>
        <p:nvSpPr>
          <p:cNvPr id="8" name="Text 6"/>
          <p:cNvSpPr txBox="1"/>
          <p:nvPr/>
        </p:nvSpPr>
        <p:spPr>
          <a:xfrm>
            <a:off x="640080" y="1856232"/>
            <a:ext cx="1764792" cy="1600200"/>
          </a:xfrm>
          <a:prstGeom prst="rect">
            <a:avLst/>
          </a:prstGeom>
          <a:noFill/>
          <a:ln/>
        </p:spPr>
        <p:txBody>
          <a:bodyPr wrap="square" lIns="0" tIns="0" rIns="0" bIns="0" rtlCol="0" anchor="t"/>
          <a:lstStyle/>
          <a:p>
            <a:pPr marL="0" indent="0">
              <a:spcAft>
                <a:spcPts val="400"/>
              </a:spcAft>
              <a:buNone/>
            </a:pPr>
            <a:r>
              <a:rPr lang="en-US" sz="1400" dirty="0">
                <a:solidFill>
                  <a:srgbClr val="5E5E6B"/>
                </a:solidFill>
                <a:latin typeface="Calibri" pitchFamily="34" charset="0"/>
                <a:ea typeface="Calibri" pitchFamily="34" charset="-122"/>
                <a:cs typeface="Calibri" pitchFamily="34" charset="-120"/>
              </a:rPr>
              <a:t>Main user: RFPs, checklist, compliance, proposal, BOQ, HLD, package</a:t>
            </a:r>
            <a:endParaRPr lang="en-US" sz="1400" dirty="0"/>
          </a:p>
        </p:txBody>
      </p:sp>
      <p:sp>
        <p:nvSpPr>
          <p:cNvPr id="9" name="Shape 7"/>
          <p:cNvSpPr/>
          <p:nvPr/>
        </p:nvSpPr>
        <p:spPr>
          <a:xfrm>
            <a:off x="2743200" y="1325880"/>
            <a:ext cx="2130552" cy="2240280"/>
          </a:xfrm>
          <a:prstGeom prst="roundRect">
            <a:avLst>
              <a:gd name="adj" fmla="val 4292"/>
            </a:avLst>
          </a:prstGeom>
          <a:solidFill>
            <a:srgbClr val="FFFFFF"/>
          </a:solidFill>
          <a:ln w="12700">
            <a:solidFill>
              <a:srgbClr val="E6E5EC"/>
            </a:solidFill>
            <a:prstDash val="solid"/>
          </a:ln>
        </p:spPr>
        <p:txBody>
          <a:bodyPr/>
          <a:lstStyle/>
          <a:p>
            <a:endParaRPr lang="en-PK"/>
          </a:p>
        </p:txBody>
      </p:sp>
      <p:sp>
        <p:nvSpPr>
          <p:cNvPr id="10" name="Text 8"/>
          <p:cNvSpPr txBox="1"/>
          <p:nvPr/>
        </p:nvSpPr>
        <p:spPr>
          <a:xfrm>
            <a:off x="2926080" y="1472184"/>
            <a:ext cx="1764792" cy="365760"/>
          </a:xfrm>
          <a:prstGeom prst="rect">
            <a:avLst/>
          </a:prstGeom>
          <a:noFill/>
          <a:ln/>
        </p:spPr>
        <p:txBody>
          <a:bodyPr wrap="square" lIns="0" tIns="0" rIns="0" bIns="0" rtlCol="0" anchor="t"/>
          <a:lstStyle/>
          <a:p>
            <a:pPr marL="0" indent="0">
              <a:buNone/>
            </a:pPr>
            <a:r>
              <a:rPr lang="en-US" sz="1600" b="1" dirty="0">
                <a:solidFill>
                  <a:srgbClr val="2B0B5E"/>
                </a:solidFill>
                <a:latin typeface="Calibri" pitchFamily="34" charset="0"/>
                <a:ea typeface="Calibri" pitchFamily="34" charset="-122"/>
                <a:cs typeface="Calibri" pitchFamily="34" charset="-120"/>
              </a:rPr>
              <a:t>Reviewer</a:t>
            </a:r>
            <a:endParaRPr lang="en-US" sz="1600" dirty="0"/>
          </a:p>
        </p:txBody>
      </p:sp>
      <p:sp>
        <p:nvSpPr>
          <p:cNvPr id="11" name="Text 9"/>
          <p:cNvSpPr txBox="1"/>
          <p:nvPr/>
        </p:nvSpPr>
        <p:spPr>
          <a:xfrm>
            <a:off x="2926080" y="1856232"/>
            <a:ext cx="1764792" cy="1600200"/>
          </a:xfrm>
          <a:prstGeom prst="rect">
            <a:avLst/>
          </a:prstGeom>
          <a:noFill/>
          <a:ln/>
        </p:spPr>
        <p:txBody>
          <a:bodyPr wrap="square" lIns="0" tIns="0" rIns="0" bIns="0" rtlCol="0" anchor="t"/>
          <a:lstStyle/>
          <a:p>
            <a:pPr marL="0" indent="0">
              <a:spcAft>
                <a:spcPts val="400"/>
              </a:spcAft>
              <a:buNone/>
            </a:pPr>
            <a:r>
              <a:rPr lang="en-US" sz="1400" dirty="0">
                <a:solidFill>
                  <a:srgbClr val="5E5E6B"/>
                </a:solidFill>
                <a:latin typeface="Calibri" pitchFamily="34" charset="0"/>
                <a:ea typeface="Calibri" pitchFamily="34" charset="-122"/>
                <a:cs typeface="Calibri" pitchFamily="34" charset="-120"/>
              </a:rPr>
              <a:t>Approves sections or requests changes, on web or mobile</a:t>
            </a:r>
            <a:endParaRPr lang="en-US" sz="1400" dirty="0"/>
          </a:p>
        </p:txBody>
      </p:sp>
      <p:sp>
        <p:nvSpPr>
          <p:cNvPr id="12" name="Shape 10"/>
          <p:cNvSpPr/>
          <p:nvPr/>
        </p:nvSpPr>
        <p:spPr>
          <a:xfrm>
            <a:off x="5029200" y="1325880"/>
            <a:ext cx="2130552" cy="2240280"/>
          </a:xfrm>
          <a:prstGeom prst="roundRect">
            <a:avLst>
              <a:gd name="adj" fmla="val 4292"/>
            </a:avLst>
          </a:prstGeom>
          <a:solidFill>
            <a:srgbClr val="FFFFFF"/>
          </a:solidFill>
          <a:ln w="12700">
            <a:solidFill>
              <a:srgbClr val="E6E5EC"/>
            </a:solidFill>
            <a:prstDash val="solid"/>
          </a:ln>
        </p:spPr>
        <p:txBody>
          <a:bodyPr/>
          <a:lstStyle/>
          <a:p>
            <a:endParaRPr lang="en-PK"/>
          </a:p>
        </p:txBody>
      </p:sp>
      <p:sp>
        <p:nvSpPr>
          <p:cNvPr id="13" name="Text 11"/>
          <p:cNvSpPr txBox="1"/>
          <p:nvPr/>
        </p:nvSpPr>
        <p:spPr>
          <a:xfrm>
            <a:off x="5212080" y="1472184"/>
            <a:ext cx="1764792" cy="365760"/>
          </a:xfrm>
          <a:prstGeom prst="rect">
            <a:avLst/>
          </a:prstGeom>
          <a:noFill/>
          <a:ln/>
        </p:spPr>
        <p:txBody>
          <a:bodyPr wrap="square" lIns="0" tIns="0" rIns="0" bIns="0" rtlCol="0" anchor="t"/>
          <a:lstStyle/>
          <a:p>
            <a:pPr marL="0" indent="0">
              <a:buNone/>
            </a:pPr>
            <a:r>
              <a:rPr lang="en-US" sz="1600" b="1" dirty="0">
                <a:solidFill>
                  <a:srgbClr val="2B0B5E"/>
                </a:solidFill>
                <a:latin typeface="Calibri" pitchFamily="34" charset="0"/>
                <a:ea typeface="Calibri" pitchFamily="34" charset="-122"/>
                <a:cs typeface="Calibri" pitchFamily="34" charset="-120"/>
              </a:rPr>
              <a:t>Org Admin</a:t>
            </a:r>
            <a:endParaRPr lang="en-US" sz="1600" dirty="0"/>
          </a:p>
        </p:txBody>
      </p:sp>
      <p:sp>
        <p:nvSpPr>
          <p:cNvPr id="14" name="Text 12"/>
          <p:cNvSpPr txBox="1"/>
          <p:nvPr/>
        </p:nvSpPr>
        <p:spPr>
          <a:xfrm>
            <a:off x="5212080" y="1856232"/>
            <a:ext cx="1764792" cy="1600200"/>
          </a:xfrm>
          <a:prstGeom prst="rect">
            <a:avLst/>
          </a:prstGeom>
          <a:noFill/>
          <a:ln/>
        </p:spPr>
        <p:txBody>
          <a:bodyPr wrap="square" lIns="0" tIns="0" rIns="0" bIns="0" rtlCol="0" anchor="t"/>
          <a:lstStyle/>
          <a:p>
            <a:pPr marL="0" indent="0">
              <a:spcAft>
                <a:spcPts val="400"/>
              </a:spcAft>
              <a:buNone/>
            </a:pPr>
            <a:r>
              <a:rPr lang="en-US" sz="1400" dirty="0">
                <a:solidFill>
                  <a:srgbClr val="5E5E6B"/>
                </a:solidFill>
                <a:latin typeface="Calibri" pitchFamily="34" charset="0"/>
                <a:ea typeface="Calibri" pitchFamily="34" charset="-122"/>
                <a:cs typeface="Calibri" pitchFamily="34" charset="-120"/>
              </a:rPr>
              <a:t>Users, templates, knowledge base, audit log, analytics</a:t>
            </a:r>
            <a:endParaRPr lang="en-US" sz="1400" dirty="0"/>
          </a:p>
        </p:txBody>
      </p:sp>
      <p:sp>
        <p:nvSpPr>
          <p:cNvPr id="15" name="Shape 13"/>
          <p:cNvSpPr/>
          <p:nvPr/>
        </p:nvSpPr>
        <p:spPr>
          <a:xfrm>
            <a:off x="7315200" y="1325880"/>
            <a:ext cx="2130552" cy="2240280"/>
          </a:xfrm>
          <a:prstGeom prst="roundRect">
            <a:avLst>
              <a:gd name="adj" fmla="val 4292"/>
            </a:avLst>
          </a:prstGeom>
          <a:solidFill>
            <a:srgbClr val="FFFFFF"/>
          </a:solidFill>
          <a:ln w="12700">
            <a:solidFill>
              <a:srgbClr val="E6E5EC"/>
            </a:solidFill>
            <a:prstDash val="solid"/>
          </a:ln>
        </p:spPr>
        <p:txBody>
          <a:bodyPr/>
          <a:lstStyle/>
          <a:p>
            <a:endParaRPr lang="en-PK"/>
          </a:p>
        </p:txBody>
      </p:sp>
      <p:sp>
        <p:nvSpPr>
          <p:cNvPr id="16" name="Text 14"/>
          <p:cNvSpPr txBox="1"/>
          <p:nvPr/>
        </p:nvSpPr>
        <p:spPr>
          <a:xfrm>
            <a:off x="7498080" y="1472184"/>
            <a:ext cx="1764792" cy="365760"/>
          </a:xfrm>
          <a:prstGeom prst="rect">
            <a:avLst/>
          </a:prstGeom>
          <a:noFill/>
          <a:ln/>
        </p:spPr>
        <p:txBody>
          <a:bodyPr wrap="square" lIns="0" tIns="0" rIns="0" bIns="0" rtlCol="0" anchor="t"/>
          <a:lstStyle/>
          <a:p>
            <a:pPr marL="0" indent="0">
              <a:buNone/>
            </a:pPr>
            <a:r>
              <a:rPr lang="en-US" sz="1600" b="1" dirty="0">
                <a:solidFill>
                  <a:srgbClr val="2B0B5E"/>
                </a:solidFill>
                <a:latin typeface="Calibri" pitchFamily="34" charset="0"/>
                <a:ea typeface="Calibri" pitchFamily="34" charset="-122"/>
                <a:cs typeface="Calibri" pitchFamily="34" charset="-120"/>
              </a:rPr>
              <a:t>Super Admin</a:t>
            </a:r>
            <a:endParaRPr lang="en-US" sz="1600" dirty="0"/>
          </a:p>
        </p:txBody>
      </p:sp>
      <p:sp>
        <p:nvSpPr>
          <p:cNvPr id="17" name="Text 15"/>
          <p:cNvSpPr txBox="1"/>
          <p:nvPr/>
        </p:nvSpPr>
        <p:spPr>
          <a:xfrm>
            <a:off x="7498080" y="1856232"/>
            <a:ext cx="1764792" cy="1600200"/>
          </a:xfrm>
          <a:prstGeom prst="rect">
            <a:avLst/>
          </a:prstGeom>
          <a:noFill/>
          <a:ln/>
        </p:spPr>
        <p:txBody>
          <a:bodyPr wrap="square" lIns="0" tIns="0" rIns="0" bIns="0" rtlCol="0" anchor="t"/>
          <a:lstStyle/>
          <a:p>
            <a:pPr marL="0" indent="0">
              <a:spcAft>
                <a:spcPts val="400"/>
              </a:spcAft>
              <a:buNone/>
            </a:pPr>
            <a:r>
              <a:rPr lang="en-US" sz="1400" dirty="0">
                <a:solidFill>
                  <a:srgbClr val="5E5E6B"/>
                </a:solidFill>
                <a:latin typeface="Calibri" pitchFamily="34" charset="0"/>
                <a:ea typeface="Calibri" pitchFamily="34" charset="-122"/>
                <a:cs typeface="Calibri" pitchFamily="34" charset="-120"/>
              </a:rPr>
              <a:t>Creates company workspaces on the platform</a:t>
            </a:r>
            <a:endParaRPr lang="en-US" sz="1400" dirty="0"/>
          </a:p>
        </p:txBody>
      </p:sp>
      <p:sp>
        <p:nvSpPr>
          <p:cNvPr id="18" name="Shape 16"/>
          <p:cNvSpPr/>
          <p:nvPr/>
        </p:nvSpPr>
        <p:spPr>
          <a:xfrm>
            <a:off x="9601200" y="1325880"/>
            <a:ext cx="2130552" cy="2240280"/>
          </a:xfrm>
          <a:prstGeom prst="roundRect">
            <a:avLst>
              <a:gd name="adj" fmla="val 4292"/>
            </a:avLst>
          </a:prstGeom>
          <a:solidFill>
            <a:srgbClr val="FFFFFF"/>
          </a:solidFill>
          <a:ln w="12700">
            <a:solidFill>
              <a:srgbClr val="E6E5EC"/>
            </a:solidFill>
            <a:prstDash val="solid"/>
          </a:ln>
        </p:spPr>
        <p:txBody>
          <a:bodyPr/>
          <a:lstStyle/>
          <a:p>
            <a:endParaRPr lang="en-PK"/>
          </a:p>
        </p:txBody>
      </p:sp>
      <p:sp>
        <p:nvSpPr>
          <p:cNvPr id="19" name="Text 17"/>
          <p:cNvSpPr txBox="1"/>
          <p:nvPr/>
        </p:nvSpPr>
        <p:spPr>
          <a:xfrm>
            <a:off x="9784080" y="1472184"/>
            <a:ext cx="1764792" cy="365760"/>
          </a:xfrm>
          <a:prstGeom prst="rect">
            <a:avLst/>
          </a:prstGeom>
          <a:noFill/>
          <a:ln/>
        </p:spPr>
        <p:txBody>
          <a:bodyPr wrap="square" lIns="0" tIns="0" rIns="0" bIns="0" rtlCol="0" anchor="t"/>
          <a:lstStyle/>
          <a:p>
            <a:pPr marL="0" indent="0">
              <a:buNone/>
            </a:pPr>
            <a:r>
              <a:rPr lang="en-US" sz="1600" b="1" dirty="0">
                <a:solidFill>
                  <a:srgbClr val="2B0B5E"/>
                </a:solidFill>
                <a:latin typeface="Calibri" pitchFamily="34" charset="0"/>
                <a:ea typeface="Calibri" pitchFamily="34" charset="-122"/>
                <a:cs typeface="Calibri" pitchFamily="34" charset="-120"/>
              </a:rPr>
              <a:t>Read-only User</a:t>
            </a:r>
            <a:endParaRPr lang="en-US" sz="1600" dirty="0"/>
          </a:p>
        </p:txBody>
      </p:sp>
      <p:sp>
        <p:nvSpPr>
          <p:cNvPr id="20" name="Text 18"/>
          <p:cNvSpPr txBox="1"/>
          <p:nvPr/>
        </p:nvSpPr>
        <p:spPr>
          <a:xfrm>
            <a:off x="9784080" y="1856232"/>
            <a:ext cx="1764792" cy="1600200"/>
          </a:xfrm>
          <a:prstGeom prst="rect">
            <a:avLst/>
          </a:prstGeom>
          <a:noFill/>
          <a:ln/>
        </p:spPr>
        <p:txBody>
          <a:bodyPr wrap="square" lIns="0" tIns="0" rIns="0" bIns="0" rtlCol="0" anchor="t"/>
          <a:lstStyle/>
          <a:p>
            <a:pPr marL="0" indent="0">
              <a:spcAft>
                <a:spcPts val="400"/>
              </a:spcAft>
              <a:buNone/>
            </a:pPr>
            <a:r>
              <a:rPr lang="en-US" sz="1400" dirty="0">
                <a:solidFill>
                  <a:srgbClr val="5E5E6B"/>
                </a:solidFill>
                <a:latin typeface="Calibri" pitchFamily="34" charset="0"/>
                <a:ea typeface="Calibri" pitchFamily="34" charset="-122"/>
                <a:cs typeface="Calibri" pitchFamily="34" charset="-120"/>
              </a:rPr>
              <a:t>Searches and views past projects in the vault</a:t>
            </a:r>
            <a:endParaRPr lang="en-US" sz="1400" dirty="0"/>
          </a:p>
        </p:txBody>
      </p:sp>
      <p:sp>
        <p:nvSpPr>
          <p:cNvPr id="21" name="Shape 19"/>
          <p:cNvSpPr/>
          <p:nvPr/>
        </p:nvSpPr>
        <p:spPr>
          <a:xfrm>
            <a:off x="457200" y="3703320"/>
            <a:ext cx="11274552" cy="2194560"/>
          </a:xfrm>
          <a:prstGeom prst="roundRect">
            <a:avLst>
              <a:gd name="adj" fmla="val 4167"/>
            </a:avLst>
          </a:prstGeom>
          <a:solidFill>
            <a:srgbClr val="EFE7FB"/>
          </a:solidFill>
          <a:ln w="12700">
            <a:solidFill>
              <a:srgbClr val="EFE7FB"/>
            </a:solidFill>
            <a:prstDash val="solid"/>
          </a:ln>
        </p:spPr>
        <p:txBody>
          <a:bodyPr/>
          <a:lstStyle/>
          <a:p>
            <a:endParaRPr lang="en-PK"/>
          </a:p>
        </p:txBody>
      </p:sp>
      <p:sp>
        <p:nvSpPr>
          <p:cNvPr id="22" name="Text 20"/>
          <p:cNvSpPr txBox="1"/>
          <p:nvPr/>
        </p:nvSpPr>
        <p:spPr>
          <a:xfrm>
            <a:off x="640080" y="3849624"/>
            <a:ext cx="10908792" cy="365760"/>
          </a:xfrm>
          <a:prstGeom prst="rect">
            <a:avLst/>
          </a:prstGeom>
          <a:noFill/>
          <a:ln/>
        </p:spPr>
        <p:txBody>
          <a:bodyPr wrap="square" lIns="0" tIns="0" rIns="0" bIns="0" rtlCol="0" anchor="t"/>
          <a:lstStyle/>
          <a:p>
            <a:pPr marL="0" indent="0">
              <a:buNone/>
            </a:pPr>
            <a:r>
              <a:rPr lang="en-US" sz="1500" b="1" dirty="0">
                <a:solidFill>
                  <a:srgbClr val="2B0B5E"/>
                </a:solidFill>
                <a:latin typeface="Calibri" pitchFamily="34" charset="0"/>
                <a:ea typeface="Calibri" pitchFamily="34" charset="-122"/>
                <a:cs typeface="Calibri" pitchFamily="34" charset="-120"/>
              </a:rPr>
              <a:t>Why it matters</a:t>
            </a:r>
            <a:endParaRPr lang="en-US" sz="1500" dirty="0"/>
          </a:p>
        </p:txBody>
      </p:sp>
      <p:sp>
        <p:nvSpPr>
          <p:cNvPr id="23" name="Text 21"/>
          <p:cNvSpPr txBox="1"/>
          <p:nvPr/>
        </p:nvSpPr>
        <p:spPr>
          <a:xfrm>
            <a:off x="640080" y="4224528"/>
            <a:ext cx="10881360" cy="164592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1A1A22"/>
                </a:solidFill>
                <a:latin typeface="Calibri" pitchFamily="34" charset="0"/>
                <a:ea typeface="Calibri" pitchFamily="34" charset="-122"/>
                <a:cs typeface="Calibri" pitchFamily="34" charset="-120"/>
              </a:rPr>
              <a:t>Faster bids: a guided workflow instead of 3–7 days of manual work (target under 8 hours, BO-1).</a:t>
            </a:r>
            <a:endParaRPr lang="en-US" sz="1600" dirty="0"/>
          </a:p>
          <a:p>
            <a:pPr marL="177800" indent="-177800">
              <a:spcAft>
                <a:spcPts val="500"/>
              </a:spcAft>
              <a:buSzPct val="100000"/>
              <a:buChar char="•"/>
            </a:pPr>
            <a:r>
              <a:rPr lang="en-US" sz="1600" dirty="0">
                <a:solidFill>
                  <a:srgbClr val="1A1A22"/>
                </a:solidFill>
                <a:latin typeface="Calibri" pitchFamily="34" charset="0"/>
                <a:ea typeface="Calibri" pitchFamily="34" charset="-122"/>
                <a:cs typeface="Calibri" pitchFamily="34" charset="-120"/>
              </a:rPr>
              <a:t>Fewer lost bids: mandatory documents and NC items are checked before the package can be built.</a:t>
            </a:r>
            <a:endParaRPr lang="en-US" sz="1600" dirty="0"/>
          </a:p>
          <a:p>
            <a:pPr marL="177800" indent="-177800">
              <a:spcAft>
                <a:spcPts val="500"/>
              </a:spcAft>
              <a:buSzPct val="100000"/>
              <a:buChar char="•"/>
            </a:pPr>
            <a:r>
              <a:rPr lang="en-US" sz="1600" dirty="0">
                <a:solidFill>
                  <a:srgbClr val="1A1A22"/>
                </a:solidFill>
                <a:latin typeface="Calibri" pitchFamily="34" charset="0"/>
                <a:ea typeface="Calibri" pitchFamily="34" charset="-122"/>
                <a:cs typeface="Calibri" pitchFamily="34" charset="-120"/>
              </a:rPr>
              <a:t>Knowledge stays: every approved proposal is stored and reused for the next bid.</a:t>
            </a:r>
            <a:endParaRPr lang="en-US" sz="1600" dirty="0"/>
          </a:p>
          <a:p>
            <a:pPr marL="177800" indent="-177800">
              <a:spcAft>
                <a:spcPts val="500"/>
              </a:spcAft>
              <a:buSzPct val="100000"/>
              <a:buChar char="•"/>
            </a:pPr>
            <a:r>
              <a:rPr lang="en-US" sz="1600" dirty="0">
                <a:solidFill>
                  <a:srgbClr val="1A1A22"/>
                </a:solidFill>
                <a:latin typeface="Calibri" pitchFamily="34" charset="0"/>
                <a:ea typeface="Calibri" pitchFamily="34" charset="-122"/>
                <a:cs typeface="Calibri" pitchFamily="34" charset="-120"/>
              </a:rPr>
              <a:t>Accountability: every action is recorded, and nobody can approve their own work.</a:t>
            </a:r>
            <a:endParaRPr lang="en-US" sz="1600" dirty="0"/>
          </a:p>
        </p:txBody>
      </p:sp>
      <p:sp>
        <p:nvSpPr>
          <p:cNvPr id="24" name="Text 22">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25" name="Text 23">
            <a:hlinkClick r:id="rId3"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26" name="Text 24">
            <a:hlinkClick r:id="rId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PROPOSED SOLUTION</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Proposed Solution: One Workflow from RFP to Submission</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6</a:t>
            </a:r>
            <a:endParaRPr lang="en-US" sz="1000" dirty="0"/>
          </a:p>
        </p:txBody>
      </p:sp>
      <p:sp>
        <p:nvSpPr>
          <p:cNvPr id="6" name="Shape 4"/>
          <p:cNvSpPr/>
          <p:nvPr/>
        </p:nvSpPr>
        <p:spPr>
          <a:xfrm>
            <a:off x="457200" y="1261872"/>
            <a:ext cx="292608" cy="219456"/>
          </a:xfrm>
          <a:prstGeom prst="roundRect">
            <a:avLst>
              <a:gd name="adj" fmla="val 16667"/>
            </a:avLst>
          </a:prstGeom>
          <a:solidFill>
            <a:srgbClr val="ECECF1"/>
          </a:solidFill>
          <a:ln w="12700">
            <a:solidFill>
              <a:srgbClr val="E6E5EC"/>
            </a:solidFill>
            <a:prstDash val="solid"/>
          </a:ln>
        </p:spPr>
        <p:txBody>
          <a:bodyPr/>
          <a:lstStyle/>
          <a:p>
            <a:endParaRPr lang="en-PK"/>
          </a:p>
        </p:txBody>
      </p:sp>
      <p:sp>
        <p:nvSpPr>
          <p:cNvPr id="7" name="Text 5"/>
          <p:cNvSpPr txBox="1"/>
          <p:nvPr/>
        </p:nvSpPr>
        <p:spPr>
          <a:xfrm>
            <a:off x="822960" y="1243584"/>
            <a:ext cx="2926080" cy="274320"/>
          </a:xfrm>
          <a:prstGeom prst="rect">
            <a:avLst/>
          </a:prstGeom>
          <a:noFill/>
          <a:ln/>
        </p:spPr>
        <p:txBody>
          <a:bodyPr wrap="square" lIns="0" tIns="0" rIns="0" bIns="0" rtlCol="0" anchor="t"/>
          <a:lstStyle/>
          <a:p>
            <a:pPr marL="0" indent="0">
              <a:buNone/>
            </a:pPr>
            <a:r>
              <a:rPr lang="en-US" sz="1150" dirty="0">
                <a:solidFill>
                  <a:srgbClr val="5E5E6B"/>
                </a:solidFill>
                <a:latin typeface="Calibri" pitchFamily="34" charset="0"/>
                <a:ea typeface="Calibri" pitchFamily="34" charset="-122"/>
                <a:cs typeface="Calibri" pitchFamily="34" charset="-120"/>
              </a:rPr>
              <a:t>Rule-based (same answer every time)</a:t>
            </a:r>
            <a:endParaRPr lang="en-US" sz="1150" dirty="0"/>
          </a:p>
        </p:txBody>
      </p:sp>
      <p:sp>
        <p:nvSpPr>
          <p:cNvPr id="8" name="Shape 6"/>
          <p:cNvSpPr/>
          <p:nvPr/>
        </p:nvSpPr>
        <p:spPr>
          <a:xfrm>
            <a:off x="3749040" y="1261872"/>
            <a:ext cx="292608" cy="219456"/>
          </a:xfrm>
          <a:prstGeom prst="roundRect">
            <a:avLst>
              <a:gd name="adj" fmla="val 16667"/>
            </a:avLst>
          </a:prstGeom>
          <a:solidFill>
            <a:srgbClr val="EFE7FB"/>
          </a:solidFill>
          <a:ln w="12700">
            <a:solidFill>
              <a:srgbClr val="E6E5EC"/>
            </a:solidFill>
            <a:prstDash val="solid"/>
          </a:ln>
        </p:spPr>
        <p:txBody>
          <a:bodyPr/>
          <a:lstStyle/>
          <a:p>
            <a:endParaRPr lang="en-PK"/>
          </a:p>
        </p:txBody>
      </p:sp>
      <p:sp>
        <p:nvSpPr>
          <p:cNvPr id="9" name="Text 7"/>
          <p:cNvSpPr txBox="1"/>
          <p:nvPr/>
        </p:nvSpPr>
        <p:spPr>
          <a:xfrm>
            <a:off x="4114800" y="1243584"/>
            <a:ext cx="2926080" cy="274320"/>
          </a:xfrm>
          <a:prstGeom prst="rect">
            <a:avLst/>
          </a:prstGeom>
          <a:noFill/>
          <a:ln/>
        </p:spPr>
        <p:txBody>
          <a:bodyPr wrap="square" lIns="0" tIns="0" rIns="0" bIns="0" rtlCol="0" anchor="t"/>
          <a:lstStyle/>
          <a:p>
            <a:pPr marL="0" indent="0">
              <a:buNone/>
            </a:pPr>
            <a:r>
              <a:rPr lang="en-US" sz="1150" dirty="0">
                <a:solidFill>
                  <a:srgbClr val="5E5E6B"/>
                </a:solidFill>
                <a:latin typeface="Calibri" pitchFamily="34" charset="0"/>
                <a:ea typeface="Calibri" pitchFamily="34" charset="-122"/>
                <a:cs typeface="Calibri" pitchFamily="34" charset="-120"/>
              </a:rPr>
              <a:t>AI-assisted (drafts or extracts)</a:t>
            </a:r>
            <a:endParaRPr lang="en-US" sz="1150" dirty="0"/>
          </a:p>
        </p:txBody>
      </p:sp>
      <p:sp>
        <p:nvSpPr>
          <p:cNvPr id="10" name="Shape 8"/>
          <p:cNvSpPr/>
          <p:nvPr/>
        </p:nvSpPr>
        <p:spPr>
          <a:xfrm>
            <a:off x="7040880" y="1261872"/>
            <a:ext cx="292608" cy="219456"/>
          </a:xfrm>
          <a:prstGeom prst="roundRect">
            <a:avLst>
              <a:gd name="adj" fmla="val 16667"/>
            </a:avLst>
          </a:prstGeom>
          <a:solidFill>
            <a:srgbClr val="E3F5EA"/>
          </a:solidFill>
          <a:ln w="12700">
            <a:solidFill>
              <a:srgbClr val="E6E5EC"/>
            </a:solidFill>
            <a:prstDash val="solid"/>
          </a:ln>
        </p:spPr>
        <p:txBody>
          <a:bodyPr/>
          <a:lstStyle/>
          <a:p>
            <a:endParaRPr lang="en-PK"/>
          </a:p>
        </p:txBody>
      </p:sp>
      <p:sp>
        <p:nvSpPr>
          <p:cNvPr id="11" name="Text 9"/>
          <p:cNvSpPr txBox="1"/>
          <p:nvPr/>
        </p:nvSpPr>
        <p:spPr>
          <a:xfrm>
            <a:off x="7406640" y="1243584"/>
            <a:ext cx="2926080" cy="274320"/>
          </a:xfrm>
          <a:prstGeom prst="rect">
            <a:avLst/>
          </a:prstGeom>
          <a:noFill/>
          <a:ln/>
        </p:spPr>
        <p:txBody>
          <a:bodyPr wrap="square" lIns="0" tIns="0" rIns="0" bIns="0" rtlCol="0" anchor="t"/>
          <a:lstStyle/>
          <a:p>
            <a:pPr marL="0" indent="0">
              <a:buNone/>
            </a:pPr>
            <a:r>
              <a:rPr lang="en-US" sz="1150" dirty="0">
                <a:solidFill>
                  <a:srgbClr val="5E5E6B"/>
                </a:solidFill>
                <a:latin typeface="Calibri" pitchFamily="34" charset="0"/>
                <a:ea typeface="Calibri" pitchFamily="34" charset="-122"/>
                <a:cs typeface="Calibri" pitchFamily="34" charset="-120"/>
              </a:rPr>
              <a:t>Human decision</a:t>
            </a:r>
            <a:endParaRPr lang="en-US" sz="1150" dirty="0"/>
          </a:p>
        </p:txBody>
      </p:sp>
      <p:sp>
        <p:nvSpPr>
          <p:cNvPr id="12" name="Shape 10"/>
          <p:cNvSpPr/>
          <p:nvPr/>
        </p:nvSpPr>
        <p:spPr>
          <a:xfrm>
            <a:off x="457200" y="1783080"/>
            <a:ext cx="1463040" cy="2788920"/>
          </a:xfrm>
          <a:prstGeom prst="roundRect">
            <a:avLst>
              <a:gd name="adj" fmla="val 6250"/>
            </a:avLst>
          </a:prstGeom>
          <a:solidFill>
            <a:srgbClr val="EFE7FB"/>
          </a:solidFill>
          <a:ln w="12700">
            <a:solidFill>
              <a:srgbClr val="E6E5EC"/>
            </a:solidFill>
            <a:prstDash val="solid"/>
          </a:ln>
        </p:spPr>
        <p:txBody>
          <a:bodyPr/>
          <a:lstStyle/>
          <a:p>
            <a:endParaRPr lang="en-PK"/>
          </a:p>
        </p:txBody>
      </p:sp>
      <p:sp>
        <p:nvSpPr>
          <p:cNvPr id="13" name="Text 11"/>
          <p:cNvSpPr txBox="1"/>
          <p:nvPr/>
        </p:nvSpPr>
        <p:spPr>
          <a:xfrm>
            <a:off x="594360" y="1874520"/>
            <a:ext cx="914400" cy="457200"/>
          </a:xfrm>
          <a:prstGeom prst="rect">
            <a:avLst/>
          </a:prstGeom>
          <a:noFill/>
          <a:ln/>
        </p:spPr>
        <p:txBody>
          <a:bodyPr wrap="square" lIns="0" tIns="0" rIns="0" bIns="0" rtlCol="0" anchor="t"/>
          <a:lstStyle/>
          <a:p>
            <a:pPr marL="0" indent="0">
              <a:buNone/>
            </a:pPr>
            <a:r>
              <a:rPr lang="en-US" sz="2400" b="1" dirty="0">
                <a:solidFill>
                  <a:srgbClr val="4B1FA0"/>
                </a:solidFill>
                <a:latin typeface="Calibri" pitchFamily="34" charset="0"/>
                <a:ea typeface="Calibri" pitchFamily="34" charset="-122"/>
                <a:cs typeface="Calibri" pitchFamily="34" charset="-120"/>
              </a:rPr>
              <a:t>1</a:t>
            </a:r>
            <a:endParaRPr lang="en-US" sz="2400" dirty="0"/>
          </a:p>
        </p:txBody>
      </p:sp>
      <p:sp>
        <p:nvSpPr>
          <p:cNvPr id="14" name="Text 12"/>
          <p:cNvSpPr txBox="1"/>
          <p:nvPr/>
        </p:nvSpPr>
        <p:spPr>
          <a:xfrm>
            <a:off x="594360" y="2377440"/>
            <a:ext cx="1188720" cy="594360"/>
          </a:xfrm>
          <a:prstGeom prst="rect">
            <a:avLst/>
          </a:prstGeom>
          <a:noFill/>
          <a:ln/>
        </p:spPr>
        <p:txBody>
          <a:bodyPr wrap="square" lIns="0" tIns="0" rIns="0" bIns="0" rtlCol="0" anchor="t"/>
          <a:lstStyle/>
          <a:p>
            <a:pPr marL="0" indent="0">
              <a:buNone/>
            </a:pPr>
            <a:r>
              <a:rPr lang="en-US" sz="1400" b="1" dirty="0">
                <a:solidFill>
                  <a:srgbClr val="2B0B5E"/>
                </a:solidFill>
                <a:latin typeface="Calibri" pitchFamily="34" charset="0"/>
                <a:ea typeface="Calibri" pitchFamily="34" charset="-122"/>
                <a:cs typeface="Calibri" pitchFamily="34" charset="-120"/>
              </a:rPr>
              <a:t>Upload RFP</a:t>
            </a:r>
            <a:endParaRPr lang="en-US" sz="1400" dirty="0"/>
          </a:p>
        </p:txBody>
      </p:sp>
      <p:sp>
        <p:nvSpPr>
          <p:cNvPr id="15" name="Text 13"/>
          <p:cNvSpPr txBox="1"/>
          <p:nvPr/>
        </p:nvSpPr>
        <p:spPr>
          <a:xfrm>
            <a:off x="594360" y="3017520"/>
            <a:ext cx="1188720" cy="1508760"/>
          </a:xfrm>
          <a:prstGeom prst="rect">
            <a:avLst/>
          </a:prstGeom>
          <a:noFill/>
          <a:ln/>
        </p:spPr>
        <p:txBody>
          <a:bodyPr wrap="square" lIns="0" tIns="0" rIns="0" bIns="0" rtlCol="0" anchor="t"/>
          <a:lstStyle/>
          <a:p>
            <a:pPr marL="0" indent="0">
              <a:buNone/>
            </a:pPr>
            <a:r>
              <a:rPr lang="en-US" sz="1300" dirty="0">
                <a:solidFill>
                  <a:srgbClr val="1A1A22"/>
                </a:solidFill>
                <a:latin typeface="Calibri" pitchFamily="34" charset="0"/>
                <a:ea typeface="Calibri" pitchFamily="34" charset="-122"/>
                <a:cs typeface="Calibri" pitchFamily="34" charset="-120"/>
              </a:rPr>
              <a:t>Local models classify sections and pull out key facts</a:t>
            </a:r>
            <a:endParaRPr lang="en-US" sz="1300" dirty="0"/>
          </a:p>
        </p:txBody>
      </p:sp>
      <p:sp>
        <p:nvSpPr>
          <p:cNvPr id="16" name="Shape 14"/>
          <p:cNvSpPr/>
          <p:nvPr/>
        </p:nvSpPr>
        <p:spPr>
          <a:xfrm>
            <a:off x="1929384" y="3063240"/>
            <a:ext cx="155448" cy="201168"/>
          </a:xfrm>
          <a:prstGeom prst="rightArrow">
            <a:avLst/>
          </a:prstGeom>
          <a:solidFill>
            <a:srgbClr val="4B1FA0"/>
          </a:solidFill>
          <a:ln/>
        </p:spPr>
        <p:txBody>
          <a:bodyPr/>
          <a:lstStyle/>
          <a:p>
            <a:endParaRPr lang="en-PK"/>
          </a:p>
        </p:txBody>
      </p:sp>
      <p:sp>
        <p:nvSpPr>
          <p:cNvPr id="17" name="Shape 15"/>
          <p:cNvSpPr/>
          <p:nvPr/>
        </p:nvSpPr>
        <p:spPr>
          <a:xfrm>
            <a:off x="2093976" y="1783080"/>
            <a:ext cx="1463040" cy="2788920"/>
          </a:xfrm>
          <a:prstGeom prst="roundRect">
            <a:avLst>
              <a:gd name="adj" fmla="val 6250"/>
            </a:avLst>
          </a:prstGeom>
          <a:solidFill>
            <a:srgbClr val="EFE7FB"/>
          </a:solidFill>
          <a:ln w="12700">
            <a:solidFill>
              <a:srgbClr val="E6E5EC"/>
            </a:solidFill>
            <a:prstDash val="solid"/>
          </a:ln>
        </p:spPr>
        <p:txBody>
          <a:bodyPr/>
          <a:lstStyle/>
          <a:p>
            <a:endParaRPr lang="en-PK"/>
          </a:p>
        </p:txBody>
      </p:sp>
      <p:sp>
        <p:nvSpPr>
          <p:cNvPr id="18" name="Text 16"/>
          <p:cNvSpPr txBox="1"/>
          <p:nvPr/>
        </p:nvSpPr>
        <p:spPr>
          <a:xfrm>
            <a:off x="2231136" y="1874520"/>
            <a:ext cx="914400" cy="457200"/>
          </a:xfrm>
          <a:prstGeom prst="rect">
            <a:avLst/>
          </a:prstGeom>
          <a:noFill/>
          <a:ln/>
        </p:spPr>
        <p:txBody>
          <a:bodyPr wrap="square" lIns="0" tIns="0" rIns="0" bIns="0" rtlCol="0" anchor="t"/>
          <a:lstStyle/>
          <a:p>
            <a:pPr marL="0" indent="0">
              <a:buNone/>
            </a:pPr>
            <a:r>
              <a:rPr lang="en-US" sz="2400" b="1" dirty="0">
                <a:solidFill>
                  <a:srgbClr val="4B1FA0"/>
                </a:solidFill>
                <a:latin typeface="Calibri" pitchFamily="34" charset="0"/>
                <a:ea typeface="Calibri" pitchFamily="34" charset="-122"/>
                <a:cs typeface="Calibri" pitchFamily="34" charset="-120"/>
              </a:rPr>
              <a:t>2</a:t>
            </a:r>
            <a:endParaRPr lang="en-US" sz="2400" dirty="0"/>
          </a:p>
        </p:txBody>
      </p:sp>
      <p:sp>
        <p:nvSpPr>
          <p:cNvPr id="19" name="Text 17"/>
          <p:cNvSpPr txBox="1"/>
          <p:nvPr/>
        </p:nvSpPr>
        <p:spPr>
          <a:xfrm>
            <a:off x="2231136" y="2377440"/>
            <a:ext cx="1188720" cy="594360"/>
          </a:xfrm>
          <a:prstGeom prst="rect">
            <a:avLst/>
          </a:prstGeom>
          <a:noFill/>
          <a:ln/>
        </p:spPr>
        <p:txBody>
          <a:bodyPr wrap="square" lIns="0" tIns="0" rIns="0" bIns="0" rtlCol="0" anchor="t"/>
          <a:lstStyle/>
          <a:p>
            <a:pPr marL="0" indent="0">
              <a:buNone/>
            </a:pPr>
            <a:r>
              <a:rPr lang="en-US" sz="1400" b="1" dirty="0">
                <a:solidFill>
                  <a:srgbClr val="2B0B5E"/>
                </a:solidFill>
                <a:latin typeface="Calibri" pitchFamily="34" charset="0"/>
                <a:ea typeface="Calibri" pitchFamily="34" charset="-122"/>
                <a:cs typeface="Calibri" pitchFamily="34" charset="-120"/>
              </a:rPr>
              <a:t>Checklist</a:t>
            </a:r>
            <a:endParaRPr lang="en-US" sz="1400" dirty="0"/>
          </a:p>
        </p:txBody>
      </p:sp>
      <p:sp>
        <p:nvSpPr>
          <p:cNvPr id="20" name="Text 18"/>
          <p:cNvSpPr txBox="1"/>
          <p:nvPr/>
        </p:nvSpPr>
        <p:spPr>
          <a:xfrm>
            <a:off x="2231136" y="3017520"/>
            <a:ext cx="1188720" cy="1508760"/>
          </a:xfrm>
          <a:prstGeom prst="rect">
            <a:avLst/>
          </a:prstGeom>
          <a:noFill/>
          <a:ln/>
        </p:spPr>
        <p:txBody>
          <a:bodyPr wrap="square" lIns="0" tIns="0" rIns="0" bIns="0" rtlCol="0" anchor="t"/>
          <a:lstStyle/>
          <a:p>
            <a:pPr marL="0" indent="0">
              <a:buNone/>
            </a:pPr>
            <a:r>
              <a:rPr lang="en-US" sz="1300" dirty="0">
                <a:solidFill>
                  <a:srgbClr val="1A1A22"/>
                </a:solidFill>
                <a:latin typeface="Calibri" pitchFamily="34" charset="0"/>
                <a:ea typeface="Calibri" pitchFamily="34" charset="-122"/>
                <a:cs typeface="Calibri" pitchFamily="34" charset="-120"/>
              </a:rPr>
              <a:t>AI lists required documents; engineer ticks them off</a:t>
            </a:r>
            <a:endParaRPr lang="en-US" sz="1300" dirty="0"/>
          </a:p>
        </p:txBody>
      </p:sp>
      <p:sp>
        <p:nvSpPr>
          <p:cNvPr id="21" name="Shape 19"/>
          <p:cNvSpPr/>
          <p:nvPr/>
        </p:nvSpPr>
        <p:spPr>
          <a:xfrm>
            <a:off x="3566160" y="3063240"/>
            <a:ext cx="155448" cy="201168"/>
          </a:xfrm>
          <a:prstGeom prst="rightArrow">
            <a:avLst/>
          </a:prstGeom>
          <a:solidFill>
            <a:srgbClr val="4B1FA0"/>
          </a:solidFill>
          <a:ln/>
        </p:spPr>
        <p:txBody>
          <a:bodyPr/>
          <a:lstStyle/>
          <a:p>
            <a:endParaRPr lang="en-PK"/>
          </a:p>
        </p:txBody>
      </p:sp>
      <p:sp>
        <p:nvSpPr>
          <p:cNvPr id="22" name="Shape 20"/>
          <p:cNvSpPr/>
          <p:nvPr/>
        </p:nvSpPr>
        <p:spPr>
          <a:xfrm>
            <a:off x="3730752" y="1783080"/>
            <a:ext cx="1463040" cy="2788920"/>
          </a:xfrm>
          <a:prstGeom prst="roundRect">
            <a:avLst>
              <a:gd name="adj" fmla="val 6250"/>
            </a:avLst>
          </a:prstGeom>
          <a:solidFill>
            <a:srgbClr val="ECECF1"/>
          </a:solidFill>
          <a:ln w="12700">
            <a:solidFill>
              <a:srgbClr val="E6E5EC"/>
            </a:solidFill>
            <a:prstDash val="solid"/>
          </a:ln>
        </p:spPr>
        <p:txBody>
          <a:bodyPr/>
          <a:lstStyle/>
          <a:p>
            <a:endParaRPr lang="en-PK"/>
          </a:p>
        </p:txBody>
      </p:sp>
      <p:sp>
        <p:nvSpPr>
          <p:cNvPr id="23" name="Text 21"/>
          <p:cNvSpPr txBox="1"/>
          <p:nvPr/>
        </p:nvSpPr>
        <p:spPr>
          <a:xfrm>
            <a:off x="3867912" y="1874520"/>
            <a:ext cx="914400" cy="457200"/>
          </a:xfrm>
          <a:prstGeom prst="rect">
            <a:avLst/>
          </a:prstGeom>
          <a:noFill/>
          <a:ln/>
        </p:spPr>
        <p:txBody>
          <a:bodyPr wrap="square" lIns="0" tIns="0" rIns="0" bIns="0" rtlCol="0" anchor="t"/>
          <a:lstStyle/>
          <a:p>
            <a:pPr marL="0" indent="0">
              <a:buNone/>
            </a:pPr>
            <a:r>
              <a:rPr lang="en-US" sz="2400" b="1" dirty="0">
                <a:solidFill>
                  <a:srgbClr val="4B1FA0"/>
                </a:solidFill>
                <a:latin typeface="Calibri" pitchFamily="34" charset="0"/>
                <a:ea typeface="Calibri" pitchFamily="34" charset="-122"/>
                <a:cs typeface="Calibri" pitchFamily="34" charset="-120"/>
              </a:rPr>
              <a:t>3</a:t>
            </a:r>
            <a:endParaRPr lang="en-US" sz="2400" dirty="0"/>
          </a:p>
        </p:txBody>
      </p:sp>
      <p:sp>
        <p:nvSpPr>
          <p:cNvPr id="24" name="Text 22"/>
          <p:cNvSpPr txBox="1"/>
          <p:nvPr/>
        </p:nvSpPr>
        <p:spPr>
          <a:xfrm>
            <a:off x="3867912" y="2377440"/>
            <a:ext cx="1188720" cy="594360"/>
          </a:xfrm>
          <a:prstGeom prst="rect">
            <a:avLst/>
          </a:prstGeom>
          <a:noFill/>
          <a:ln/>
        </p:spPr>
        <p:txBody>
          <a:bodyPr wrap="square" lIns="0" tIns="0" rIns="0" bIns="0" rtlCol="0" anchor="t"/>
          <a:lstStyle/>
          <a:p>
            <a:pPr marL="0" indent="0">
              <a:buNone/>
            </a:pPr>
            <a:r>
              <a:rPr lang="en-US" sz="1400" b="1" dirty="0">
                <a:solidFill>
                  <a:srgbClr val="1A1A22"/>
                </a:solidFill>
                <a:latin typeface="Calibri" pitchFamily="34" charset="0"/>
                <a:ea typeface="Calibri" pitchFamily="34" charset="-122"/>
                <a:cs typeface="Calibri" pitchFamily="34" charset="-120"/>
              </a:rPr>
              <a:t>Compliance</a:t>
            </a:r>
            <a:endParaRPr lang="en-US" sz="1400" dirty="0"/>
          </a:p>
        </p:txBody>
      </p:sp>
      <p:sp>
        <p:nvSpPr>
          <p:cNvPr id="25" name="Text 23"/>
          <p:cNvSpPr txBox="1"/>
          <p:nvPr/>
        </p:nvSpPr>
        <p:spPr>
          <a:xfrm>
            <a:off x="3867912" y="3017520"/>
            <a:ext cx="1188720" cy="1508760"/>
          </a:xfrm>
          <a:prstGeom prst="rect">
            <a:avLst/>
          </a:prstGeom>
          <a:noFill/>
          <a:ln/>
        </p:spPr>
        <p:txBody>
          <a:bodyPr wrap="square" lIns="0" tIns="0" rIns="0" bIns="0" rtlCol="0" anchor="t"/>
          <a:lstStyle/>
          <a:p>
            <a:pPr marL="0" indent="0">
              <a:buNone/>
            </a:pPr>
            <a:r>
              <a:rPr lang="en-US" sz="1300" dirty="0">
                <a:solidFill>
                  <a:srgbClr val="1A1A22"/>
                </a:solidFill>
                <a:latin typeface="Calibri" pitchFamily="34" charset="0"/>
                <a:ea typeface="Calibri" pitchFamily="34" charset="-122"/>
                <a:cs typeface="Calibri" pitchFamily="34" charset="-120"/>
              </a:rPr>
              <a:t>Rule engine rates FC / PC / NC with evidence</a:t>
            </a:r>
            <a:endParaRPr lang="en-US" sz="1300" dirty="0"/>
          </a:p>
        </p:txBody>
      </p:sp>
      <p:sp>
        <p:nvSpPr>
          <p:cNvPr id="26" name="Shape 24"/>
          <p:cNvSpPr/>
          <p:nvPr/>
        </p:nvSpPr>
        <p:spPr>
          <a:xfrm>
            <a:off x="5202936" y="3063240"/>
            <a:ext cx="155448" cy="201168"/>
          </a:xfrm>
          <a:prstGeom prst="rightArrow">
            <a:avLst/>
          </a:prstGeom>
          <a:solidFill>
            <a:srgbClr val="4B1FA0"/>
          </a:solidFill>
          <a:ln/>
        </p:spPr>
        <p:txBody>
          <a:bodyPr/>
          <a:lstStyle/>
          <a:p>
            <a:endParaRPr lang="en-PK"/>
          </a:p>
        </p:txBody>
      </p:sp>
      <p:sp>
        <p:nvSpPr>
          <p:cNvPr id="27" name="Shape 25"/>
          <p:cNvSpPr/>
          <p:nvPr/>
        </p:nvSpPr>
        <p:spPr>
          <a:xfrm>
            <a:off x="5367528" y="1783080"/>
            <a:ext cx="1463040" cy="2788920"/>
          </a:xfrm>
          <a:prstGeom prst="roundRect">
            <a:avLst>
              <a:gd name="adj" fmla="val 6250"/>
            </a:avLst>
          </a:prstGeom>
          <a:solidFill>
            <a:srgbClr val="EFE7FB"/>
          </a:solidFill>
          <a:ln w="12700">
            <a:solidFill>
              <a:srgbClr val="E6E5EC"/>
            </a:solidFill>
            <a:prstDash val="solid"/>
          </a:ln>
        </p:spPr>
        <p:txBody>
          <a:bodyPr/>
          <a:lstStyle/>
          <a:p>
            <a:endParaRPr lang="en-PK"/>
          </a:p>
        </p:txBody>
      </p:sp>
      <p:sp>
        <p:nvSpPr>
          <p:cNvPr id="28" name="Text 26"/>
          <p:cNvSpPr txBox="1"/>
          <p:nvPr/>
        </p:nvSpPr>
        <p:spPr>
          <a:xfrm>
            <a:off x="5504688" y="1874520"/>
            <a:ext cx="914400" cy="457200"/>
          </a:xfrm>
          <a:prstGeom prst="rect">
            <a:avLst/>
          </a:prstGeom>
          <a:noFill/>
          <a:ln/>
        </p:spPr>
        <p:txBody>
          <a:bodyPr wrap="square" lIns="0" tIns="0" rIns="0" bIns="0" rtlCol="0" anchor="t"/>
          <a:lstStyle/>
          <a:p>
            <a:pPr marL="0" indent="0">
              <a:buNone/>
            </a:pPr>
            <a:r>
              <a:rPr lang="en-US" sz="2400" b="1" dirty="0">
                <a:solidFill>
                  <a:srgbClr val="4B1FA0"/>
                </a:solidFill>
                <a:latin typeface="Calibri" pitchFamily="34" charset="0"/>
                <a:ea typeface="Calibri" pitchFamily="34" charset="-122"/>
                <a:cs typeface="Calibri" pitchFamily="34" charset="-120"/>
              </a:rPr>
              <a:t>4</a:t>
            </a:r>
            <a:endParaRPr lang="en-US" sz="2400" dirty="0"/>
          </a:p>
        </p:txBody>
      </p:sp>
      <p:sp>
        <p:nvSpPr>
          <p:cNvPr id="29" name="Text 27"/>
          <p:cNvSpPr txBox="1"/>
          <p:nvPr/>
        </p:nvSpPr>
        <p:spPr>
          <a:xfrm>
            <a:off x="5504688" y="2377440"/>
            <a:ext cx="1188720" cy="594360"/>
          </a:xfrm>
          <a:prstGeom prst="rect">
            <a:avLst/>
          </a:prstGeom>
          <a:noFill/>
          <a:ln/>
        </p:spPr>
        <p:txBody>
          <a:bodyPr wrap="square" lIns="0" tIns="0" rIns="0" bIns="0" rtlCol="0" anchor="t"/>
          <a:lstStyle/>
          <a:p>
            <a:pPr marL="0" indent="0">
              <a:buNone/>
            </a:pPr>
            <a:r>
              <a:rPr lang="en-US" sz="1400" b="1" dirty="0">
                <a:solidFill>
                  <a:srgbClr val="2B0B5E"/>
                </a:solidFill>
                <a:latin typeface="Calibri" pitchFamily="34" charset="0"/>
                <a:ea typeface="Calibri" pitchFamily="34" charset="-122"/>
                <a:cs typeface="Calibri" pitchFamily="34" charset="-120"/>
              </a:rPr>
              <a:t>Proposal</a:t>
            </a:r>
            <a:endParaRPr lang="en-US" sz="1400" dirty="0"/>
          </a:p>
        </p:txBody>
      </p:sp>
      <p:sp>
        <p:nvSpPr>
          <p:cNvPr id="30" name="Text 28"/>
          <p:cNvSpPr txBox="1"/>
          <p:nvPr/>
        </p:nvSpPr>
        <p:spPr>
          <a:xfrm>
            <a:off x="5504688" y="3017520"/>
            <a:ext cx="1188720" cy="1508760"/>
          </a:xfrm>
          <a:prstGeom prst="rect">
            <a:avLst/>
          </a:prstGeom>
          <a:noFill/>
          <a:ln/>
        </p:spPr>
        <p:txBody>
          <a:bodyPr wrap="square" lIns="0" tIns="0" rIns="0" bIns="0" rtlCol="0" anchor="t"/>
          <a:lstStyle/>
          <a:p>
            <a:pPr marL="0" indent="0">
              <a:buNone/>
            </a:pPr>
            <a:r>
              <a:rPr lang="en-US" sz="1300" dirty="0">
                <a:solidFill>
                  <a:srgbClr val="1A1A22"/>
                </a:solidFill>
                <a:latin typeface="Calibri" pitchFamily="34" charset="0"/>
                <a:ea typeface="Calibri" pitchFamily="34" charset="-122"/>
                <a:cs typeface="Calibri" pitchFamily="34" charset="-120"/>
              </a:rPr>
              <a:t>RAG draft from the company’s approved proposals</a:t>
            </a:r>
            <a:endParaRPr lang="en-US" sz="1300" dirty="0"/>
          </a:p>
        </p:txBody>
      </p:sp>
      <p:sp>
        <p:nvSpPr>
          <p:cNvPr id="31" name="Shape 29"/>
          <p:cNvSpPr/>
          <p:nvPr/>
        </p:nvSpPr>
        <p:spPr>
          <a:xfrm>
            <a:off x="6839712" y="3063240"/>
            <a:ext cx="155448" cy="201168"/>
          </a:xfrm>
          <a:prstGeom prst="rightArrow">
            <a:avLst/>
          </a:prstGeom>
          <a:solidFill>
            <a:srgbClr val="4B1FA0"/>
          </a:solidFill>
          <a:ln/>
        </p:spPr>
        <p:txBody>
          <a:bodyPr/>
          <a:lstStyle/>
          <a:p>
            <a:endParaRPr lang="en-PK"/>
          </a:p>
        </p:txBody>
      </p:sp>
      <p:sp>
        <p:nvSpPr>
          <p:cNvPr id="32" name="Shape 30"/>
          <p:cNvSpPr/>
          <p:nvPr/>
        </p:nvSpPr>
        <p:spPr>
          <a:xfrm>
            <a:off x="7004304" y="1783080"/>
            <a:ext cx="1463040" cy="2788920"/>
          </a:xfrm>
          <a:prstGeom prst="roundRect">
            <a:avLst>
              <a:gd name="adj" fmla="val 6250"/>
            </a:avLst>
          </a:prstGeom>
          <a:solidFill>
            <a:srgbClr val="ECECF1"/>
          </a:solidFill>
          <a:ln w="12700">
            <a:solidFill>
              <a:srgbClr val="E6E5EC"/>
            </a:solidFill>
            <a:prstDash val="solid"/>
          </a:ln>
        </p:spPr>
        <p:txBody>
          <a:bodyPr/>
          <a:lstStyle/>
          <a:p>
            <a:endParaRPr lang="en-PK"/>
          </a:p>
        </p:txBody>
      </p:sp>
      <p:sp>
        <p:nvSpPr>
          <p:cNvPr id="33" name="Text 31"/>
          <p:cNvSpPr txBox="1"/>
          <p:nvPr/>
        </p:nvSpPr>
        <p:spPr>
          <a:xfrm>
            <a:off x="7141464" y="1874520"/>
            <a:ext cx="914400" cy="457200"/>
          </a:xfrm>
          <a:prstGeom prst="rect">
            <a:avLst/>
          </a:prstGeom>
          <a:noFill/>
          <a:ln/>
        </p:spPr>
        <p:txBody>
          <a:bodyPr wrap="square" lIns="0" tIns="0" rIns="0" bIns="0" rtlCol="0" anchor="t"/>
          <a:lstStyle/>
          <a:p>
            <a:pPr marL="0" indent="0">
              <a:buNone/>
            </a:pPr>
            <a:r>
              <a:rPr lang="en-US" sz="2400" b="1" dirty="0">
                <a:solidFill>
                  <a:srgbClr val="4B1FA0"/>
                </a:solidFill>
                <a:latin typeface="Calibri" pitchFamily="34" charset="0"/>
                <a:ea typeface="Calibri" pitchFamily="34" charset="-122"/>
                <a:cs typeface="Calibri" pitchFamily="34" charset="-120"/>
              </a:rPr>
              <a:t>5</a:t>
            </a:r>
            <a:endParaRPr lang="en-US" sz="2400" dirty="0"/>
          </a:p>
        </p:txBody>
      </p:sp>
      <p:sp>
        <p:nvSpPr>
          <p:cNvPr id="34" name="Text 32"/>
          <p:cNvSpPr txBox="1"/>
          <p:nvPr/>
        </p:nvSpPr>
        <p:spPr>
          <a:xfrm>
            <a:off x="7141464" y="2377440"/>
            <a:ext cx="1188720" cy="594360"/>
          </a:xfrm>
          <a:prstGeom prst="rect">
            <a:avLst/>
          </a:prstGeom>
          <a:noFill/>
          <a:ln/>
        </p:spPr>
        <p:txBody>
          <a:bodyPr wrap="square" lIns="0" tIns="0" rIns="0" bIns="0" rtlCol="0" anchor="t"/>
          <a:lstStyle/>
          <a:p>
            <a:pPr marL="0" indent="0">
              <a:buNone/>
            </a:pPr>
            <a:r>
              <a:rPr lang="en-US" sz="1400" b="1" dirty="0">
                <a:solidFill>
                  <a:srgbClr val="1A1A22"/>
                </a:solidFill>
                <a:latin typeface="Calibri" pitchFamily="34" charset="0"/>
                <a:ea typeface="Calibri" pitchFamily="34" charset="-122"/>
                <a:cs typeface="Calibri" pitchFamily="34" charset="-120"/>
              </a:rPr>
              <a:t>BOQ and HLD</a:t>
            </a:r>
            <a:endParaRPr lang="en-US" sz="1400" dirty="0"/>
          </a:p>
        </p:txBody>
      </p:sp>
      <p:sp>
        <p:nvSpPr>
          <p:cNvPr id="35" name="Text 33"/>
          <p:cNvSpPr txBox="1"/>
          <p:nvPr/>
        </p:nvSpPr>
        <p:spPr>
          <a:xfrm>
            <a:off x="7141464" y="3017520"/>
            <a:ext cx="1188720" cy="1508760"/>
          </a:xfrm>
          <a:prstGeom prst="rect">
            <a:avLst/>
          </a:prstGeom>
          <a:noFill/>
          <a:ln/>
        </p:spPr>
        <p:txBody>
          <a:bodyPr wrap="square" lIns="0" tIns="0" rIns="0" bIns="0" rtlCol="0" anchor="t"/>
          <a:lstStyle/>
          <a:p>
            <a:pPr marL="0" indent="0">
              <a:buNone/>
            </a:pPr>
            <a:r>
              <a:rPr lang="en-US" sz="1300" dirty="0">
                <a:solidFill>
                  <a:srgbClr val="1A1A22"/>
                </a:solidFill>
                <a:latin typeface="Calibri" pitchFamily="34" charset="0"/>
                <a:ea typeface="Calibri" pitchFamily="34" charset="-122"/>
                <a:cs typeface="Calibri" pitchFamily="34" charset="-120"/>
              </a:rPr>
              <a:t>Templates filled; diagram drawn and described</a:t>
            </a:r>
            <a:endParaRPr lang="en-US" sz="1300" dirty="0"/>
          </a:p>
        </p:txBody>
      </p:sp>
      <p:sp>
        <p:nvSpPr>
          <p:cNvPr id="36" name="Shape 34"/>
          <p:cNvSpPr/>
          <p:nvPr/>
        </p:nvSpPr>
        <p:spPr>
          <a:xfrm>
            <a:off x="8476488" y="3063240"/>
            <a:ext cx="155448" cy="201168"/>
          </a:xfrm>
          <a:prstGeom prst="rightArrow">
            <a:avLst/>
          </a:prstGeom>
          <a:solidFill>
            <a:srgbClr val="4B1FA0"/>
          </a:solidFill>
          <a:ln/>
        </p:spPr>
        <p:txBody>
          <a:bodyPr/>
          <a:lstStyle/>
          <a:p>
            <a:endParaRPr lang="en-PK"/>
          </a:p>
        </p:txBody>
      </p:sp>
      <p:sp>
        <p:nvSpPr>
          <p:cNvPr id="37" name="Shape 35"/>
          <p:cNvSpPr/>
          <p:nvPr/>
        </p:nvSpPr>
        <p:spPr>
          <a:xfrm>
            <a:off x="8641080" y="1783080"/>
            <a:ext cx="1463040" cy="2788920"/>
          </a:xfrm>
          <a:prstGeom prst="roundRect">
            <a:avLst>
              <a:gd name="adj" fmla="val 6250"/>
            </a:avLst>
          </a:prstGeom>
          <a:solidFill>
            <a:srgbClr val="E3F5EA"/>
          </a:solidFill>
          <a:ln w="12700">
            <a:solidFill>
              <a:srgbClr val="E6E5EC"/>
            </a:solidFill>
            <a:prstDash val="solid"/>
          </a:ln>
        </p:spPr>
        <p:txBody>
          <a:bodyPr/>
          <a:lstStyle/>
          <a:p>
            <a:endParaRPr lang="en-PK"/>
          </a:p>
        </p:txBody>
      </p:sp>
      <p:sp>
        <p:nvSpPr>
          <p:cNvPr id="38" name="Text 36"/>
          <p:cNvSpPr txBox="1"/>
          <p:nvPr/>
        </p:nvSpPr>
        <p:spPr>
          <a:xfrm>
            <a:off x="8778240" y="1874520"/>
            <a:ext cx="914400" cy="457200"/>
          </a:xfrm>
          <a:prstGeom prst="rect">
            <a:avLst/>
          </a:prstGeom>
          <a:noFill/>
          <a:ln/>
        </p:spPr>
        <p:txBody>
          <a:bodyPr wrap="square" lIns="0" tIns="0" rIns="0" bIns="0" rtlCol="0" anchor="t"/>
          <a:lstStyle/>
          <a:p>
            <a:pPr marL="0" indent="0">
              <a:buNone/>
            </a:pPr>
            <a:r>
              <a:rPr lang="en-US" sz="2400" b="1" dirty="0">
                <a:solidFill>
                  <a:srgbClr val="4B1FA0"/>
                </a:solidFill>
                <a:latin typeface="Calibri" pitchFamily="34" charset="0"/>
                <a:ea typeface="Calibri" pitchFamily="34" charset="-122"/>
                <a:cs typeface="Calibri" pitchFamily="34" charset="-120"/>
              </a:rPr>
              <a:t>6</a:t>
            </a:r>
            <a:endParaRPr lang="en-US" sz="2400" dirty="0"/>
          </a:p>
        </p:txBody>
      </p:sp>
      <p:sp>
        <p:nvSpPr>
          <p:cNvPr id="39" name="Text 37"/>
          <p:cNvSpPr txBox="1"/>
          <p:nvPr/>
        </p:nvSpPr>
        <p:spPr>
          <a:xfrm>
            <a:off x="8778240" y="2377440"/>
            <a:ext cx="1188720" cy="594360"/>
          </a:xfrm>
          <a:prstGeom prst="rect">
            <a:avLst/>
          </a:prstGeom>
          <a:noFill/>
          <a:ln/>
        </p:spPr>
        <p:txBody>
          <a:bodyPr wrap="square" lIns="0" tIns="0" rIns="0" bIns="0" rtlCol="0" anchor="t"/>
          <a:lstStyle/>
          <a:p>
            <a:pPr marL="0" indent="0">
              <a:buNone/>
            </a:pPr>
            <a:r>
              <a:rPr lang="en-US" sz="1400" b="1" dirty="0">
                <a:solidFill>
                  <a:srgbClr val="17703D"/>
                </a:solidFill>
                <a:latin typeface="Calibri" pitchFamily="34" charset="0"/>
                <a:ea typeface="Calibri" pitchFamily="34" charset="-122"/>
                <a:cs typeface="Calibri" pitchFamily="34" charset="-120"/>
              </a:rPr>
              <a:t>Review</a:t>
            </a:r>
            <a:endParaRPr lang="en-US" sz="1400" dirty="0"/>
          </a:p>
        </p:txBody>
      </p:sp>
      <p:sp>
        <p:nvSpPr>
          <p:cNvPr id="40" name="Text 38"/>
          <p:cNvSpPr txBox="1"/>
          <p:nvPr/>
        </p:nvSpPr>
        <p:spPr>
          <a:xfrm>
            <a:off x="8778240" y="3017520"/>
            <a:ext cx="1188720" cy="1508760"/>
          </a:xfrm>
          <a:prstGeom prst="rect">
            <a:avLst/>
          </a:prstGeom>
          <a:noFill/>
          <a:ln/>
        </p:spPr>
        <p:txBody>
          <a:bodyPr wrap="square" lIns="0" tIns="0" rIns="0" bIns="0" rtlCol="0" anchor="t"/>
          <a:lstStyle/>
          <a:p>
            <a:pPr marL="0" indent="0">
              <a:buNone/>
            </a:pPr>
            <a:r>
              <a:rPr lang="en-US" sz="1300" dirty="0">
                <a:solidFill>
                  <a:srgbClr val="1A1A22"/>
                </a:solidFill>
                <a:latin typeface="Calibri" pitchFamily="34" charset="0"/>
                <a:ea typeface="Calibri" pitchFamily="34" charset="-122"/>
                <a:cs typeface="Calibri" pitchFamily="34" charset="-120"/>
              </a:rPr>
              <a:t>Reviewer approves every section; no self-approval</a:t>
            </a:r>
            <a:endParaRPr lang="en-US" sz="1300" dirty="0"/>
          </a:p>
        </p:txBody>
      </p:sp>
      <p:sp>
        <p:nvSpPr>
          <p:cNvPr id="41" name="Shape 39"/>
          <p:cNvSpPr/>
          <p:nvPr/>
        </p:nvSpPr>
        <p:spPr>
          <a:xfrm>
            <a:off x="10113264" y="3063240"/>
            <a:ext cx="155448" cy="201168"/>
          </a:xfrm>
          <a:prstGeom prst="rightArrow">
            <a:avLst/>
          </a:prstGeom>
          <a:solidFill>
            <a:srgbClr val="4B1FA0"/>
          </a:solidFill>
          <a:ln/>
        </p:spPr>
        <p:txBody>
          <a:bodyPr/>
          <a:lstStyle/>
          <a:p>
            <a:endParaRPr lang="en-PK"/>
          </a:p>
        </p:txBody>
      </p:sp>
      <p:sp>
        <p:nvSpPr>
          <p:cNvPr id="42" name="Shape 40"/>
          <p:cNvSpPr/>
          <p:nvPr/>
        </p:nvSpPr>
        <p:spPr>
          <a:xfrm>
            <a:off x="10277856" y="1783080"/>
            <a:ext cx="1463040" cy="2788920"/>
          </a:xfrm>
          <a:prstGeom prst="roundRect">
            <a:avLst>
              <a:gd name="adj" fmla="val 6250"/>
            </a:avLst>
          </a:prstGeom>
          <a:solidFill>
            <a:srgbClr val="ECECF1"/>
          </a:solidFill>
          <a:ln w="12700">
            <a:solidFill>
              <a:srgbClr val="E6E5EC"/>
            </a:solidFill>
            <a:prstDash val="solid"/>
          </a:ln>
        </p:spPr>
        <p:txBody>
          <a:bodyPr/>
          <a:lstStyle/>
          <a:p>
            <a:endParaRPr lang="en-PK"/>
          </a:p>
        </p:txBody>
      </p:sp>
      <p:sp>
        <p:nvSpPr>
          <p:cNvPr id="43" name="Text 41"/>
          <p:cNvSpPr txBox="1"/>
          <p:nvPr/>
        </p:nvSpPr>
        <p:spPr>
          <a:xfrm>
            <a:off x="10415016" y="1874520"/>
            <a:ext cx="914400" cy="457200"/>
          </a:xfrm>
          <a:prstGeom prst="rect">
            <a:avLst/>
          </a:prstGeom>
          <a:noFill/>
          <a:ln/>
        </p:spPr>
        <p:txBody>
          <a:bodyPr wrap="square" lIns="0" tIns="0" rIns="0" bIns="0" rtlCol="0" anchor="t"/>
          <a:lstStyle/>
          <a:p>
            <a:pPr marL="0" indent="0">
              <a:buNone/>
            </a:pPr>
            <a:r>
              <a:rPr lang="en-US" sz="2400" b="1" dirty="0">
                <a:solidFill>
                  <a:srgbClr val="4B1FA0"/>
                </a:solidFill>
                <a:latin typeface="Calibri" pitchFamily="34" charset="0"/>
                <a:ea typeface="Calibri" pitchFamily="34" charset="-122"/>
                <a:cs typeface="Calibri" pitchFamily="34" charset="-120"/>
              </a:rPr>
              <a:t>7</a:t>
            </a:r>
            <a:endParaRPr lang="en-US" sz="2400" dirty="0"/>
          </a:p>
        </p:txBody>
      </p:sp>
      <p:sp>
        <p:nvSpPr>
          <p:cNvPr id="44" name="Text 42"/>
          <p:cNvSpPr txBox="1"/>
          <p:nvPr/>
        </p:nvSpPr>
        <p:spPr>
          <a:xfrm>
            <a:off x="10415016" y="2377440"/>
            <a:ext cx="1188720" cy="594360"/>
          </a:xfrm>
          <a:prstGeom prst="rect">
            <a:avLst/>
          </a:prstGeom>
          <a:noFill/>
          <a:ln/>
        </p:spPr>
        <p:txBody>
          <a:bodyPr wrap="square" lIns="0" tIns="0" rIns="0" bIns="0" rtlCol="0" anchor="t"/>
          <a:lstStyle/>
          <a:p>
            <a:pPr marL="0" indent="0">
              <a:buNone/>
            </a:pPr>
            <a:r>
              <a:rPr lang="en-US" sz="1400" b="1" dirty="0">
                <a:solidFill>
                  <a:srgbClr val="1A1A22"/>
                </a:solidFill>
                <a:latin typeface="Calibri" pitchFamily="34" charset="0"/>
                <a:ea typeface="Calibri" pitchFamily="34" charset="-122"/>
                <a:cs typeface="Calibri" pitchFamily="34" charset="-120"/>
              </a:rPr>
              <a:t>Readiness and package</a:t>
            </a:r>
            <a:endParaRPr lang="en-US" sz="1400" dirty="0"/>
          </a:p>
        </p:txBody>
      </p:sp>
      <p:sp>
        <p:nvSpPr>
          <p:cNvPr id="45" name="Text 43"/>
          <p:cNvSpPr txBox="1"/>
          <p:nvPr/>
        </p:nvSpPr>
        <p:spPr>
          <a:xfrm>
            <a:off x="10415016" y="3017520"/>
            <a:ext cx="1188720" cy="1508760"/>
          </a:xfrm>
          <a:prstGeom prst="rect">
            <a:avLst/>
          </a:prstGeom>
          <a:noFill/>
          <a:ln/>
        </p:spPr>
        <p:txBody>
          <a:bodyPr wrap="square" lIns="0" tIns="0" rIns="0" bIns="0" rtlCol="0" anchor="t"/>
          <a:lstStyle/>
          <a:p>
            <a:pPr marL="0" indent="0">
              <a:buNone/>
            </a:pPr>
            <a:r>
              <a:rPr lang="en-US" sz="1300" dirty="0">
                <a:solidFill>
                  <a:srgbClr val="1A1A22"/>
                </a:solidFill>
                <a:latin typeface="Calibri" pitchFamily="34" charset="0"/>
                <a:ea typeface="Calibri" pitchFamily="34" charset="-122"/>
                <a:cs typeface="Calibri" pitchFamily="34" charset="-120"/>
              </a:rPr>
              <a:t>Blockers stop the ZIP; package saved in the vault</a:t>
            </a:r>
            <a:endParaRPr lang="en-US" sz="1300" dirty="0"/>
          </a:p>
        </p:txBody>
      </p:sp>
      <p:sp>
        <p:nvSpPr>
          <p:cNvPr id="46" name="Shape 44"/>
          <p:cNvSpPr/>
          <p:nvPr/>
        </p:nvSpPr>
        <p:spPr>
          <a:xfrm>
            <a:off x="457200" y="4846320"/>
            <a:ext cx="11274552" cy="868680"/>
          </a:xfrm>
          <a:prstGeom prst="roundRect">
            <a:avLst>
              <a:gd name="adj" fmla="val 10526"/>
            </a:avLst>
          </a:prstGeom>
          <a:solidFill>
            <a:srgbClr val="2B0B5E"/>
          </a:solidFill>
          <a:ln/>
        </p:spPr>
        <p:txBody>
          <a:bodyPr/>
          <a:lstStyle/>
          <a:p>
            <a:endParaRPr lang="en-PK"/>
          </a:p>
        </p:txBody>
      </p:sp>
      <p:sp>
        <p:nvSpPr>
          <p:cNvPr id="47" name="Text 45"/>
          <p:cNvSpPr txBox="1"/>
          <p:nvPr/>
        </p:nvSpPr>
        <p:spPr>
          <a:xfrm>
            <a:off x="685800" y="4956048"/>
            <a:ext cx="10881360" cy="73152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The LLM only drafts and extracts text. Rules and people decide compliance, approval and readiness.</a:t>
            </a:r>
            <a:endParaRPr lang="en-US" sz="1500" dirty="0"/>
          </a:p>
        </p:txBody>
      </p:sp>
      <p:sp>
        <p:nvSpPr>
          <p:cNvPr id="48" name="Text 46">
            <a:hlinkClick r:id="" action="ppaction://noaction"/>
          </p:cNvPr>
          <p:cNvSpPr/>
          <p:nvPr/>
        </p:nvSpPr>
        <p:spPr>
          <a:xfrm>
            <a:off x="7532827"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49" name="Text 47">
            <a:hlinkClick r:id="rId3" action="ppaction://hlinksldjump" tooltip="Contents"/>
          </p:cNvPr>
          <p:cNvSpPr/>
          <p:nvPr/>
        </p:nvSpPr>
        <p:spPr>
          <a:xfrm>
            <a:off x="8511235"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50" name="Text 48">
            <a:hlinkClick r:id="rId4" action="ppaction://hlinksldjump" tooltip="Walkthrough"/>
          </p:cNvPr>
          <p:cNvSpPr/>
          <p:nvPr/>
        </p:nvSpPr>
        <p:spPr>
          <a:xfrm>
            <a:off x="9571939" y="6355080"/>
            <a:ext cx="1184148"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Walkthrough">
                  <a:extLst>
                    <a:ext uri="{A12FA001-AC4F-418D-AE19-62706E023703}">
                      <ahyp:hlinkClr xmlns:ahyp="http://schemas.microsoft.com/office/drawing/2018/hyperlinkcolor" val="tx"/>
                    </a:ext>
                  </a:extLst>
                </a:hlinkClick>
              </a:rPr>
              <a:t>Walkthrough</a:t>
            </a:r>
            <a:endParaRPr lang="en-US" sz="1100" dirty="0"/>
          </a:p>
        </p:txBody>
      </p:sp>
      <p:sp>
        <p:nvSpPr>
          <p:cNvPr id="51" name="Text 49">
            <a:hlinkClick r:id="rId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PROPOSED SOLUTION</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Walkthrough: One RFP Through PropBot</a:t>
            </a:r>
            <a:endParaRPr lang="en-US" sz="28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7</a:t>
            </a:r>
            <a:endParaRPr lang="en-US" sz="1000" dirty="0"/>
          </a:p>
        </p:txBody>
      </p:sp>
      <p:sp>
        <p:nvSpPr>
          <p:cNvPr id="5" name="Shape 3"/>
          <p:cNvSpPr/>
          <p:nvPr/>
        </p:nvSpPr>
        <p:spPr>
          <a:xfrm>
            <a:off x="457200" y="1280160"/>
            <a:ext cx="2103120" cy="2212848"/>
          </a:xfrm>
          <a:prstGeom prst="roundRect">
            <a:avLst>
              <a:gd name="adj" fmla="val 3478"/>
            </a:avLst>
          </a:prstGeom>
          <a:solidFill>
            <a:srgbClr val="FFFFFF"/>
          </a:solidFill>
          <a:ln w="12700">
            <a:solidFill>
              <a:srgbClr val="E6E5EC"/>
            </a:solidFill>
            <a:prstDash val="solid"/>
          </a:ln>
        </p:spPr>
        <p:txBody>
          <a:bodyPr/>
          <a:lstStyle/>
          <a:p>
            <a:endParaRPr lang="en-PK"/>
          </a:p>
        </p:txBody>
      </p:sp>
      <p:sp>
        <p:nvSpPr>
          <p:cNvPr id="6" name="Text 4"/>
          <p:cNvSpPr txBox="1"/>
          <p:nvPr/>
        </p:nvSpPr>
        <p:spPr>
          <a:xfrm>
            <a:off x="566928" y="1371600"/>
            <a:ext cx="1883664" cy="713232"/>
          </a:xfrm>
          <a:prstGeom prst="rect">
            <a:avLst/>
          </a:prstGeom>
          <a:noFill/>
          <a:ln/>
        </p:spPr>
        <p:txBody>
          <a:bodyPr wrap="square" lIns="0" tIns="0" rIns="0" bIns="0" rtlCol="0" anchor="t"/>
          <a:lstStyle/>
          <a:p>
            <a:pPr marL="0" indent="0">
              <a:buNone/>
            </a:pPr>
            <a:r>
              <a:rPr lang="en-US" sz="1050" b="1" kern="0" spc="100" dirty="0">
                <a:solidFill>
                  <a:srgbClr val="4B1FA0"/>
                </a:solidFill>
                <a:latin typeface="Calibri" pitchFamily="34" charset="0"/>
                <a:ea typeface="Calibri" pitchFamily="34" charset="-122"/>
                <a:cs typeface="Calibri" pitchFamily="34" charset="-120"/>
              </a:rPr>
              <a:t>STEP 1</a:t>
            </a:r>
            <a:endParaRPr lang="en-US" sz="1050" dirty="0"/>
          </a:p>
          <a:p>
            <a:pPr marL="0" indent="0">
              <a:buNone/>
            </a:pPr>
            <a:r>
              <a:rPr lang="en-US" sz="1400" b="1" dirty="0">
                <a:solidFill>
                  <a:srgbClr val="2B0B5E"/>
                </a:solidFill>
                <a:latin typeface="Calibri" pitchFamily="34" charset="0"/>
                <a:ea typeface="Calibri" pitchFamily="34" charset="-122"/>
                <a:cs typeface="Calibri" pitchFamily="34" charset="-120"/>
              </a:rPr>
              <a:t>Upload the RFP</a:t>
            </a:r>
            <a:endParaRPr lang="en-US" sz="1050" dirty="0"/>
          </a:p>
        </p:txBody>
      </p:sp>
      <p:sp>
        <p:nvSpPr>
          <p:cNvPr id="7" name="Shape 5"/>
          <p:cNvSpPr/>
          <p:nvPr/>
        </p:nvSpPr>
        <p:spPr>
          <a:xfrm>
            <a:off x="566928" y="2103120"/>
            <a:ext cx="1883664" cy="1097280"/>
          </a:xfrm>
          <a:prstGeom prst="rect">
            <a:avLst/>
          </a:prstGeom>
          <a:solidFill>
            <a:srgbClr val="ECEBF2"/>
          </a:solidFill>
          <a:ln/>
        </p:spPr>
        <p:txBody>
          <a:bodyPr/>
          <a:lstStyle/>
          <a:p>
            <a:endParaRPr lang="en-PK"/>
          </a:p>
        </p:txBody>
      </p:sp>
      <p:pic>
        <p:nvPicPr>
          <p:cNvPr id="8" name="Image 0" descr="Upload the RFP"/>
          <p:cNvPicPr>
            <a:picLocks noChangeAspect="1"/>
          </p:cNvPicPr>
          <p:nvPr/>
        </p:nvPicPr>
        <p:blipFill>
          <a:blip r:embed="rId3"/>
          <a:stretch>
            <a:fillRect/>
          </a:stretch>
        </p:blipFill>
        <p:spPr>
          <a:xfrm>
            <a:off x="685800" y="2103120"/>
            <a:ext cx="1645920" cy="1097280"/>
          </a:xfrm>
          <a:prstGeom prst="rect">
            <a:avLst/>
          </a:prstGeom>
        </p:spPr>
      </p:pic>
      <p:sp>
        <p:nvSpPr>
          <p:cNvPr id="9" name="Text 6"/>
          <p:cNvSpPr txBox="1"/>
          <p:nvPr/>
        </p:nvSpPr>
        <p:spPr>
          <a:xfrm>
            <a:off x="566928" y="3218688"/>
            <a:ext cx="1883664" cy="228600"/>
          </a:xfrm>
          <a:prstGeom prst="rect">
            <a:avLst/>
          </a:prstGeom>
          <a:noFill/>
          <a:ln/>
        </p:spPr>
        <p:txBody>
          <a:bodyPr wrap="square" lIns="0" tIns="0" rIns="0" bIns="0" rtlCol="0" anchor="t"/>
          <a:lstStyle/>
          <a:p>
            <a:pPr marL="0" indent="0">
              <a:buNone/>
            </a:pPr>
            <a:r>
              <a:rPr lang="en-US" sz="1100" b="1" dirty="0">
                <a:solidFill>
                  <a:srgbClr val="5E5E6B"/>
                </a:solidFill>
                <a:latin typeface="Calibri" pitchFamily="34" charset="0"/>
                <a:ea typeface="Calibri" pitchFamily="34" charset="-122"/>
                <a:cs typeface="Calibri" pitchFamily="34" charset="-120"/>
              </a:rPr>
              <a:t>W-06</a:t>
            </a:r>
            <a:endParaRPr lang="en-US" sz="1100" dirty="0"/>
          </a:p>
        </p:txBody>
      </p:sp>
      <p:sp>
        <p:nvSpPr>
          <p:cNvPr id="10" name="Shape 7">
            <a:hlinkClick r:id="rId4" action="ppaction://hlinksldjump" tooltip="Open mockup"/>
          </p:cNvPr>
          <p:cNvSpPr/>
          <p:nvPr/>
        </p:nvSpPr>
        <p:spPr>
          <a:xfrm>
            <a:off x="457200" y="1280160"/>
            <a:ext cx="2103120" cy="2212848"/>
          </a:xfrm>
          <a:prstGeom prst="rect">
            <a:avLst/>
          </a:prstGeom>
          <a:solidFill>
            <a:srgbClr val="FFFFFF">
              <a:alpha val="0"/>
            </a:srgbClr>
          </a:solidFill>
          <a:ln/>
        </p:spPr>
        <p:txBody>
          <a:bodyPr/>
          <a:lstStyle/>
          <a:p>
            <a:endParaRPr lang="en-PK"/>
          </a:p>
        </p:txBody>
      </p:sp>
      <p:sp>
        <p:nvSpPr>
          <p:cNvPr id="11" name="Shape 8"/>
          <p:cNvSpPr/>
          <p:nvPr/>
        </p:nvSpPr>
        <p:spPr>
          <a:xfrm>
            <a:off x="2569464" y="2286000"/>
            <a:ext cx="164592" cy="201168"/>
          </a:xfrm>
          <a:prstGeom prst="rightArrow">
            <a:avLst/>
          </a:prstGeom>
          <a:solidFill>
            <a:srgbClr val="4B1FA0"/>
          </a:solidFill>
          <a:ln/>
        </p:spPr>
        <p:txBody>
          <a:bodyPr/>
          <a:lstStyle/>
          <a:p>
            <a:endParaRPr lang="en-PK"/>
          </a:p>
        </p:txBody>
      </p:sp>
      <p:sp>
        <p:nvSpPr>
          <p:cNvPr id="12" name="Shape 9"/>
          <p:cNvSpPr/>
          <p:nvPr/>
        </p:nvSpPr>
        <p:spPr>
          <a:xfrm>
            <a:off x="2743200" y="1280160"/>
            <a:ext cx="2103120" cy="2212848"/>
          </a:xfrm>
          <a:prstGeom prst="roundRect">
            <a:avLst>
              <a:gd name="adj" fmla="val 3478"/>
            </a:avLst>
          </a:prstGeom>
          <a:solidFill>
            <a:srgbClr val="FFFFFF"/>
          </a:solidFill>
          <a:ln w="12700">
            <a:solidFill>
              <a:srgbClr val="E6E5EC"/>
            </a:solidFill>
            <a:prstDash val="solid"/>
          </a:ln>
        </p:spPr>
        <p:txBody>
          <a:bodyPr/>
          <a:lstStyle/>
          <a:p>
            <a:endParaRPr lang="en-PK"/>
          </a:p>
        </p:txBody>
      </p:sp>
      <p:sp>
        <p:nvSpPr>
          <p:cNvPr id="13" name="Text 10"/>
          <p:cNvSpPr txBox="1"/>
          <p:nvPr/>
        </p:nvSpPr>
        <p:spPr>
          <a:xfrm>
            <a:off x="2852928" y="1371600"/>
            <a:ext cx="1883664" cy="713232"/>
          </a:xfrm>
          <a:prstGeom prst="rect">
            <a:avLst/>
          </a:prstGeom>
          <a:noFill/>
          <a:ln/>
        </p:spPr>
        <p:txBody>
          <a:bodyPr wrap="square" lIns="0" tIns="0" rIns="0" bIns="0" rtlCol="0" anchor="t"/>
          <a:lstStyle/>
          <a:p>
            <a:pPr marL="0" indent="0">
              <a:buNone/>
            </a:pPr>
            <a:r>
              <a:rPr lang="en-US" sz="1050" b="1" kern="0" spc="100" dirty="0">
                <a:solidFill>
                  <a:srgbClr val="4B1FA0"/>
                </a:solidFill>
                <a:latin typeface="Calibri" pitchFamily="34" charset="0"/>
                <a:ea typeface="Calibri" pitchFamily="34" charset="-122"/>
                <a:cs typeface="Calibri" pitchFamily="34" charset="-120"/>
              </a:rPr>
              <a:t>STEP 2</a:t>
            </a:r>
            <a:endParaRPr lang="en-US" sz="1050" dirty="0"/>
          </a:p>
          <a:p>
            <a:pPr marL="0" indent="0">
              <a:buNone/>
            </a:pPr>
            <a:r>
              <a:rPr lang="en-US" sz="1400" b="1" dirty="0">
                <a:solidFill>
                  <a:srgbClr val="2B0B5E"/>
                </a:solidFill>
                <a:latin typeface="Calibri" pitchFamily="34" charset="0"/>
                <a:ea typeface="Calibri" pitchFamily="34" charset="-122"/>
                <a:cs typeface="Calibri" pitchFamily="34" charset="-120"/>
              </a:rPr>
              <a:t>Review requirement IDs</a:t>
            </a:r>
            <a:endParaRPr lang="en-US" sz="1050" dirty="0"/>
          </a:p>
        </p:txBody>
      </p:sp>
      <p:sp>
        <p:nvSpPr>
          <p:cNvPr id="14" name="Shape 11"/>
          <p:cNvSpPr/>
          <p:nvPr/>
        </p:nvSpPr>
        <p:spPr>
          <a:xfrm>
            <a:off x="2852928" y="2103120"/>
            <a:ext cx="1883664" cy="1097280"/>
          </a:xfrm>
          <a:prstGeom prst="rect">
            <a:avLst/>
          </a:prstGeom>
          <a:solidFill>
            <a:srgbClr val="ECEBF2"/>
          </a:solidFill>
          <a:ln/>
        </p:spPr>
        <p:txBody>
          <a:bodyPr/>
          <a:lstStyle/>
          <a:p>
            <a:endParaRPr lang="en-PK"/>
          </a:p>
        </p:txBody>
      </p:sp>
      <p:pic>
        <p:nvPicPr>
          <p:cNvPr id="15" name="Image 1" descr="Review requirement IDs"/>
          <p:cNvPicPr>
            <a:picLocks noChangeAspect="1"/>
          </p:cNvPicPr>
          <p:nvPr/>
        </p:nvPicPr>
        <p:blipFill>
          <a:blip r:embed="rId5"/>
          <a:stretch>
            <a:fillRect/>
          </a:stretch>
        </p:blipFill>
        <p:spPr>
          <a:xfrm>
            <a:off x="2971800" y="2103120"/>
            <a:ext cx="1645920" cy="1097280"/>
          </a:xfrm>
          <a:prstGeom prst="rect">
            <a:avLst/>
          </a:prstGeom>
        </p:spPr>
      </p:pic>
      <p:sp>
        <p:nvSpPr>
          <p:cNvPr id="16" name="Text 12"/>
          <p:cNvSpPr txBox="1"/>
          <p:nvPr/>
        </p:nvSpPr>
        <p:spPr>
          <a:xfrm>
            <a:off x="2852928" y="3218688"/>
            <a:ext cx="1883664" cy="228600"/>
          </a:xfrm>
          <a:prstGeom prst="rect">
            <a:avLst/>
          </a:prstGeom>
          <a:noFill/>
          <a:ln/>
        </p:spPr>
        <p:txBody>
          <a:bodyPr wrap="square" lIns="0" tIns="0" rIns="0" bIns="0" rtlCol="0" anchor="t"/>
          <a:lstStyle/>
          <a:p>
            <a:pPr marL="0" indent="0">
              <a:buNone/>
            </a:pPr>
            <a:r>
              <a:rPr lang="en-US" sz="1100" b="1" dirty="0">
                <a:solidFill>
                  <a:srgbClr val="5E5E6B"/>
                </a:solidFill>
                <a:latin typeface="Calibri" pitchFamily="34" charset="0"/>
                <a:ea typeface="Calibri" pitchFamily="34" charset="-122"/>
                <a:cs typeface="Calibri" pitchFamily="34" charset="-120"/>
              </a:rPr>
              <a:t>W-09</a:t>
            </a:r>
            <a:endParaRPr lang="en-US" sz="1100" dirty="0"/>
          </a:p>
        </p:txBody>
      </p:sp>
      <p:sp>
        <p:nvSpPr>
          <p:cNvPr id="17" name="Shape 13">
            <a:hlinkClick r:id="rId6" action="ppaction://hlinksldjump" tooltip="Open mockup"/>
          </p:cNvPr>
          <p:cNvSpPr/>
          <p:nvPr/>
        </p:nvSpPr>
        <p:spPr>
          <a:xfrm>
            <a:off x="2743200" y="1280160"/>
            <a:ext cx="2103120" cy="2212848"/>
          </a:xfrm>
          <a:prstGeom prst="rect">
            <a:avLst/>
          </a:prstGeom>
          <a:solidFill>
            <a:srgbClr val="FFFFFF">
              <a:alpha val="0"/>
            </a:srgbClr>
          </a:solidFill>
          <a:ln/>
        </p:spPr>
        <p:txBody>
          <a:bodyPr/>
          <a:lstStyle/>
          <a:p>
            <a:endParaRPr lang="en-PK"/>
          </a:p>
        </p:txBody>
      </p:sp>
      <p:sp>
        <p:nvSpPr>
          <p:cNvPr id="18" name="Shape 14"/>
          <p:cNvSpPr/>
          <p:nvPr/>
        </p:nvSpPr>
        <p:spPr>
          <a:xfrm>
            <a:off x="4855464" y="2286000"/>
            <a:ext cx="164592" cy="201168"/>
          </a:xfrm>
          <a:prstGeom prst="rightArrow">
            <a:avLst/>
          </a:prstGeom>
          <a:solidFill>
            <a:srgbClr val="4B1FA0"/>
          </a:solidFill>
          <a:ln/>
        </p:spPr>
        <p:txBody>
          <a:bodyPr/>
          <a:lstStyle/>
          <a:p>
            <a:endParaRPr lang="en-PK"/>
          </a:p>
        </p:txBody>
      </p:sp>
      <p:sp>
        <p:nvSpPr>
          <p:cNvPr id="19" name="Shape 15"/>
          <p:cNvSpPr/>
          <p:nvPr/>
        </p:nvSpPr>
        <p:spPr>
          <a:xfrm>
            <a:off x="5029200" y="1280160"/>
            <a:ext cx="2103120" cy="2212848"/>
          </a:xfrm>
          <a:prstGeom prst="roundRect">
            <a:avLst>
              <a:gd name="adj" fmla="val 3478"/>
            </a:avLst>
          </a:prstGeom>
          <a:solidFill>
            <a:srgbClr val="FFFFFF"/>
          </a:solidFill>
          <a:ln w="12700">
            <a:solidFill>
              <a:srgbClr val="E6E5EC"/>
            </a:solidFill>
            <a:prstDash val="solid"/>
          </a:ln>
        </p:spPr>
        <p:txBody>
          <a:bodyPr/>
          <a:lstStyle/>
          <a:p>
            <a:endParaRPr lang="en-PK"/>
          </a:p>
        </p:txBody>
      </p:sp>
      <p:sp>
        <p:nvSpPr>
          <p:cNvPr id="20" name="Text 16"/>
          <p:cNvSpPr txBox="1"/>
          <p:nvPr/>
        </p:nvSpPr>
        <p:spPr>
          <a:xfrm>
            <a:off x="5138928" y="1371600"/>
            <a:ext cx="1883664" cy="713232"/>
          </a:xfrm>
          <a:prstGeom prst="rect">
            <a:avLst/>
          </a:prstGeom>
          <a:noFill/>
          <a:ln/>
        </p:spPr>
        <p:txBody>
          <a:bodyPr wrap="square" lIns="0" tIns="0" rIns="0" bIns="0" rtlCol="0" anchor="t"/>
          <a:lstStyle/>
          <a:p>
            <a:pPr marL="0" indent="0">
              <a:buNone/>
            </a:pPr>
            <a:r>
              <a:rPr lang="en-US" sz="1050" b="1" kern="0" spc="100" dirty="0">
                <a:solidFill>
                  <a:srgbClr val="4B1FA0"/>
                </a:solidFill>
                <a:latin typeface="Calibri" pitchFamily="34" charset="0"/>
                <a:ea typeface="Calibri" pitchFamily="34" charset="-122"/>
                <a:cs typeface="Calibri" pitchFamily="34" charset="-120"/>
              </a:rPr>
              <a:t>STEP 3</a:t>
            </a:r>
            <a:endParaRPr lang="en-US" sz="1050" dirty="0"/>
          </a:p>
          <a:p>
            <a:pPr marL="0" indent="0">
              <a:buNone/>
            </a:pPr>
            <a:r>
              <a:rPr lang="en-US" sz="1400" b="1" dirty="0">
                <a:solidFill>
                  <a:srgbClr val="2B0B5E"/>
                </a:solidFill>
                <a:latin typeface="Calibri" pitchFamily="34" charset="0"/>
                <a:ea typeface="Calibri" pitchFamily="34" charset="-122"/>
                <a:cs typeface="Calibri" pitchFamily="34" charset="-120"/>
              </a:rPr>
              <a:t>Collect documents</a:t>
            </a:r>
            <a:endParaRPr lang="en-US" sz="1050" dirty="0"/>
          </a:p>
        </p:txBody>
      </p:sp>
      <p:sp>
        <p:nvSpPr>
          <p:cNvPr id="21" name="Shape 17"/>
          <p:cNvSpPr/>
          <p:nvPr/>
        </p:nvSpPr>
        <p:spPr>
          <a:xfrm>
            <a:off x="5138928" y="2103120"/>
            <a:ext cx="1883664" cy="1097280"/>
          </a:xfrm>
          <a:prstGeom prst="rect">
            <a:avLst/>
          </a:prstGeom>
          <a:solidFill>
            <a:srgbClr val="ECEBF2"/>
          </a:solidFill>
          <a:ln/>
        </p:spPr>
        <p:txBody>
          <a:bodyPr/>
          <a:lstStyle/>
          <a:p>
            <a:endParaRPr lang="en-PK"/>
          </a:p>
        </p:txBody>
      </p:sp>
      <p:pic>
        <p:nvPicPr>
          <p:cNvPr id="22" name="Image 2" descr="Collect documents"/>
          <p:cNvPicPr>
            <a:picLocks noChangeAspect="1"/>
          </p:cNvPicPr>
          <p:nvPr/>
        </p:nvPicPr>
        <p:blipFill>
          <a:blip r:embed="rId7"/>
          <a:stretch>
            <a:fillRect/>
          </a:stretch>
        </p:blipFill>
        <p:spPr>
          <a:xfrm>
            <a:off x="5257800" y="2103120"/>
            <a:ext cx="1645920" cy="1097280"/>
          </a:xfrm>
          <a:prstGeom prst="rect">
            <a:avLst/>
          </a:prstGeom>
        </p:spPr>
      </p:pic>
      <p:sp>
        <p:nvSpPr>
          <p:cNvPr id="23" name="Text 18"/>
          <p:cNvSpPr txBox="1"/>
          <p:nvPr/>
        </p:nvSpPr>
        <p:spPr>
          <a:xfrm>
            <a:off x="5138928" y="3218688"/>
            <a:ext cx="1883664" cy="228600"/>
          </a:xfrm>
          <a:prstGeom prst="rect">
            <a:avLst/>
          </a:prstGeom>
          <a:noFill/>
          <a:ln/>
        </p:spPr>
        <p:txBody>
          <a:bodyPr wrap="square" lIns="0" tIns="0" rIns="0" bIns="0" rtlCol="0" anchor="t"/>
          <a:lstStyle/>
          <a:p>
            <a:pPr marL="0" indent="0">
              <a:buNone/>
            </a:pPr>
            <a:r>
              <a:rPr lang="en-US" sz="1100" b="1" dirty="0">
                <a:solidFill>
                  <a:srgbClr val="5E5E6B"/>
                </a:solidFill>
                <a:latin typeface="Calibri" pitchFamily="34" charset="0"/>
                <a:ea typeface="Calibri" pitchFamily="34" charset="-122"/>
                <a:cs typeface="Calibri" pitchFamily="34" charset="-120"/>
              </a:rPr>
              <a:t>W-11 · M-07</a:t>
            </a:r>
            <a:endParaRPr lang="en-US" sz="1100" dirty="0"/>
          </a:p>
        </p:txBody>
      </p:sp>
      <p:sp>
        <p:nvSpPr>
          <p:cNvPr id="24" name="Shape 19">
            <a:hlinkClick r:id="rId8" action="ppaction://hlinksldjump" tooltip="Open mockup"/>
          </p:cNvPr>
          <p:cNvSpPr/>
          <p:nvPr/>
        </p:nvSpPr>
        <p:spPr>
          <a:xfrm>
            <a:off x="5029200" y="1280160"/>
            <a:ext cx="2103120" cy="2212848"/>
          </a:xfrm>
          <a:prstGeom prst="rect">
            <a:avLst/>
          </a:prstGeom>
          <a:solidFill>
            <a:srgbClr val="FFFFFF">
              <a:alpha val="0"/>
            </a:srgbClr>
          </a:solidFill>
          <a:ln/>
        </p:spPr>
        <p:txBody>
          <a:bodyPr/>
          <a:lstStyle/>
          <a:p>
            <a:endParaRPr lang="en-PK"/>
          </a:p>
        </p:txBody>
      </p:sp>
      <p:sp>
        <p:nvSpPr>
          <p:cNvPr id="25" name="Shape 20"/>
          <p:cNvSpPr/>
          <p:nvPr/>
        </p:nvSpPr>
        <p:spPr>
          <a:xfrm>
            <a:off x="7141464" y="2286000"/>
            <a:ext cx="164592" cy="201168"/>
          </a:xfrm>
          <a:prstGeom prst="rightArrow">
            <a:avLst/>
          </a:prstGeom>
          <a:solidFill>
            <a:srgbClr val="4B1FA0"/>
          </a:solidFill>
          <a:ln/>
        </p:spPr>
        <p:txBody>
          <a:bodyPr/>
          <a:lstStyle/>
          <a:p>
            <a:endParaRPr lang="en-PK"/>
          </a:p>
        </p:txBody>
      </p:sp>
      <p:sp>
        <p:nvSpPr>
          <p:cNvPr id="26" name="Shape 21"/>
          <p:cNvSpPr/>
          <p:nvPr/>
        </p:nvSpPr>
        <p:spPr>
          <a:xfrm>
            <a:off x="7315200" y="1280160"/>
            <a:ext cx="2103120" cy="2212848"/>
          </a:xfrm>
          <a:prstGeom prst="roundRect">
            <a:avLst>
              <a:gd name="adj" fmla="val 3478"/>
            </a:avLst>
          </a:prstGeom>
          <a:solidFill>
            <a:srgbClr val="FFFFFF"/>
          </a:solidFill>
          <a:ln w="12700">
            <a:solidFill>
              <a:srgbClr val="E6E5EC"/>
            </a:solidFill>
            <a:prstDash val="solid"/>
          </a:ln>
        </p:spPr>
        <p:txBody>
          <a:bodyPr/>
          <a:lstStyle/>
          <a:p>
            <a:endParaRPr lang="en-PK"/>
          </a:p>
        </p:txBody>
      </p:sp>
      <p:sp>
        <p:nvSpPr>
          <p:cNvPr id="27" name="Text 22"/>
          <p:cNvSpPr txBox="1"/>
          <p:nvPr/>
        </p:nvSpPr>
        <p:spPr>
          <a:xfrm>
            <a:off x="7424928" y="1371600"/>
            <a:ext cx="1883664" cy="713232"/>
          </a:xfrm>
          <a:prstGeom prst="rect">
            <a:avLst/>
          </a:prstGeom>
          <a:noFill/>
          <a:ln/>
        </p:spPr>
        <p:txBody>
          <a:bodyPr wrap="square" lIns="0" tIns="0" rIns="0" bIns="0" rtlCol="0" anchor="t"/>
          <a:lstStyle/>
          <a:p>
            <a:pPr marL="0" indent="0">
              <a:buNone/>
            </a:pPr>
            <a:r>
              <a:rPr lang="en-US" sz="1050" b="1" kern="0" spc="100" dirty="0">
                <a:solidFill>
                  <a:srgbClr val="4B1FA0"/>
                </a:solidFill>
                <a:latin typeface="Calibri" pitchFamily="34" charset="0"/>
                <a:ea typeface="Calibri" pitchFamily="34" charset="-122"/>
                <a:cs typeface="Calibri" pitchFamily="34" charset="-120"/>
              </a:rPr>
              <a:t>STEP 4</a:t>
            </a:r>
            <a:endParaRPr lang="en-US" sz="1050" dirty="0"/>
          </a:p>
          <a:p>
            <a:pPr marL="0" indent="0">
              <a:buNone/>
            </a:pPr>
            <a:r>
              <a:rPr lang="en-US" sz="1400" b="1" dirty="0">
                <a:solidFill>
                  <a:srgbClr val="2B0B5E"/>
                </a:solidFill>
                <a:latin typeface="Calibri" pitchFamily="34" charset="0"/>
                <a:ea typeface="Calibri" pitchFamily="34" charset="-122"/>
                <a:cs typeface="Calibri" pitchFamily="34" charset="-120"/>
              </a:rPr>
              <a:t>Check compliance</a:t>
            </a:r>
            <a:endParaRPr lang="en-US" sz="1050" dirty="0"/>
          </a:p>
        </p:txBody>
      </p:sp>
      <p:sp>
        <p:nvSpPr>
          <p:cNvPr id="28" name="Shape 23"/>
          <p:cNvSpPr/>
          <p:nvPr/>
        </p:nvSpPr>
        <p:spPr>
          <a:xfrm>
            <a:off x="7424928" y="2103120"/>
            <a:ext cx="1883664" cy="1097280"/>
          </a:xfrm>
          <a:prstGeom prst="rect">
            <a:avLst/>
          </a:prstGeom>
          <a:solidFill>
            <a:srgbClr val="ECEBF2"/>
          </a:solidFill>
          <a:ln/>
        </p:spPr>
        <p:txBody>
          <a:bodyPr/>
          <a:lstStyle/>
          <a:p>
            <a:endParaRPr lang="en-PK"/>
          </a:p>
        </p:txBody>
      </p:sp>
      <p:pic>
        <p:nvPicPr>
          <p:cNvPr id="29" name="Image 3" descr="Check compliance"/>
          <p:cNvPicPr>
            <a:picLocks noChangeAspect="1"/>
          </p:cNvPicPr>
          <p:nvPr/>
        </p:nvPicPr>
        <p:blipFill>
          <a:blip r:embed="rId9"/>
          <a:stretch>
            <a:fillRect/>
          </a:stretch>
        </p:blipFill>
        <p:spPr>
          <a:xfrm>
            <a:off x="7543800" y="2103120"/>
            <a:ext cx="1645920" cy="1097280"/>
          </a:xfrm>
          <a:prstGeom prst="rect">
            <a:avLst/>
          </a:prstGeom>
        </p:spPr>
      </p:pic>
      <p:sp>
        <p:nvSpPr>
          <p:cNvPr id="30" name="Text 24"/>
          <p:cNvSpPr txBox="1"/>
          <p:nvPr/>
        </p:nvSpPr>
        <p:spPr>
          <a:xfrm>
            <a:off x="7424928" y="3218688"/>
            <a:ext cx="1883664" cy="228600"/>
          </a:xfrm>
          <a:prstGeom prst="rect">
            <a:avLst/>
          </a:prstGeom>
          <a:noFill/>
          <a:ln/>
        </p:spPr>
        <p:txBody>
          <a:bodyPr wrap="square" lIns="0" tIns="0" rIns="0" bIns="0" rtlCol="0" anchor="t"/>
          <a:lstStyle/>
          <a:p>
            <a:pPr marL="0" indent="0">
              <a:buNone/>
            </a:pPr>
            <a:r>
              <a:rPr lang="en-US" sz="1100" b="1" dirty="0">
                <a:solidFill>
                  <a:srgbClr val="5E5E6B"/>
                </a:solidFill>
                <a:latin typeface="Calibri" pitchFamily="34" charset="0"/>
                <a:ea typeface="Calibri" pitchFamily="34" charset="-122"/>
                <a:cs typeface="Calibri" pitchFamily="34" charset="-120"/>
              </a:rPr>
              <a:t>W-14</a:t>
            </a:r>
            <a:endParaRPr lang="en-US" sz="1100" dirty="0"/>
          </a:p>
        </p:txBody>
      </p:sp>
      <p:sp>
        <p:nvSpPr>
          <p:cNvPr id="31" name="Shape 25">
            <a:hlinkClick r:id="rId10" action="ppaction://hlinksldjump" tooltip="Open mockup"/>
          </p:cNvPr>
          <p:cNvSpPr/>
          <p:nvPr/>
        </p:nvSpPr>
        <p:spPr>
          <a:xfrm>
            <a:off x="7315200" y="1280160"/>
            <a:ext cx="2103120" cy="2212848"/>
          </a:xfrm>
          <a:prstGeom prst="rect">
            <a:avLst/>
          </a:prstGeom>
          <a:solidFill>
            <a:srgbClr val="FFFFFF">
              <a:alpha val="0"/>
            </a:srgbClr>
          </a:solidFill>
          <a:ln/>
        </p:spPr>
        <p:txBody>
          <a:bodyPr/>
          <a:lstStyle/>
          <a:p>
            <a:endParaRPr lang="en-PK"/>
          </a:p>
        </p:txBody>
      </p:sp>
      <p:sp>
        <p:nvSpPr>
          <p:cNvPr id="32" name="Shape 26"/>
          <p:cNvSpPr/>
          <p:nvPr/>
        </p:nvSpPr>
        <p:spPr>
          <a:xfrm>
            <a:off x="9427464" y="2286000"/>
            <a:ext cx="164592" cy="201168"/>
          </a:xfrm>
          <a:prstGeom prst="rightArrow">
            <a:avLst/>
          </a:prstGeom>
          <a:solidFill>
            <a:srgbClr val="4B1FA0"/>
          </a:solidFill>
          <a:ln/>
        </p:spPr>
        <p:txBody>
          <a:bodyPr/>
          <a:lstStyle/>
          <a:p>
            <a:endParaRPr lang="en-PK"/>
          </a:p>
        </p:txBody>
      </p:sp>
      <p:sp>
        <p:nvSpPr>
          <p:cNvPr id="33" name="Shape 27"/>
          <p:cNvSpPr/>
          <p:nvPr/>
        </p:nvSpPr>
        <p:spPr>
          <a:xfrm>
            <a:off x="9601200" y="1280160"/>
            <a:ext cx="2103120" cy="2212848"/>
          </a:xfrm>
          <a:prstGeom prst="roundRect">
            <a:avLst>
              <a:gd name="adj" fmla="val 3478"/>
            </a:avLst>
          </a:prstGeom>
          <a:solidFill>
            <a:srgbClr val="FFFFFF"/>
          </a:solidFill>
          <a:ln w="12700">
            <a:solidFill>
              <a:srgbClr val="E6E5EC"/>
            </a:solidFill>
            <a:prstDash val="solid"/>
          </a:ln>
        </p:spPr>
        <p:txBody>
          <a:bodyPr/>
          <a:lstStyle/>
          <a:p>
            <a:endParaRPr lang="en-PK"/>
          </a:p>
        </p:txBody>
      </p:sp>
      <p:sp>
        <p:nvSpPr>
          <p:cNvPr id="34" name="Text 28"/>
          <p:cNvSpPr txBox="1"/>
          <p:nvPr/>
        </p:nvSpPr>
        <p:spPr>
          <a:xfrm>
            <a:off x="9710928" y="1371600"/>
            <a:ext cx="1883664" cy="713232"/>
          </a:xfrm>
          <a:prstGeom prst="rect">
            <a:avLst/>
          </a:prstGeom>
          <a:noFill/>
          <a:ln/>
        </p:spPr>
        <p:txBody>
          <a:bodyPr wrap="square" lIns="0" tIns="0" rIns="0" bIns="0" rtlCol="0" anchor="t"/>
          <a:lstStyle/>
          <a:p>
            <a:pPr marL="0" indent="0">
              <a:buNone/>
            </a:pPr>
            <a:r>
              <a:rPr lang="en-US" sz="1050" b="1" kern="0" spc="100" dirty="0">
                <a:solidFill>
                  <a:srgbClr val="4B1FA0"/>
                </a:solidFill>
                <a:latin typeface="Calibri" pitchFamily="34" charset="0"/>
                <a:ea typeface="Calibri" pitchFamily="34" charset="-122"/>
                <a:cs typeface="Calibri" pitchFamily="34" charset="-120"/>
              </a:rPr>
              <a:t>STEP 5</a:t>
            </a:r>
            <a:endParaRPr lang="en-US" sz="1050" dirty="0"/>
          </a:p>
          <a:p>
            <a:pPr marL="0" indent="0">
              <a:buNone/>
            </a:pPr>
            <a:r>
              <a:rPr lang="en-US" sz="1400" b="1" dirty="0">
                <a:solidFill>
                  <a:srgbClr val="2B0B5E"/>
                </a:solidFill>
                <a:latin typeface="Calibri" pitchFamily="34" charset="0"/>
                <a:ea typeface="Calibri" pitchFamily="34" charset="-122"/>
                <a:cs typeface="Calibri" pitchFamily="34" charset="-120"/>
              </a:rPr>
              <a:t>Track the score</a:t>
            </a:r>
            <a:endParaRPr lang="en-US" sz="1050" dirty="0"/>
          </a:p>
        </p:txBody>
      </p:sp>
      <p:sp>
        <p:nvSpPr>
          <p:cNvPr id="35" name="Shape 29"/>
          <p:cNvSpPr/>
          <p:nvPr/>
        </p:nvSpPr>
        <p:spPr>
          <a:xfrm>
            <a:off x="9710928" y="2103120"/>
            <a:ext cx="1883664" cy="1097280"/>
          </a:xfrm>
          <a:prstGeom prst="rect">
            <a:avLst/>
          </a:prstGeom>
          <a:solidFill>
            <a:srgbClr val="ECEBF2"/>
          </a:solidFill>
          <a:ln/>
        </p:spPr>
        <p:txBody>
          <a:bodyPr/>
          <a:lstStyle/>
          <a:p>
            <a:endParaRPr lang="en-PK"/>
          </a:p>
        </p:txBody>
      </p:sp>
      <p:pic>
        <p:nvPicPr>
          <p:cNvPr id="36" name="Image 4" descr="Track the score"/>
          <p:cNvPicPr>
            <a:picLocks noChangeAspect="1"/>
          </p:cNvPicPr>
          <p:nvPr/>
        </p:nvPicPr>
        <p:blipFill>
          <a:blip r:embed="rId11"/>
          <a:stretch>
            <a:fillRect/>
          </a:stretch>
        </p:blipFill>
        <p:spPr>
          <a:xfrm>
            <a:off x="9829800" y="2103120"/>
            <a:ext cx="1645920" cy="1097280"/>
          </a:xfrm>
          <a:prstGeom prst="rect">
            <a:avLst/>
          </a:prstGeom>
        </p:spPr>
      </p:pic>
      <p:sp>
        <p:nvSpPr>
          <p:cNvPr id="37" name="Text 30"/>
          <p:cNvSpPr txBox="1"/>
          <p:nvPr/>
        </p:nvSpPr>
        <p:spPr>
          <a:xfrm>
            <a:off x="9710928" y="3218688"/>
            <a:ext cx="1883664" cy="228600"/>
          </a:xfrm>
          <a:prstGeom prst="rect">
            <a:avLst/>
          </a:prstGeom>
          <a:noFill/>
          <a:ln/>
        </p:spPr>
        <p:txBody>
          <a:bodyPr wrap="square" lIns="0" tIns="0" rIns="0" bIns="0" rtlCol="0" anchor="t"/>
          <a:lstStyle/>
          <a:p>
            <a:pPr marL="0" indent="0">
              <a:buNone/>
            </a:pPr>
            <a:r>
              <a:rPr lang="en-US" sz="1100" b="1" dirty="0">
                <a:solidFill>
                  <a:srgbClr val="5E5E6B"/>
                </a:solidFill>
                <a:latin typeface="Calibri" pitchFamily="34" charset="0"/>
                <a:ea typeface="Calibri" pitchFamily="34" charset="-122"/>
                <a:cs typeface="Calibri" pitchFamily="34" charset="-120"/>
              </a:rPr>
              <a:t>W-16</a:t>
            </a:r>
            <a:endParaRPr lang="en-US" sz="1100" dirty="0"/>
          </a:p>
        </p:txBody>
      </p:sp>
      <p:sp>
        <p:nvSpPr>
          <p:cNvPr id="38" name="Shape 31">
            <a:hlinkClick r:id="rId12" action="ppaction://hlinksldjump" tooltip="Open mockup"/>
          </p:cNvPr>
          <p:cNvSpPr/>
          <p:nvPr/>
        </p:nvSpPr>
        <p:spPr>
          <a:xfrm>
            <a:off x="9601200" y="1280160"/>
            <a:ext cx="2103120" cy="2212848"/>
          </a:xfrm>
          <a:prstGeom prst="rect">
            <a:avLst/>
          </a:prstGeom>
          <a:solidFill>
            <a:srgbClr val="FFFFFF">
              <a:alpha val="0"/>
            </a:srgbClr>
          </a:solidFill>
          <a:ln/>
        </p:spPr>
        <p:txBody>
          <a:bodyPr/>
          <a:lstStyle/>
          <a:p>
            <a:endParaRPr lang="en-PK"/>
          </a:p>
        </p:txBody>
      </p:sp>
      <p:sp>
        <p:nvSpPr>
          <p:cNvPr id="39" name="Shape 32"/>
          <p:cNvSpPr/>
          <p:nvPr/>
        </p:nvSpPr>
        <p:spPr>
          <a:xfrm>
            <a:off x="457200" y="3657600"/>
            <a:ext cx="2103120" cy="2212848"/>
          </a:xfrm>
          <a:prstGeom prst="roundRect">
            <a:avLst>
              <a:gd name="adj" fmla="val 3478"/>
            </a:avLst>
          </a:prstGeom>
          <a:solidFill>
            <a:srgbClr val="F4F0FB"/>
          </a:solidFill>
          <a:ln w="12700">
            <a:solidFill>
              <a:srgbClr val="E6E5EC"/>
            </a:solidFill>
            <a:prstDash val="solid"/>
          </a:ln>
        </p:spPr>
        <p:txBody>
          <a:bodyPr/>
          <a:lstStyle/>
          <a:p>
            <a:endParaRPr lang="en-PK"/>
          </a:p>
        </p:txBody>
      </p:sp>
      <p:sp>
        <p:nvSpPr>
          <p:cNvPr id="40" name="Text 33"/>
          <p:cNvSpPr txBox="1"/>
          <p:nvPr/>
        </p:nvSpPr>
        <p:spPr>
          <a:xfrm>
            <a:off x="566928" y="3749040"/>
            <a:ext cx="1883664" cy="713232"/>
          </a:xfrm>
          <a:prstGeom prst="rect">
            <a:avLst/>
          </a:prstGeom>
          <a:noFill/>
          <a:ln/>
        </p:spPr>
        <p:txBody>
          <a:bodyPr wrap="square" lIns="0" tIns="0" rIns="0" bIns="0" rtlCol="0" anchor="t"/>
          <a:lstStyle/>
          <a:p>
            <a:pPr marL="0" indent="0">
              <a:buNone/>
            </a:pPr>
            <a:r>
              <a:rPr lang="en-US" sz="1050" b="1" kern="0" spc="100" dirty="0">
                <a:solidFill>
                  <a:srgbClr val="4B1FA0"/>
                </a:solidFill>
                <a:latin typeface="Calibri" pitchFamily="34" charset="0"/>
                <a:ea typeface="Calibri" pitchFamily="34" charset="-122"/>
                <a:cs typeface="Calibri" pitchFamily="34" charset="-120"/>
              </a:rPr>
              <a:t>STEP 6</a:t>
            </a:r>
            <a:endParaRPr lang="en-US" sz="1050" dirty="0"/>
          </a:p>
          <a:p>
            <a:pPr marL="0" indent="0">
              <a:buNone/>
            </a:pPr>
            <a:r>
              <a:rPr lang="en-US" sz="1400" b="1" dirty="0">
                <a:solidFill>
                  <a:srgbClr val="2B0B5E"/>
                </a:solidFill>
                <a:latin typeface="Calibri" pitchFamily="34" charset="0"/>
                <a:ea typeface="Calibri" pitchFamily="34" charset="-122"/>
                <a:cs typeface="Calibri" pitchFamily="34" charset="-120"/>
              </a:rPr>
              <a:t>Generate and edit proposal</a:t>
            </a:r>
            <a:endParaRPr lang="en-US" sz="1050" dirty="0"/>
          </a:p>
        </p:txBody>
      </p:sp>
      <p:sp>
        <p:nvSpPr>
          <p:cNvPr id="41" name="Shape 34"/>
          <p:cNvSpPr/>
          <p:nvPr/>
        </p:nvSpPr>
        <p:spPr>
          <a:xfrm>
            <a:off x="566928" y="4480560"/>
            <a:ext cx="1883664" cy="1097280"/>
          </a:xfrm>
          <a:prstGeom prst="rect">
            <a:avLst/>
          </a:prstGeom>
          <a:solidFill>
            <a:srgbClr val="ECEBF2"/>
          </a:solidFill>
          <a:ln/>
        </p:spPr>
        <p:txBody>
          <a:bodyPr/>
          <a:lstStyle/>
          <a:p>
            <a:endParaRPr lang="en-PK"/>
          </a:p>
        </p:txBody>
      </p:sp>
      <p:pic>
        <p:nvPicPr>
          <p:cNvPr id="42" name="Image 5" descr="Generate and edit proposal"/>
          <p:cNvPicPr>
            <a:picLocks noChangeAspect="1"/>
          </p:cNvPicPr>
          <p:nvPr/>
        </p:nvPicPr>
        <p:blipFill>
          <a:blip r:embed="rId13"/>
          <a:stretch>
            <a:fillRect/>
          </a:stretch>
        </p:blipFill>
        <p:spPr>
          <a:xfrm>
            <a:off x="685800" y="4480560"/>
            <a:ext cx="1645920" cy="1097280"/>
          </a:xfrm>
          <a:prstGeom prst="rect">
            <a:avLst/>
          </a:prstGeom>
        </p:spPr>
      </p:pic>
      <p:sp>
        <p:nvSpPr>
          <p:cNvPr id="43" name="Text 35"/>
          <p:cNvSpPr txBox="1"/>
          <p:nvPr/>
        </p:nvSpPr>
        <p:spPr>
          <a:xfrm>
            <a:off x="566928" y="5596128"/>
            <a:ext cx="1883664" cy="228600"/>
          </a:xfrm>
          <a:prstGeom prst="rect">
            <a:avLst/>
          </a:prstGeom>
          <a:noFill/>
          <a:ln/>
        </p:spPr>
        <p:txBody>
          <a:bodyPr wrap="square" lIns="0" tIns="0" rIns="0" bIns="0" rtlCol="0" anchor="t"/>
          <a:lstStyle/>
          <a:p>
            <a:pPr marL="0" indent="0">
              <a:buNone/>
            </a:pPr>
            <a:r>
              <a:rPr lang="en-US" sz="1100" b="1" dirty="0">
                <a:solidFill>
                  <a:srgbClr val="5E5E6B"/>
                </a:solidFill>
                <a:latin typeface="Calibri" pitchFamily="34" charset="0"/>
                <a:ea typeface="Calibri" pitchFamily="34" charset="-122"/>
                <a:cs typeface="Calibri" pitchFamily="34" charset="-120"/>
              </a:rPr>
              <a:t>W-19 · W-20</a:t>
            </a:r>
            <a:endParaRPr lang="en-US" sz="1100" dirty="0"/>
          </a:p>
        </p:txBody>
      </p:sp>
      <p:sp>
        <p:nvSpPr>
          <p:cNvPr id="44" name="Shape 36">
            <a:hlinkClick r:id="rId14" action="ppaction://hlinksldjump" tooltip="Open mockup"/>
          </p:cNvPr>
          <p:cNvSpPr/>
          <p:nvPr/>
        </p:nvSpPr>
        <p:spPr>
          <a:xfrm>
            <a:off x="457200" y="3657600"/>
            <a:ext cx="2103120" cy="2212848"/>
          </a:xfrm>
          <a:prstGeom prst="rect">
            <a:avLst/>
          </a:prstGeom>
          <a:solidFill>
            <a:srgbClr val="FFFFFF">
              <a:alpha val="0"/>
            </a:srgbClr>
          </a:solidFill>
          <a:ln/>
        </p:spPr>
        <p:txBody>
          <a:bodyPr/>
          <a:lstStyle/>
          <a:p>
            <a:endParaRPr lang="en-PK"/>
          </a:p>
        </p:txBody>
      </p:sp>
      <p:sp>
        <p:nvSpPr>
          <p:cNvPr id="45" name="Shape 37"/>
          <p:cNvSpPr/>
          <p:nvPr/>
        </p:nvSpPr>
        <p:spPr>
          <a:xfrm>
            <a:off x="2569464" y="4663440"/>
            <a:ext cx="164592" cy="201168"/>
          </a:xfrm>
          <a:prstGeom prst="rightArrow">
            <a:avLst/>
          </a:prstGeom>
          <a:solidFill>
            <a:srgbClr val="4B1FA0"/>
          </a:solidFill>
          <a:ln/>
        </p:spPr>
        <p:txBody>
          <a:bodyPr/>
          <a:lstStyle/>
          <a:p>
            <a:endParaRPr lang="en-PK"/>
          </a:p>
        </p:txBody>
      </p:sp>
      <p:sp>
        <p:nvSpPr>
          <p:cNvPr id="46" name="Shape 38"/>
          <p:cNvSpPr/>
          <p:nvPr/>
        </p:nvSpPr>
        <p:spPr>
          <a:xfrm>
            <a:off x="2743200" y="3657600"/>
            <a:ext cx="2103120" cy="2212848"/>
          </a:xfrm>
          <a:prstGeom prst="roundRect">
            <a:avLst>
              <a:gd name="adj" fmla="val 3478"/>
            </a:avLst>
          </a:prstGeom>
          <a:solidFill>
            <a:srgbClr val="F4F0FB"/>
          </a:solidFill>
          <a:ln w="12700">
            <a:solidFill>
              <a:srgbClr val="E6E5EC"/>
            </a:solidFill>
            <a:prstDash val="solid"/>
          </a:ln>
        </p:spPr>
        <p:txBody>
          <a:bodyPr/>
          <a:lstStyle/>
          <a:p>
            <a:endParaRPr lang="en-PK"/>
          </a:p>
        </p:txBody>
      </p:sp>
      <p:sp>
        <p:nvSpPr>
          <p:cNvPr id="47" name="Text 39"/>
          <p:cNvSpPr txBox="1"/>
          <p:nvPr/>
        </p:nvSpPr>
        <p:spPr>
          <a:xfrm>
            <a:off x="2852928" y="3749040"/>
            <a:ext cx="1883664" cy="713232"/>
          </a:xfrm>
          <a:prstGeom prst="rect">
            <a:avLst/>
          </a:prstGeom>
          <a:noFill/>
          <a:ln/>
        </p:spPr>
        <p:txBody>
          <a:bodyPr wrap="square" lIns="0" tIns="0" rIns="0" bIns="0" rtlCol="0" anchor="t"/>
          <a:lstStyle/>
          <a:p>
            <a:pPr marL="0" indent="0">
              <a:buNone/>
            </a:pPr>
            <a:r>
              <a:rPr lang="en-US" sz="1050" b="1" kern="0" spc="100" dirty="0">
                <a:solidFill>
                  <a:srgbClr val="4B1FA0"/>
                </a:solidFill>
                <a:latin typeface="Calibri" pitchFamily="34" charset="0"/>
                <a:ea typeface="Calibri" pitchFamily="34" charset="-122"/>
                <a:cs typeface="Calibri" pitchFamily="34" charset="-120"/>
              </a:rPr>
              <a:t>STEP 7</a:t>
            </a:r>
            <a:endParaRPr lang="en-US" sz="1050" dirty="0"/>
          </a:p>
          <a:p>
            <a:pPr marL="0" indent="0">
              <a:buNone/>
            </a:pPr>
            <a:r>
              <a:rPr lang="en-US" sz="1400" b="1" dirty="0">
                <a:solidFill>
                  <a:srgbClr val="2B0B5E"/>
                </a:solidFill>
                <a:latin typeface="Calibri" pitchFamily="34" charset="0"/>
                <a:ea typeface="Calibri" pitchFamily="34" charset="-122"/>
                <a:cs typeface="Calibri" pitchFamily="34" charset="-120"/>
              </a:rPr>
              <a:t>Reviewer approves</a:t>
            </a:r>
            <a:endParaRPr lang="en-US" sz="1050" dirty="0"/>
          </a:p>
        </p:txBody>
      </p:sp>
      <p:sp>
        <p:nvSpPr>
          <p:cNvPr id="48" name="Shape 40"/>
          <p:cNvSpPr/>
          <p:nvPr/>
        </p:nvSpPr>
        <p:spPr>
          <a:xfrm>
            <a:off x="2852928" y="4480560"/>
            <a:ext cx="1883664" cy="1097280"/>
          </a:xfrm>
          <a:prstGeom prst="rect">
            <a:avLst/>
          </a:prstGeom>
          <a:solidFill>
            <a:srgbClr val="ECEBF2"/>
          </a:solidFill>
          <a:ln/>
        </p:spPr>
        <p:txBody>
          <a:bodyPr/>
          <a:lstStyle/>
          <a:p>
            <a:endParaRPr lang="en-PK"/>
          </a:p>
        </p:txBody>
      </p:sp>
      <p:pic>
        <p:nvPicPr>
          <p:cNvPr id="49" name="Image 6" descr="Reviewer approves"/>
          <p:cNvPicPr>
            <a:picLocks noChangeAspect="1"/>
          </p:cNvPicPr>
          <p:nvPr/>
        </p:nvPicPr>
        <p:blipFill>
          <a:blip r:embed="rId15"/>
          <a:stretch>
            <a:fillRect/>
          </a:stretch>
        </p:blipFill>
        <p:spPr>
          <a:xfrm>
            <a:off x="2916936" y="4480560"/>
            <a:ext cx="1755648" cy="1097280"/>
          </a:xfrm>
          <a:prstGeom prst="rect">
            <a:avLst/>
          </a:prstGeom>
        </p:spPr>
      </p:pic>
      <p:sp>
        <p:nvSpPr>
          <p:cNvPr id="50" name="Text 41"/>
          <p:cNvSpPr txBox="1"/>
          <p:nvPr/>
        </p:nvSpPr>
        <p:spPr>
          <a:xfrm>
            <a:off x="2852928" y="5596128"/>
            <a:ext cx="1883664" cy="228600"/>
          </a:xfrm>
          <a:prstGeom prst="rect">
            <a:avLst/>
          </a:prstGeom>
          <a:noFill/>
          <a:ln/>
        </p:spPr>
        <p:txBody>
          <a:bodyPr wrap="square" lIns="0" tIns="0" rIns="0" bIns="0" rtlCol="0" anchor="t"/>
          <a:lstStyle/>
          <a:p>
            <a:pPr marL="0" indent="0">
              <a:buNone/>
            </a:pPr>
            <a:r>
              <a:rPr lang="en-US" sz="1100" b="1" dirty="0">
                <a:solidFill>
                  <a:srgbClr val="5E5E6B"/>
                </a:solidFill>
                <a:latin typeface="Calibri" pitchFamily="34" charset="0"/>
                <a:ea typeface="Calibri" pitchFamily="34" charset="-122"/>
                <a:cs typeface="Calibri" pitchFamily="34" charset="-120"/>
              </a:rPr>
              <a:t>W-20 · M-03</a:t>
            </a:r>
            <a:endParaRPr lang="en-US" sz="1100" dirty="0"/>
          </a:p>
        </p:txBody>
      </p:sp>
      <p:sp>
        <p:nvSpPr>
          <p:cNvPr id="51" name="Shape 42">
            <a:hlinkClick r:id="rId16" action="ppaction://hlinksldjump" tooltip="Open mockup"/>
          </p:cNvPr>
          <p:cNvSpPr/>
          <p:nvPr/>
        </p:nvSpPr>
        <p:spPr>
          <a:xfrm>
            <a:off x="2743200" y="3657600"/>
            <a:ext cx="2103120" cy="2212848"/>
          </a:xfrm>
          <a:prstGeom prst="rect">
            <a:avLst/>
          </a:prstGeom>
          <a:solidFill>
            <a:srgbClr val="FFFFFF">
              <a:alpha val="0"/>
            </a:srgbClr>
          </a:solidFill>
          <a:ln/>
        </p:spPr>
        <p:txBody>
          <a:bodyPr/>
          <a:lstStyle/>
          <a:p>
            <a:endParaRPr lang="en-PK"/>
          </a:p>
        </p:txBody>
      </p:sp>
      <p:sp>
        <p:nvSpPr>
          <p:cNvPr id="52" name="Shape 43"/>
          <p:cNvSpPr/>
          <p:nvPr/>
        </p:nvSpPr>
        <p:spPr>
          <a:xfrm>
            <a:off x="4855464" y="4663440"/>
            <a:ext cx="164592" cy="201168"/>
          </a:xfrm>
          <a:prstGeom prst="rightArrow">
            <a:avLst/>
          </a:prstGeom>
          <a:solidFill>
            <a:srgbClr val="4B1FA0"/>
          </a:solidFill>
          <a:ln/>
        </p:spPr>
        <p:txBody>
          <a:bodyPr/>
          <a:lstStyle/>
          <a:p>
            <a:endParaRPr lang="en-PK"/>
          </a:p>
        </p:txBody>
      </p:sp>
      <p:sp>
        <p:nvSpPr>
          <p:cNvPr id="53" name="Shape 44"/>
          <p:cNvSpPr/>
          <p:nvPr/>
        </p:nvSpPr>
        <p:spPr>
          <a:xfrm>
            <a:off x="5029200" y="3657600"/>
            <a:ext cx="2103120" cy="2212848"/>
          </a:xfrm>
          <a:prstGeom prst="roundRect">
            <a:avLst>
              <a:gd name="adj" fmla="val 3478"/>
            </a:avLst>
          </a:prstGeom>
          <a:solidFill>
            <a:srgbClr val="F4F0FB"/>
          </a:solidFill>
          <a:ln w="12700">
            <a:solidFill>
              <a:srgbClr val="E6E5EC"/>
            </a:solidFill>
            <a:prstDash val="solid"/>
          </a:ln>
        </p:spPr>
        <p:txBody>
          <a:bodyPr/>
          <a:lstStyle/>
          <a:p>
            <a:endParaRPr lang="en-PK"/>
          </a:p>
        </p:txBody>
      </p:sp>
      <p:sp>
        <p:nvSpPr>
          <p:cNvPr id="54" name="Text 45"/>
          <p:cNvSpPr txBox="1"/>
          <p:nvPr/>
        </p:nvSpPr>
        <p:spPr>
          <a:xfrm>
            <a:off x="5138928" y="3749040"/>
            <a:ext cx="1883664" cy="713232"/>
          </a:xfrm>
          <a:prstGeom prst="rect">
            <a:avLst/>
          </a:prstGeom>
          <a:noFill/>
          <a:ln/>
        </p:spPr>
        <p:txBody>
          <a:bodyPr wrap="square" lIns="0" tIns="0" rIns="0" bIns="0" rtlCol="0" anchor="t"/>
          <a:lstStyle/>
          <a:p>
            <a:pPr marL="0" indent="0">
              <a:buNone/>
            </a:pPr>
            <a:r>
              <a:rPr lang="en-US" sz="1050" b="1" kern="0" spc="100" dirty="0">
                <a:solidFill>
                  <a:srgbClr val="4B1FA0"/>
                </a:solidFill>
                <a:latin typeface="Calibri" pitchFamily="34" charset="0"/>
                <a:ea typeface="Calibri" pitchFamily="34" charset="-122"/>
                <a:cs typeface="Calibri" pitchFamily="34" charset="-120"/>
              </a:rPr>
              <a:t>STEP 8</a:t>
            </a:r>
            <a:endParaRPr lang="en-US" sz="1050" dirty="0"/>
          </a:p>
          <a:p>
            <a:pPr marL="0" indent="0">
              <a:buNone/>
            </a:pPr>
            <a:r>
              <a:rPr lang="en-US" sz="1400" b="1" dirty="0">
                <a:solidFill>
                  <a:srgbClr val="2B0B5E"/>
                </a:solidFill>
                <a:latin typeface="Calibri" pitchFamily="34" charset="0"/>
                <a:ea typeface="Calibri" pitchFamily="34" charset="-122"/>
                <a:cs typeface="Calibri" pitchFamily="34" charset="-120"/>
              </a:rPr>
              <a:t>BOQ and HLD</a:t>
            </a:r>
            <a:endParaRPr lang="en-US" sz="1050" dirty="0"/>
          </a:p>
        </p:txBody>
      </p:sp>
      <p:sp>
        <p:nvSpPr>
          <p:cNvPr id="55" name="Shape 46"/>
          <p:cNvSpPr/>
          <p:nvPr/>
        </p:nvSpPr>
        <p:spPr>
          <a:xfrm>
            <a:off x="5138928" y="4480560"/>
            <a:ext cx="1883664" cy="1097280"/>
          </a:xfrm>
          <a:prstGeom prst="rect">
            <a:avLst/>
          </a:prstGeom>
          <a:solidFill>
            <a:srgbClr val="ECEBF2"/>
          </a:solidFill>
          <a:ln/>
        </p:spPr>
        <p:txBody>
          <a:bodyPr/>
          <a:lstStyle/>
          <a:p>
            <a:endParaRPr lang="en-PK"/>
          </a:p>
        </p:txBody>
      </p:sp>
      <p:pic>
        <p:nvPicPr>
          <p:cNvPr id="56" name="Image 7" descr="BOQ and HLD"/>
          <p:cNvPicPr>
            <a:picLocks noChangeAspect="1"/>
          </p:cNvPicPr>
          <p:nvPr/>
        </p:nvPicPr>
        <p:blipFill>
          <a:blip r:embed="rId17"/>
          <a:stretch>
            <a:fillRect/>
          </a:stretch>
        </p:blipFill>
        <p:spPr>
          <a:xfrm>
            <a:off x="5202936" y="4480560"/>
            <a:ext cx="1755648" cy="1097280"/>
          </a:xfrm>
          <a:prstGeom prst="rect">
            <a:avLst/>
          </a:prstGeom>
        </p:spPr>
      </p:pic>
      <p:sp>
        <p:nvSpPr>
          <p:cNvPr id="57" name="Text 47"/>
          <p:cNvSpPr txBox="1"/>
          <p:nvPr/>
        </p:nvSpPr>
        <p:spPr>
          <a:xfrm>
            <a:off x="5138928" y="5596128"/>
            <a:ext cx="1883664" cy="228600"/>
          </a:xfrm>
          <a:prstGeom prst="rect">
            <a:avLst/>
          </a:prstGeom>
          <a:noFill/>
          <a:ln/>
        </p:spPr>
        <p:txBody>
          <a:bodyPr wrap="square" lIns="0" tIns="0" rIns="0" bIns="0" rtlCol="0" anchor="t"/>
          <a:lstStyle/>
          <a:p>
            <a:pPr marL="0" indent="0">
              <a:buNone/>
            </a:pPr>
            <a:r>
              <a:rPr lang="en-US" sz="1100" b="1" dirty="0">
                <a:solidFill>
                  <a:srgbClr val="5E5E6B"/>
                </a:solidFill>
                <a:latin typeface="Calibri" pitchFamily="34" charset="0"/>
                <a:ea typeface="Calibri" pitchFamily="34" charset="-122"/>
                <a:cs typeface="Calibri" pitchFamily="34" charset="-120"/>
              </a:rPr>
              <a:t>W-23 · W-18</a:t>
            </a:r>
            <a:endParaRPr lang="en-US" sz="1100" dirty="0"/>
          </a:p>
        </p:txBody>
      </p:sp>
      <p:sp>
        <p:nvSpPr>
          <p:cNvPr id="58" name="Shape 48">
            <a:hlinkClick r:id="rId18" action="ppaction://hlinksldjump" tooltip="Open mockup"/>
          </p:cNvPr>
          <p:cNvSpPr/>
          <p:nvPr/>
        </p:nvSpPr>
        <p:spPr>
          <a:xfrm>
            <a:off x="5029200" y="3657600"/>
            <a:ext cx="2103120" cy="2212848"/>
          </a:xfrm>
          <a:prstGeom prst="rect">
            <a:avLst/>
          </a:prstGeom>
          <a:solidFill>
            <a:srgbClr val="FFFFFF">
              <a:alpha val="0"/>
            </a:srgbClr>
          </a:solidFill>
          <a:ln/>
        </p:spPr>
        <p:txBody>
          <a:bodyPr/>
          <a:lstStyle/>
          <a:p>
            <a:endParaRPr lang="en-PK"/>
          </a:p>
        </p:txBody>
      </p:sp>
      <p:sp>
        <p:nvSpPr>
          <p:cNvPr id="59" name="Shape 49"/>
          <p:cNvSpPr/>
          <p:nvPr/>
        </p:nvSpPr>
        <p:spPr>
          <a:xfrm>
            <a:off x="7141464" y="4663440"/>
            <a:ext cx="164592" cy="201168"/>
          </a:xfrm>
          <a:prstGeom prst="rightArrow">
            <a:avLst/>
          </a:prstGeom>
          <a:solidFill>
            <a:srgbClr val="4B1FA0"/>
          </a:solidFill>
          <a:ln/>
        </p:spPr>
        <p:txBody>
          <a:bodyPr/>
          <a:lstStyle/>
          <a:p>
            <a:endParaRPr lang="en-PK"/>
          </a:p>
        </p:txBody>
      </p:sp>
      <p:sp>
        <p:nvSpPr>
          <p:cNvPr id="60" name="Shape 50"/>
          <p:cNvSpPr/>
          <p:nvPr/>
        </p:nvSpPr>
        <p:spPr>
          <a:xfrm>
            <a:off x="7315200" y="3657600"/>
            <a:ext cx="2103120" cy="2212848"/>
          </a:xfrm>
          <a:prstGeom prst="roundRect">
            <a:avLst>
              <a:gd name="adj" fmla="val 3478"/>
            </a:avLst>
          </a:prstGeom>
          <a:solidFill>
            <a:srgbClr val="F4F0FB"/>
          </a:solidFill>
          <a:ln w="12700">
            <a:solidFill>
              <a:srgbClr val="E6E5EC"/>
            </a:solidFill>
            <a:prstDash val="solid"/>
          </a:ln>
        </p:spPr>
        <p:txBody>
          <a:bodyPr/>
          <a:lstStyle/>
          <a:p>
            <a:endParaRPr lang="en-PK"/>
          </a:p>
        </p:txBody>
      </p:sp>
      <p:sp>
        <p:nvSpPr>
          <p:cNvPr id="61" name="Text 51"/>
          <p:cNvSpPr txBox="1"/>
          <p:nvPr/>
        </p:nvSpPr>
        <p:spPr>
          <a:xfrm>
            <a:off x="7424928" y="3749040"/>
            <a:ext cx="1883664" cy="713232"/>
          </a:xfrm>
          <a:prstGeom prst="rect">
            <a:avLst/>
          </a:prstGeom>
          <a:noFill/>
          <a:ln/>
        </p:spPr>
        <p:txBody>
          <a:bodyPr wrap="square" lIns="0" tIns="0" rIns="0" bIns="0" rtlCol="0" anchor="t"/>
          <a:lstStyle/>
          <a:p>
            <a:pPr marL="0" indent="0">
              <a:buNone/>
            </a:pPr>
            <a:r>
              <a:rPr lang="en-US" sz="1050" b="1" kern="0" spc="100" dirty="0">
                <a:solidFill>
                  <a:srgbClr val="4B1FA0"/>
                </a:solidFill>
                <a:latin typeface="Calibri" pitchFamily="34" charset="0"/>
                <a:ea typeface="Calibri" pitchFamily="34" charset="-122"/>
                <a:cs typeface="Calibri" pitchFamily="34" charset="-120"/>
              </a:rPr>
              <a:t>STEP 9</a:t>
            </a:r>
            <a:endParaRPr lang="en-US" sz="1050" dirty="0"/>
          </a:p>
          <a:p>
            <a:pPr marL="0" indent="0">
              <a:buNone/>
            </a:pPr>
            <a:r>
              <a:rPr lang="en-US" sz="1400" b="1" dirty="0">
                <a:solidFill>
                  <a:srgbClr val="2B0B5E"/>
                </a:solidFill>
                <a:latin typeface="Calibri" pitchFamily="34" charset="0"/>
                <a:ea typeface="Calibri" pitchFamily="34" charset="-122"/>
                <a:cs typeface="Calibri" pitchFamily="34" charset="-120"/>
              </a:rPr>
              <a:t>Readiness check</a:t>
            </a:r>
            <a:endParaRPr lang="en-US" sz="1050" dirty="0"/>
          </a:p>
        </p:txBody>
      </p:sp>
      <p:sp>
        <p:nvSpPr>
          <p:cNvPr id="62" name="Shape 52"/>
          <p:cNvSpPr/>
          <p:nvPr/>
        </p:nvSpPr>
        <p:spPr>
          <a:xfrm>
            <a:off x="7424928" y="4480560"/>
            <a:ext cx="1883664" cy="1097280"/>
          </a:xfrm>
          <a:prstGeom prst="rect">
            <a:avLst/>
          </a:prstGeom>
          <a:solidFill>
            <a:srgbClr val="ECEBF2"/>
          </a:solidFill>
          <a:ln/>
        </p:spPr>
        <p:txBody>
          <a:bodyPr/>
          <a:lstStyle/>
          <a:p>
            <a:endParaRPr lang="en-PK"/>
          </a:p>
        </p:txBody>
      </p:sp>
      <p:pic>
        <p:nvPicPr>
          <p:cNvPr id="63" name="Image 8" descr="Readiness check"/>
          <p:cNvPicPr>
            <a:picLocks noChangeAspect="1"/>
          </p:cNvPicPr>
          <p:nvPr/>
        </p:nvPicPr>
        <p:blipFill>
          <a:blip r:embed="rId19"/>
          <a:stretch>
            <a:fillRect/>
          </a:stretch>
        </p:blipFill>
        <p:spPr>
          <a:xfrm>
            <a:off x="7543800" y="4480560"/>
            <a:ext cx="1645920" cy="1097280"/>
          </a:xfrm>
          <a:prstGeom prst="rect">
            <a:avLst/>
          </a:prstGeom>
        </p:spPr>
      </p:pic>
      <p:sp>
        <p:nvSpPr>
          <p:cNvPr id="64" name="Text 53"/>
          <p:cNvSpPr txBox="1"/>
          <p:nvPr/>
        </p:nvSpPr>
        <p:spPr>
          <a:xfrm>
            <a:off x="7424928" y="5596128"/>
            <a:ext cx="1883664" cy="228600"/>
          </a:xfrm>
          <a:prstGeom prst="rect">
            <a:avLst/>
          </a:prstGeom>
          <a:noFill/>
          <a:ln/>
        </p:spPr>
        <p:txBody>
          <a:bodyPr wrap="square" lIns="0" tIns="0" rIns="0" bIns="0" rtlCol="0" anchor="t"/>
          <a:lstStyle/>
          <a:p>
            <a:pPr marL="0" indent="0">
              <a:buNone/>
            </a:pPr>
            <a:r>
              <a:rPr lang="en-US" sz="1100" b="1" dirty="0">
                <a:solidFill>
                  <a:srgbClr val="5E5E6B"/>
                </a:solidFill>
                <a:latin typeface="Calibri" pitchFamily="34" charset="0"/>
                <a:ea typeface="Calibri" pitchFamily="34" charset="-122"/>
                <a:cs typeface="Calibri" pitchFamily="34" charset="-120"/>
              </a:rPr>
              <a:t>W-28</a:t>
            </a:r>
            <a:endParaRPr lang="en-US" sz="1100" dirty="0"/>
          </a:p>
        </p:txBody>
      </p:sp>
      <p:sp>
        <p:nvSpPr>
          <p:cNvPr id="65" name="Shape 54">
            <a:hlinkClick r:id="rId20" action="ppaction://hlinksldjump" tooltip="Open mockup"/>
          </p:cNvPr>
          <p:cNvSpPr/>
          <p:nvPr/>
        </p:nvSpPr>
        <p:spPr>
          <a:xfrm>
            <a:off x="7315200" y="3657600"/>
            <a:ext cx="2103120" cy="2212848"/>
          </a:xfrm>
          <a:prstGeom prst="rect">
            <a:avLst/>
          </a:prstGeom>
          <a:solidFill>
            <a:srgbClr val="FFFFFF">
              <a:alpha val="0"/>
            </a:srgbClr>
          </a:solidFill>
          <a:ln/>
        </p:spPr>
        <p:txBody>
          <a:bodyPr/>
          <a:lstStyle/>
          <a:p>
            <a:endParaRPr lang="en-PK"/>
          </a:p>
        </p:txBody>
      </p:sp>
      <p:sp>
        <p:nvSpPr>
          <p:cNvPr id="66" name="Shape 55"/>
          <p:cNvSpPr/>
          <p:nvPr/>
        </p:nvSpPr>
        <p:spPr>
          <a:xfrm>
            <a:off x="9427464" y="4663440"/>
            <a:ext cx="164592" cy="201168"/>
          </a:xfrm>
          <a:prstGeom prst="rightArrow">
            <a:avLst/>
          </a:prstGeom>
          <a:solidFill>
            <a:srgbClr val="4B1FA0"/>
          </a:solidFill>
          <a:ln/>
        </p:spPr>
        <p:txBody>
          <a:bodyPr/>
          <a:lstStyle/>
          <a:p>
            <a:endParaRPr lang="en-PK"/>
          </a:p>
        </p:txBody>
      </p:sp>
      <p:sp>
        <p:nvSpPr>
          <p:cNvPr id="67" name="Shape 56"/>
          <p:cNvSpPr/>
          <p:nvPr/>
        </p:nvSpPr>
        <p:spPr>
          <a:xfrm>
            <a:off x="9601200" y="3657600"/>
            <a:ext cx="2103120" cy="2212848"/>
          </a:xfrm>
          <a:prstGeom prst="roundRect">
            <a:avLst>
              <a:gd name="adj" fmla="val 3478"/>
            </a:avLst>
          </a:prstGeom>
          <a:solidFill>
            <a:srgbClr val="F4F0FB"/>
          </a:solidFill>
          <a:ln w="12700">
            <a:solidFill>
              <a:srgbClr val="E6E5EC"/>
            </a:solidFill>
            <a:prstDash val="solid"/>
          </a:ln>
        </p:spPr>
        <p:txBody>
          <a:bodyPr/>
          <a:lstStyle/>
          <a:p>
            <a:endParaRPr lang="en-PK"/>
          </a:p>
        </p:txBody>
      </p:sp>
      <p:sp>
        <p:nvSpPr>
          <p:cNvPr id="68" name="Text 57"/>
          <p:cNvSpPr txBox="1"/>
          <p:nvPr/>
        </p:nvSpPr>
        <p:spPr>
          <a:xfrm>
            <a:off x="9710928" y="3749040"/>
            <a:ext cx="1883664" cy="713232"/>
          </a:xfrm>
          <a:prstGeom prst="rect">
            <a:avLst/>
          </a:prstGeom>
          <a:noFill/>
          <a:ln/>
        </p:spPr>
        <p:txBody>
          <a:bodyPr wrap="square" lIns="0" tIns="0" rIns="0" bIns="0" rtlCol="0" anchor="t"/>
          <a:lstStyle/>
          <a:p>
            <a:pPr marL="0" indent="0">
              <a:buNone/>
            </a:pPr>
            <a:r>
              <a:rPr lang="en-US" sz="1050" b="1" kern="0" spc="100" dirty="0">
                <a:solidFill>
                  <a:srgbClr val="4B1FA0"/>
                </a:solidFill>
                <a:latin typeface="Calibri" pitchFamily="34" charset="0"/>
                <a:ea typeface="Calibri" pitchFamily="34" charset="-122"/>
                <a:cs typeface="Calibri" pitchFamily="34" charset="-120"/>
              </a:rPr>
              <a:t>STEP 10</a:t>
            </a:r>
            <a:endParaRPr lang="en-US" sz="1050" dirty="0"/>
          </a:p>
          <a:p>
            <a:pPr marL="0" indent="0">
              <a:buNone/>
            </a:pPr>
            <a:r>
              <a:rPr lang="en-US" sz="1400" b="1" dirty="0">
                <a:solidFill>
                  <a:srgbClr val="2B0B5E"/>
                </a:solidFill>
                <a:latin typeface="Calibri" pitchFamily="34" charset="0"/>
                <a:ea typeface="Calibri" pitchFamily="34" charset="-122"/>
                <a:cs typeface="Calibri" pitchFamily="34" charset="-120"/>
              </a:rPr>
              <a:t>Package saved, traced</a:t>
            </a:r>
            <a:endParaRPr lang="en-US" sz="1050" dirty="0"/>
          </a:p>
        </p:txBody>
      </p:sp>
      <p:sp>
        <p:nvSpPr>
          <p:cNvPr id="69" name="Shape 58"/>
          <p:cNvSpPr/>
          <p:nvPr/>
        </p:nvSpPr>
        <p:spPr>
          <a:xfrm>
            <a:off x="9710928" y="4480560"/>
            <a:ext cx="1883664" cy="1097280"/>
          </a:xfrm>
          <a:prstGeom prst="rect">
            <a:avLst/>
          </a:prstGeom>
          <a:solidFill>
            <a:srgbClr val="ECEBF2"/>
          </a:solidFill>
          <a:ln/>
        </p:spPr>
        <p:txBody>
          <a:bodyPr/>
          <a:lstStyle/>
          <a:p>
            <a:endParaRPr lang="en-PK"/>
          </a:p>
        </p:txBody>
      </p:sp>
      <p:pic>
        <p:nvPicPr>
          <p:cNvPr id="70" name="Image 9" descr="Package saved, traced"/>
          <p:cNvPicPr>
            <a:picLocks noChangeAspect="1"/>
          </p:cNvPicPr>
          <p:nvPr/>
        </p:nvPicPr>
        <p:blipFill>
          <a:blip r:embed="rId21"/>
          <a:stretch>
            <a:fillRect/>
          </a:stretch>
        </p:blipFill>
        <p:spPr>
          <a:xfrm>
            <a:off x="9829800" y="4480560"/>
            <a:ext cx="1645920" cy="1097280"/>
          </a:xfrm>
          <a:prstGeom prst="rect">
            <a:avLst/>
          </a:prstGeom>
        </p:spPr>
      </p:pic>
      <p:sp>
        <p:nvSpPr>
          <p:cNvPr id="71" name="Text 59"/>
          <p:cNvSpPr txBox="1"/>
          <p:nvPr/>
        </p:nvSpPr>
        <p:spPr>
          <a:xfrm>
            <a:off x="9710928" y="5596128"/>
            <a:ext cx="1883664" cy="228600"/>
          </a:xfrm>
          <a:prstGeom prst="rect">
            <a:avLst/>
          </a:prstGeom>
          <a:noFill/>
          <a:ln/>
        </p:spPr>
        <p:txBody>
          <a:bodyPr wrap="square" lIns="0" tIns="0" rIns="0" bIns="0" rtlCol="0" anchor="t"/>
          <a:lstStyle/>
          <a:p>
            <a:pPr marL="0" indent="0">
              <a:buNone/>
            </a:pPr>
            <a:r>
              <a:rPr lang="en-US" sz="1100" b="1" dirty="0">
                <a:solidFill>
                  <a:srgbClr val="5E5E6B"/>
                </a:solidFill>
                <a:latin typeface="Calibri" pitchFamily="34" charset="0"/>
                <a:ea typeface="Calibri" pitchFamily="34" charset="-122"/>
                <a:cs typeface="Calibri" pitchFamily="34" charset="-120"/>
              </a:rPr>
              <a:t>W-29 · W-27</a:t>
            </a:r>
            <a:endParaRPr lang="en-US" sz="1100" dirty="0"/>
          </a:p>
        </p:txBody>
      </p:sp>
      <p:sp>
        <p:nvSpPr>
          <p:cNvPr id="72" name="Shape 60">
            <a:hlinkClick r:id="rId22" action="ppaction://hlinksldjump" tooltip="Open mockup"/>
          </p:cNvPr>
          <p:cNvSpPr/>
          <p:nvPr/>
        </p:nvSpPr>
        <p:spPr>
          <a:xfrm>
            <a:off x="9601200" y="3657600"/>
            <a:ext cx="2103120" cy="2212848"/>
          </a:xfrm>
          <a:prstGeom prst="rect">
            <a:avLst/>
          </a:prstGeom>
          <a:solidFill>
            <a:srgbClr val="FFFFFF">
              <a:alpha val="0"/>
            </a:srgbClr>
          </a:solidFill>
          <a:ln/>
        </p:spPr>
        <p:txBody>
          <a:bodyPr/>
          <a:lstStyle/>
          <a:p>
            <a:endParaRPr lang="en-PK"/>
          </a:p>
        </p:txBody>
      </p:sp>
      <p:sp>
        <p:nvSpPr>
          <p:cNvPr id="73" name="Text 61">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74" name="Text 62">
            <a:hlinkClick r:id="rId23"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23"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75" name="Text 63">
            <a:hlinkClick r:id="rId2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2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PROPOSED SOLUTION</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Expected Benefits and Evaluation Targets</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3695700"/>
        </p:xfrm>
        <a:graphic>
          <a:graphicData uri="http://schemas.openxmlformats.org/drawingml/2006/table">
            <a:tbl>
              <a:tblPr/>
              <a:tblGrid>
                <a:gridCol w="310896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gridCol w="1947672">
                  <a:extLst>
                    <a:ext uri="{9D8B030D-6E8A-4147-A177-3AD203B41FA5}">
                      <a16:colId xmlns:a16="http://schemas.microsoft.com/office/drawing/2014/main" val="20002"/>
                    </a:ext>
                  </a:extLst>
                </a:gridCol>
              </a:tblGrid>
              <a:tr h="0">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BENEFIT</a:t>
                      </a:r>
                      <a:endParaRPr lang="en-US" sz="105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MEASURABLE TARGET</a:t>
                      </a:r>
                      <a:endParaRPr lang="en-US" sz="105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REF.</a:t>
                      </a:r>
                      <a:endParaRPr lang="en-US" sz="105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extLst>
                  <a:ext uri="{0D108BD9-81ED-4DB2-BD59-A6C34878D82A}">
                    <a16:rowId xmlns:a16="http://schemas.microsoft.com/office/drawing/2014/main" val="10000"/>
                  </a:ext>
                </a:extLst>
              </a:tr>
              <a:tr h="0">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Faster bid preparation</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RFP response in under 8 hours, down from 3–7 days</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BO-1</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Fast reading of the RFP</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Sections shown in 60 s; full extraction in 180 s (100-page text RFP)</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BO-2, PER-1</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2"/>
                  </a:ext>
                </a:extLst>
              </a:tr>
              <a:tr h="0">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Fewer missing documents</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Checklist recall ≥ 0.90 and precision ≥ 0.80</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BO-3, QUA-2</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Reliable compliance ratings</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At least 90% of rule-based ratings match the answer key</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QUA-3</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4"/>
                  </a:ext>
                </a:extLst>
              </a:tr>
              <a:tr h="0">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Grounded proposal drafts</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Mean RAGAS faithfulness &gt; 0.85 on a fixed evaluation set</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BO-5, QUA-4</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No unapproved output</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0 proposals exported or packages built with an unapproved section</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BO-9, BO-11</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6"/>
                  </a:ext>
                </a:extLst>
              </a:tr>
              <a:tr h="0">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Knowledge retained</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Vault search in 3 s for up to 500 projects</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600" dirty="0">
                          <a:solidFill>
                            <a:srgbClr val="1A1A22"/>
                          </a:solidFill>
                          <a:latin typeface="Calibri" pitchFamily="34" charset="0"/>
                          <a:ea typeface="Calibri" pitchFamily="34" charset="-122"/>
                          <a:cs typeface="Calibri" pitchFamily="34" charset="-120"/>
                        </a:rPr>
                        <a:t>BO-8, PER-5</a:t>
                      </a:r>
                      <a:endParaRPr lang="en-US" sz="1600" dirty="0">
                        <a:latin typeface="Calibri" charset="0"/>
                        <a:ea typeface="Calibri" charset="0"/>
                        <a:cs typeface="Calibri" charset="0"/>
                      </a:endParaRPr>
                    </a:p>
                  </a:txBody>
                  <a:tcPr marL="114300" marR="114300" marT="114300" marB="1143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4"/>
          <p:cNvSpPr txBox="1"/>
          <p:nvPr/>
        </p:nvSpPr>
        <p:spPr>
          <a:xfrm>
            <a:off x="457200" y="5715000"/>
            <a:ext cx="11247120" cy="457200"/>
          </a:xfrm>
          <a:prstGeom prst="rect">
            <a:avLst/>
          </a:prstGeom>
          <a:noFill/>
          <a:ln/>
        </p:spPr>
        <p:txBody>
          <a:bodyPr wrap="square" lIns="0" tIns="0" rIns="0" bIns="0" rtlCol="0" anchor="t"/>
          <a:lstStyle/>
          <a:p>
            <a:pPr marL="0" indent="0">
              <a:buNone/>
            </a:pPr>
            <a:endParaRPr lang="en-US" sz="1150" dirty="0"/>
          </a:p>
        </p:txBody>
      </p:sp>
      <p:sp>
        <p:nvSpPr>
          <p:cNvPr id="8" name="Text 5">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6" name="Text 6">
            <a:hlinkClick r:id="rId3"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10" name="Text 7">
            <a:hlinkClick r:id="rId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EVALUATION FEEDBACK</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Evaluator Concerns and How We Addressed Them</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r>
              <a:rPr lang="en-US" sz="1100" b="1" dirty="0">
                <a:solidFill>
                  <a:srgbClr val="5E5E6B"/>
                </a:solidFill>
                <a:latin typeface="Calibri" pitchFamily="34" charset="0"/>
                <a:ea typeface="Calibri" pitchFamily="34" charset="-122"/>
                <a:cs typeface="Calibri" pitchFamily="34" charset="-120"/>
              </a:rPr>
              <a:t>Scope evaluation history</a:t>
            </a: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9</a:t>
            </a:r>
            <a:endParaRPr lang="en-US" sz="1000" dirty="0"/>
          </a:p>
        </p:txBody>
      </p:sp>
      <p:sp>
        <p:nvSpPr>
          <p:cNvPr id="6" name="Text 4"/>
          <p:cNvSpPr txBox="1"/>
          <p:nvPr/>
        </p:nvSpPr>
        <p:spPr>
          <a:xfrm>
            <a:off x="457200" y="1188720"/>
            <a:ext cx="11274552" cy="384048"/>
          </a:xfrm>
          <a:prstGeom prst="rect">
            <a:avLst/>
          </a:prstGeom>
          <a:solidFill>
            <a:srgbClr val="FBE3E4"/>
          </a:solidFill>
          <a:ln/>
        </p:spPr>
        <p:txBody>
          <a:bodyPr wrap="square" lIns="0" tIns="152400" rIns="152400" bIns="0" rtlCol="0" anchor="ctr"/>
          <a:lstStyle/>
          <a:p>
            <a:pPr marL="0" indent="0">
              <a:buNone/>
            </a:pPr>
            <a:r>
              <a:rPr lang="en-US" sz="1300" b="1" dirty="0">
                <a:solidFill>
                  <a:srgbClr val="9E1F25"/>
                </a:solidFill>
                <a:latin typeface="Calibri" pitchFamily="34" charset="0"/>
                <a:ea typeface="Calibri" pitchFamily="34" charset="-122"/>
                <a:cs typeface="Calibri" pitchFamily="34" charset="-120"/>
              </a:rPr>
              <a:t>Main concern on the previous scope: not enough technical depth for a three-member, one-year FYP</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755648"/>
          <a:ext cx="11274552" cy="3312160"/>
        </p:xfrm>
        <a:graphic>
          <a:graphicData uri="http://schemas.openxmlformats.org/drawingml/2006/table">
            <a:tbl>
              <a:tblPr/>
              <a:tblGrid>
                <a:gridCol w="3246120">
                  <a:extLst>
                    <a:ext uri="{9D8B030D-6E8A-4147-A177-3AD203B41FA5}">
                      <a16:colId xmlns:a16="http://schemas.microsoft.com/office/drawing/2014/main" val="20000"/>
                    </a:ext>
                  </a:extLst>
                </a:gridCol>
                <a:gridCol w="6839712">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0">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EVALUATOR CONCERN</a:t>
                      </a:r>
                      <a:endParaRPr lang="en-US" sz="1050" dirty="0">
                        <a:latin typeface="Calibri" charset="0"/>
                        <a:ea typeface="Calibri" charset="0"/>
                        <a:cs typeface="Calibri" charset="0"/>
                      </a:endParaRPr>
                    </a:p>
                  </a:txBody>
                  <a:tcPr marL="114300" marR="114300" marT="88900" marB="889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WHAT WE DID</a:t>
                      </a:r>
                      <a:endParaRPr lang="en-US" sz="1050" dirty="0">
                        <a:latin typeface="Calibri" charset="0"/>
                        <a:ea typeface="Calibri" charset="0"/>
                        <a:cs typeface="Calibri" charset="0"/>
                      </a:endParaRPr>
                    </a:p>
                  </a:txBody>
                  <a:tcPr marL="114300" marR="114300" marT="88900" marB="889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SEE</a:t>
                      </a:r>
                      <a:endParaRPr lang="en-US" sz="1050" dirty="0">
                        <a:latin typeface="Calibri" charset="0"/>
                        <a:ea typeface="Calibri" charset="0"/>
                        <a:cs typeface="Calibri" charset="0"/>
                      </a:endParaRPr>
                    </a:p>
                  </a:txBody>
                  <a:tcPr marL="114300" marR="114300" marT="88900" marB="889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extLst>
                  <a:ext uri="{0D108BD9-81ED-4DB2-BD59-A6C34878D82A}">
                    <a16:rowId xmlns:a16="http://schemas.microsoft.com/office/drawing/2014/main" val="10000"/>
                  </a:ext>
                </a:extLst>
              </a:tr>
              <a:tr h="0">
                <a:tc>
                  <a:txBody>
                    <a:bodyPr/>
                    <a:lstStyle/>
                    <a:p>
                      <a:pPr marL="0" indent="0">
                        <a:buNone/>
                      </a:pPr>
                      <a:r>
                        <a:rPr lang="en-US" sz="1350" b="1" dirty="0">
                          <a:solidFill>
                            <a:srgbClr val="2B0B5E"/>
                          </a:solidFill>
                          <a:latin typeface="Calibri" pitchFamily="34" charset="0"/>
                          <a:ea typeface="Calibri" pitchFamily="34" charset="-122"/>
                          <a:cs typeface="Calibri" pitchFamily="34" charset="-120"/>
                        </a:rPr>
                        <a:t>Most functions are document processing plus LLM calls; the contribution is not clear.</a:t>
                      </a:r>
                      <a:endParaRPr lang="en-US" sz="1350" dirty="0">
                        <a:latin typeface="Calibri" charset="0"/>
                        <a:ea typeface="Calibri" charset="0"/>
                        <a:cs typeface="Calibri" charset="0"/>
                      </a:endParaRPr>
                    </a:p>
                  </a:txBody>
                  <a:tcPr marL="114300" marR="114300" marT="88900" marB="889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Moved every decision out of the LLM. Only 10 of 118 FRs call OpenAI; the other 108 are our own logic: rule engine, requirement registry, traceability, readiness gate, roles and audit.</a:t>
                      </a:r>
                      <a:endParaRPr lang="en-US" sz="1350" dirty="0">
                        <a:latin typeface="Calibri" charset="0"/>
                        <a:ea typeface="Calibri" charset="0"/>
                        <a:cs typeface="Calibri" charset="0"/>
                      </a:endParaRPr>
                    </a:p>
                  </a:txBody>
                  <a:tcPr marL="114300" marR="114300" marT="88900" marB="889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50" b="1" u="sng" dirty="0">
                          <a:solidFill>
                            <a:srgbClr val="4B1FA0"/>
                          </a:solidFill>
                          <a:latin typeface="Calibri" pitchFamily="34" charset="0"/>
                          <a:ea typeface="Calibri" pitchFamily="34" charset="-122"/>
                          <a:cs typeface="Calibri" pitchFamily="34" charset="-120"/>
                          <a:hlinkClick r:id="rId3" action="ppaction://hlinksldjump" tooltip="Open Contribution">
                            <a:extLst>
                              <a:ext uri="{A12FA001-AC4F-418D-AE19-62706E023703}">
                                <ahyp:hlinkClr xmlns:ahyp="http://schemas.microsoft.com/office/drawing/2018/hyperlinkcolor" val="tx"/>
                              </a:ext>
                            </a:extLst>
                          </a:hlinkClick>
                        </a:rPr>
                        <a:t>Contribution</a:t>
                      </a:r>
                      <a:endParaRPr lang="en-US" sz="1350" dirty="0">
                        <a:latin typeface="Calibri" charset="0"/>
                        <a:ea typeface="Calibri" charset="0"/>
                        <a:cs typeface="Calibri" charset="0"/>
                      </a:endParaRPr>
                    </a:p>
                    <a:p>
                      <a:pPr marL="0" indent="0">
                        <a:buNone/>
                      </a:pPr>
                      <a:r>
                        <a:rPr lang="en-US" sz="1350" b="1" u="sng" dirty="0">
                          <a:solidFill>
                            <a:srgbClr val="4B1FA0"/>
                          </a:solidFill>
                          <a:latin typeface="Calibri" pitchFamily="34" charset="0"/>
                          <a:ea typeface="Calibri" pitchFamily="34" charset="-122"/>
                          <a:cs typeface="Calibri" pitchFamily="34" charset="-120"/>
                          <a:hlinkClick r:id="rId4" action="ppaction://hlinksldjump" tooltip="Open Depth">
                            <a:extLst>
                              <a:ext uri="{A12FA001-AC4F-418D-AE19-62706E023703}">
                                <ahyp:hlinkClr xmlns:ahyp="http://schemas.microsoft.com/office/drawing/2018/hyperlinkcolor" val="tx"/>
                              </a:ext>
                            </a:extLst>
                          </a:hlinkClick>
                        </a:rPr>
                        <a:t>Depth</a:t>
                      </a:r>
                      <a:endParaRPr lang="en-US" sz="1350" dirty="0">
                        <a:latin typeface="Calibri" charset="0"/>
                        <a:ea typeface="Calibri" charset="0"/>
                        <a:cs typeface="Calibri" charset="0"/>
                      </a:endParaRPr>
                    </a:p>
                  </a:txBody>
                  <a:tcPr marL="114300" marR="114300" marT="88900" marB="889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350" b="1" dirty="0">
                          <a:solidFill>
                            <a:srgbClr val="2B0B5E"/>
                          </a:solidFill>
                          <a:latin typeface="Calibri" pitchFamily="34" charset="0"/>
                          <a:ea typeface="Calibri" pitchFamily="34" charset="-122"/>
                          <a:cs typeface="Calibri" pitchFamily="34" charset="-120"/>
                        </a:rPr>
                        <a:t>Upload an RFP and ask an LLM to extract or generate: existing APIs can do this.</a:t>
                      </a:r>
                      <a:endParaRPr lang="en-US" sz="1350" dirty="0">
                        <a:latin typeface="Calibri" charset="0"/>
                        <a:ea typeface="Calibri" charset="0"/>
                        <a:cs typeface="Calibri" charset="0"/>
                      </a:endParaRPr>
                    </a:p>
                  </a:txBody>
                  <a:tcPr marL="114300" marR="114300" marT="88900" marB="889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Compliance is decided by our constraint rule engine (parameter, operator, value, unit) with unit conversion and a 10% PC tolerance. Descriptive rows use our retrieval and reranking, keep the evidence and flag weak matches.</a:t>
                      </a:r>
                      <a:endParaRPr lang="en-US" sz="1350" dirty="0">
                        <a:latin typeface="Calibri" charset="0"/>
                        <a:ea typeface="Calibri" charset="0"/>
                        <a:cs typeface="Calibri" charset="0"/>
                      </a:endParaRPr>
                    </a:p>
                  </a:txBody>
                  <a:tcPr marL="114300" marR="114300" marT="88900" marB="889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50" b="1" u="sng" dirty="0">
                          <a:solidFill>
                            <a:srgbClr val="4B1FA0"/>
                          </a:solidFill>
                          <a:latin typeface="Calibri" pitchFamily="34" charset="0"/>
                          <a:ea typeface="Calibri" pitchFamily="34" charset="-122"/>
                          <a:cs typeface="Calibri" pitchFamily="34" charset="-120"/>
                          <a:hlinkClick r:id="rId4" action="ppaction://hlinksldjump" tooltip="Open Depth">
                            <a:extLst>
                              <a:ext uri="{A12FA001-AC4F-418D-AE19-62706E023703}">
                                <ahyp:hlinkClr xmlns:ahyp="http://schemas.microsoft.com/office/drawing/2018/hyperlinkcolor" val="tx"/>
                              </a:ext>
                            </a:extLst>
                          </a:hlinkClick>
                        </a:rPr>
                        <a:t>Depth</a:t>
                      </a:r>
                      <a:endParaRPr lang="en-US" sz="1350" dirty="0">
                        <a:latin typeface="Calibri" charset="0"/>
                        <a:ea typeface="Calibri" charset="0"/>
                        <a:cs typeface="Calibri" charset="0"/>
                      </a:endParaRPr>
                    </a:p>
                    <a:p>
                      <a:pPr marL="0" indent="0">
                        <a:buNone/>
                      </a:pPr>
                      <a:r>
                        <a:rPr lang="en-US" sz="1350" b="1" u="sng" dirty="0">
                          <a:solidFill>
                            <a:srgbClr val="4B1FA0"/>
                          </a:solidFill>
                          <a:latin typeface="Calibri" pitchFamily="34" charset="0"/>
                          <a:ea typeface="Calibri" pitchFamily="34" charset="-122"/>
                          <a:cs typeface="Calibri" pitchFamily="34" charset="-120"/>
                          <a:hlinkClick r:id="rId5" action="ppaction://hlinksldjump" tooltip="Open W-14">
                            <a:extLst>
                              <a:ext uri="{A12FA001-AC4F-418D-AE19-62706E023703}">
                                <ahyp:hlinkClr xmlns:ahyp="http://schemas.microsoft.com/office/drawing/2018/hyperlinkcolor" val="tx"/>
                              </a:ext>
                            </a:extLst>
                          </a:hlinkClick>
                        </a:rPr>
                        <a:t>W-14</a:t>
                      </a:r>
                      <a:endParaRPr lang="en-US" sz="1350" dirty="0">
                        <a:latin typeface="Calibri" charset="0"/>
                        <a:ea typeface="Calibri" charset="0"/>
                        <a:cs typeface="Calibri" charset="0"/>
                      </a:endParaRPr>
                    </a:p>
                  </a:txBody>
                  <a:tcPr marL="114300" marR="114300" marT="88900" marB="889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2"/>
                  </a:ext>
                </a:extLst>
              </a:tr>
              <a:tr h="0">
                <a:tc>
                  <a:txBody>
                    <a:bodyPr/>
                    <a:lstStyle/>
                    <a:p>
                      <a:pPr marL="0" indent="0">
                        <a:buNone/>
                      </a:pPr>
                      <a:r>
                        <a:rPr lang="en-US" sz="1350" b="1" dirty="0">
                          <a:solidFill>
                            <a:srgbClr val="2B0B5E"/>
                          </a:solidFill>
                          <a:latin typeface="Calibri" pitchFamily="34" charset="0"/>
                          <a:ea typeface="Calibri" pitchFamily="34" charset="-122"/>
                          <a:cs typeface="Calibri" pitchFamily="34" charset="-120"/>
                        </a:rPr>
                        <a:t>Add original work: domain evaluation, structured reasoning, automated validation.</a:t>
                      </a:r>
                      <a:endParaRPr lang="en-US" sz="1350" dirty="0">
                        <a:latin typeface="Calibri" charset="0"/>
                        <a:ea typeface="Calibri" charset="0"/>
                        <a:cs typeface="Calibri" charset="0"/>
                      </a:endParaRPr>
                    </a:p>
                  </a:txBody>
                  <a:tcPr marL="114300" marR="114300" marT="88900" marB="889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Requirement registry with IDs traced to checklist, compliance, proposal and BOQ (BO-10). Readiness gate that blocks packaging on the server (BO-11). Our own labelled benchmark of ≥ 20 RFPs from ≥ 3 clients (BO-14).</a:t>
                      </a:r>
                      <a:endParaRPr lang="en-US" sz="1350" dirty="0">
                        <a:latin typeface="Calibri" charset="0"/>
                        <a:ea typeface="Calibri" charset="0"/>
                        <a:cs typeface="Calibri" charset="0"/>
                      </a:endParaRPr>
                    </a:p>
                  </a:txBody>
                  <a:tcPr marL="114300" marR="114300" marT="88900" marB="889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50" b="1" u="sng" dirty="0">
                          <a:solidFill>
                            <a:srgbClr val="4B1FA0"/>
                          </a:solidFill>
                          <a:latin typeface="Calibri" pitchFamily="34" charset="0"/>
                          <a:ea typeface="Calibri" pitchFamily="34" charset="-122"/>
                          <a:cs typeface="Calibri" pitchFamily="34" charset="-120"/>
                          <a:hlinkClick r:id="rId6" action="ppaction://hlinksldjump" tooltip="Open W-27">
                            <a:extLst>
                              <a:ext uri="{A12FA001-AC4F-418D-AE19-62706E023703}">
                                <ahyp:hlinkClr xmlns:ahyp="http://schemas.microsoft.com/office/drawing/2018/hyperlinkcolor" val="tx"/>
                              </a:ext>
                            </a:extLst>
                          </a:hlinkClick>
                        </a:rPr>
                        <a:t>W-27</a:t>
                      </a:r>
                      <a:endParaRPr lang="en-US" sz="1350" dirty="0">
                        <a:latin typeface="Calibri" charset="0"/>
                        <a:ea typeface="Calibri" charset="0"/>
                        <a:cs typeface="Calibri" charset="0"/>
                      </a:endParaRPr>
                    </a:p>
                    <a:p>
                      <a:pPr marL="0" indent="0">
                        <a:buNone/>
                      </a:pPr>
                      <a:r>
                        <a:rPr lang="en-US" sz="1350" b="1" u="sng" dirty="0">
                          <a:solidFill>
                            <a:srgbClr val="4B1FA0"/>
                          </a:solidFill>
                          <a:latin typeface="Calibri" pitchFamily="34" charset="0"/>
                          <a:ea typeface="Calibri" pitchFamily="34" charset="-122"/>
                          <a:cs typeface="Calibri" pitchFamily="34" charset="-120"/>
                          <a:hlinkClick r:id="rId7" action="ppaction://hlinksldjump" tooltip="Open W-28">
                            <a:extLst>
                              <a:ext uri="{A12FA001-AC4F-418D-AE19-62706E023703}">
                                <ahyp:hlinkClr xmlns:ahyp="http://schemas.microsoft.com/office/drawing/2018/hyperlinkcolor" val="tx"/>
                              </a:ext>
                            </a:extLst>
                          </a:hlinkClick>
                        </a:rPr>
                        <a:t>W-28</a:t>
                      </a:r>
                      <a:endParaRPr lang="en-US" sz="1350" dirty="0">
                        <a:latin typeface="Calibri" charset="0"/>
                        <a:ea typeface="Calibri" charset="0"/>
                        <a:cs typeface="Calibri" charset="0"/>
                      </a:endParaRPr>
                    </a:p>
                  </a:txBody>
                  <a:tcPr marL="114300" marR="114300" marT="88900" marB="889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350" b="1" dirty="0">
                          <a:solidFill>
                            <a:srgbClr val="2B0B5E"/>
                          </a:solidFill>
                          <a:latin typeface="Calibri" pitchFamily="34" charset="0"/>
                          <a:ea typeface="Calibri" pitchFamily="34" charset="-122"/>
                          <a:cs typeface="Calibri" pitchFamily="34" charset="-120"/>
                        </a:rPr>
                        <a:t>Go beyond API integration and size the work for three members.</a:t>
                      </a:r>
                      <a:endParaRPr lang="en-US" sz="1350" dirty="0">
                        <a:latin typeface="Calibri" charset="0"/>
                        <a:ea typeface="Calibri" charset="0"/>
                        <a:cs typeface="Calibri" charset="0"/>
                      </a:endParaRPr>
                    </a:p>
                  </a:txBody>
                  <a:tcPr marL="114300" marR="114300" marT="88900" marB="889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Added Module 17 (Bid Tasks and Deadlines) and Module 18 (Android app). Final scope: 18 modules, 118 FRs, 61 screens, web and mobile on one backend, in three full work streams.</a:t>
                      </a:r>
                      <a:endParaRPr lang="en-US" sz="1350" dirty="0">
                        <a:latin typeface="Calibri" charset="0"/>
                        <a:ea typeface="Calibri" charset="0"/>
                        <a:cs typeface="Calibri" charset="0"/>
                      </a:endParaRPr>
                    </a:p>
                  </a:txBody>
                  <a:tcPr marL="114300" marR="114300" marT="88900" marB="889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50" b="1" u="sng" dirty="0">
                          <a:solidFill>
                            <a:srgbClr val="4B1FA0"/>
                          </a:solidFill>
                          <a:latin typeface="Calibri" pitchFamily="34" charset="0"/>
                          <a:ea typeface="Calibri" pitchFamily="34" charset="-122"/>
                          <a:cs typeface="Calibri" pitchFamily="34" charset="-120"/>
                          <a:hlinkClick r:id="rId8" action="ppaction://hlinksldjump" tooltip="Open Workload">
                            <a:extLst>
                              <a:ext uri="{A12FA001-AC4F-418D-AE19-62706E023703}">
                                <ahyp:hlinkClr xmlns:ahyp="http://schemas.microsoft.com/office/drawing/2018/hyperlinkcolor" val="tx"/>
                              </a:ext>
                            </a:extLst>
                          </a:hlinkClick>
                        </a:rPr>
                        <a:t>Workload</a:t>
                      </a:r>
                      <a:endParaRPr lang="en-US" sz="1350" dirty="0">
                        <a:latin typeface="Calibri" charset="0"/>
                        <a:ea typeface="Calibri" charset="0"/>
                        <a:cs typeface="Calibri" charset="0"/>
                      </a:endParaRPr>
                    </a:p>
                    <a:p>
                      <a:pPr marL="0" indent="0">
                        <a:buNone/>
                      </a:pPr>
                      <a:r>
                        <a:rPr lang="en-US" sz="1350" b="1" u="sng" dirty="0">
                          <a:solidFill>
                            <a:srgbClr val="4B1FA0"/>
                          </a:solidFill>
                          <a:latin typeface="Calibri" pitchFamily="34" charset="0"/>
                          <a:ea typeface="Calibri" pitchFamily="34" charset="-122"/>
                          <a:cs typeface="Calibri" pitchFamily="34" charset="-120"/>
                          <a:hlinkClick r:id="rId8" action="ppaction://hlinksldjump" tooltip="Open Modules">
                            <a:extLst>
                              <a:ext uri="{A12FA001-AC4F-418D-AE19-62706E023703}">
                                <ahyp:hlinkClr xmlns:ahyp="http://schemas.microsoft.com/office/drawing/2018/hyperlinkcolor" val="tx"/>
                              </a:ext>
                            </a:extLst>
                          </a:hlinkClick>
                        </a:rPr>
                        <a:t>Modules</a:t>
                      </a:r>
                      <a:endParaRPr lang="en-US" sz="1350" dirty="0">
                        <a:latin typeface="Calibri" charset="0"/>
                        <a:ea typeface="Calibri" charset="0"/>
                        <a:cs typeface="Calibri" charset="0"/>
                      </a:endParaRPr>
                    </a:p>
                  </a:txBody>
                  <a:tcPr marL="114300" marR="114300" marT="88900" marB="889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4"/>
                  </a:ext>
                </a:extLst>
              </a:tr>
            </a:tbl>
          </a:graphicData>
        </a:graphic>
      </p:graphicFrame>
      <p:sp>
        <p:nvSpPr>
          <p:cNvPr id="8" name="Text 5">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9" name="Text 6">
            <a:hlinkClick r:id="rId9"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9"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7" name="Text 7">
            <a:hlinkClick r:id="rId10"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10"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EVALUATION FEEDBACK</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What Changed from the Previous Scope</a:t>
            </a:r>
            <a:endParaRPr lang="en-US" sz="28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4097020"/>
        </p:xfrm>
        <a:graphic>
          <a:graphicData uri="http://schemas.openxmlformats.org/drawingml/2006/table">
            <a:tbl>
              <a:tblPr/>
              <a:tblGrid>
                <a:gridCol w="21945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5148072">
                  <a:extLst>
                    <a:ext uri="{9D8B030D-6E8A-4147-A177-3AD203B41FA5}">
                      <a16:colId xmlns:a16="http://schemas.microsoft.com/office/drawing/2014/main" val="20002"/>
                    </a:ext>
                  </a:extLst>
                </a:gridCol>
              </a:tblGrid>
              <a:tr h="0">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AREA</a:t>
                      </a:r>
                      <a:endParaRPr lang="en-US" sz="105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PREVIOUS SCOPE</a:t>
                      </a:r>
                      <a:endParaRPr lang="en-US" sz="105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REVISED SCOPE AND SRS</a:t>
                      </a:r>
                      <a:endParaRPr lang="en-US" sz="105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extLst>
                  <a:ext uri="{0D108BD9-81ED-4DB2-BD59-A6C34878D82A}">
                    <a16:rowId xmlns:a16="http://schemas.microsoft.com/office/drawing/2014/main" val="10000"/>
                  </a:ext>
                </a:extLst>
              </a:tr>
              <a:tr h="0">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Compliance logic</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TF-IDF cosine similarity with fixed cut-offs (≥ 0.85 FC, ≥ 0.50 PC)</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Constraint rule engine with unit conversion; evidence retrieval and reranking for descriptive rows</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Datasheets</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Pulled from OEM public APIs</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Internal spec database or uploaded datasheet, confirmed by the engineer</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2"/>
                  </a:ext>
                </a:extLst>
              </a:tr>
              <a:tr h="0">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Modules</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18 (added Bid Tasks and Deadlines, and the Mobile App)</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Business objectives</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14 (added traceability, readiness check, benchmarks and more targets)</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4"/>
                  </a:ext>
                </a:extLst>
              </a:tr>
              <a:tr h="0">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Validation</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Readiness check that blocks packaging; requirement traceability; coverage check</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Quality measurement</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RAGAS only</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500" dirty="0">
                          <a:solidFill>
                            <a:srgbClr val="1A1A22"/>
                          </a:solidFill>
                          <a:latin typeface="Calibri" pitchFamily="34" charset="0"/>
                          <a:ea typeface="Calibri" pitchFamily="34" charset="-122"/>
                          <a:cs typeface="Calibri" pitchFamily="34" charset="-120"/>
                        </a:rPr>
                        <a:t>Labelled benchmark set and four quality targets (QUA-1 to QUA-4)</a:t>
                      </a:r>
                      <a:endParaRPr lang="en-US" sz="1500" dirty="0">
                        <a:latin typeface="Calibri" charset="0"/>
                        <a:ea typeface="Calibri" charset="0"/>
                        <a:cs typeface="Calibri" charset="0"/>
                      </a:endParaRPr>
                    </a:p>
                  </a:txBody>
                  <a:tcPr marL="114300" marR="114300" marT="101600" marB="1016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6"/>
                  </a:ext>
                </a:extLst>
              </a:tr>
            </a:tbl>
          </a:graphicData>
        </a:graphic>
      </p:graphicFrame>
      <p:sp>
        <p:nvSpPr>
          <p:cNvPr id="6" name="Text 3"/>
          <p:cNvSpPr txBox="1"/>
          <p:nvPr/>
        </p:nvSpPr>
        <p:spPr>
          <a:xfrm>
            <a:off x="457200" y="5623560"/>
            <a:ext cx="11274552" cy="384048"/>
          </a:xfrm>
          <a:prstGeom prst="rect">
            <a:avLst/>
          </a:prstGeom>
          <a:solidFill>
            <a:srgbClr val="EFE7FB"/>
          </a:solidFill>
          <a:ln/>
        </p:spPr>
        <p:txBody>
          <a:bodyPr wrap="square" lIns="0" tIns="152400" rIns="152400" bIns="0" rtlCol="0" anchor="ctr"/>
          <a:lstStyle/>
          <a:p>
            <a:pPr marL="0" indent="0">
              <a:buNone/>
            </a:pPr>
            <a:r>
              <a:rPr lang="en-US" sz="1300" b="1" dirty="0">
                <a:solidFill>
                  <a:srgbClr val="2B0B5E"/>
                </a:solidFill>
                <a:latin typeface="Calibri" pitchFamily="34" charset="0"/>
                <a:ea typeface="Calibri" pitchFamily="34" charset="-122"/>
                <a:cs typeface="Calibri" pitchFamily="34" charset="-120"/>
              </a:rPr>
              <a:t>Example: “10 Gbps required” vs “1 Gbps offered” looks similar to TF-IDF; the rule engine compares the actual values and rates it NC.</a:t>
            </a:r>
            <a:endParaRPr lang="en-US" sz="1300" dirty="0"/>
          </a:p>
        </p:txBody>
      </p:sp>
      <p:sp>
        <p:nvSpPr>
          <p:cNvPr id="7" name="Text 4">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8" name="Text 5">
            <a:hlinkClick r:id="rId3"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9" name="Text 6">
            <a:hlinkClick r:id="rId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EVALUATION FEEDBACK</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Our Contribution</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11</a:t>
            </a:r>
            <a:endParaRPr lang="en-US" sz="1000" dirty="0"/>
          </a:p>
        </p:txBody>
      </p:sp>
      <p:sp>
        <p:nvSpPr>
          <p:cNvPr id="6" name="Text 4"/>
          <p:cNvSpPr txBox="1"/>
          <p:nvPr/>
        </p:nvSpPr>
        <p:spPr>
          <a:xfrm>
            <a:off x="457200" y="1234440"/>
            <a:ext cx="11247120" cy="457200"/>
          </a:xfrm>
          <a:prstGeom prst="rect">
            <a:avLst/>
          </a:prstGeom>
          <a:noFill/>
          <a:ln/>
        </p:spPr>
        <p:txBody>
          <a:bodyPr wrap="square" lIns="0" tIns="0" rIns="0" bIns="0" rtlCol="0" anchor="t"/>
          <a:lstStyle/>
          <a:p>
            <a:pPr marL="0" indent="0">
              <a:buNone/>
            </a:pPr>
            <a:r>
              <a:rPr lang="en-US" sz="1400" dirty="0">
                <a:solidFill>
                  <a:srgbClr val="5E5E6B"/>
                </a:solidFill>
                <a:latin typeface="Calibri" pitchFamily="34" charset="0"/>
                <a:ea typeface="Calibri" pitchFamily="34" charset="-122"/>
                <a:cs typeface="Calibri" pitchFamily="34" charset="-120"/>
              </a:rPr>
              <a:t>Proposal tools and AI assistants each cover part of the work. PropBot combines the following in one governed workflow for telecom bids:</a:t>
            </a:r>
            <a:endParaRPr lang="en-US" sz="1400" dirty="0"/>
          </a:p>
        </p:txBody>
      </p:sp>
      <p:sp>
        <p:nvSpPr>
          <p:cNvPr id="7" name="Shape 5"/>
          <p:cNvSpPr/>
          <p:nvPr/>
        </p:nvSpPr>
        <p:spPr>
          <a:xfrm>
            <a:off x="457200" y="1828800"/>
            <a:ext cx="3657600" cy="3291840"/>
          </a:xfrm>
          <a:prstGeom prst="roundRect">
            <a:avLst>
              <a:gd name="adj" fmla="val 2778"/>
            </a:avLst>
          </a:prstGeom>
          <a:solidFill>
            <a:srgbClr val="FFFFFF"/>
          </a:solidFill>
          <a:ln w="12700">
            <a:solidFill>
              <a:srgbClr val="E6E5EC"/>
            </a:solidFill>
            <a:prstDash val="solid"/>
          </a:ln>
        </p:spPr>
        <p:txBody>
          <a:bodyPr/>
          <a:lstStyle/>
          <a:p>
            <a:endParaRPr lang="en-PK"/>
          </a:p>
        </p:txBody>
      </p:sp>
      <p:sp>
        <p:nvSpPr>
          <p:cNvPr id="8" name="Text 6"/>
          <p:cNvSpPr txBox="1"/>
          <p:nvPr/>
        </p:nvSpPr>
        <p:spPr>
          <a:xfrm>
            <a:off x="640080" y="1975104"/>
            <a:ext cx="3291840" cy="365760"/>
          </a:xfrm>
          <a:prstGeom prst="rect">
            <a:avLst/>
          </a:prstGeom>
          <a:noFill/>
          <a:ln/>
        </p:spPr>
        <p:txBody>
          <a:bodyPr wrap="square" lIns="0" tIns="0" rIns="0" bIns="0" rtlCol="0" anchor="t"/>
          <a:lstStyle/>
          <a:p>
            <a:pPr marL="0" indent="0">
              <a:buNone/>
            </a:pPr>
            <a:r>
              <a:rPr lang="en-US" sz="1700" b="1" dirty="0">
                <a:solidFill>
                  <a:srgbClr val="2B0B5E"/>
                </a:solidFill>
                <a:latin typeface="Calibri" pitchFamily="34" charset="0"/>
                <a:ea typeface="Calibri" pitchFamily="34" charset="-122"/>
                <a:cs typeface="Calibri" pitchFamily="34" charset="-120"/>
              </a:rPr>
              <a:t>1  Structured compliance reasoning</a:t>
            </a:r>
            <a:endParaRPr lang="en-US" sz="1700" dirty="0"/>
          </a:p>
        </p:txBody>
      </p:sp>
      <p:sp>
        <p:nvSpPr>
          <p:cNvPr id="9" name="Text 7"/>
          <p:cNvSpPr txBox="1"/>
          <p:nvPr/>
        </p:nvSpPr>
        <p:spPr>
          <a:xfrm>
            <a:off x="640080" y="2359152"/>
            <a:ext cx="3291840" cy="2651760"/>
          </a:xfrm>
          <a:prstGeom prst="rect">
            <a:avLst/>
          </a:prstGeom>
          <a:noFill/>
          <a:ln/>
        </p:spPr>
        <p:txBody>
          <a:bodyPr wrap="square" lIns="0" tIns="0" rIns="0" bIns="0" rtlCol="0" anchor="t"/>
          <a:lstStyle/>
          <a:p>
            <a:pPr marL="0" indent="0">
              <a:spcAft>
                <a:spcPts val="400"/>
              </a:spcAft>
              <a:buNone/>
            </a:pPr>
            <a:r>
              <a:rPr lang="en-US" sz="1500" dirty="0">
                <a:solidFill>
                  <a:srgbClr val="5E5E6B"/>
                </a:solidFill>
                <a:latin typeface="Calibri" pitchFamily="34" charset="0"/>
                <a:ea typeface="Calibri" pitchFamily="34" charset="-122"/>
                <a:cs typeface="Calibri" pitchFamily="34" charset="-120"/>
              </a:rPr>
              <a:t>Requirements become constraints (parameter, operator, value, unit) checked by rules with unit conversion. Descriptive requirements are matched to datasheet evidence through retrieval and reranking. Every rating keeps its reason and evidence.</a:t>
            </a:r>
            <a:endParaRPr lang="en-US" sz="1500" dirty="0"/>
          </a:p>
        </p:txBody>
      </p:sp>
      <p:sp>
        <p:nvSpPr>
          <p:cNvPr id="10" name="Shape 8"/>
          <p:cNvSpPr/>
          <p:nvPr/>
        </p:nvSpPr>
        <p:spPr>
          <a:xfrm>
            <a:off x="4261104" y="1828800"/>
            <a:ext cx="3657600" cy="3291840"/>
          </a:xfrm>
          <a:prstGeom prst="roundRect">
            <a:avLst>
              <a:gd name="adj" fmla="val 2778"/>
            </a:avLst>
          </a:prstGeom>
          <a:solidFill>
            <a:srgbClr val="FFFFFF"/>
          </a:solidFill>
          <a:ln w="12700">
            <a:solidFill>
              <a:srgbClr val="E6E5EC"/>
            </a:solidFill>
            <a:prstDash val="solid"/>
          </a:ln>
        </p:spPr>
        <p:txBody>
          <a:bodyPr/>
          <a:lstStyle/>
          <a:p>
            <a:endParaRPr lang="en-PK"/>
          </a:p>
        </p:txBody>
      </p:sp>
      <p:sp>
        <p:nvSpPr>
          <p:cNvPr id="11" name="Text 9"/>
          <p:cNvSpPr txBox="1"/>
          <p:nvPr/>
        </p:nvSpPr>
        <p:spPr>
          <a:xfrm>
            <a:off x="4443984" y="1975104"/>
            <a:ext cx="3291840" cy="365760"/>
          </a:xfrm>
          <a:prstGeom prst="rect">
            <a:avLst/>
          </a:prstGeom>
          <a:noFill/>
          <a:ln/>
        </p:spPr>
        <p:txBody>
          <a:bodyPr wrap="square" lIns="0" tIns="0" rIns="0" bIns="0" rtlCol="0" anchor="t"/>
          <a:lstStyle/>
          <a:p>
            <a:pPr marL="0" indent="0">
              <a:buNone/>
            </a:pPr>
            <a:r>
              <a:rPr lang="en-US" sz="1700" b="1" dirty="0">
                <a:solidFill>
                  <a:srgbClr val="2B0B5E"/>
                </a:solidFill>
                <a:latin typeface="Calibri" pitchFamily="34" charset="0"/>
                <a:ea typeface="Calibri" pitchFamily="34" charset="-122"/>
                <a:cs typeface="Calibri" pitchFamily="34" charset="-120"/>
              </a:rPr>
              <a:t>2  Traceability and a readiness gate</a:t>
            </a:r>
            <a:endParaRPr lang="en-US" sz="1700" dirty="0"/>
          </a:p>
        </p:txBody>
      </p:sp>
      <p:sp>
        <p:nvSpPr>
          <p:cNvPr id="12" name="Text 10"/>
          <p:cNvSpPr txBox="1"/>
          <p:nvPr/>
        </p:nvSpPr>
        <p:spPr>
          <a:xfrm>
            <a:off x="4443984" y="2359152"/>
            <a:ext cx="3291840" cy="2651760"/>
          </a:xfrm>
          <a:prstGeom prst="rect">
            <a:avLst/>
          </a:prstGeom>
          <a:noFill/>
          <a:ln/>
        </p:spPr>
        <p:txBody>
          <a:bodyPr wrap="square" lIns="0" tIns="0" rIns="0" bIns="0" rtlCol="0" anchor="t"/>
          <a:lstStyle/>
          <a:p>
            <a:pPr marL="0" indent="0">
              <a:spcAft>
                <a:spcPts val="400"/>
              </a:spcAft>
              <a:buNone/>
            </a:pPr>
            <a:r>
              <a:rPr lang="en-US" sz="1500" dirty="0">
                <a:solidFill>
                  <a:srgbClr val="5E5E6B"/>
                </a:solidFill>
                <a:latin typeface="Calibri" pitchFamily="34" charset="0"/>
                <a:ea typeface="Calibri" pitchFamily="34" charset="-122"/>
                <a:cs typeface="Calibri" pitchFamily="34" charset="-120"/>
              </a:rPr>
              <a:t>Every requirement gets an ID linked to its checklist item, compliance row, proposal section and BOQ line. A readiness check lists blockers and stops the package until they are cleared.</a:t>
            </a:r>
            <a:endParaRPr lang="en-US" sz="1500" dirty="0"/>
          </a:p>
        </p:txBody>
      </p:sp>
      <p:sp>
        <p:nvSpPr>
          <p:cNvPr id="13" name="Shape 11"/>
          <p:cNvSpPr/>
          <p:nvPr/>
        </p:nvSpPr>
        <p:spPr>
          <a:xfrm>
            <a:off x="8065008" y="1828800"/>
            <a:ext cx="3657600" cy="3291840"/>
          </a:xfrm>
          <a:prstGeom prst="roundRect">
            <a:avLst>
              <a:gd name="adj" fmla="val 2778"/>
            </a:avLst>
          </a:prstGeom>
          <a:solidFill>
            <a:srgbClr val="FFFFFF"/>
          </a:solidFill>
          <a:ln w="12700">
            <a:solidFill>
              <a:srgbClr val="E6E5EC"/>
            </a:solidFill>
            <a:prstDash val="solid"/>
          </a:ln>
        </p:spPr>
        <p:txBody>
          <a:bodyPr/>
          <a:lstStyle/>
          <a:p>
            <a:endParaRPr lang="en-PK"/>
          </a:p>
        </p:txBody>
      </p:sp>
      <p:sp>
        <p:nvSpPr>
          <p:cNvPr id="14" name="Text 12"/>
          <p:cNvSpPr txBox="1"/>
          <p:nvPr/>
        </p:nvSpPr>
        <p:spPr>
          <a:xfrm>
            <a:off x="8247888" y="1975104"/>
            <a:ext cx="3291840" cy="365760"/>
          </a:xfrm>
          <a:prstGeom prst="rect">
            <a:avLst/>
          </a:prstGeom>
          <a:noFill/>
          <a:ln/>
        </p:spPr>
        <p:txBody>
          <a:bodyPr wrap="square" lIns="0" tIns="0" rIns="0" bIns="0" rtlCol="0" anchor="t"/>
          <a:lstStyle/>
          <a:p>
            <a:pPr marL="0" indent="0">
              <a:buNone/>
            </a:pPr>
            <a:r>
              <a:rPr lang="en-US" sz="1700" b="1" dirty="0">
                <a:solidFill>
                  <a:srgbClr val="2B0B5E"/>
                </a:solidFill>
                <a:latin typeface="Calibri" pitchFamily="34" charset="0"/>
                <a:ea typeface="Calibri" pitchFamily="34" charset="-122"/>
                <a:cs typeface="Calibri" pitchFamily="34" charset="-120"/>
              </a:rPr>
              <a:t>3  Governed and measured AI</a:t>
            </a:r>
            <a:endParaRPr lang="en-US" sz="1700" dirty="0"/>
          </a:p>
        </p:txBody>
      </p:sp>
      <p:sp>
        <p:nvSpPr>
          <p:cNvPr id="15" name="Text 13"/>
          <p:cNvSpPr txBox="1"/>
          <p:nvPr/>
        </p:nvSpPr>
        <p:spPr>
          <a:xfrm>
            <a:off x="8247888" y="2359152"/>
            <a:ext cx="3291840" cy="2651760"/>
          </a:xfrm>
          <a:prstGeom prst="rect">
            <a:avLst/>
          </a:prstGeom>
          <a:noFill/>
          <a:ln/>
        </p:spPr>
        <p:txBody>
          <a:bodyPr wrap="square" lIns="0" tIns="0" rIns="0" bIns="0" rtlCol="0" anchor="t"/>
          <a:lstStyle/>
          <a:p>
            <a:pPr marL="0" indent="0">
              <a:spcAft>
                <a:spcPts val="400"/>
              </a:spcAft>
              <a:buNone/>
            </a:pPr>
            <a:r>
              <a:rPr lang="en-US" sz="1500" dirty="0">
                <a:solidFill>
                  <a:srgbClr val="5E5E6B"/>
                </a:solidFill>
                <a:latin typeface="Calibri" pitchFamily="34" charset="0"/>
                <a:ea typeface="Calibri" pitchFamily="34" charset="-122"/>
                <a:cs typeface="Calibri" pitchFamily="34" charset="-120"/>
              </a:rPr>
              <a:t>RAG drafts from the company’s own approved proposals; every section needs human approval and nobody can approve their own work. Quality is measured on our own labelled benchmarks.</a:t>
            </a:r>
            <a:endParaRPr lang="en-US" sz="1500" dirty="0"/>
          </a:p>
        </p:txBody>
      </p:sp>
      <p:sp>
        <p:nvSpPr>
          <p:cNvPr id="16" name="Text 14"/>
          <p:cNvSpPr txBox="1"/>
          <p:nvPr/>
        </p:nvSpPr>
        <p:spPr>
          <a:xfrm>
            <a:off x="457200" y="5303520"/>
            <a:ext cx="11274552" cy="384048"/>
          </a:xfrm>
          <a:prstGeom prst="rect">
            <a:avLst/>
          </a:prstGeom>
          <a:solidFill>
            <a:srgbClr val="EFE7FB"/>
          </a:solidFill>
          <a:ln/>
        </p:spPr>
        <p:txBody>
          <a:bodyPr wrap="square" lIns="0" tIns="152400" rIns="152400" bIns="0" rtlCol="0" anchor="ctr"/>
          <a:lstStyle/>
          <a:p>
            <a:pPr marL="0" indent="0">
              <a:buNone/>
            </a:pPr>
            <a:r>
              <a:rPr lang="en-US" sz="1300" b="1" dirty="0">
                <a:solidFill>
                  <a:srgbClr val="2B0B5E"/>
                </a:solidFill>
                <a:latin typeface="Calibri" pitchFamily="34" charset="0"/>
                <a:ea typeface="Calibri" pitchFamily="34" charset="-122"/>
                <a:cs typeface="Calibri" pitchFamily="34" charset="-120"/>
              </a:rPr>
              <a:t>Positioning: Jasper AI, Proposify, Microsoft Copilot and ChatGPT do not provide FC/PC/NC compliance with evidence, requirement traceability and a readiness gate together.</a:t>
            </a:r>
            <a:endParaRPr lang="en-US" sz="1300" dirty="0"/>
          </a:p>
        </p:txBody>
      </p:sp>
      <p:sp>
        <p:nvSpPr>
          <p:cNvPr id="17" name="Text 15">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18" name="Text 16">
            <a:hlinkClick r:id="rId3"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19" name="Text 17">
            <a:hlinkClick r:id="rId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EVALUATION FEEDBACK</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Technical Depth: What We Build Ourselves</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12</a:t>
            </a:r>
            <a:endParaRPr lang="en-US" sz="1000" dirty="0"/>
          </a:p>
        </p:txBody>
      </p:sp>
      <p:sp>
        <p:nvSpPr>
          <p:cNvPr id="6" name="Shape 4"/>
          <p:cNvSpPr/>
          <p:nvPr/>
        </p:nvSpPr>
        <p:spPr>
          <a:xfrm>
            <a:off x="457200" y="1234440"/>
            <a:ext cx="3657600" cy="2029968"/>
          </a:xfrm>
          <a:prstGeom prst="roundRect">
            <a:avLst>
              <a:gd name="adj" fmla="val 3604"/>
            </a:avLst>
          </a:prstGeom>
          <a:solidFill>
            <a:srgbClr val="FFFFFF"/>
          </a:solidFill>
          <a:ln w="12700">
            <a:solidFill>
              <a:srgbClr val="E6E5EC"/>
            </a:solidFill>
            <a:prstDash val="solid"/>
          </a:ln>
        </p:spPr>
        <p:txBody>
          <a:bodyPr/>
          <a:lstStyle/>
          <a:p>
            <a:endParaRPr lang="en-PK"/>
          </a:p>
        </p:txBody>
      </p:sp>
      <p:sp>
        <p:nvSpPr>
          <p:cNvPr id="7" name="Shape 5"/>
          <p:cNvSpPr/>
          <p:nvPr/>
        </p:nvSpPr>
        <p:spPr>
          <a:xfrm>
            <a:off x="457200" y="1307592"/>
            <a:ext cx="64008" cy="1883664"/>
          </a:xfrm>
          <a:prstGeom prst="rect">
            <a:avLst/>
          </a:prstGeom>
          <a:solidFill>
            <a:srgbClr val="4B1FA0"/>
          </a:solidFill>
          <a:ln/>
        </p:spPr>
        <p:txBody>
          <a:bodyPr/>
          <a:lstStyle/>
          <a:p>
            <a:endParaRPr lang="en-PK"/>
          </a:p>
        </p:txBody>
      </p:sp>
      <p:sp>
        <p:nvSpPr>
          <p:cNvPr id="8" name="Text 6"/>
          <p:cNvSpPr txBox="1"/>
          <p:nvPr/>
        </p:nvSpPr>
        <p:spPr>
          <a:xfrm>
            <a:off x="685800" y="1371600"/>
            <a:ext cx="2377440" cy="457200"/>
          </a:xfrm>
          <a:prstGeom prst="rect">
            <a:avLst/>
          </a:prstGeom>
          <a:noFill/>
          <a:ln/>
        </p:spPr>
        <p:txBody>
          <a:bodyPr wrap="square" lIns="0" tIns="0" rIns="0" bIns="0" rtlCol="0" anchor="t"/>
          <a:lstStyle/>
          <a:p>
            <a:pPr marL="0" indent="0">
              <a:buNone/>
            </a:pPr>
            <a:r>
              <a:rPr lang="en-US" sz="1500" b="1" dirty="0">
                <a:solidFill>
                  <a:srgbClr val="2B0B5E"/>
                </a:solidFill>
                <a:latin typeface="Calibri" pitchFamily="34" charset="0"/>
                <a:ea typeface="Calibri" pitchFamily="34" charset="-122"/>
                <a:cs typeface="Calibri" pitchFamily="34" charset="-120"/>
              </a:rPr>
              <a:t>Constraint rule engine</a:t>
            </a:r>
            <a:endParaRPr lang="en-US" sz="1500" dirty="0"/>
          </a:p>
        </p:txBody>
      </p:sp>
      <p:sp>
        <p:nvSpPr>
          <p:cNvPr id="9" name="Text 7"/>
          <p:cNvSpPr txBox="1"/>
          <p:nvPr/>
        </p:nvSpPr>
        <p:spPr>
          <a:xfrm>
            <a:off x="3063240" y="1399032"/>
            <a:ext cx="896112" cy="256032"/>
          </a:xfrm>
          <a:prstGeom prst="rect">
            <a:avLst/>
          </a:prstGeom>
          <a:solidFill>
            <a:srgbClr val="EFE7FB"/>
          </a:solidFill>
          <a:ln/>
        </p:spPr>
        <p:txBody>
          <a:bodyPr wrap="square" lIns="0" tIns="0" rIns="0" bIns="0" rtlCol="0" anchor="ctr"/>
          <a:lstStyle/>
          <a:p>
            <a:pPr marL="0" indent="0" algn="ctr">
              <a:buNone/>
            </a:pPr>
            <a:r>
              <a:rPr lang="en-US" sz="950" b="1" dirty="0">
                <a:solidFill>
                  <a:srgbClr val="4B1FA0"/>
                </a:solidFill>
                <a:latin typeface="Calibri" pitchFamily="34" charset="0"/>
                <a:ea typeface="Calibri" pitchFamily="34" charset="-122"/>
                <a:cs typeface="Calibri" pitchFamily="34" charset="-120"/>
              </a:rPr>
              <a:t>M3</a:t>
            </a:r>
            <a:endParaRPr lang="en-US" sz="950" dirty="0"/>
          </a:p>
        </p:txBody>
      </p:sp>
      <p:sp>
        <p:nvSpPr>
          <p:cNvPr id="10" name="Text 8"/>
          <p:cNvSpPr txBox="1"/>
          <p:nvPr/>
        </p:nvSpPr>
        <p:spPr>
          <a:xfrm>
            <a:off x="685800" y="1892808"/>
            <a:ext cx="3291840" cy="1298448"/>
          </a:xfrm>
          <a:prstGeom prst="rect">
            <a:avLst/>
          </a:prstGeom>
          <a:noFill/>
          <a:ln/>
        </p:spPr>
        <p:txBody>
          <a:bodyPr wrap="square" lIns="0" tIns="0" rIns="0" bIns="0" rtlCol="0" anchor="t"/>
          <a:lstStyle/>
          <a:p>
            <a:pPr marL="0" indent="0">
              <a:buNone/>
            </a:pPr>
            <a:r>
              <a:rPr lang="en-US" sz="1250" dirty="0">
                <a:solidFill>
                  <a:srgbClr val="1A1A22"/>
                </a:solidFill>
                <a:latin typeface="Calibri" pitchFamily="34" charset="0"/>
                <a:ea typeface="Calibri" pitchFamily="34" charset="-122"/>
                <a:cs typeface="Calibri" pitchFamily="34" charset="-120"/>
              </a:rPr>
              <a:t>Each requirement becomes a constraint (parameter, operator, value, unit). Units are converted, then FC / PC / NC is decided by rules with a 10% PC tolerance, scored per model for up to 3 models.</a:t>
            </a:r>
            <a:endParaRPr lang="en-US" sz="1250" dirty="0"/>
          </a:p>
        </p:txBody>
      </p:sp>
      <p:sp>
        <p:nvSpPr>
          <p:cNvPr id="11" name="Shape 9"/>
          <p:cNvSpPr/>
          <p:nvPr/>
        </p:nvSpPr>
        <p:spPr>
          <a:xfrm>
            <a:off x="4261104" y="1234440"/>
            <a:ext cx="3657600" cy="2029968"/>
          </a:xfrm>
          <a:prstGeom prst="roundRect">
            <a:avLst>
              <a:gd name="adj" fmla="val 3604"/>
            </a:avLst>
          </a:prstGeom>
          <a:solidFill>
            <a:srgbClr val="FFFFFF"/>
          </a:solidFill>
          <a:ln w="12700">
            <a:solidFill>
              <a:srgbClr val="E6E5EC"/>
            </a:solidFill>
            <a:prstDash val="solid"/>
          </a:ln>
        </p:spPr>
        <p:txBody>
          <a:bodyPr/>
          <a:lstStyle/>
          <a:p>
            <a:endParaRPr lang="en-PK"/>
          </a:p>
        </p:txBody>
      </p:sp>
      <p:sp>
        <p:nvSpPr>
          <p:cNvPr id="12" name="Shape 10"/>
          <p:cNvSpPr/>
          <p:nvPr/>
        </p:nvSpPr>
        <p:spPr>
          <a:xfrm>
            <a:off x="4261104" y="1307592"/>
            <a:ext cx="64008" cy="1883664"/>
          </a:xfrm>
          <a:prstGeom prst="rect">
            <a:avLst/>
          </a:prstGeom>
          <a:solidFill>
            <a:srgbClr val="4B1FA0"/>
          </a:solidFill>
          <a:ln/>
        </p:spPr>
        <p:txBody>
          <a:bodyPr/>
          <a:lstStyle/>
          <a:p>
            <a:endParaRPr lang="en-PK"/>
          </a:p>
        </p:txBody>
      </p:sp>
      <p:sp>
        <p:nvSpPr>
          <p:cNvPr id="13" name="Text 11"/>
          <p:cNvSpPr txBox="1"/>
          <p:nvPr/>
        </p:nvSpPr>
        <p:spPr>
          <a:xfrm>
            <a:off x="4489704" y="1371600"/>
            <a:ext cx="2377440" cy="457200"/>
          </a:xfrm>
          <a:prstGeom prst="rect">
            <a:avLst/>
          </a:prstGeom>
          <a:noFill/>
          <a:ln/>
        </p:spPr>
        <p:txBody>
          <a:bodyPr wrap="square" lIns="0" tIns="0" rIns="0" bIns="0" rtlCol="0" anchor="t"/>
          <a:lstStyle/>
          <a:p>
            <a:pPr marL="0" indent="0">
              <a:buNone/>
            </a:pPr>
            <a:r>
              <a:rPr lang="en-US" sz="1500" b="1" dirty="0">
                <a:solidFill>
                  <a:srgbClr val="2B0B5E"/>
                </a:solidFill>
                <a:latin typeface="Calibri" pitchFamily="34" charset="0"/>
                <a:ea typeface="Calibri" pitchFamily="34" charset="-122"/>
                <a:cs typeface="Calibri" pitchFamily="34" charset="-120"/>
              </a:rPr>
              <a:t>Evidence retrieval and reranking</a:t>
            </a:r>
            <a:endParaRPr lang="en-US" sz="1500" dirty="0"/>
          </a:p>
        </p:txBody>
      </p:sp>
      <p:sp>
        <p:nvSpPr>
          <p:cNvPr id="14" name="Text 12"/>
          <p:cNvSpPr txBox="1"/>
          <p:nvPr/>
        </p:nvSpPr>
        <p:spPr>
          <a:xfrm>
            <a:off x="6867144" y="1399032"/>
            <a:ext cx="896112" cy="256032"/>
          </a:xfrm>
          <a:prstGeom prst="rect">
            <a:avLst/>
          </a:prstGeom>
          <a:solidFill>
            <a:srgbClr val="EFE7FB"/>
          </a:solidFill>
          <a:ln/>
        </p:spPr>
        <p:txBody>
          <a:bodyPr wrap="square" lIns="0" tIns="0" rIns="0" bIns="0" rtlCol="0" anchor="ctr"/>
          <a:lstStyle/>
          <a:p>
            <a:pPr marL="0" indent="0" algn="ctr">
              <a:buNone/>
            </a:pPr>
            <a:r>
              <a:rPr lang="en-US" sz="950" b="1" dirty="0">
                <a:solidFill>
                  <a:srgbClr val="4B1FA0"/>
                </a:solidFill>
                <a:latin typeface="Calibri" pitchFamily="34" charset="0"/>
                <a:ea typeface="Calibri" pitchFamily="34" charset="-122"/>
                <a:cs typeface="Calibri" pitchFamily="34" charset="-120"/>
              </a:rPr>
              <a:t>M3, M6</a:t>
            </a:r>
            <a:endParaRPr lang="en-US" sz="950" dirty="0"/>
          </a:p>
        </p:txBody>
      </p:sp>
      <p:sp>
        <p:nvSpPr>
          <p:cNvPr id="15" name="Text 13"/>
          <p:cNvSpPr txBox="1"/>
          <p:nvPr/>
        </p:nvSpPr>
        <p:spPr>
          <a:xfrm>
            <a:off x="4489704" y="1892808"/>
            <a:ext cx="3291840" cy="1298448"/>
          </a:xfrm>
          <a:prstGeom prst="rect">
            <a:avLst/>
          </a:prstGeom>
          <a:noFill/>
          <a:ln/>
        </p:spPr>
        <p:txBody>
          <a:bodyPr wrap="square" lIns="0" tIns="0" rIns="0" bIns="0" rtlCol="0" anchor="t"/>
          <a:lstStyle/>
          <a:p>
            <a:pPr marL="0" indent="0">
              <a:buNone/>
            </a:pPr>
            <a:r>
              <a:rPr lang="en-US" sz="1250" dirty="0">
                <a:solidFill>
                  <a:srgbClr val="1A1A22"/>
                </a:solidFill>
                <a:latin typeface="Calibri" pitchFamily="34" charset="0"/>
                <a:ea typeface="Calibri" pitchFamily="34" charset="-122"/>
                <a:cs typeface="Calibri" pitchFamily="34" charset="-120"/>
              </a:rPr>
              <a:t>Descriptive requirements are matched to datasheet passages by embedding search plus a MiniLM cross-encoder reranker. The top passage is stored as evidence; a weak match (&lt; 0.5) is flagged “needs review”.</a:t>
            </a:r>
            <a:endParaRPr lang="en-US" sz="1250" dirty="0"/>
          </a:p>
        </p:txBody>
      </p:sp>
      <p:sp>
        <p:nvSpPr>
          <p:cNvPr id="16" name="Shape 14"/>
          <p:cNvSpPr/>
          <p:nvPr/>
        </p:nvSpPr>
        <p:spPr>
          <a:xfrm>
            <a:off x="8065008" y="1234440"/>
            <a:ext cx="3657600" cy="2029968"/>
          </a:xfrm>
          <a:prstGeom prst="roundRect">
            <a:avLst>
              <a:gd name="adj" fmla="val 3604"/>
            </a:avLst>
          </a:prstGeom>
          <a:solidFill>
            <a:srgbClr val="FFFFFF"/>
          </a:solidFill>
          <a:ln w="12700">
            <a:solidFill>
              <a:srgbClr val="E6E5EC"/>
            </a:solidFill>
            <a:prstDash val="solid"/>
          </a:ln>
        </p:spPr>
        <p:txBody>
          <a:bodyPr/>
          <a:lstStyle/>
          <a:p>
            <a:endParaRPr lang="en-PK"/>
          </a:p>
        </p:txBody>
      </p:sp>
      <p:sp>
        <p:nvSpPr>
          <p:cNvPr id="17" name="Shape 15"/>
          <p:cNvSpPr/>
          <p:nvPr/>
        </p:nvSpPr>
        <p:spPr>
          <a:xfrm>
            <a:off x="8065008" y="1307592"/>
            <a:ext cx="64008" cy="1883664"/>
          </a:xfrm>
          <a:prstGeom prst="rect">
            <a:avLst/>
          </a:prstGeom>
          <a:solidFill>
            <a:srgbClr val="4B1FA0"/>
          </a:solidFill>
          <a:ln/>
        </p:spPr>
        <p:txBody>
          <a:bodyPr/>
          <a:lstStyle/>
          <a:p>
            <a:endParaRPr lang="en-PK"/>
          </a:p>
        </p:txBody>
      </p:sp>
      <p:sp>
        <p:nvSpPr>
          <p:cNvPr id="18" name="Text 16"/>
          <p:cNvSpPr txBox="1"/>
          <p:nvPr/>
        </p:nvSpPr>
        <p:spPr>
          <a:xfrm>
            <a:off x="8293608" y="1371600"/>
            <a:ext cx="2377440" cy="457200"/>
          </a:xfrm>
          <a:prstGeom prst="rect">
            <a:avLst/>
          </a:prstGeom>
          <a:noFill/>
          <a:ln/>
        </p:spPr>
        <p:txBody>
          <a:bodyPr wrap="square" lIns="0" tIns="0" rIns="0" bIns="0" rtlCol="0" anchor="t"/>
          <a:lstStyle/>
          <a:p>
            <a:pPr marL="0" indent="0">
              <a:buNone/>
            </a:pPr>
            <a:r>
              <a:rPr lang="en-US" sz="1500" b="1" dirty="0">
                <a:solidFill>
                  <a:srgbClr val="2B0B5E"/>
                </a:solidFill>
                <a:latin typeface="Calibri" pitchFamily="34" charset="0"/>
                <a:ea typeface="Calibri" pitchFamily="34" charset="-122"/>
                <a:cs typeface="Calibri" pitchFamily="34" charset="-120"/>
              </a:rPr>
              <a:t>Local NLP pipeline</a:t>
            </a:r>
            <a:endParaRPr lang="en-US" sz="1500" dirty="0"/>
          </a:p>
        </p:txBody>
      </p:sp>
      <p:sp>
        <p:nvSpPr>
          <p:cNvPr id="19" name="Text 17"/>
          <p:cNvSpPr txBox="1"/>
          <p:nvPr/>
        </p:nvSpPr>
        <p:spPr>
          <a:xfrm>
            <a:off x="10671048" y="1399032"/>
            <a:ext cx="896112" cy="256032"/>
          </a:xfrm>
          <a:prstGeom prst="rect">
            <a:avLst/>
          </a:prstGeom>
          <a:solidFill>
            <a:srgbClr val="EFE7FB"/>
          </a:solidFill>
          <a:ln/>
        </p:spPr>
        <p:txBody>
          <a:bodyPr wrap="square" lIns="0" tIns="0" rIns="0" bIns="0" rtlCol="0" anchor="ctr"/>
          <a:lstStyle/>
          <a:p>
            <a:pPr marL="0" indent="0" algn="ctr">
              <a:buNone/>
            </a:pPr>
            <a:r>
              <a:rPr lang="en-US" sz="950" b="1" dirty="0">
                <a:solidFill>
                  <a:srgbClr val="4B1FA0"/>
                </a:solidFill>
                <a:latin typeface="Calibri" pitchFamily="34" charset="0"/>
                <a:ea typeface="Calibri" pitchFamily="34" charset="-122"/>
                <a:cs typeface="Calibri" pitchFamily="34" charset="-120"/>
              </a:rPr>
              <a:t>M1, M2</a:t>
            </a:r>
            <a:endParaRPr lang="en-US" sz="950" dirty="0"/>
          </a:p>
        </p:txBody>
      </p:sp>
      <p:sp>
        <p:nvSpPr>
          <p:cNvPr id="20" name="Text 18"/>
          <p:cNvSpPr txBox="1"/>
          <p:nvPr/>
        </p:nvSpPr>
        <p:spPr>
          <a:xfrm>
            <a:off x="8293608" y="1892808"/>
            <a:ext cx="3291840" cy="1298448"/>
          </a:xfrm>
          <a:prstGeom prst="rect">
            <a:avLst/>
          </a:prstGeom>
          <a:noFill/>
          <a:ln/>
        </p:spPr>
        <p:txBody>
          <a:bodyPr wrap="square" lIns="0" tIns="0" rIns="0" bIns="0" rtlCol="0" anchor="t"/>
          <a:lstStyle/>
          <a:p>
            <a:pPr marL="0" indent="0">
              <a:buNone/>
            </a:pPr>
            <a:r>
              <a:rPr lang="en-US" sz="1250" dirty="0">
                <a:solidFill>
                  <a:srgbClr val="1A1A22"/>
                </a:solidFill>
                <a:latin typeface="Calibri" pitchFamily="34" charset="0"/>
                <a:ea typeface="Calibri" pitchFamily="34" charset="-122"/>
                <a:cs typeface="Calibri" pitchFamily="34" charset="-120"/>
              </a:rPr>
              <a:t>Zero-shot section classification (bart-large-mnli), spaCy entity extraction, client-format, scope and closing-date detection, all on our own server.</a:t>
            </a:r>
            <a:endParaRPr lang="en-US" sz="1250" dirty="0"/>
          </a:p>
        </p:txBody>
      </p:sp>
      <p:sp>
        <p:nvSpPr>
          <p:cNvPr id="21" name="Shape 19"/>
          <p:cNvSpPr/>
          <p:nvPr/>
        </p:nvSpPr>
        <p:spPr>
          <a:xfrm>
            <a:off x="457200" y="3410712"/>
            <a:ext cx="3657600" cy="2029968"/>
          </a:xfrm>
          <a:prstGeom prst="roundRect">
            <a:avLst>
              <a:gd name="adj" fmla="val 3604"/>
            </a:avLst>
          </a:prstGeom>
          <a:solidFill>
            <a:srgbClr val="FFFFFF"/>
          </a:solidFill>
          <a:ln w="12700">
            <a:solidFill>
              <a:srgbClr val="E6E5EC"/>
            </a:solidFill>
            <a:prstDash val="solid"/>
          </a:ln>
        </p:spPr>
        <p:txBody>
          <a:bodyPr/>
          <a:lstStyle/>
          <a:p>
            <a:endParaRPr lang="en-PK"/>
          </a:p>
        </p:txBody>
      </p:sp>
      <p:sp>
        <p:nvSpPr>
          <p:cNvPr id="22" name="Shape 20"/>
          <p:cNvSpPr/>
          <p:nvPr/>
        </p:nvSpPr>
        <p:spPr>
          <a:xfrm>
            <a:off x="457200" y="3483864"/>
            <a:ext cx="64008" cy="1883664"/>
          </a:xfrm>
          <a:prstGeom prst="rect">
            <a:avLst/>
          </a:prstGeom>
          <a:solidFill>
            <a:srgbClr val="4B1FA0"/>
          </a:solidFill>
          <a:ln/>
        </p:spPr>
        <p:txBody>
          <a:bodyPr/>
          <a:lstStyle/>
          <a:p>
            <a:endParaRPr lang="en-PK"/>
          </a:p>
        </p:txBody>
      </p:sp>
      <p:sp>
        <p:nvSpPr>
          <p:cNvPr id="23" name="Text 21"/>
          <p:cNvSpPr txBox="1"/>
          <p:nvPr/>
        </p:nvSpPr>
        <p:spPr>
          <a:xfrm>
            <a:off x="685800" y="3547872"/>
            <a:ext cx="2377440" cy="457200"/>
          </a:xfrm>
          <a:prstGeom prst="rect">
            <a:avLst/>
          </a:prstGeom>
          <a:noFill/>
          <a:ln/>
        </p:spPr>
        <p:txBody>
          <a:bodyPr wrap="square" lIns="0" tIns="0" rIns="0" bIns="0" rtlCol="0" anchor="t"/>
          <a:lstStyle/>
          <a:p>
            <a:pPr marL="0" indent="0">
              <a:buNone/>
            </a:pPr>
            <a:r>
              <a:rPr lang="en-US" sz="1500" b="1" dirty="0">
                <a:solidFill>
                  <a:srgbClr val="2B0B5E"/>
                </a:solidFill>
                <a:latin typeface="Calibri" pitchFamily="34" charset="0"/>
                <a:ea typeface="Calibri" pitchFamily="34" charset="-122"/>
                <a:cs typeface="Calibri" pitchFamily="34" charset="-120"/>
              </a:rPr>
              <a:t>Requirement registry and traceability</a:t>
            </a:r>
            <a:endParaRPr lang="en-US" sz="1500" dirty="0"/>
          </a:p>
        </p:txBody>
      </p:sp>
      <p:sp>
        <p:nvSpPr>
          <p:cNvPr id="24" name="Text 22"/>
          <p:cNvSpPr txBox="1"/>
          <p:nvPr/>
        </p:nvSpPr>
        <p:spPr>
          <a:xfrm>
            <a:off x="3063240" y="3575304"/>
            <a:ext cx="896112" cy="256032"/>
          </a:xfrm>
          <a:prstGeom prst="rect">
            <a:avLst/>
          </a:prstGeom>
          <a:solidFill>
            <a:srgbClr val="EFE7FB"/>
          </a:solidFill>
          <a:ln/>
        </p:spPr>
        <p:txBody>
          <a:bodyPr wrap="square" lIns="0" tIns="0" rIns="0" bIns="0" rtlCol="0" anchor="ctr"/>
          <a:lstStyle/>
          <a:p>
            <a:pPr marL="0" indent="0" algn="ctr">
              <a:buNone/>
            </a:pPr>
            <a:r>
              <a:rPr lang="en-US" sz="950" b="1" dirty="0">
                <a:solidFill>
                  <a:srgbClr val="4B1FA0"/>
                </a:solidFill>
                <a:latin typeface="Calibri" pitchFamily="34" charset="0"/>
                <a:ea typeface="Calibri" pitchFamily="34" charset="-122"/>
                <a:cs typeface="Calibri" pitchFamily="34" charset="-120"/>
              </a:rPr>
              <a:t>M1, M9</a:t>
            </a:r>
            <a:endParaRPr lang="en-US" sz="950" dirty="0"/>
          </a:p>
        </p:txBody>
      </p:sp>
      <p:sp>
        <p:nvSpPr>
          <p:cNvPr id="25" name="Text 23"/>
          <p:cNvSpPr txBox="1"/>
          <p:nvPr/>
        </p:nvSpPr>
        <p:spPr>
          <a:xfrm>
            <a:off x="685800" y="4069080"/>
            <a:ext cx="3291840" cy="1298448"/>
          </a:xfrm>
          <a:prstGeom prst="rect">
            <a:avLst/>
          </a:prstGeom>
          <a:noFill/>
          <a:ln/>
        </p:spPr>
        <p:txBody>
          <a:bodyPr wrap="square" lIns="0" tIns="0" rIns="0" bIns="0" rtlCol="0" anchor="t"/>
          <a:lstStyle/>
          <a:p>
            <a:pPr marL="0" indent="0">
              <a:buNone/>
            </a:pPr>
            <a:r>
              <a:rPr lang="en-US" sz="1250" dirty="0">
                <a:solidFill>
                  <a:srgbClr val="1A1A22"/>
                </a:solidFill>
                <a:latin typeface="Calibri" pitchFamily="34" charset="0"/>
                <a:ea typeface="Calibri" pitchFamily="34" charset="-122"/>
                <a:cs typeface="Calibri" pitchFamily="34" charset="-120"/>
              </a:rPr>
              <a:t>Every requirement gets an ID linked to its checklist item, compliance row, proposal section and BOQ line. A coverage check lists every requirement that nothing answers.</a:t>
            </a:r>
            <a:endParaRPr lang="en-US" sz="1250" dirty="0"/>
          </a:p>
        </p:txBody>
      </p:sp>
      <p:sp>
        <p:nvSpPr>
          <p:cNvPr id="26" name="Shape 24"/>
          <p:cNvSpPr/>
          <p:nvPr/>
        </p:nvSpPr>
        <p:spPr>
          <a:xfrm>
            <a:off x="4261104" y="3410712"/>
            <a:ext cx="3657600" cy="2029968"/>
          </a:xfrm>
          <a:prstGeom prst="roundRect">
            <a:avLst>
              <a:gd name="adj" fmla="val 3604"/>
            </a:avLst>
          </a:prstGeom>
          <a:solidFill>
            <a:srgbClr val="FFFFFF"/>
          </a:solidFill>
          <a:ln w="12700">
            <a:solidFill>
              <a:srgbClr val="E6E5EC"/>
            </a:solidFill>
            <a:prstDash val="solid"/>
          </a:ln>
        </p:spPr>
        <p:txBody>
          <a:bodyPr/>
          <a:lstStyle/>
          <a:p>
            <a:endParaRPr lang="en-PK"/>
          </a:p>
        </p:txBody>
      </p:sp>
      <p:sp>
        <p:nvSpPr>
          <p:cNvPr id="27" name="Shape 25"/>
          <p:cNvSpPr/>
          <p:nvPr/>
        </p:nvSpPr>
        <p:spPr>
          <a:xfrm>
            <a:off x="4261104" y="3483864"/>
            <a:ext cx="64008" cy="1883664"/>
          </a:xfrm>
          <a:prstGeom prst="rect">
            <a:avLst/>
          </a:prstGeom>
          <a:solidFill>
            <a:srgbClr val="4B1FA0"/>
          </a:solidFill>
          <a:ln/>
        </p:spPr>
        <p:txBody>
          <a:bodyPr/>
          <a:lstStyle/>
          <a:p>
            <a:endParaRPr lang="en-PK"/>
          </a:p>
        </p:txBody>
      </p:sp>
      <p:sp>
        <p:nvSpPr>
          <p:cNvPr id="28" name="Text 26"/>
          <p:cNvSpPr txBox="1"/>
          <p:nvPr/>
        </p:nvSpPr>
        <p:spPr>
          <a:xfrm>
            <a:off x="4489704" y="3547872"/>
            <a:ext cx="2377440" cy="457200"/>
          </a:xfrm>
          <a:prstGeom prst="rect">
            <a:avLst/>
          </a:prstGeom>
          <a:noFill/>
          <a:ln/>
        </p:spPr>
        <p:txBody>
          <a:bodyPr wrap="square" lIns="0" tIns="0" rIns="0" bIns="0" rtlCol="0" anchor="t"/>
          <a:lstStyle/>
          <a:p>
            <a:pPr marL="0" indent="0">
              <a:buNone/>
            </a:pPr>
            <a:r>
              <a:rPr lang="en-US" sz="1500" b="1" dirty="0">
                <a:solidFill>
                  <a:srgbClr val="2B0B5E"/>
                </a:solidFill>
                <a:latin typeface="Calibri" pitchFamily="34" charset="0"/>
                <a:ea typeface="Calibri" pitchFamily="34" charset="-122"/>
                <a:cs typeface="Calibri" pitchFamily="34" charset="-120"/>
              </a:rPr>
              <a:t>Readiness gate and governance</a:t>
            </a:r>
            <a:endParaRPr lang="en-US" sz="1500" dirty="0"/>
          </a:p>
        </p:txBody>
      </p:sp>
      <p:sp>
        <p:nvSpPr>
          <p:cNvPr id="29" name="Text 27"/>
          <p:cNvSpPr txBox="1"/>
          <p:nvPr/>
        </p:nvSpPr>
        <p:spPr>
          <a:xfrm>
            <a:off x="6867144" y="3575304"/>
            <a:ext cx="896112" cy="256032"/>
          </a:xfrm>
          <a:prstGeom prst="rect">
            <a:avLst/>
          </a:prstGeom>
          <a:solidFill>
            <a:srgbClr val="EFE7FB"/>
          </a:solidFill>
          <a:ln/>
        </p:spPr>
        <p:txBody>
          <a:bodyPr wrap="square" lIns="0" tIns="0" rIns="0" bIns="0" rtlCol="0" anchor="ctr"/>
          <a:lstStyle/>
          <a:p>
            <a:pPr marL="0" indent="0" algn="ctr">
              <a:buNone/>
            </a:pPr>
            <a:r>
              <a:rPr lang="en-US" sz="950" b="1" dirty="0">
                <a:solidFill>
                  <a:srgbClr val="4B1FA0"/>
                </a:solidFill>
                <a:latin typeface="Calibri" pitchFamily="34" charset="0"/>
                <a:ea typeface="Calibri" pitchFamily="34" charset="-122"/>
                <a:cs typeface="Calibri" pitchFamily="34" charset="-120"/>
              </a:rPr>
              <a:t>M10, M13, M15</a:t>
            </a:r>
            <a:endParaRPr lang="en-US" sz="950" dirty="0"/>
          </a:p>
        </p:txBody>
      </p:sp>
      <p:sp>
        <p:nvSpPr>
          <p:cNvPr id="30" name="Text 28"/>
          <p:cNvSpPr txBox="1"/>
          <p:nvPr/>
        </p:nvSpPr>
        <p:spPr>
          <a:xfrm>
            <a:off x="4489704" y="4069080"/>
            <a:ext cx="3291840" cy="1298448"/>
          </a:xfrm>
          <a:prstGeom prst="rect">
            <a:avLst/>
          </a:prstGeom>
          <a:noFill/>
          <a:ln/>
        </p:spPr>
        <p:txBody>
          <a:bodyPr wrap="square" lIns="0" tIns="0" rIns="0" bIns="0" rtlCol="0" anchor="t"/>
          <a:lstStyle/>
          <a:p>
            <a:pPr marL="0" indent="0">
              <a:buNone/>
            </a:pPr>
            <a:r>
              <a:rPr lang="en-US" sz="1250" dirty="0">
                <a:solidFill>
                  <a:srgbClr val="1A1A22"/>
                </a:solidFill>
                <a:latin typeface="Calibri" pitchFamily="34" charset="0"/>
                <a:ea typeface="Calibri" pitchFamily="34" charset="-122"/>
                <a:cs typeface="Calibri" pitchFamily="34" charset="-120"/>
              </a:rPr>
              <a:t>Blockers computed on the server stop the ZIP. No self-approval, even if the UI is bypassed. Insert-only audit log enforced by the database. Data isolated per company.</a:t>
            </a:r>
            <a:endParaRPr lang="en-US" sz="1250" dirty="0"/>
          </a:p>
        </p:txBody>
      </p:sp>
      <p:sp>
        <p:nvSpPr>
          <p:cNvPr id="31" name="Shape 29"/>
          <p:cNvSpPr/>
          <p:nvPr/>
        </p:nvSpPr>
        <p:spPr>
          <a:xfrm>
            <a:off x="8065008" y="3410712"/>
            <a:ext cx="3657600" cy="2029968"/>
          </a:xfrm>
          <a:prstGeom prst="roundRect">
            <a:avLst>
              <a:gd name="adj" fmla="val 3604"/>
            </a:avLst>
          </a:prstGeom>
          <a:solidFill>
            <a:srgbClr val="FFFFFF"/>
          </a:solidFill>
          <a:ln w="12700">
            <a:solidFill>
              <a:srgbClr val="E6E5EC"/>
            </a:solidFill>
            <a:prstDash val="solid"/>
          </a:ln>
        </p:spPr>
        <p:txBody>
          <a:bodyPr/>
          <a:lstStyle/>
          <a:p>
            <a:endParaRPr lang="en-PK"/>
          </a:p>
        </p:txBody>
      </p:sp>
      <p:sp>
        <p:nvSpPr>
          <p:cNvPr id="32" name="Shape 30"/>
          <p:cNvSpPr/>
          <p:nvPr/>
        </p:nvSpPr>
        <p:spPr>
          <a:xfrm>
            <a:off x="8065008" y="3483864"/>
            <a:ext cx="64008" cy="1883664"/>
          </a:xfrm>
          <a:prstGeom prst="rect">
            <a:avLst/>
          </a:prstGeom>
          <a:solidFill>
            <a:srgbClr val="4B1FA0"/>
          </a:solidFill>
          <a:ln/>
        </p:spPr>
        <p:txBody>
          <a:bodyPr/>
          <a:lstStyle/>
          <a:p>
            <a:endParaRPr lang="en-PK"/>
          </a:p>
        </p:txBody>
      </p:sp>
      <p:sp>
        <p:nvSpPr>
          <p:cNvPr id="33" name="Text 31"/>
          <p:cNvSpPr txBox="1"/>
          <p:nvPr/>
        </p:nvSpPr>
        <p:spPr>
          <a:xfrm>
            <a:off x="8293608" y="3547872"/>
            <a:ext cx="2377440" cy="457200"/>
          </a:xfrm>
          <a:prstGeom prst="rect">
            <a:avLst/>
          </a:prstGeom>
          <a:noFill/>
          <a:ln/>
        </p:spPr>
        <p:txBody>
          <a:bodyPr wrap="square" lIns="0" tIns="0" rIns="0" bIns="0" rtlCol="0" anchor="t"/>
          <a:lstStyle/>
          <a:p>
            <a:pPr marL="0" indent="0">
              <a:buNone/>
            </a:pPr>
            <a:r>
              <a:rPr lang="en-US" sz="1500" b="1" dirty="0">
                <a:solidFill>
                  <a:srgbClr val="2B0B5E"/>
                </a:solidFill>
                <a:latin typeface="Calibri" pitchFamily="34" charset="0"/>
                <a:ea typeface="Calibri" pitchFamily="34" charset="-122"/>
                <a:cs typeface="Calibri" pitchFamily="34" charset="-120"/>
              </a:rPr>
              <a:t>Grounded generation, measured</a:t>
            </a:r>
            <a:endParaRPr lang="en-US" sz="1500" dirty="0"/>
          </a:p>
        </p:txBody>
      </p:sp>
      <p:sp>
        <p:nvSpPr>
          <p:cNvPr id="34" name="Text 32"/>
          <p:cNvSpPr txBox="1"/>
          <p:nvPr/>
        </p:nvSpPr>
        <p:spPr>
          <a:xfrm>
            <a:off x="10671048" y="3575304"/>
            <a:ext cx="896112" cy="256032"/>
          </a:xfrm>
          <a:prstGeom prst="rect">
            <a:avLst/>
          </a:prstGeom>
          <a:solidFill>
            <a:srgbClr val="EFE7FB"/>
          </a:solidFill>
          <a:ln/>
        </p:spPr>
        <p:txBody>
          <a:bodyPr wrap="square" lIns="0" tIns="0" rIns="0" bIns="0" rtlCol="0" anchor="ctr"/>
          <a:lstStyle/>
          <a:p>
            <a:pPr marL="0" indent="0" algn="ctr">
              <a:buNone/>
            </a:pPr>
            <a:r>
              <a:rPr lang="en-US" sz="950" b="1" dirty="0">
                <a:solidFill>
                  <a:srgbClr val="4B1FA0"/>
                </a:solidFill>
                <a:latin typeface="Calibri" pitchFamily="34" charset="0"/>
                <a:ea typeface="Calibri" pitchFamily="34" charset="-122"/>
                <a:cs typeface="Calibri" pitchFamily="34" charset="-120"/>
              </a:rPr>
              <a:t>M5, M6, BO-14</a:t>
            </a:r>
            <a:endParaRPr lang="en-US" sz="950" dirty="0"/>
          </a:p>
        </p:txBody>
      </p:sp>
      <p:sp>
        <p:nvSpPr>
          <p:cNvPr id="35" name="Text 33"/>
          <p:cNvSpPr txBox="1"/>
          <p:nvPr/>
        </p:nvSpPr>
        <p:spPr>
          <a:xfrm>
            <a:off x="8293608" y="4069080"/>
            <a:ext cx="3291840" cy="1298448"/>
          </a:xfrm>
          <a:prstGeom prst="rect">
            <a:avLst/>
          </a:prstGeom>
          <a:noFill/>
          <a:ln/>
        </p:spPr>
        <p:txBody>
          <a:bodyPr wrap="square" lIns="0" tIns="0" rIns="0" bIns="0" rtlCol="0" anchor="t"/>
          <a:lstStyle/>
          <a:p>
            <a:pPr marL="0" indent="0">
              <a:buNone/>
            </a:pPr>
            <a:r>
              <a:rPr lang="en-US" sz="1250" dirty="0">
                <a:solidFill>
                  <a:srgbClr val="1A1A22"/>
                </a:solidFill>
                <a:latin typeface="Calibri" pitchFamily="34" charset="0"/>
                <a:ea typeface="Calibri" pitchFamily="34" charset="-122"/>
                <a:cs typeface="Calibri" pitchFamily="34" charset="-120"/>
              </a:rPr>
              <a:t>RAG over the company’s approved proposals; HLD built from a device graph (Mermaid + Playwright). Quality is tested on our labelled benchmark (≥ 20 RFPs, ≥ 3 clients).</a:t>
            </a:r>
            <a:endParaRPr lang="en-US" sz="1250" dirty="0"/>
          </a:p>
        </p:txBody>
      </p:sp>
      <p:sp>
        <p:nvSpPr>
          <p:cNvPr id="36" name="Shape 34"/>
          <p:cNvSpPr/>
          <p:nvPr/>
        </p:nvSpPr>
        <p:spPr>
          <a:xfrm>
            <a:off x="457200" y="5623560"/>
            <a:ext cx="11274552" cy="566928"/>
          </a:xfrm>
          <a:prstGeom prst="roundRect">
            <a:avLst>
              <a:gd name="adj" fmla="val 12903"/>
            </a:avLst>
          </a:prstGeom>
          <a:solidFill>
            <a:srgbClr val="2B0B5E"/>
          </a:solidFill>
          <a:ln/>
        </p:spPr>
        <p:txBody>
          <a:bodyPr/>
          <a:lstStyle/>
          <a:p>
            <a:endParaRPr lang="en-PK"/>
          </a:p>
        </p:txBody>
      </p:sp>
      <p:sp>
        <p:nvSpPr>
          <p:cNvPr id="37" name="Text 35"/>
          <p:cNvSpPr txBox="1"/>
          <p:nvPr/>
        </p:nvSpPr>
        <p:spPr>
          <a:xfrm>
            <a:off x="685800" y="5623560"/>
            <a:ext cx="10881360" cy="56692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Only 10 of 118 FRs call the OpenAI API </a:t>
            </a:r>
            <a:r>
              <a:rPr lang="en-US" sz="1400" dirty="0">
                <a:solidFill>
                  <a:srgbClr val="E4DAF8"/>
                </a:solidFill>
                <a:latin typeface="Calibri" pitchFamily="34" charset="0"/>
                <a:ea typeface="Calibri" pitchFamily="34" charset="-122"/>
                <a:cs typeface="Calibri" pitchFamily="34" charset="-120"/>
              </a:rPr>
              <a:t>(5 generation, 5 embedding).</a:t>
            </a:r>
            <a:endParaRPr lang="en-US" sz="1400" dirty="0"/>
          </a:p>
        </p:txBody>
      </p:sp>
      <p:sp>
        <p:nvSpPr>
          <p:cNvPr id="38" name="Text 36">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39" name="Text 37">
            <a:hlinkClick r:id="rId3"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40" name="Text 38">
            <a:hlinkClick r:id="rId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MODULES · </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Modules and Main FRs  (1 of 5)</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r>
              <a:rPr lang="en-US" sz="1100" b="1" dirty="0">
                <a:solidFill>
                  <a:srgbClr val="5E5E6B"/>
                </a:solidFill>
                <a:latin typeface="Calibri" pitchFamily="34" charset="0"/>
                <a:ea typeface="Calibri" pitchFamily="34" charset="-122"/>
                <a:cs typeface="Calibri" pitchFamily="34" charset="-120"/>
              </a:rPr>
              <a:t>18 modules · 118 FRs</a:t>
            </a: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14</a:t>
            </a:r>
            <a:endParaRPr lang="en-US" sz="1000" dirty="0"/>
          </a:p>
        </p:txBody>
      </p:sp>
      <p:sp>
        <p:nvSpPr>
          <p:cNvPr id="6" name="Shape 4"/>
          <p:cNvSpPr/>
          <p:nvPr/>
        </p:nvSpPr>
        <p:spPr>
          <a:xfrm>
            <a:off x="457200" y="1234440"/>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7" name="Shape 5"/>
          <p:cNvSpPr/>
          <p:nvPr/>
        </p:nvSpPr>
        <p:spPr>
          <a:xfrm>
            <a:off x="457200" y="1307592"/>
            <a:ext cx="64008" cy="2212848"/>
          </a:xfrm>
          <a:prstGeom prst="rect">
            <a:avLst/>
          </a:prstGeom>
          <a:solidFill>
            <a:srgbClr val="4B1FA0"/>
          </a:solidFill>
          <a:ln/>
        </p:spPr>
        <p:txBody>
          <a:bodyPr/>
          <a:lstStyle/>
          <a:p>
            <a:endParaRPr lang="en-PK"/>
          </a:p>
        </p:txBody>
      </p:sp>
      <p:sp>
        <p:nvSpPr>
          <p:cNvPr id="8" name="Text 6"/>
          <p:cNvSpPr txBox="1"/>
          <p:nvPr/>
        </p:nvSpPr>
        <p:spPr>
          <a:xfrm>
            <a:off x="685800" y="1362456"/>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M1  </a:t>
            </a:r>
            <a:r>
              <a:rPr lang="en-US" sz="1700" b="1" dirty="0">
                <a:solidFill>
                  <a:srgbClr val="2B0B5E"/>
                </a:solidFill>
                <a:latin typeface="Calibri" pitchFamily="34" charset="0"/>
                <a:ea typeface="Calibri" pitchFamily="34" charset="-122"/>
                <a:cs typeface="Calibri" pitchFamily="34" charset="-120"/>
              </a:rPr>
              <a:t>RFP Parser and Classifier</a:t>
            </a:r>
            <a:endParaRPr lang="en-US" sz="1700" dirty="0"/>
          </a:p>
        </p:txBody>
      </p:sp>
      <p:sp>
        <p:nvSpPr>
          <p:cNvPr id="9" name="Text 7"/>
          <p:cNvSpPr txBox="1"/>
          <p:nvPr/>
        </p:nvSpPr>
        <p:spPr>
          <a:xfrm>
            <a:off x="685800" y="1783080"/>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Reads a PDF or Word RFP, sorts sections into 5 types and extracts equipment, scope, client format and closing date into a requirement registry.</a:t>
            </a:r>
            <a:endParaRPr lang="en-US" sz="1200" dirty="0"/>
          </a:p>
        </p:txBody>
      </p:sp>
      <p:sp>
        <p:nvSpPr>
          <p:cNvPr id="10" name="Text 8"/>
          <p:cNvSpPr txBox="1"/>
          <p:nvPr/>
        </p:nvSpPr>
        <p:spPr>
          <a:xfrm>
            <a:off x="685800" y="2368296"/>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11" name="Text 9"/>
          <p:cNvSpPr txBox="1"/>
          <p:nvPr/>
        </p:nvSpPr>
        <p:spPr>
          <a:xfrm>
            <a:off x="685800"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FR-1.1  </a:t>
            </a:r>
            <a:r>
              <a:rPr lang="en-US" sz="1150" b="1" dirty="0">
                <a:solidFill>
                  <a:srgbClr val="1A1A22"/>
                </a:solidFill>
                <a:latin typeface="Calibri" pitchFamily="34" charset="0"/>
                <a:ea typeface="Calibri" pitchFamily="34" charset="-122"/>
                <a:cs typeface="Calibri" pitchFamily="34" charset="-120"/>
              </a:rPr>
              <a:t>RFP File Upload</a:t>
            </a:r>
            <a:endParaRPr lang="en-US" sz="1150" dirty="0"/>
          </a:p>
        </p:txBody>
      </p:sp>
      <p:sp>
        <p:nvSpPr>
          <p:cNvPr id="12" name="Text 10"/>
          <p:cNvSpPr txBox="1"/>
          <p:nvPr/>
        </p:nvSpPr>
        <p:spPr>
          <a:xfrm>
            <a:off x="3259836"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FR-1.3  </a:t>
            </a:r>
            <a:r>
              <a:rPr lang="en-US" sz="1150" b="1" dirty="0">
                <a:solidFill>
                  <a:srgbClr val="1A1A22"/>
                </a:solidFill>
                <a:latin typeface="Calibri" pitchFamily="34" charset="0"/>
                <a:ea typeface="Calibri" pitchFamily="34" charset="-122"/>
                <a:cs typeface="Calibri" pitchFamily="34" charset="-120"/>
              </a:rPr>
              <a:t>Section Classification</a:t>
            </a:r>
            <a:endParaRPr lang="en-US" sz="1150" dirty="0"/>
          </a:p>
        </p:txBody>
      </p:sp>
      <p:sp>
        <p:nvSpPr>
          <p:cNvPr id="13" name="Text 11"/>
          <p:cNvSpPr txBox="1"/>
          <p:nvPr/>
        </p:nvSpPr>
        <p:spPr>
          <a:xfrm>
            <a:off x="685800"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FR-1.4  </a:t>
            </a:r>
            <a:r>
              <a:rPr lang="en-US" sz="1150" b="1" dirty="0">
                <a:solidFill>
                  <a:srgbClr val="1A1A22"/>
                </a:solidFill>
                <a:latin typeface="Calibri" pitchFamily="34" charset="0"/>
                <a:ea typeface="Calibri" pitchFamily="34" charset="-122"/>
                <a:cs typeface="Calibri" pitchFamily="34" charset="-120"/>
              </a:rPr>
              <a:t>Entity Extraction</a:t>
            </a:r>
            <a:endParaRPr lang="en-US" sz="1150" dirty="0"/>
          </a:p>
        </p:txBody>
      </p:sp>
      <p:sp>
        <p:nvSpPr>
          <p:cNvPr id="14" name="Text 12"/>
          <p:cNvSpPr txBox="1"/>
          <p:nvPr/>
        </p:nvSpPr>
        <p:spPr>
          <a:xfrm>
            <a:off x="3259836"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FR-1.10  </a:t>
            </a:r>
            <a:r>
              <a:rPr lang="en-US" sz="1150" b="1" dirty="0">
                <a:solidFill>
                  <a:srgbClr val="1A1A22"/>
                </a:solidFill>
                <a:latin typeface="Calibri" pitchFamily="34" charset="0"/>
                <a:ea typeface="Calibri" pitchFamily="34" charset="-122"/>
                <a:cs typeface="Calibri" pitchFamily="34" charset="-120"/>
              </a:rPr>
              <a:t>Requirement Registry</a:t>
            </a:r>
            <a:endParaRPr lang="en-US" sz="1150" dirty="0"/>
          </a:p>
        </p:txBody>
      </p:sp>
      <p:sp>
        <p:nvSpPr>
          <p:cNvPr id="15" name="Text 13"/>
          <p:cNvSpPr txBox="1"/>
          <p:nvPr/>
        </p:nvSpPr>
        <p:spPr>
          <a:xfrm>
            <a:off x="685800" y="3264408"/>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W-06–W-10</a:t>
            </a:r>
            <a:endParaRPr lang="en-US" sz="1050" dirty="0"/>
          </a:p>
        </p:txBody>
      </p:sp>
      <p:sp>
        <p:nvSpPr>
          <p:cNvPr id="16" name="Text 14"/>
          <p:cNvSpPr txBox="1"/>
          <p:nvPr/>
        </p:nvSpPr>
        <p:spPr>
          <a:xfrm>
            <a:off x="4261104" y="3255264"/>
            <a:ext cx="1572768" cy="246888"/>
          </a:xfrm>
          <a:prstGeom prst="rect">
            <a:avLst/>
          </a:prstGeom>
          <a:solidFill>
            <a:srgbClr val="ECECF1"/>
          </a:solidFill>
          <a:ln/>
        </p:spPr>
        <p:txBody>
          <a:bodyPr wrap="square" lIns="0" tIns="0" rIns="0" bIns="0" rtlCol="0" anchor="ctr"/>
          <a:lstStyle/>
          <a:p>
            <a:pPr marL="0" indent="0" algn="ctr">
              <a:buNone/>
            </a:pPr>
            <a:r>
              <a:rPr lang="en-US" sz="950" b="1" dirty="0">
                <a:solidFill>
                  <a:srgbClr val="1A1A22"/>
                </a:solidFill>
                <a:latin typeface="Calibri" pitchFamily="34" charset="0"/>
                <a:ea typeface="Calibri" pitchFamily="34" charset="-122"/>
                <a:cs typeface="Calibri" pitchFamily="34" charset="-120"/>
              </a:rPr>
              <a:t>Proposal workflow · 11 FRs</a:t>
            </a:r>
            <a:endParaRPr lang="en-US" sz="950" dirty="0"/>
          </a:p>
        </p:txBody>
      </p:sp>
      <p:sp>
        <p:nvSpPr>
          <p:cNvPr id="17" name="Shape 15"/>
          <p:cNvSpPr/>
          <p:nvPr/>
        </p:nvSpPr>
        <p:spPr>
          <a:xfrm>
            <a:off x="6172200" y="1234440"/>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18" name="Shape 16"/>
          <p:cNvSpPr/>
          <p:nvPr/>
        </p:nvSpPr>
        <p:spPr>
          <a:xfrm>
            <a:off x="6172200" y="1307592"/>
            <a:ext cx="64008" cy="2212848"/>
          </a:xfrm>
          <a:prstGeom prst="rect">
            <a:avLst/>
          </a:prstGeom>
          <a:solidFill>
            <a:srgbClr val="4B1FA0"/>
          </a:solidFill>
          <a:ln/>
        </p:spPr>
        <p:txBody>
          <a:bodyPr/>
          <a:lstStyle/>
          <a:p>
            <a:endParaRPr lang="en-PK"/>
          </a:p>
        </p:txBody>
      </p:sp>
      <p:sp>
        <p:nvSpPr>
          <p:cNvPr id="19" name="Text 17"/>
          <p:cNvSpPr txBox="1"/>
          <p:nvPr/>
        </p:nvSpPr>
        <p:spPr>
          <a:xfrm>
            <a:off x="6400800" y="1362456"/>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M2  </a:t>
            </a:r>
            <a:r>
              <a:rPr lang="en-US" sz="1700" b="1" dirty="0">
                <a:solidFill>
                  <a:srgbClr val="2B0B5E"/>
                </a:solidFill>
                <a:latin typeface="Calibri" pitchFamily="34" charset="0"/>
                <a:ea typeface="Calibri" pitchFamily="34" charset="-122"/>
                <a:cs typeface="Calibri" pitchFamily="34" charset="-120"/>
              </a:rPr>
              <a:t>Submission Checklist Generator</a:t>
            </a:r>
            <a:endParaRPr lang="en-US" sz="1700" dirty="0"/>
          </a:p>
        </p:txBody>
      </p:sp>
      <p:sp>
        <p:nvSpPr>
          <p:cNvPr id="20" name="Text 18"/>
          <p:cNvSpPr txBox="1"/>
          <p:nvPr/>
        </p:nvSpPr>
        <p:spPr>
          <a:xfrm>
            <a:off x="6400800" y="1783080"/>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Lists every document the RFP asks for, marks it mandatory or optional, tracks collection and blocks submission while a mandatory item is missing.</a:t>
            </a:r>
            <a:endParaRPr lang="en-US" sz="1200" dirty="0"/>
          </a:p>
        </p:txBody>
      </p:sp>
      <p:sp>
        <p:nvSpPr>
          <p:cNvPr id="21" name="Text 19"/>
          <p:cNvSpPr txBox="1"/>
          <p:nvPr/>
        </p:nvSpPr>
        <p:spPr>
          <a:xfrm>
            <a:off x="6400800" y="2368296"/>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22" name="Text 20"/>
          <p:cNvSpPr txBox="1"/>
          <p:nvPr/>
        </p:nvSpPr>
        <p:spPr>
          <a:xfrm>
            <a:off x="6400800"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FR-2.1  </a:t>
            </a:r>
            <a:r>
              <a:rPr lang="en-US" sz="1150" b="1" dirty="0">
                <a:solidFill>
                  <a:srgbClr val="1A1A22"/>
                </a:solidFill>
                <a:latin typeface="Calibri" pitchFamily="34" charset="0"/>
                <a:ea typeface="Calibri" pitchFamily="34" charset="-122"/>
                <a:cs typeface="Calibri" pitchFamily="34" charset="-120"/>
              </a:rPr>
              <a:t>Checklist Item Extraction</a:t>
            </a:r>
            <a:endParaRPr lang="en-US" sz="1150" dirty="0"/>
          </a:p>
        </p:txBody>
      </p:sp>
      <p:sp>
        <p:nvSpPr>
          <p:cNvPr id="23" name="Text 21"/>
          <p:cNvSpPr txBox="1"/>
          <p:nvPr/>
        </p:nvSpPr>
        <p:spPr>
          <a:xfrm>
            <a:off x="8974836"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FR-2.2  </a:t>
            </a:r>
            <a:r>
              <a:rPr lang="en-US" sz="1150" b="1" dirty="0">
                <a:solidFill>
                  <a:srgbClr val="1A1A22"/>
                </a:solidFill>
                <a:latin typeface="Calibri" pitchFamily="34" charset="0"/>
                <a:ea typeface="Calibri" pitchFamily="34" charset="-122"/>
                <a:cs typeface="Calibri" pitchFamily="34" charset="-120"/>
              </a:rPr>
              <a:t>Mandatory or Optional</a:t>
            </a:r>
            <a:endParaRPr lang="en-US" sz="1150" dirty="0"/>
          </a:p>
        </p:txBody>
      </p:sp>
      <p:sp>
        <p:nvSpPr>
          <p:cNvPr id="24" name="Text 22"/>
          <p:cNvSpPr txBox="1"/>
          <p:nvPr/>
        </p:nvSpPr>
        <p:spPr>
          <a:xfrm>
            <a:off x="6400800"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FR-2.4  </a:t>
            </a:r>
            <a:r>
              <a:rPr lang="en-US" sz="1150" b="1" dirty="0">
                <a:solidFill>
                  <a:srgbClr val="1A1A22"/>
                </a:solidFill>
                <a:latin typeface="Calibri" pitchFamily="34" charset="0"/>
                <a:ea typeface="Calibri" pitchFamily="34" charset="-122"/>
                <a:cs typeface="Calibri" pitchFamily="34" charset="-120"/>
              </a:rPr>
              <a:t>Checklist Tick-Off</a:t>
            </a:r>
            <a:endParaRPr lang="en-US" sz="1150" dirty="0"/>
          </a:p>
        </p:txBody>
      </p:sp>
      <p:sp>
        <p:nvSpPr>
          <p:cNvPr id="25" name="Text 23"/>
          <p:cNvSpPr txBox="1"/>
          <p:nvPr/>
        </p:nvSpPr>
        <p:spPr>
          <a:xfrm>
            <a:off x="8974836"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FR-2.6  </a:t>
            </a:r>
            <a:r>
              <a:rPr lang="en-US" sz="1150" b="1" dirty="0">
                <a:solidFill>
                  <a:srgbClr val="1A1A22"/>
                </a:solidFill>
                <a:latin typeface="Calibri" pitchFamily="34" charset="0"/>
                <a:ea typeface="Calibri" pitchFamily="34" charset="-122"/>
                <a:cs typeface="Calibri" pitchFamily="34" charset="-120"/>
              </a:rPr>
              <a:t>Submission Blocking</a:t>
            </a:r>
            <a:endParaRPr lang="en-US" sz="1150" dirty="0"/>
          </a:p>
        </p:txBody>
      </p:sp>
      <p:sp>
        <p:nvSpPr>
          <p:cNvPr id="26" name="Text 24"/>
          <p:cNvSpPr txBox="1"/>
          <p:nvPr/>
        </p:nvSpPr>
        <p:spPr>
          <a:xfrm>
            <a:off x="6400800" y="3264408"/>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W-11, W-12</a:t>
            </a:r>
            <a:endParaRPr lang="en-US" sz="1050" dirty="0"/>
          </a:p>
        </p:txBody>
      </p:sp>
      <p:sp>
        <p:nvSpPr>
          <p:cNvPr id="27" name="Text 25"/>
          <p:cNvSpPr txBox="1"/>
          <p:nvPr/>
        </p:nvSpPr>
        <p:spPr>
          <a:xfrm>
            <a:off x="9976104" y="3255264"/>
            <a:ext cx="1572768" cy="246888"/>
          </a:xfrm>
          <a:prstGeom prst="rect">
            <a:avLst/>
          </a:prstGeom>
          <a:solidFill>
            <a:srgbClr val="ECECF1"/>
          </a:solidFill>
          <a:ln/>
        </p:spPr>
        <p:txBody>
          <a:bodyPr wrap="square" lIns="0" tIns="0" rIns="0" bIns="0" rtlCol="0" anchor="ctr"/>
          <a:lstStyle/>
          <a:p>
            <a:pPr marL="0" indent="0" algn="ctr">
              <a:buNone/>
            </a:pPr>
            <a:r>
              <a:rPr lang="en-US" sz="950" b="1" dirty="0">
                <a:solidFill>
                  <a:srgbClr val="1A1A22"/>
                </a:solidFill>
                <a:latin typeface="Calibri" pitchFamily="34" charset="0"/>
                <a:ea typeface="Calibri" pitchFamily="34" charset="-122"/>
                <a:cs typeface="Calibri" pitchFamily="34" charset="-120"/>
              </a:rPr>
              <a:t>Proposal workflow · 7 FRs</a:t>
            </a:r>
            <a:endParaRPr lang="en-US" sz="950" dirty="0"/>
          </a:p>
        </p:txBody>
      </p:sp>
      <p:sp>
        <p:nvSpPr>
          <p:cNvPr id="28" name="Shape 26"/>
          <p:cNvSpPr/>
          <p:nvPr/>
        </p:nvSpPr>
        <p:spPr>
          <a:xfrm>
            <a:off x="457200" y="3721608"/>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29" name="Shape 27"/>
          <p:cNvSpPr/>
          <p:nvPr/>
        </p:nvSpPr>
        <p:spPr>
          <a:xfrm>
            <a:off x="457200" y="3794760"/>
            <a:ext cx="64008" cy="2212848"/>
          </a:xfrm>
          <a:prstGeom prst="rect">
            <a:avLst/>
          </a:prstGeom>
          <a:solidFill>
            <a:srgbClr val="4B1FA0"/>
          </a:solidFill>
          <a:ln/>
        </p:spPr>
        <p:txBody>
          <a:bodyPr/>
          <a:lstStyle/>
          <a:p>
            <a:endParaRPr lang="en-PK"/>
          </a:p>
        </p:txBody>
      </p:sp>
      <p:sp>
        <p:nvSpPr>
          <p:cNvPr id="30" name="Text 28"/>
          <p:cNvSpPr txBox="1"/>
          <p:nvPr/>
        </p:nvSpPr>
        <p:spPr>
          <a:xfrm>
            <a:off x="685800" y="3849624"/>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M3  </a:t>
            </a:r>
            <a:r>
              <a:rPr lang="en-US" sz="1700" b="1" dirty="0">
                <a:solidFill>
                  <a:srgbClr val="2B0B5E"/>
                </a:solidFill>
                <a:latin typeface="Calibri" pitchFamily="34" charset="0"/>
                <a:ea typeface="Calibri" pitchFamily="34" charset="-122"/>
                <a:cs typeface="Calibri" pitchFamily="34" charset="-120"/>
              </a:rPr>
              <a:t>Compliance Matrix Generator</a:t>
            </a:r>
            <a:endParaRPr lang="en-US" sz="1700" dirty="0"/>
          </a:p>
        </p:txBody>
      </p:sp>
      <p:sp>
        <p:nvSpPr>
          <p:cNvPr id="31" name="Text 29"/>
          <p:cNvSpPr txBox="1"/>
          <p:nvPr/>
        </p:nvSpPr>
        <p:spPr>
          <a:xfrm>
            <a:off x="685800" y="4270248"/>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Rates every requirement FC, PC or NC with a constraint rule engine and evidence retrieval, and scores up to three proposed models.</a:t>
            </a:r>
            <a:endParaRPr lang="en-US" sz="1200" dirty="0"/>
          </a:p>
        </p:txBody>
      </p:sp>
      <p:sp>
        <p:nvSpPr>
          <p:cNvPr id="32" name="Text 30"/>
          <p:cNvSpPr txBox="1"/>
          <p:nvPr/>
        </p:nvSpPr>
        <p:spPr>
          <a:xfrm>
            <a:off x="685800" y="4855464"/>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33" name="Text 31"/>
          <p:cNvSpPr txBox="1"/>
          <p:nvPr/>
        </p:nvSpPr>
        <p:spPr>
          <a:xfrm>
            <a:off x="685800" y="508406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FR-3.3  </a:t>
            </a:r>
            <a:r>
              <a:rPr lang="en-US" sz="1150" b="1" dirty="0">
                <a:solidFill>
                  <a:srgbClr val="1A1A22"/>
                </a:solidFill>
                <a:latin typeface="Calibri" pitchFamily="34" charset="0"/>
                <a:ea typeface="Calibri" pitchFamily="34" charset="-122"/>
                <a:cs typeface="Calibri" pitchFamily="34" charset="-120"/>
              </a:rPr>
              <a:t>Rule-Based Evaluation</a:t>
            </a:r>
            <a:endParaRPr lang="en-US" sz="1150" dirty="0"/>
          </a:p>
        </p:txBody>
      </p:sp>
      <p:sp>
        <p:nvSpPr>
          <p:cNvPr id="34" name="Text 32"/>
          <p:cNvSpPr txBox="1"/>
          <p:nvPr/>
        </p:nvSpPr>
        <p:spPr>
          <a:xfrm>
            <a:off x="3259836" y="508406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FR-3.4  </a:t>
            </a:r>
            <a:r>
              <a:rPr lang="en-US" sz="1150" b="1" dirty="0">
                <a:solidFill>
                  <a:srgbClr val="1A1A22"/>
                </a:solidFill>
                <a:latin typeface="Calibri" pitchFamily="34" charset="0"/>
                <a:ea typeface="Calibri" pitchFamily="34" charset="-122"/>
                <a:cs typeface="Calibri" pitchFamily="34" charset="-120"/>
              </a:rPr>
              <a:t>Compliance Percentage</a:t>
            </a:r>
            <a:endParaRPr lang="en-US" sz="1150" dirty="0"/>
          </a:p>
        </p:txBody>
      </p:sp>
      <p:sp>
        <p:nvSpPr>
          <p:cNvPr id="35" name="Text 33"/>
          <p:cNvSpPr txBox="1"/>
          <p:nvPr/>
        </p:nvSpPr>
        <p:spPr>
          <a:xfrm>
            <a:off x="685800" y="540410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FR-3.9  </a:t>
            </a:r>
            <a:r>
              <a:rPr lang="en-US" sz="1150" b="1" dirty="0">
                <a:solidFill>
                  <a:srgbClr val="1A1A22"/>
                </a:solidFill>
                <a:latin typeface="Calibri" pitchFamily="34" charset="0"/>
                <a:ea typeface="Calibri" pitchFamily="34" charset="-122"/>
                <a:cs typeface="Calibri" pitchFamily="34" charset="-120"/>
              </a:rPr>
              <a:t>Descriptive Matching</a:t>
            </a:r>
            <a:endParaRPr lang="en-US" sz="1150" dirty="0"/>
          </a:p>
        </p:txBody>
      </p:sp>
      <p:sp>
        <p:nvSpPr>
          <p:cNvPr id="36" name="Text 34"/>
          <p:cNvSpPr txBox="1"/>
          <p:nvPr/>
        </p:nvSpPr>
        <p:spPr>
          <a:xfrm>
            <a:off x="3259836" y="540410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FR-3.6  </a:t>
            </a:r>
            <a:r>
              <a:rPr lang="en-US" sz="1150" b="1" dirty="0">
                <a:solidFill>
                  <a:srgbClr val="1A1A22"/>
                </a:solidFill>
                <a:latin typeface="Calibri" pitchFamily="34" charset="0"/>
                <a:ea typeface="Calibri" pitchFamily="34" charset="-122"/>
                <a:cs typeface="Calibri" pitchFamily="34" charset="-120"/>
              </a:rPr>
              <a:t>Manual Override</a:t>
            </a:r>
            <a:endParaRPr lang="en-US" sz="1150" dirty="0"/>
          </a:p>
        </p:txBody>
      </p:sp>
      <p:sp>
        <p:nvSpPr>
          <p:cNvPr id="37" name="Text 35"/>
          <p:cNvSpPr txBox="1"/>
          <p:nvPr/>
        </p:nvSpPr>
        <p:spPr>
          <a:xfrm>
            <a:off x="685800" y="5751576"/>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W-13–W-15</a:t>
            </a:r>
            <a:endParaRPr lang="en-US" sz="1050" dirty="0"/>
          </a:p>
        </p:txBody>
      </p:sp>
      <p:sp>
        <p:nvSpPr>
          <p:cNvPr id="38" name="Text 36"/>
          <p:cNvSpPr txBox="1"/>
          <p:nvPr/>
        </p:nvSpPr>
        <p:spPr>
          <a:xfrm>
            <a:off x="4261104" y="5742432"/>
            <a:ext cx="1572768" cy="246888"/>
          </a:xfrm>
          <a:prstGeom prst="rect">
            <a:avLst/>
          </a:prstGeom>
          <a:solidFill>
            <a:srgbClr val="ECECF1"/>
          </a:solidFill>
          <a:ln/>
        </p:spPr>
        <p:txBody>
          <a:bodyPr wrap="square" lIns="0" tIns="0" rIns="0" bIns="0" rtlCol="0" anchor="ctr"/>
          <a:lstStyle/>
          <a:p>
            <a:pPr marL="0" indent="0" algn="ctr">
              <a:buNone/>
            </a:pPr>
            <a:r>
              <a:rPr lang="en-US" sz="950" b="1" dirty="0">
                <a:solidFill>
                  <a:srgbClr val="1A1A22"/>
                </a:solidFill>
                <a:latin typeface="Calibri" pitchFamily="34" charset="0"/>
                <a:ea typeface="Calibri" pitchFamily="34" charset="-122"/>
                <a:cs typeface="Calibri" pitchFamily="34" charset="-120"/>
              </a:rPr>
              <a:t>Proposal workflow · 10 FRs</a:t>
            </a:r>
            <a:endParaRPr lang="en-US" sz="950" dirty="0"/>
          </a:p>
        </p:txBody>
      </p:sp>
      <p:sp>
        <p:nvSpPr>
          <p:cNvPr id="39" name="Shape 37"/>
          <p:cNvSpPr/>
          <p:nvPr/>
        </p:nvSpPr>
        <p:spPr>
          <a:xfrm>
            <a:off x="6172200" y="3721608"/>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40" name="Shape 38"/>
          <p:cNvSpPr/>
          <p:nvPr/>
        </p:nvSpPr>
        <p:spPr>
          <a:xfrm>
            <a:off x="6172200" y="3794760"/>
            <a:ext cx="64008" cy="2212848"/>
          </a:xfrm>
          <a:prstGeom prst="rect">
            <a:avLst/>
          </a:prstGeom>
          <a:solidFill>
            <a:srgbClr val="4B1FA0"/>
          </a:solidFill>
          <a:ln/>
        </p:spPr>
        <p:txBody>
          <a:bodyPr/>
          <a:lstStyle/>
          <a:p>
            <a:endParaRPr lang="en-PK"/>
          </a:p>
        </p:txBody>
      </p:sp>
      <p:sp>
        <p:nvSpPr>
          <p:cNvPr id="41" name="Text 39"/>
          <p:cNvSpPr txBox="1"/>
          <p:nvPr/>
        </p:nvSpPr>
        <p:spPr>
          <a:xfrm>
            <a:off x="6400800" y="3849624"/>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M4  </a:t>
            </a:r>
            <a:r>
              <a:rPr lang="en-US" sz="1700" b="1" dirty="0">
                <a:solidFill>
                  <a:srgbClr val="2B0B5E"/>
                </a:solidFill>
                <a:latin typeface="Calibri" pitchFamily="34" charset="0"/>
                <a:ea typeface="Calibri" pitchFamily="34" charset="-122"/>
                <a:cs typeface="Calibri" pitchFamily="34" charset="-120"/>
              </a:rPr>
              <a:t>Technical Evaluation Criteria Analyser</a:t>
            </a:r>
            <a:endParaRPr lang="en-US" sz="1700" dirty="0"/>
          </a:p>
        </p:txBody>
      </p:sp>
      <p:sp>
        <p:nvSpPr>
          <p:cNvPr id="42" name="Text 40"/>
          <p:cNvSpPr txBox="1"/>
          <p:nvPr/>
        </p:nvSpPr>
        <p:spPr>
          <a:xfrm>
            <a:off x="6400800" y="4270248"/>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Reads the RFP’s scoring table and shows a live running score against the qualifying threshold.</a:t>
            </a:r>
            <a:endParaRPr lang="en-US" sz="1200" dirty="0"/>
          </a:p>
        </p:txBody>
      </p:sp>
      <p:sp>
        <p:nvSpPr>
          <p:cNvPr id="43" name="Text 41"/>
          <p:cNvSpPr txBox="1"/>
          <p:nvPr/>
        </p:nvSpPr>
        <p:spPr>
          <a:xfrm>
            <a:off x="6400800" y="4855464"/>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44" name="Text 42"/>
          <p:cNvSpPr txBox="1"/>
          <p:nvPr/>
        </p:nvSpPr>
        <p:spPr>
          <a:xfrm>
            <a:off x="6400800" y="508406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FR-4.1  </a:t>
            </a:r>
            <a:r>
              <a:rPr lang="en-US" sz="1150" b="1" dirty="0">
                <a:solidFill>
                  <a:srgbClr val="1A1A22"/>
                </a:solidFill>
                <a:latin typeface="Calibri" pitchFamily="34" charset="0"/>
                <a:ea typeface="Calibri" pitchFamily="34" charset="-122"/>
                <a:cs typeface="Calibri" pitchFamily="34" charset="-120"/>
              </a:rPr>
              <a:t>Scoring Table Extraction</a:t>
            </a:r>
            <a:endParaRPr lang="en-US" sz="1150" dirty="0"/>
          </a:p>
        </p:txBody>
      </p:sp>
      <p:sp>
        <p:nvSpPr>
          <p:cNvPr id="45" name="Text 43"/>
          <p:cNvSpPr txBox="1"/>
          <p:nvPr/>
        </p:nvSpPr>
        <p:spPr>
          <a:xfrm>
            <a:off x="8974836" y="508406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FR-4.3  </a:t>
            </a:r>
            <a:r>
              <a:rPr lang="en-US" sz="1150" b="1" dirty="0">
                <a:solidFill>
                  <a:srgbClr val="1A1A22"/>
                </a:solidFill>
                <a:latin typeface="Calibri" pitchFamily="34" charset="0"/>
                <a:ea typeface="Calibri" pitchFamily="34" charset="-122"/>
                <a:cs typeface="Calibri" pitchFamily="34" charset="-120"/>
              </a:rPr>
              <a:t>Threshold Display</a:t>
            </a:r>
            <a:endParaRPr lang="en-US" sz="1150" dirty="0"/>
          </a:p>
        </p:txBody>
      </p:sp>
      <p:sp>
        <p:nvSpPr>
          <p:cNvPr id="46" name="Text 44"/>
          <p:cNvSpPr txBox="1"/>
          <p:nvPr/>
        </p:nvSpPr>
        <p:spPr>
          <a:xfrm>
            <a:off x="6400800" y="540410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FR-4.4  </a:t>
            </a:r>
            <a:r>
              <a:rPr lang="en-US" sz="1150" b="1" dirty="0">
                <a:solidFill>
                  <a:srgbClr val="1A1A22"/>
                </a:solidFill>
                <a:latin typeface="Calibri" pitchFamily="34" charset="0"/>
                <a:ea typeface="Calibri" pitchFamily="34" charset="-122"/>
                <a:cs typeface="Calibri" pitchFamily="34" charset="-120"/>
              </a:rPr>
              <a:t>Running Score</a:t>
            </a:r>
            <a:endParaRPr lang="en-US" sz="1150" dirty="0"/>
          </a:p>
        </p:txBody>
      </p:sp>
      <p:sp>
        <p:nvSpPr>
          <p:cNvPr id="47" name="Text 45"/>
          <p:cNvSpPr txBox="1"/>
          <p:nvPr/>
        </p:nvSpPr>
        <p:spPr>
          <a:xfrm>
            <a:off x="8974836" y="540410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FR-4.5  </a:t>
            </a:r>
            <a:r>
              <a:rPr lang="en-US" sz="1150" b="1" dirty="0">
                <a:solidFill>
                  <a:srgbClr val="1A1A22"/>
                </a:solidFill>
                <a:latin typeface="Calibri" pitchFamily="34" charset="0"/>
                <a:ea typeface="Calibri" pitchFamily="34" charset="-122"/>
                <a:cs typeface="Calibri" pitchFamily="34" charset="-120"/>
              </a:rPr>
              <a:t>Below-Threshold Warning</a:t>
            </a:r>
            <a:endParaRPr lang="en-US" sz="1150" dirty="0"/>
          </a:p>
        </p:txBody>
      </p:sp>
      <p:sp>
        <p:nvSpPr>
          <p:cNvPr id="48" name="Text 46"/>
          <p:cNvSpPr txBox="1"/>
          <p:nvPr/>
        </p:nvSpPr>
        <p:spPr>
          <a:xfrm>
            <a:off x="6400800" y="5751576"/>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W-16, W-46</a:t>
            </a:r>
            <a:endParaRPr lang="en-US" sz="1050" dirty="0"/>
          </a:p>
        </p:txBody>
      </p:sp>
      <p:sp>
        <p:nvSpPr>
          <p:cNvPr id="49" name="Text 47"/>
          <p:cNvSpPr txBox="1"/>
          <p:nvPr/>
        </p:nvSpPr>
        <p:spPr>
          <a:xfrm>
            <a:off x="9976104" y="5742432"/>
            <a:ext cx="1572768" cy="246888"/>
          </a:xfrm>
          <a:prstGeom prst="rect">
            <a:avLst/>
          </a:prstGeom>
          <a:solidFill>
            <a:srgbClr val="ECECF1"/>
          </a:solidFill>
          <a:ln/>
        </p:spPr>
        <p:txBody>
          <a:bodyPr wrap="square" lIns="0" tIns="0" rIns="0" bIns="0" rtlCol="0" anchor="ctr"/>
          <a:lstStyle/>
          <a:p>
            <a:pPr marL="0" indent="0" algn="ctr">
              <a:buNone/>
            </a:pPr>
            <a:r>
              <a:rPr lang="en-US" sz="950" b="1" dirty="0">
                <a:solidFill>
                  <a:srgbClr val="1A1A22"/>
                </a:solidFill>
                <a:latin typeface="Calibri" pitchFamily="34" charset="0"/>
                <a:ea typeface="Calibri" pitchFamily="34" charset="-122"/>
                <a:cs typeface="Calibri" pitchFamily="34" charset="-120"/>
              </a:rPr>
              <a:t>Proposal workflow · 6 FRs</a:t>
            </a:r>
            <a:endParaRPr lang="en-US" sz="950" dirty="0"/>
          </a:p>
        </p:txBody>
      </p:sp>
      <p:sp>
        <p:nvSpPr>
          <p:cNvPr id="50" name="Text 48">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51" name="Text 49">
            <a:hlinkClick r:id="rId3"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52" name="Text 50">
            <a:hlinkClick r:id="rId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MODULES ·</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Modules and Main FRs  (2 of 5)</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r>
              <a:rPr lang="en-US" sz="1100" b="1" dirty="0">
                <a:solidFill>
                  <a:srgbClr val="5E5E6B"/>
                </a:solidFill>
                <a:latin typeface="Calibri" pitchFamily="34" charset="0"/>
                <a:ea typeface="Calibri" pitchFamily="34" charset="-122"/>
                <a:cs typeface="Calibri" pitchFamily="34" charset="-120"/>
              </a:rPr>
              <a:t>18 modules · 118 FRs</a:t>
            </a: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15</a:t>
            </a:r>
            <a:endParaRPr lang="en-US" sz="1000" dirty="0"/>
          </a:p>
        </p:txBody>
      </p:sp>
      <p:sp>
        <p:nvSpPr>
          <p:cNvPr id="6" name="Shape 4"/>
          <p:cNvSpPr/>
          <p:nvPr/>
        </p:nvSpPr>
        <p:spPr>
          <a:xfrm>
            <a:off x="457200" y="1234440"/>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7" name="Shape 5"/>
          <p:cNvSpPr/>
          <p:nvPr/>
        </p:nvSpPr>
        <p:spPr>
          <a:xfrm>
            <a:off x="457200" y="1307592"/>
            <a:ext cx="64008" cy="2212848"/>
          </a:xfrm>
          <a:prstGeom prst="rect">
            <a:avLst/>
          </a:prstGeom>
          <a:solidFill>
            <a:srgbClr val="4B1FA0"/>
          </a:solidFill>
          <a:ln/>
        </p:spPr>
        <p:txBody>
          <a:bodyPr/>
          <a:lstStyle/>
          <a:p>
            <a:endParaRPr lang="en-PK"/>
          </a:p>
        </p:txBody>
      </p:sp>
      <p:sp>
        <p:nvSpPr>
          <p:cNvPr id="8" name="Text 6"/>
          <p:cNvSpPr txBox="1"/>
          <p:nvPr/>
        </p:nvSpPr>
        <p:spPr>
          <a:xfrm>
            <a:off x="685800" y="1362456"/>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M5  </a:t>
            </a:r>
            <a:r>
              <a:rPr lang="en-US" sz="1700" b="1" dirty="0">
                <a:solidFill>
                  <a:srgbClr val="2B0B5E"/>
                </a:solidFill>
                <a:latin typeface="Calibri" pitchFamily="34" charset="0"/>
                <a:ea typeface="Calibri" pitchFamily="34" charset="-122"/>
                <a:cs typeface="Calibri" pitchFamily="34" charset="-120"/>
              </a:rPr>
              <a:t>HLD Diagram Generator</a:t>
            </a:r>
            <a:endParaRPr lang="en-US" sz="1700" dirty="0"/>
          </a:p>
        </p:txBody>
      </p:sp>
      <p:sp>
        <p:nvSpPr>
          <p:cNvPr id="9" name="Text 7"/>
          <p:cNvSpPr txBox="1"/>
          <p:nvPr/>
        </p:nvSpPr>
        <p:spPr>
          <a:xfrm>
            <a:off x="685800" y="1783080"/>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Draws the high-level network diagram from the device list with standard icons and writes its connectivity description.</a:t>
            </a:r>
            <a:endParaRPr lang="en-US" sz="1200" dirty="0"/>
          </a:p>
        </p:txBody>
      </p:sp>
      <p:sp>
        <p:nvSpPr>
          <p:cNvPr id="10" name="Text 8"/>
          <p:cNvSpPr txBox="1"/>
          <p:nvPr/>
        </p:nvSpPr>
        <p:spPr>
          <a:xfrm>
            <a:off x="685800" y="2368296"/>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11" name="Text 9"/>
          <p:cNvSpPr txBox="1"/>
          <p:nvPr/>
        </p:nvSpPr>
        <p:spPr>
          <a:xfrm>
            <a:off x="685800"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FR-5.1  </a:t>
            </a:r>
            <a:r>
              <a:rPr lang="en-US" sz="1150" b="1" dirty="0">
                <a:solidFill>
                  <a:srgbClr val="1A1A22"/>
                </a:solidFill>
                <a:latin typeface="Calibri" pitchFamily="34" charset="0"/>
                <a:ea typeface="Calibri" pitchFamily="34" charset="-122"/>
                <a:cs typeface="Calibri" pitchFamily="34" charset="-120"/>
              </a:rPr>
              <a:t>Network Device Input</a:t>
            </a:r>
            <a:endParaRPr lang="en-US" sz="1150" dirty="0"/>
          </a:p>
        </p:txBody>
      </p:sp>
      <p:sp>
        <p:nvSpPr>
          <p:cNvPr id="12" name="Text 10"/>
          <p:cNvSpPr txBox="1"/>
          <p:nvPr/>
        </p:nvSpPr>
        <p:spPr>
          <a:xfrm>
            <a:off x="3259836"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FR-5.3  </a:t>
            </a:r>
            <a:r>
              <a:rPr lang="en-US" sz="1150" b="1" dirty="0">
                <a:solidFill>
                  <a:srgbClr val="1A1A22"/>
                </a:solidFill>
                <a:latin typeface="Calibri" pitchFamily="34" charset="0"/>
                <a:ea typeface="Calibri" pitchFamily="34" charset="-122"/>
                <a:cs typeface="Calibri" pitchFamily="34" charset="-120"/>
              </a:rPr>
              <a:t>Topology Rendering</a:t>
            </a:r>
            <a:endParaRPr lang="en-US" sz="1150" dirty="0"/>
          </a:p>
        </p:txBody>
      </p:sp>
      <p:sp>
        <p:nvSpPr>
          <p:cNvPr id="13" name="Text 11"/>
          <p:cNvSpPr txBox="1"/>
          <p:nvPr/>
        </p:nvSpPr>
        <p:spPr>
          <a:xfrm>
            <a:off x="685800"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FR-5.5  </a:t>
            </a:r>
            <a:r>
              <a:rPr lang="en-US" sz="1150" b="1" dirty="0">
                <a:solidFill>
                  <a:srgbClr val="1A1A22"/>
                </a:solidFill>
                <a:latin typeface="Calibri" pitchFamily="34" charset="0"/>
                <a:ea typeface="Calibri" pitchFamily="34" charset="-122"/>
                <a:cs typeface="Calibri" pitchFamily="34" charset="-120"/>
              </a:rPr>
              <a:t>PNG Export</a:t>
            </a:r>
            <a:endParaRPr lang="en-US" sz="1150" dirty="0"/>
          </a:p>
        </p:txBody>
      </p:sp>
      <p:sp>
        <p:nvSpPr>
          <p:cNvPr id="14" name="Text 12"/>
          <p:cNvSpPr txBox="1"/>
          <p:nvPr/>
        </p:nvSpPr>
        <p:spPr>
          <a:xfrm>
            <a:off x="3259836"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FR-5.7  </a:t>
            </a:r>
            <a:r>
              <a:rPr lang="en-US" sz="1150" b="1" dirty="0">
                <a:solidFill>
                  <a:srgbClr val="1A1A22"/>
                </a:solidFill>
                <a:latin typeface="Calibri" pitchFamily="34" charset="0"/>
                <a:ea typeface="Calibri" pitchFamily="34" charset="-122"/>
                <a:cs typeface="Calibri" pitchFamily="34" charset="-120"/>
              </a:rPr>
              <a:t>Connectivity Description</a:t>
            </a:r>
            <a:endParaRPr lang="en-US" sz="1150" dirty="0"/>
          </a:p>
        </p:txBody>
      </p:sp>
      <p:sp>
        <p:nvSpPr>
          <p:cNvPr id="15" name="Text 13"/>
          <p:cNvSpPr txBox="1"/>
          <p:nvPr/>
        </p:nvSpPr>
        <p:spPr>
          <a:xfrm>
            <a:off x="685800" y="3264408"/>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W-17, W-18</a:t>
            </a:r>
            <a:endParaRPr lang="en-US" sz="1050" dirty="0"/>
          </a:p>
        </p:txBody>
      </p:sp>
      <p:sp>
        <p:nvSpPr>
          <p:cNvPr id="16" name="Text 14"/>
          <p:cNvSpPr txBox="1"/>
          <p:nvPr/>
        </p:nvSpPr>
        <p:spPr>
          <a:xfrm>
            <a:off x="4261104" y="3255264"/>
            <a:ext cx="1572768" cy="246888"/>
          </a:xfrm>
          <a:prstGeom prst="rect">
            <a:avLst/>
          </a:prstGeom>
          <a:solidFill>
            <a:srgbClr val="ECECF1"/>
          </a:solidFill>
          <a:ln/>
        </p:spPr>
        <p:txBody>
          <a:bodyPr wrap="square" lIns="0" tIns="0" rIns="0" bIns="0" rtlCol="0" anchor="ctr"/>
          <a:lstStyle/>
          <a:p>
            <a:pPr marL="0" indent="0" algn="ctr">
              <a:buNone/>
            </a:pPr>
            <a:r>
              <a:rPr lang="en-US" sz="950" b="1" dirty="0">
                <a:solidFill>
                  <a:srgbClr val="1A1A22"/>
                </a:solidFill>
                <a:latin typeface="Calibri" pitchFamily="34" charset="0"/>
                <a:ea typeface="Calibri" pitchFamily="34" charset="-122"/>
                <a:cs typeface="Calibri" pitchFamily="34" charset="-120"/>
              </a:rPr>
              <a:t>Proposal workflow · 7 FRs</a:t>
            </a:r>
            <a:endParaRPr lang="en-US" sz="950" dirty="0"/>
          </a:p>
        </p:txBody>
      </p:sp>
      <p:sp>
        <p:nvSpPr>
          <p:cNvPr id="17" name="Shape 15"/>
          <p:cNvSpPr/>
          <p:nvPr/>
        </p:nvSpPr>
        <p:spPr>
          <a:xfrm>
            <a:off x="6172200" y="1234440"/>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18" name="Shape 16"/>
          <p:cNvSpPr/>
          <p:nvPr/>
        </p:nvSpPr>
        <p:spPr>
          <a:xfrm>
            <a:off x="6172200" y="1307592"/>
            <a:ext cx="64008" cy="2212848"/>
          </a:xfrm>
          <a:prstGeom prst="rect">
            <a:avLst/>
          </a:prstGeom>
          <a:solidFill>
            <a:srgbClr val="4B1FA0"/>
          </a:solidFill>
          <a:ln/>
        </p:spPr>
        <p:txBody>
          <a:bodyPr/>
          <a:lstStyle/>
          <a:p>
            <a:endParaRPr lang="en-PK"/>
          </a:p>
        </p:txBody>
      </p:sp>
      <p:sp>
        <p:nvSpPr>
          <p:cNvPr id="19" name="Text 17"/>
          <p:cNvSpPr txBox="1"/>
          <p:nvPr/>
        </p:nvSpPr>
        <p:spPr>
          <a:xfrm>
            <a:off x="6400800" y="1362456"/>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M6  </a:t>
            </a:r>
            <a:r>
              <a:rPr lang="en-US" sz="1700" b="1" dirty="0">
                <a:solidFill>
                  <a:srgbClr val="2B0B5E"/>
                </a:solidFill>
                <a:latin typeface="Calibri" pitchFamily="34" charset="0"/>
                <a:ea typeface="Calibri" pitchFamily="34" charset="-122"/>
                <a:cs typeface="Calibri" pitchFamily="34" charset="-120"/>
              </a:rPr>
              <a:t>Technical Proposal Generator</a:t>
            </a:r>
            <a:endParaRPr lang="en-US" sz="1700" dirty="0"/>
          </a:p>
        </p:txBody>
      </p:sp>
      <p:sp>
        <p:nvSpPr>
          <p:cNvPr id="20" name="Text 18"/>
          <p:cNvSpPr txBox="1"/>
          <p:nvPr/>
        </p:nvSpPr>
        <p:spPr>
          <a:xfrm>
            <a:off x="6400800" y="1783080"/>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Drafts the four proposal sections from the company’s approved past proposals (RAG); every section is reviewed, approved and linked to requirements.</a:t>
            </a:r>
            <a:endParaRPr lang="en-US" sz="1200" dirty="0"/>
          </a:p>
        </p:txBody>
      </p:sp>
      <p:sp>
        <p:nvSpPr>
          <p:cNvPr id="21" name="Text 19"/>
          <p:cNvSpPr txBox="1"/>
          <p:nvPr/>
        </p:nvSpPr>
        <p:spPr>
          <a:xfrm>
            <a:off x="6400800" y="2368296"/>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22" name="Text 20"/>
          <p:cNvSpPr txBox="1"/>
          <p:nvPr/>
        </p:nvSpPr>
        <p:spPr>
          <a:xfrm>
            <a:off x="6400800"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FR-6.3  </a:t>
            </a:r>
            <a:r>
              <a:rPr lang="en-US" sz="1150" b="1" dirty="0">
                <a:solidFill>
                  <a:srgbClr val="1A1A22"/>
                </a:solidFill>
                <a:latin typeface="Calibri" pitchFamily="34" charset="0"/>
                <a:ea typeface="Calibri" pitchFamily="34" charset="-122"/>
                <a:cs typeface="Calibri" pitchFamily="34" charset="-120"/>
              </a:rPr>
              <a:t>Semantic Retrieval</a:t>
            </a:r>
            <a:endParaRPr lang="en-US" sz="1150" dirty="0"/>
          </a:p>
        </p:txBody>
      </p:sp>
      <p:sp>
        <p:nvSpPr>
          <p:cNvPr id="23" name="Text 21"/>
          <p:cNvSpPr txBox="1"/>
          <p:nvPr/>
        </p:nvSpPr>
        <p:spPr>
          <a:xfrm>
            <a:off x="8974836"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FR-6.5  </a:t>
            </a:r>
            <a:r>
              <a:rPr lang="en-US" sz="1150" b="1" dirty="0">
                <a:solidFill>
                  <a:srgbClr val="1A1A22"/>
                </a:solidFill>
                <a:latin typeface="Calibri" pitchFamily="34" charset="0"/>
                <a:ea typeface="Calibri" pitchFamily="34" charset="-122"/>
                <a:cs typeface="Calibri" pitchFamily="34" charset="-120"/>
              </a:rPr>
              <a:t>Section Generation</a:t>
            </a:r>
            <a:endParaRPr lang="en-US" sz="1150" dirty="0"/>
          </a:p>
        </p:txBody>
      </p:sp>
      <p:sp>
        <p:nvSpPr>
          <p:cNvPr id="24" name="Text 22"/>
          <p:cNvSpPr txBox="1"/>
          <p:nvPr/>
        </p:nvSpPr>
        <p:spPr>
          <a:xfrm>
            <a:off x="6400800"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FR-6.8  </a:t>
            </a:r>
            <a:r>
              <a:rPr lang="en-US" sz="1150" b="1" dirty="0">
                <a:solidFill>
                  <a:srgbClr val="1A1A22"/>
                </a:solidFill>
                <a:latin typeface="Calibri" pitchFamily="34" charset="0"/>
                <a:ea typeface="Calibri" pitchFamily="34" charset="-122"/>
                <a:cs typeface="Calibri" pitchFamily="34" charset="-120"/>
              </a:rPr>
              <a:t>Reviewer Approval Gate</a:t>
            </a:r>
            <a:endParaRPr lang="en-US" sz="1150" dirty="0"/>
          </a:p>
        </p:txBody>
      </p:sp>
      <p:sp>
        <p:nvSpPr>
          <p:cNvPr id="25" name="Text 23"/>
          <p:cNvSpPr txBox="1"/>
          <p:nvPr/>
        </p:nvSpPr>
        <p:spPr>
          <a:xfrm>
            <a:off x="8974836"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FR-6.11  </a:t>
            </a:r>
            <a:r>
              <a:rPr lang="en-US" sz="1150" b="1" dirty="0">
                <a:solidFill>
                  <a:srgbClr val="1A1A22"/>
                </a:solidFill>
                <a:latin typeface="Calibri" pitchFamily="34" charset="0"/>
                <a:ea typeface="Calibri" pitchFamily="34" charset="-122"/>
                <a:cs typeface="Calibri" pitchFamily="34" charset="-120"/>
              </a:rPr>
              <a:t>Requirement Linking</a:t>
            </a:r>
            <a:endParaRPr lang="en-US" sz="1150" dirty="0"/>
          </a:p>
        </p:txBody>
      </p:sp>
      <p:sp>
        <p:nvSpPr>
          <p:cNvPr id="26" name="Text 24"/>
          <p:cNvSpPr txBox="1"/>
          <p:nvPr/>
        </p:nvSpPr>
        <p:spPr>
          <a:xfrm>
            <a:off x="6400800" y="3264408"/>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W-19–W-21</a:t>
            </a:r>
            <a:endParaRPr lang="en-US" sz="1050" dirty="0"/>
          </a:p>
        </p:txBody>
      </p:sp>
      <p:sp>
        <p:nvSpPr>
          <p:cNvPr id="27" name="Text 25"/>
          <p:cNvSpPr txBox="1"/>
          <p:nvPr/>
        </p:nvSpPr>
        <p:spPr>
          <a:xfrm>
            <a:off x="9976104" y="3255264"/>
            <a:ext cx="1572768" cy="246888"/>
          </a:xfrm>
          <a:prstGeom prst="rect">
            <a:avLst/>
          </a:prstGeom>
          <a:solidFill>
            <a:srgbClr val="ECECF1"/>
          </a:solidFill>
          <a:ln/>
        </p:spPr>
        <p:txBody>
          <a:bodyPr wrap="square" lIns="0" tIns="0" rIns="0" bIns="0" rtlCol="0" anchor="ctr"/>
          <a:lstStyle/>
          <a:p>
            <a:pPr marL="0" indent="0" algn="ctr">
              <a:buNone/>
            </a:pPr>
            <a:r>
              <a:rPr lang="en-US" sz="950" b="1" dirty="0">
                <a:solidFill>
                  <a:srgbClr val="1A1A22"/>
                </a:solidFill>
                <a:latin typeface="Calibri" pitchFamily="34" charset="0"/>
                <a:ea typeface="Calibri" pitchFamily="34" charset="-122"/>
                <a:cs typeface="Calibri" pitchFamily="34" charset="-120"/>
              </a:rPr>
              <a:t>Proposal workflow · 12 FRs</a:t>
            </a:r>
            <a:endParaRPr lang="en-US" sz="950" dirty="0"/>
          </a:p>
        </p:txBody>
      </p:sp>
      <p:sp>
        <p:nvSpPr>
          <p:cNvPr id="28" name="Shape 26"/>
          <p:cNvSpPr/>
          <p:nvPr/>
        </p:nvSpPr>
        <p:spPr>
          <a:xfrm>
            <a:off x="457200" y="3721608"/>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29" name="Shape 27"/>
          <p:cNvSpPr/>
          <p:nvPr/>
        </p:nvSpPr>
        <p:spPr>
          <a:xfrm>
            <a:off x="457200" y="3794760"/>
            <a:ext cx="64008" cy="2212848"/>
          </a:xfrm>
          <a:prstGeom prst="rect">
            <a:avLst/>
          </a:prstGeom>
          <a:solidFill>
            <a:srgbClr val="4B1FA0"/>
          </a:solidFill>
          <a:ln/>
        </p:spPr>
        <p:txBody>
          <a:bodyPr/>
          <a:lstStyle/>
          <a:p>
            <a:endParaRPr lang="en-PK"/>
          </a:p>
        </p:txBody>
      </p:sp>
      <p:sp>
        <p:nvSpPr>
          <p:cNvPr id="30" name="Text 28"/>
          <p:cNvSpPr txBox="1"/>
          <p:nvPr/>
        </p:nvSpPr>
        <p:spPr>
          <a:xfrm>
            <a:off x="685800" y="3849624"/>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M7  </a:t>
            </a:r>
            <a:r>
              <a:rPr lang="en-US" sz="1700" b="1" dirty="0">
                <a:solidFill>
                  <a:srgbClr val="2B0B5E"/>
                </a:solidFill>
                <a:latin typeface="Calibri" pitchFamily="34" charset="0"/>
                <a:ea typeface="Calibri" pitchFamily="34" charset="-122"/>
                <a:cs typeface="Calibri" pitchFamily="34" charset="-120"/>
              </a:rPr>
              <a:t>BOQ Generator</a:t>
            </a:r>
            <a:endParaRPr lang="en-US" sz="1700" dirty="0"/>
          </a:p>
        </p:txBody>
      </p:sp>
      <p:sp>
        <p:nvSpPr>
          <p:cNvPr id="31" name="Text 29"/>
          <p:cNvSpPr txBox="1"/>
          <p:nvPr/>
        </p:nvSpPr>
        <p:spPr>
          <a:xfrm>
            <a:off x="685800" y="4270248"/>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Fills the client’s BOQ template from the compliance matrix; costing columns are left for manual entry.</a:t>
            </a:r>
            <a:endParaRPr lang="en-US" sz="1200" dirty="0"/>
          </a:p>
        </p:txBody>
      </p:sp>
      <p:sp>
        <p:nvSpPr>
          <p:cNvPr id="32" name="Text 30"/>
          <p:cNvSpPr txBox="1"/>
          <p:nvPr/>
        </p:nvSpPr>
        <p:spPr>
          <a:xfrm>
            <a:off x="685800" y="4855464"/>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33" name="Text 31"/>
          <p:cNvSpPr txBox="1"/>
          <p:nvPr/>
        </p:nvSpPr>
        <p:spPr>
          <a:xfrm>
            <a:off x="685800" y="508406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FR-7.1  </a:t>
            </a:r>
            <a:r>
              <a:rPr lang="en-US" sz="1150" b="1" dirty="0">
                <a:solidFill>
                  <a:srgbClr val="1A1A22"/>
                </a:solidFill>
                <a:latin typeface="Calibri" pitchFamily="34" charset="0"/>
                <a:ea typeface="Calibri" pitchFamily="34" charset="-122"/>
                <a:cs typeface="Calibri" pitchFamily="34" charset="-120"/>
              </a:rPr>
              <a:t>BOQ Template Library</a:t>
            </a:r>
            <a:endParaRPr lang="en-US" sz="1150" dirty="0"/>
          </a:p>
        </p:txBody>
      </p:sp>
      <p:sp>
        <p:nvSpPr>
          <p:cNvPr id="34" name="Text 32"/>
          <p:cNvSpPr txBox="1"/>
          <p:nvPr/>
        </p:nvSpPr>
        <p:spPr>
          <a:xfrm>
            <a:off x="3259836" y="508406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FR-7.2  </a:t>
            </a:r>
            <a:r>
              <a:rPr lang="en-US" sz="1150" b="1" dirty="0">
                <a:solidFill>
                  <a:srgbClr val="1A1A22"/>
                </a:solidFill>
                <a:latin typeface="Calibri" pitchFamily="34" charset="0"/>
                <a:ea typeface="Calibri" pitchFamily="34" charset="-122"/>
                <a:cs typeface="Calibri" pitchFamily="34" charset="-120"/>
              </a:rPr>
              <a:t>Auto-Population</a:t>
            </a:r>
            <a:endParaRPr lang="en-US" sz="1150" dirty="0"/>
          </a:p>
        </p:txBody>
      </p:sp>
      <p:sp>
        <p:nvSpPr>
          <p:cNvPr id="35" name="Text 33"/>
          <p:cNvSpPr txBox="1"/>
          <p:nvPr/>
        </p:nvSpPr>
        <p:spPr>
          <a:xfrm>
            <a:off x="685800" y="540410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FR-7.3  </a:t>
            </a:r>
            <a:r>
              <a:rPr lang="en-US" sz="1150" b="1" dirty="0">
                <a:solidFill>
                  <a:srgbClr val="1A1A22"/>
                </a:solidFill>
                <a:latin typeface="Calibri" pitchFamily="34" charset="0"/>
                <a:ea typeface="Calibri" pitchFamily="34" charset="-122"/>
                <a:cs typeface="Calibri" pitchFamily="34" charset="-120"/>
              </a:rPr>
              <a:t>Costing Left Blank</a:t>
            </a:r>
            <a:endParaRPr lang="en-US" sz="1150" dirty="0"/>
          </a:p>
        </p:txBody>
      </p:sp>
      <p:sp>
        <p:nvSpPr>
          <p:cNvPr id="36" name="Text 34"/>
          <p:cNvSpPr txBox="1"/>
          <p:nvPr/>
        </p:nvSpPr>
        <p:spPr>
          <a:xfrm>
            <a:off x="3259836" y="540410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FR-7.5  </a:t>
            </a:r>
            <a:r>
              <a:rPr lang="en-US" sz="1150" b="1" dirty="0">
                <a:solidFill>
                  <a:srgbClr val="1A1A22"/>
                </a:solidFill>
                <a:latin typeface="Calibri" pitchFamily="34" charset="0"/>
                <a:ea typeface="Calibri" pitchFamily="34" charset="-122"/>
                <a:cs typeface="Calibri" pitchFamily="34" charset="-120"/>
              </a:rPr>
              <a:t>BOQ Export</a:t>
            </a:r>
            <a:endParaRPr lang="en-US" sz="1150" dirty="0"/>
          </a:p>
        </p:txBody>
      </p:sp>
      <p:sp>
        <p:nvSpPr>
          <p:cNvPr id="37" name="Text 35"/>
          <p:cNvSpPr txBox="1"/>
          <p:nvPr/>
        </p:nvSpPr>
        <p:spPr>
          <a:xfrm>
            <a:off x="685800" y="5751576"/>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W-23, W-39</a:t>
            </a:r>
            <a:endParaRPr lang="en-US" sz="1050" dirty="0"/>
          </a:p>
        </p:txBody>
      </p:sp>
      <p:sp>
        <p:nvSpPr>
          <p:cNvPr id="38" name="Text 36"/>
          <p:cNvSpPr txBox="1"/>
          <p:nvPr/>
        </p:nvSpPr>
        <p:spPr>
          <a:xfrm>
            <a:off x="4261104" y="5742432"/>
            <a:ext cx="1572768" cy="246888"/>
          </a:xfrm>
          <a:prstGeom prst="rect">
            <a:avLst/>
          </a:prstGeom>
          <a:solidFill>
            <a:srgbClr val="ECECF1"/>
          </a:solidFill>
          <a:ln/>
        </p:spPr>
        <p:txBody>
          <a:bodyPr wrap="square" lIns="0" tIns="0" rIns="0" bIns="0" rtlCol="0" anchor="ctr"/>
          <a:lstStyle/>
          <a:p>
            <a:pPr marL="0" indent="0" algn="ctr">
              <a:buNone/>
            </a:pPr>
            <a:r>
              <a:rPr lang="en-US" sz="950" b="1" dirty="0">
                <a:solidFill>
                  <a:srgbClr val="1A1A22"/>
                </a:solidFill>
                <a:latin typeface="Calibri" pitchFamily="34" charset="0"/>
                <a:ea typeface="Calibri" pitchFamily="34" charset="-122"/>
                <a:cs typeface="Calibri" pitchFamily="34" charset="-120"/>
              </a:rPr>
              <a:t>Proposal workflow · 5 FRs</a:t>
            </a:r>
            <a:endParaRPr lang="en-US" sz="950" dirty="0"/>
          </a:p>
        </p:txBody>
      </p:sp>
      <p:sp>
        <p:nvSpPr>
          <p:cNvPr id="39" name="Shape 37"/>
          <p:cNvSpPr/>
          <p:nvPr/>
        </p:nvSpPr>
        <p:spPr>
          <a:xfrm>
            <a:off x="6172200" y="3721608"/>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40" name="Shape 38"/>
          <p:cNvSpPr/>
          <p:nvPr/>
        </p:nvSpPr>
        <p:spPr>
          <a:xfrm>
            <a:off x="6172200" y="3794760"/>
            <a:ext cx="64008" cy="2212848"/>
          </a:xfrm>
          <a:prstGeom prst="rect">
            <a:avLst/>
          </a:prstGeom>
          <a:solidFill>
            <a:srgbClr val="4B1FA0"/>
          </a:solidFill>
          <a:ln/>
        </p:spPr>
        <p:txBody>
          <a:bodyPr/>
          <a:lstStyle/>
          <a:p>
            <a:endParaRPr lang="en-PK"/>
          </a:p>
        </p:txBody>
      </p:sp>
      <p:sp>
        <p:nvSpPr>
          <p:cNvPr id="41" name="Text 39"/>
          <p:cNvSpPr txBox="1"/>
          <p:nvPr/>
        </p:nvSpPr>
        <p:spPr>
          <a:xfrm>
            <a:off x="6400800" y="3849624"/>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M8  </a:t>
            </a:r>
            <a:r>
              <a:rPr lang="en-US" sz="1700" b="1" dirty="0">
                <a:solidFill>
                  <a:srgbClr val="2B0B5E"/>
                </a:solidFill>
                <a:latin typeface="Calibri" pitchFamily="34" charset="0"/>
                <a:ea typeface="Calibri" pitchFamily="34" charset="-122"/>
                <a:cs typeface="Calibri" pitchFamily="34" charset="-120"/>
              </a:rPr>
              <a:t>Responsibility Matrix Generator</a:t>
            </a:r>
            <a:endParaRPr lang="en-US" sz="1700" dirty="0"/>
          </a:p>
        </p:txBody>
      </p:sp>
      <p:sp>
        <p:nvSpPr>
          <p:cNvPr id="42" name="Text 40"/>
          <p:cNvSpPr txBox="1"/>
          <p:nvPr/>
        </p:nvSpPr>
        <p:spPr>
          <a:xfrm>
            <a:off x="6400800" y="4270248"/>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Builds the 24-row responsibility matrix from a standard template with rule-based assignment.</a:t>
            </a:r>
            <a:endParaRPr lang="en-US" sz="1200" dirty="0"/>
          </a:p>
        </p:txBody>
      </p:sp>
      <p:sp>
        <p:nvSpPr>
          <p:cNvPr id="43" name="Text 41"/>
          <p:cNvSpPr txBox="1"/>
          <p:nvPr/>
        </p:nvSpPr>
        <p:spPr>
          <a:xfrm>
            <a:off x="6400800" y="4855464"/>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44" name="Text 42"/>
          <p:cNvSpPr txBox="1"/>
          <p:nvPr/>
        </p:nvSpPr>
        <p:spPr>
          <a:xfrm>
            <a:off x="6400800" y="508406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FR-8.1  </a:t>
            </a:r>
            <a:r>
              <a:rPr lang="en-US" sz="1150" b="1" dirty="0">
                <a:solidFill>
                  <a:srgbClr val="1A1A22"/>
                </a:solidFill>
                <a:latin typeface="Calibri" pitchFamily="34" charset="0"/>
                <a:ea typeface="Calibri" pitchFamily="34" charset="-122"/>
                <a:cs typeface="Calibri" pitchFamily="34" charset="-120"/>
              </a:rPr>
              <a:t>Standard Template</a:t>
            </a:r>
            <a:endParaRPr lang="en-US" sz="1150" dirty="0"/>
          </a:p>
        </p:txBody>
      </p:sp>
      <p:sp>
        <p:nvSpPr>
          <p:cNvPr id="45" name="Text 43"/>
          <p:cNvSpPr txBox="1"/>
          <p:nvPr/>
        </p:nvSpPr>
        <p:spPr>
          <a:xfrm>
            <a:off x="8974836" y="508406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FR-8.2  </a:t>
            </a:r>
            <a:r>
              <a:rPr lang="en-US" sz="1150" b="1" dirty="0">
                <a:solidFill>
                  <a:srgbClr val="1A1A22"/>
                </a:solidFill>
                <a:latin typeface="Calibri" pitchFamily="34" charset="0"/>
                <a:ea typeface="Calibri" pitchFamily="34" charset="-122"/>
                <a:cs typeface="Calibri" pitchFamily="34" charset="-120"/>
              </a:rPr>
              <a:t>Auto-Assignment</a:t>
            </a:r>
            <a:endParaRPr lang="en-US" sz="1150" dirty="0"/>
          </a:p>
        </p:txBody>
      </p:sp>
      <p:sp>
        <p:nvSpPr>
          <p:cNvPr id="46" name="Text 44"/>
          <p:cNvSpPr txBox="1"/>
          <p:nvPr/>
        </p:nvSpPr>
        <p:spPr>
          <a:xfrm>
            <a:off x="6400800" y="540410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FR-8.3  </a:t>
            </a:r>
            <a:r>
              <a:rPr lang="en-US" sz="1150" b="1" dirty="0">
                <a:solidFill>
                  <a:srgbClr val="1A1A22"/>
                </a:solidFill>
                <a:latin typeface="Calibri" pitchFamily="34" charset="0"/>
                <a:ea typeface="Calibri" pitchFamily="34" charset="-122"/>
                <a:cs typeface="Calibri" pitchFamily="34" charset="-120"/>
              </a:rPr>
              <a:t>Row Editing</a:t>
            </a:r>
            <a:endParaRPr lang="en-US" sz="1150" dirty="0"/>
          </a:p>
        </p:txBody>
      </p:sp>
      <p:sp>
        <p:nvSpPr>
          <p:cNvPr id="47" name="Text 45"/>
          <p:cNvSpPr txBox="1"/>
          <p:nvPr/>
        </p:nvSpPr>
        <p:spPr>
          <a:xfrm>
            <a:off x="8974836" y="540410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FR-8.4  </a:t>
            </a:r>
            <a:r>
              <a:rPr lang="en-US" sz="1150" b="1" dirty="0">
                <a:solidFill>
                  <a:srgbClr val="1A1A22"/>
                </a:solidFill>
                <a:latin typeface="Calibri" pitchFamily="34" charset="0"/>
                <a:ea typeface="Calibri" pitchFamily="34" charset="-122"/>
                <a:cs typeface="Calibri" pitchFamily="34" charset="-120"/>
              </a:rPr>
              <a:t>Matrix Export</a:t>
            </a:r>
            <a:endParaRPr lang="en-US" sz="1150" dirty="0"/>
          </a:p>
        </p:txBody>
      </p:sp>
      <p:sp>
        <p:nvSpPr>
          <p:cNvPr id="48" name="Text 46"/>
          <p:cNvSpPr txBox="1"/>
          <p:nvPr/>
        </p:nvSpPr>
        <p:spPr>
          <a:xfrm>
            <a:off x="6400800" y="5751576"/>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W-24, W-40</a:t>
            </a:r>
            <a:endParaRPr lang="en-US" sz="1050" dirty="0"/>
          </a:p>
        </p:txBody>
      </p:sp>
      <p:sp>
        <p:nvSpPr>
          <p:cNvPr id="49" name="Text 47"/>
          <p:cNvSpPr txBox="1"/>
          <p:nvPr/>
        </p:nvSpPr>
        <p:spPr>
          <a:xfrm>
            <a:off x="9976104" y="5742432"/>
            <a:ext cx="1572768" cy="246888"/>
          </a:xfrm>
          <a:prstGeom prst="rect">
            <a:avLst/>
          </a:prstGeom>
          <a:solidFill>
            <a:srgbClr val="ECECF1"/>
          </a:solidFill>
          <a:ln/>
        </p:spPr>
        <p:txBody>
          <a:bodyPr wrap="square" lIns="0" tIns="0" rIns="0" bIns="0" rtlCol="0" anchor="ctr"/>
          <a:lstStyle/>
          <a:p>
            <a:pPr marL="0" indent="0" algn="ctr">
              <a:buNone/>
            </a:pPr>
            <a:r>
              <a:rPr lang="en-US" sz="950" b="1" dirty="0">
                <a:solidFill>
                  <a:srgbClr val="1A1A22"/>
                </a:solidFill>
                <a:latin typeface="Calibri" pitchFamily="34" charset="0"/>
                <a:ea typeface="Calibri" pitchFamily="34" charset="-122"/>
                <a:cs typeface="Calibri" pitchFamily="34" charset="-120"/>
              </a:rPr>
              <a:t>Proposal workflow · 5 FRs</a:t>
            </a:r>
            <a:endParaRPr lang="en-US" sz="950" dirty="0"/>
          </a:p>
        </p:txBody>
      </p:sp>
      <p:sp>
        <p:nvSpPr>
          <p:cNvPr id="50" name="Text 48">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51" name="Text 49">
            <a:hlinkClick r:id="rId3"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52" name="Text 50">
            <a:hlinkClick r:id="rId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MODULES · </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Modules and Main FRs  (3 of 5)</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r>
              <a:rPr lang="en-US" sz="1100" b="1" dirty="0">
                <a:solidFill>
                  <a:srgbClr val="5E5E6B"/>
                </a:solidFill>
                <a:latin typeface="Calibri" pitchFamily="34" charset="0"/>
                <a:ea typeface="Calibri" pitchFamily="34" charset="-122"/>
                <a:cs typeface="Calibri" pitchFamily="34" charset="-120"/>
              </a:rPr>
              <a:t>18 modules · 118 FRs</a:t>
            </a: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16</a:t>
            </a:r>
            <a:endParaRPr lang="en-US" sz="1000" dirty="0"/>
          </a:p>
        </p:txBody>
      </p:sp>
      <p:sp>
        <p:nvSpPr>
          <p:cNvPr id="6" name="Shape 4"/>
          <p:cNvSpPr/>
          <p:nvPr/>
        </p:nvSpPr>
        <p:spPr>
          <a:xfrm>
            <a:off x="457200" y="1234440"/>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7" name="Shape 5"/>
          <p:cNvSpPr/>
          <p:nvPr/>
        </p:nvSpPr>
        <p:spPr>
          <a:xfrm>
            <a:off x="457200" y="1307592"/>
            <a:ext cx="64008" cy="2212848"/>
          </a:xfrm>
          <a:prstGeom prst="rect">
            <a:avLst/>
          </a:prstGeom>
          <a:solidFill>
            <a:srgbClr val="4B1FA0"/>
          </a:solidFill>
          <a:ln/>
        </p:spPr>
        <p:txBody>
          <a:bodyPr/>
          <a:lstStyle/>
          <a:p>
            <a:endParaRPr lang="en-PK"/>
          </a:p>
        </p:txBody>
      </p:sp>
      <p:sp>
        <p:nvSpPr>
          <p:cNvPr id="8" name="Text 6"/>
          <p:cNvSpPr txBox="1"/>
          <p:nvPr/>
        </p:nvSpPr>
        <p:spPr>
          <a:xfrm>
            <a:off x="685800" y="1362456"/>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M9  </a:t>
            </a:r>
            <a:r>
              <a:rPr lang="en-US" sz="1700" b="1" dirty="0">
                <a:solidFill>
                  <a:srgbClr val="2B0B5E"/>
                </a:solidFill>
                <a:latin typeface="Calibri" pitchFamily="34" charset="0"/>
                <a:ea typeface="Calibri" pitchFamily="34" charset="-122"/>
                <a:cs typeface="Calibri" pitchFamily="34" charset="-120"/>
              </a:rPr>
              <a:t>Project Vault and Centralised Storage</a:t>
            </a:r>
            <a:endParaRPr lang="en-US" sz="1700" dirty="0"/>
          </a:p>
        </p:txBody>
      </p:sp>
      <p:sp>
        <p:nvSpPr>
          <p:cNvPr id="9" name="Text 7"/>
          <p:cNvSpPr txBox="1"/>
          <p:nvPr/>
        </p:nvSpPr>
        <p:spPr>
          <a:xfrm>
            <a:off x="685800" y="1783080"/>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Keeps every project in its own folder on the company server: searchable, with status and a traceability view.</a:t>
            </a:r>
            <a:endParaRPr lang="en-US" sz="1200" dirty="0"/>
          </a:p>
        </p:txBody>
      </p:sp>
      <p:sp>
        <p:nvSpPr>
          <p:cNvPr id="10" name="Text 8"/>
          <p:cNvSpPr txBox="1"/>
          <p:nvPr/>
        </p:nvSpPr>
        <p:spPr>
          <a:xfrm>
            <a:off x="685800" y="2368296"/>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11" name="Text 9"/>
          <p:cNvSpPr txBox="1"/>
          <p:nvPr/>
        </p:nvSpPr>
        <p:spPr>
          <a:xfrm>
            <a:off x="685800"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FR-9.1  </a:t>
            </a:r>
            <a:r>
              <a:rPr lang="en-US" sz="1150" b="1" dirty="0">
                <a:solidFill>
                  <a:srgbClr val="1A1A22"/>
                </a:solidFill>
                <a:latin typeface="Calibri" pitchFamily="34" charset="0"/>
                <a:ea typeface="Calibri" pitchFamily="34" charset="-122"/>
                <a:cs typeface="Calibri" pitchFamily="34" charset="-120"/>
              </a:rPr>
              <a:t>Per-Project Folders</a:t>
            </a:r>
            <a:endParaRPr lang="en-US" sz="1150" dirty="0"/>
          </a:p>
        </p:txBody>
      </p:sp>
      <p:sp>
        <p:nvSpPr>
          <p:cNvPr id="12" name="Text 10"/>
          <p:cNvSpPr txBox="1"/>
          <p:nvPr/>
        </p:nvSpPr>
        <p:spPr>
          <a:xfrm>
            <a:off x="3259836"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FR-9.3  </a:t>
            </a:r>
            <a:r>
              <a:rPr lang="en-US" sz="1150" b="1" dirty="0">
                <a:solidFill>
                  <a:srgbClr val="1A1A22"/>
                </a:solidFill>
                <a:latin typeface="Calibri" pitchFamily="34" charset="0"/>
                <a:ea typeface="Calibri" pitchFamily="34" charset="-122"/>
                <a:cs typeface="Calibri" pitchFamily="34" charset="-120"/>
              </a:rPr>
              <a:t>Full-Text Search</a:t>
            </a:r>
            <a:endParaRPr lang="en-US" sz="1150" dirty="0"/>
          </a:p>
        </p:txBody>
      </p:sp>
      <p:sp>
        <p:nvSpPr>
          <p:cNvPr id="13" name="Text 11"/>
          <p:cNvSpPr txBox="1"/>
          <p:nvPr/>
        </p:nvSpPr>
        <p:spPr>
          <a:xfrm>
            <a:off x="685800"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FR-9.6  </a:t>
            </a:r>
            <a:r>
              <a:rPr lang="en-US" sz="1150" b="1" dirty="0">
                <a:solidFill>
                  <a:srgbClr val="1A1A22"/>
                </a:solidFill>
                <a:latin typeface="Calibri" pitchFamily="34" charset="0"/>
                <a:ea typeface="Calibri" pitchFamily="34" charset="-122"/>
                <a:cs typeface="Calibri" pitchFamily="34" charset="-120"/>
              </a:rPr>
              <a:t>Project Status</a:t>
            </a:r>
            <a:endParaRPr lang="en-US" sz="1150" dirty="0"/>
          </a:p>
        </p:txBody>
      </p:sp>
      <p:sp>
        <p:nvSpPr>
          <p:cNvPr id="14" name="Text 12"/>
          <p:cNvSpPr txBox="1"/>
          <p:nvPr/>
        </p:nvSpPr>
        <p:spPr>
          <a:xfrm>
            <a:off x="3259836"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FR-9.7  </a:t>
            </a:r>
            <a:r>
              <a:rPr lang="en-US" sz="1150" b="1" dirty="0">
                <a:solidFill>
                  <a:srgbClr val="1A1A22"/>
                </a:solidFill>
                <a:latin typeface="Calibri" pitchFamily="34" charset="0"/>
                <a:ea typeface="Calibri" pitchFamily="34" charset="-122"/>
                <a:cs typeface="Calibri" pitchFamily="34" charset="-120"/>
              </a:rPr>
              <a:t>Traceability View</a:t>
            </a:r>
            <a:endParaRPr lang="en-US" sz="1150" dirty="0"/>
          </a:p>
        </p:txBody>
      </p:sp>
      <p:sp>
        <p:nvSpPr>
          <p:cNvPr id="15" name="Text 13"/>
          <p:cNvSpPr txBox="1"/>
          <p:nvPr/>
        </p:nvSpPr>
        <p:spPr>
          <a:xfrm>
            <a:off x="685800" y="3264408"/>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W-05, W-25–W-27, W-47</a:t>
            </a:r>
            <a:endParaRPr lang="en-US" sz="1050" dirty="0"/>
          </a:p>
        </p:txBody>
      </p:sp>
      <p:sp>
        <p:nvSpPr>
          <p:cNvPr id="16" name="Text 14"/>
          <p:cNvSpPr txBox="1"/>
          <p:nvPr/>
        </p:nvSpPr>
        <p:spPr>
          <a:xfrm>
            <a:off x="4261104" y="3255264"/>
            <a:ext cx="1572768" cy="246888"/>
          </a:xfrm>
          <a:prstGeom prst="rect">
            <a:avLst/>
          </a:prstGeom>
          <a:solidFill>
            <a:srgbClr val="ECECF1"/>
          </a:solidFill>
          <a:ln/>
        </p:spPr>
        <p:txBody>
          <a:bodyPr wrap="square" lIns="0" tIns="0" rIns="0" bIns="0" rtlCol="0" anchor="ctr"/>
          <a:lstStyle/>
          <a:p>
            <a:pPr marL="0" indent="0" algn="ctr">
              <a:buNone/>
            </a:pPr>
            <a:r>
              <a:rPr lang="en-US" sz="950" b="1" dirty="0">
                <a:solidFill>
                  <a:srgbClr val="1A1A22"/>
                </a:solidFill>
                <a:latin typeface="Calibri" pitchFamily="34" charset="0"/>
                <a:ea typeface="Calibri" pitchFamily="34" charset="-122"/>
                <a:cs typeface="Calibri" pitchFamily="34" charset="-120"/>
              </a:rPr>
              <a:t>Proposal workflow · 7 FRs</a:t>
            </a:r>
            <a:endParaRPr lang="en-US" sz="950" dirty="0"/>
          </a:p>
        </p:txBody>
      </p:sp>
      <p:sp>
        <p:nvSpPr>
          <p:cNvPr id="17" name="Shape 15"/>
          <p:cNvSpPr/>
          <p:nvPr/>
        </p:nvSpPr>
        <p:spPr>
          <a:xfrm>
            <a:off x="6172200" y="1234440"/>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18" name="Shape 16"/>
          <p:cNvSpPr/>
          <p:nvPr/>
        </p:nvSpPr>
        <p:spPr>
          <a:xfrm>
            <a:off x="6172200" y="1307592"/>
            <a:ext cx="64008" cy="2212848"/>
          </a:xfrm>
          <a:prstGeom prst="rect">
            <a:avLst/>
          </a:prstGeom>
          <a:solidFill>
            <a:srgbClr val="4B1FA0"/>
          </a:solidFill>
          <a:ln/>
        </p:spPr>
        <p:txBody>
          <a:bodyPr/>
          <a:lstStyle/>
          <a:p>
            <a:endParaRPr lang="en-PK"/>
          </a:p>
        </p:txBody>
      </p:sp>
      <p:sp>
        <p:nvSpPr>
          <p:cNvPr id="19" name="Text 17"/>
          <p:cNvSpPr txBox="1"/>
          <p:nvPr/>
        </p:nvSpPr>
        <p:spPr>
          <a:xfrm>
            <a:off x="6400800" y="1362456"/>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M10  </a:t>
            </a:r>
            <a:r>
              <a:rPr lang="en-US" sz="1700" b="1" dirty="0">
                <a:solidFill>
                  <a:srgbClr val="2B0B5E"/>
                </a:solidFill>
                <a:latin typeface="Calibri" pitchFamily="34" charset="0"/>
                <a:ea typeface="Calibri" pitchFamily="34" charset="-122"/>
                <a:cs typeface="Calibri" pitchFamily="34" charset="-120"/>
              </a:rPr>
              <a:t>Submission Package Builder</a:t>
            </a:r>
            <a:endParaRPr lang="en-US" sz="1700" dirty="0"/>
          </a:p>
        </p:txBody>
      </p:sp>
      <p:sp>
        <p:nvSpPr>
          <p:cNvPr id="20" name="Text 18"/>
          <p:cNvSpPr txBox="1"/>
          <p:nvPr/>
        </p:nvSpPr>
        <p:spPr>
          <a:xfrm>
            <a:off x="6400800" y="1783080"/>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Matches the final files to the checklist, runs the readiness check and builds the ZIP submission package.</a:t>
            </a:r>
            <a:endParaRPr lang="en-US" sz="1200" dirty="0"/>
          </a:p>
        </p:txBody>
      </p:sp>
      <p:sp>
        <p:nvSpPr>
          <p:cNvPr id="21" name="Text 19"/>
          <p:cNvSpPr txBox="1"/>
          <p:nvPr/>
        </p:nvSpPr>
        <p:spPr>
          <a:xfrm>
            <a:off x="6400800" y="2368296"/>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22" name="Text 20"/>
          <p:cNvSpPr txBox="1"/>
          <p:nvPr/>
        </p:nvSpPr>
        <p:spPr>
          <a:xfrm>
            <a:off x="6400800"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FR-10.2  </a:t>
            </a:r>
            <a:r>
              <a:rPr lang="en-US" sz="1150" b="1" dirty="0">
                <a:solidFill>
                  <a:srgbClr val="1A1A22"/>
                </a:solidFill>
                <a:latin typeface="Calibri" pitchFamily="34" charset="0"/>
                <a:ea typeface="Calibri" pitchFamily="34" charset="-122"/>
                <a:cs typeface="Calibri" pitchFamily="34" charset="-120"/>
              </a:rPr>
              <a:t>Checklist Cross-Check</a:t>
            </a:r>
            <a:endParaRPr lang="en-US" sz="1150" dirty="0"/>
          </a:p>
        </p:txBody>
      </p:sp>
      <p:sp>
        <p:nvSpPr>
          <p:cNvPr id="23" name="Text 21"/>
          <p:cNvSpPr txBox="1"/>
          <p:nvPr/>
        </p:nvSpPr>
        <p:spPr>
          <a:xfrm>
            <a:off x="8974836"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FR-10.7  </a:t>
            </a:r>
            <a:r>
              <a:rPr lang="en-US" sz="1150" b="1" dirty="0">
                <a:solidFill>
                  <a:srgbClr val="1A1A22"/>
                </a:solidFill>
                <a:latin typeface="Calibri" pitchFamily="34" charset="0"/>
                <a:ea typeface="Calibri" pitchFamily="34" charset="-122"/>
                <a:cs typeface="Calibri" pitchFamily="34" charset="-120"/>
              </a:rPr>
              <a:t>Readiness Check</a:t>
            </a:r>
            <a:endParaRPr lang="en-US" sz="1150" dirty="0"/>
          </a:p>
        </p:txBody>
      </p:sp>
      <p:sp>
        <p:nvSpPr>
          <p:cNvPr id="24" name="Text 22"/>
          <p:cNvSpPr txBox="1"/>
          <p:nvPr/>
        </p:nvSpPr>
        <p:spPr>
          <a:xfrm>
            <a:off x="6400800"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FR-10.4  </a:t>
            </a:r>
            <a:r>
              <a:rPr lang="en-US" sz="1150" b="1" dirty="0">
                <a:solidFill>
                  <a:srgbClr val="1A1A22"/>
                </a:solidFill>
                <a:latin typeface="Calibri" pitchFamily="34" charset="0"/>
                <a:ea typeface="Calibri" pitchFamily="34" charset="-122"/>
                <a:cs typeface="Calibri" pitchFamily="34" charset="-120"/>
              </a:rPr>
              <a:t>ZIP Generation</a:t>
            </a:r>
            <a:endParaRPr lang="en-US" sz="1150" dirty="0"/>
          </a:p>
        </p:txBody>
      </p:sp>
      <p:sp>
        <p:nvSpPr>
          <p:cNvPr id="25" name="Text 23"/>
          <p:cNvSpPr txBox="1"/>
          <p:nvPr/>
        </p:nvSpPr>
        <p:spPr>
          <a:xfrm>
            <a:off x="8974836"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FR-10.6  </a:t>
            </a:r>
            <a:r>
              <a:rPr lang="en-US" sz="1150" b="1" dirty="0">
                <a:solidFill>
                  <a:srgbClr val="1A1A22"/>
                </a:solidFill>
                <a:latin typeface="Calibri" pitchFamily="34" charset="0"/>
                <a:ea typeface="Calibri" pitchFamily="34" charset="-122"/>
                <a:cs typeface="Calibri" pitchFamily="34" charset="-120"/>
              </a:rPr>
              <a:t>Submission Summary</a:t>
            </a:r>
            <a:endParaRPr lang="en-US" sz="1150" dirty="0"/>
          </a:p>
        </p:txBody>
      </p:sp>
      <p:sp>
        <p:nvSpPr>
          <p:cNvPr id="26" name="Text 24"/>
          <p:cNvSpPr txBox="1"/>
          <p:nvPr/>
        </p:nvSpPr>
        <p:spPr>
          <a:xfrm>
            <a:off x="6400800" y="3264408"/>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W-28, W-29</a:t>
            </a:r>
            <a:endParaRPr lang="en-US" sz="1050" dirty="0"/>
          </a:p>
        </p:txBody>
      </p:sp>
      <p:sp>
        <p:nvSpPr>
          <p:cNvPr id="27" name="Text 25"/>
          <p:cNvSpPr txBox="1"/>
          <p:nvPr/>
        </p:nvSpPr>
        <p:spPr>
          <a:xfrm>
            <a:off x="9976104" y="3255264"/>
            <a:ext cx="1572768" cy="246888"/>
          </a:xfrm>
          <a:prstGeom prst="rect">
            <a:avLst/>
          </a:prstGeom>
          <a:solidFill>
            <a:srgbClr val="ECECF1"/>
          </a:solidFill>
          <a:ln/>
        </p:spPr>
        <p:txBody>
          <a:bodyPr wrap="square" lIns="0" tIns="0" rIns="0" bIns="0" rtlCol="0" anchor="ctr"/>
          <a:lstStyle/>
          <a:p>
            <a:pPr marL="0" indent="0" algn="ctr">
              <a:buNone/>
            </a:pPr>
            <a:r>
              <a:rPr lang="en-US" sz="950" b="1" dirty="0">
                <a:solidFill>
                  <a:srgbClr val="1A1A22"/>
                </a:solidFill>
                <a:latin typeface="Calibri" pitchFamily="34" charset="0"/>
                <a:ea typeface="Calibri" pitchFamily="34" charset="-122"/>
                <a:cs typeface="Calibri" pitchFamily="34" charset="-120"/>
              </a:rPr>
              <a:t>Proposal workflow · 7 FRs</a:t>
            </a:r>
            <a:endParaRPr lang="en-US" sz="950" dirty="0"/>
          </a:p>
        </p:txBody>
      </p:sp>
      <p:sp>
        <p:nvSpPr>
          <p:cNvPr id="28" name="Shape 26"/>
          <p:cNvSpPr/>
          <p:nvPr/>
        </p:nvSpPr>
        <p:spPr>
          <a:xfrm>
            <a:off x="457200" y="3721608"/>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29" name="Shape 27"/>
          <p:cNvSpPr/>
          <p:nvPr/>
        </p:nvSpPr>
        <p:spPr>
          <a:xfrm>
            <a:off x="457200" y="3794760"/>
            <a:ext cx="64008" cy="2212848"/>
          </a:xfrm>
          <a:prstGeom prst="rect">
            <a:avLst/>
          </a:prstGeom>
          <a:solidFill>
            <a:srgbClr val="4B1FA0"/>
          </a:solidFill>
          <a:ln/>
        </p:spPr>
        <p:txBody>
          <a:bodyPr/>
          <a:lstStyle/>
          <a:p>
            <a:endParaRPr lang="en-PK"/>
          </a:p>
        </p:txBody>
      </p:sp>
      <p:sp>
        <p:nvSpPr>
          <p:cNvPr id="30" name="Text 28"/>
          <p:cNvSpPr txBox="1"/>
          <p:nvPr/>
        </p:nvSpPr>
        <p:spPr>
          <a:xfrm>
            <a:off x="685800" y="3849624"/>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M11  </a:t>
            </a:r>
            <a:r>
              <a:rPr lang="en-US" sz="1700" b="1" dirty="0">
                <a:solidFill>
                  <a:srgbClr val="2B0B5E"/>
                </a:solidFill>
                <a:latin typeface="Calibri" pitchFamily="34" charset="0"/>
                <a:ea typeface="Calibri" pitchFamily="34" charset="-122"/>
                <a:cs typeface="Calibri" pitchFamily="34" charset="-120"/>
              </a:rPr>
              <a:t>Knowledge Base and Past Project Reuse</a:t>
            </a:r>
            <a:endParaRPr lang="en-US" sz="1700" dirty="0"/>
          </a:p>
        </p:txBody>
      </p:sp>
      <p:sp>
        <p:nvSpPr>
          <p:cNvPr id="31" name="Text 29"/>
          <p:cNvSpPr txBox="1"/>
          <p:nvPr/>
        </p:nvSpPr>
        <p:spPr>
          <a:xfrm>
            <a:off x="685800" y="4270248"/>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Stores approved proposals with metadata so the next bid can reuse the company’s best past content.</a:t>
            </a:r>
            <a:endParaRPr lang="en-US" sz="1200" dirty="0"/>
          </a:p>
        </p:txBody>
      </p:sp>
      <p:sp>
        <p:nvSpPr>
          <p:cNvPr id="32" name="Text 30"/>
          <p:cNvSpPr txBox="1"/>
          <p:nvPr/>
        </p:nvSpPr>
        <p:spPr>
          <a:xfrm>
            <a:off x="685800" y="4855464"/>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33" name="Text 31"/>
          <p:cNvSpPr txBox="1"/>
          <p:nvPr/>
        </p:nvSpPr>
        <p:spPr>
          <a:xfrm>
            <a:off x="685800" y="508406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FR-11.1  </a:t>
            </a:r>
            <a:r>
              <a:rPr lang="en-US" sz="1150" b="1" dirty="0">
                <a:solidFill>
                  <a:srgbClr val="1A1A22"/>
                </a:solidFill>
                <a:latin typeface="Calibri" pitchFamily="34" charset="0"/>
                <a:ea typeface="Calibri" pitchFamily="34" charset="-122"/>
                <a:cs typeface="Calibri" pitchFamily="34" charset="-120"/>
              </a:rPr>
              <a:t>Automatic Ingestion</a:t>
            </a:r>
            <a:endParaRPr lang="en-US" sz="1150" dirty="0"/>
          </a:p>
        </p:txBody>
      </p:sp>
      <p:sp>
        <p:nvSpPr>
          <p:cNvPr id="34" name="Text 32"/>
          <p:cNvSpPr txBox="1"/>
          <p:nvPr/>
        </p:nvSpPr>
        <p:spPr>
          <a:xfrm>
            <a:off x="3259836" y="508406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FR-11.2  </a:t>
            </a:r>
            <a:r>
              <a:rPr lang="en-US" sz="1150" b="1" dirty="0">
                <a:solidFill>
                  <a:srgbClr val="1A1A22"/>
                </a:solidFill>
                <a:latin typeface="Calibri" pitchFamily="34" charset="0"/>
                <a:ea typeface="Calibri" pitchFamily="34" charset="-122"/>
                <a:cs typeface="Calibri" pitchFamily="34" charset="-120"/>
              </a:rPr>
              <a:t>Metadata Tagging</a:t>
            </a:r>
            <a:endParaRPr lang="en-US" sz="1150" dirty="0"/>
          </a:p>
        </p:txBody>
      </p:sp>
      <p:sp>
        <p:nvSpPr>
          <p:cNvPr id="35" name="Text 33"/>
          <p:cNvSpPr txBox="1"/>
          <p:nvPr/>
        </p:nvSpPr>
        <p:spPr>
          <a:xfrm>
            <a:off x="685800" y="540410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FR-11.3  </a:t>
            </a:r>
            <a:r>
              <a:rPr lang="en-US" sz="1150" b="1" dirty="0">
                <a:solidFill>
                  <a:srgbClr val="1A1A22"/>
                </a:solidFill>
                <a:latin typeface="Calibri" pitchFamily="34" charset="0"/>
                <a:ea typeface="Calibri" pitchFamily="34" charset="-122"/>
                <a:cs typeface="Calibri" pitchFamily="34" charset="-120"/>
              </a:rPr>
              <a:t>Win/Loss Boost</a:t>
            </a:r>
            <a:endParaRPr lang="en-US" sz="1150" dirty="0"/>
          </a:p>
        </p:txBody>
      </p:sp>
      <p:sp>
        <p:nvSpPr>
          <p:cNvPr id="36" name="Text 34"/>
          <p:cNvSpPr txBox="1"/>
          <p:nvPr/>
        </p:nvSpPr>
        <p:spPr>
          <a:xfrm>
            <a:off x="3259836" y="540410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FR-11.6  </a:t>
            </a:r>
            <a:r>
              <a:rPr lang="en-US" sz="1150" b="1" dirty="0">
                <a:solidFill>
                  <a:srgbClr val="1A1A22"/>
                </a:solidFill>
                <a:latin typeface="Calibri" pitchFamily="34" charset="0"/>
                <a:ea typeface="Calibri" pitchFamily="34" charset="-122"/>
                <a:cs typeface="Calibri" pitchFamily="34" charset="-120"/>
              </a:rPr>
              <a:t>Coverage Dashboard</a:t>
            </a:r>
            <a:endParaRPr lang="en-US" sz="1150" dirty="0"/>
          </a:p>
        </p:txBody>
      </p:sp>
      <p:sp>
        <p:nvSpPr>
          <p:cNvPr id="37" name="Text 35"/>
          <p:cNvSpPr txBox="1"/>
          <p:nvPr/>
        </p:nvSpPr>
        <p:spPr>
          <a:xfrm>
            <a:off x="685800" y="5751576"/>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W-30–W-33</a:t>
            </a:r>
            <a:endParaRPr lang="en-US" sz="1050" dirty="0"/>
          </a:p>
        </p:txBody>
      </p:sp>
      <p:sp>
        <p:nvSpPr>
          <p:cNvPr id="38" name="Text 36"/>
          <p:cNvSpPr txBox="1"/>
          <p:nvPr/>
        </p:nvSpPr>
        <p:spPr>
          <a:xfrm>
            <a:off x="4261104" y="5742432"/>
            <a:ext cx="1572768" cy="246888"/>
          </a:xfrm>
          <a:prstGeom prst="rect">
            <a:avLst/>
          </a:prstGeom>
          <a:solidFill>
            <a:srgbClr val="ECECF1"/>
          </a:solidFill>
          <a:ln/>
        </p:spPr>
        <p:txBody>
          <a:bodyPr wrap="square" lIns="0" tIns="0" rIns="0" bIns="0" rtlCol="0" anchor="ctr"/>
          <a:lstStyle/>
          <a:p>
            <a:pPr marL="0" indent="0" algn="ctr">
              <a:buNone/>
            </a:pPr>
            <a:r>
              <a:rPr lang="en-US" sz="950" b="1" dirty="0">
                <a:solidFill>
                  <a:srgbClr val="1A1A22"/>
                </a:solidFill>
                <a:latin typeface="Calibri" pitchFamily="34" charset="0"/>
                <a:ea typeface="Calibri" pitchFamily="34" charset="-122"/>
                <a:cs typeface="Calibri" pitchFamily="34" charset="-120"/>
              </a:rPr>
              <a:t>Proposal workflow · 6 FRs</a:t>
            </a:r>
            <a:endParaRPr lang="en-US" sz="950" dirty="0"/>
          </a:p>
        </p:txBody>
      </p:sp>
      <p:sp>
        <p:nvSpPr>
          <p:cNvPr id="39" name="Shape 37"/>
          <p:cNvSpPr/>
          <p:nvPr/>
        </p:nvSpPr>
        <p:spPr>
          <a:xfrm>
            <a:off x="6172200" y="3721608"/>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40" name="Shape 38"/>
          <p:cNvSpPr/>
          <p:nvPr/>
        </p:nvSpPr>
        <p:spPr>
          <a:xfrm>
            <a:off x="6172200" y="3794760"/>
            <a:ext cx="64008" cy="2212848"/>
          </a:xfrm>
          <a:prstGeom prst="rect">
            <a:avLst/>
          </a:prstGeom>
          <a:solidFill>
            <a:srgbClr val="4B1FA0"/>
          </a:solidFill>
          <a:ln/>
        </p:spPr>
        <p:txBody>
          <a:bodyPr/>
          <a:lstStyle/>
          <a:p>
            <a:endParaRPr lang="en-PK"/>
          </a:p>
        </p:txBody>
      </p:sp>
      <p:sp>
        <p:nvSpPr>
          <p:cNvPr id="41" name="Text 39"/>
          <p:cNvSpPr txBox="1"/>
          <p:nvPr/>
        </p:nvSpPr>
        <p:spPr>
          <a:xfrm>
            <a:off x="6400800" y="3849624"/>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M12  </a:t>
            </a:r>
            <a:r>
              <a:rPr lang="en-US" sz="1700" b="1" dirty="0">
                <a:solidFill>
                  <a:srgbClr val="2B0B5E"/>
                </a:solidFill>
                <a:latin typeface="Calibri" pitchFamily="34" charset="0"/>
                <a:ea typeface="Calibri" pitchFamily="34" charset="-122"/>
                <a:cs typeface="Calibri" pitchFamily="34" charset="-120"/>
              </a:rPr>
              <a:t>Company and Organisation Management</a:t>
            </a:r>
            <a:endParaRPr lang="en-US" sz="1700" dirty="0"/>
          </a:p>
        </p:txBody>
      </p:sp>
      <p:sp>
        <p:nvSpPr>
          <p:cNvPr id="42" name="Text 40"/>
          <p:cNvSpPr txBox="1"/>
          <p:nvPr/>
        </p:nvSpPr>
        <p:spPr>
          <a:xfrm>
            <a:off x="6400800" y="4270248"/>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Creates company workspaces on the platform and keeps each company’s data fully separate.</a:t>
            </a:r>
            <a:endParaRPr lang="en-US" sz="1200" dirty="0"/>
          </a:p>
        </p:txBody>
      </p:sp>
      <p:sp>
        <p:nvSpPr>
          <p:cNvPr id="43" name="Text 41"/>
          <p:cNvSpPr txBox="1"/>
          <p:nvPr/>
        </p:nvSpPr>
        <p:spPr>
          <a:xfrm>
            <a:off x="6400800" y="4855464"/>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44" name="Text 42"/>
          <p:cNvSpPr txBox="1"/>
          <p:nvPr/>
        </p:nvSpPr>
        <p:spPr>
          <a:xfrm>
            <a:off x="6400800" y="508406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FR-12.1  </a:t>
            </a:r>
            <a:r>
              <a:rPr lang="en-US" sz="1150" b="1" dirty="0">
                <a:solidFill>
                  <a:srgbClr val="1A1A22"/>
                </a:solidFill>
                <a:latin typeface="Calibri" pitchFamily="34" charset="0"/>
                <a:ea typeface="Calibri" pitchFamily="34" charset="-122"/>
                <a:cs typeface="Calibri" pitchFamily="34" charset="-120"/>
              </a:rPr>
              <a:t>Workspace Creation</a:t>
            </a:r>
            <a:endParaRPr lang="en-US" sz="1150" dirty="0"/>
          </a:p>
        </p:txBody>
      </p:sp>
      <p:sp>
        <p:nvSpPr>
          <p:cNvPr id="45" name="Text 43"/>
          <p:cNvSpPr txBox="1"/>
          <p:nvPr/>
        </p:nvSpPr>
        <p:spPr>
          <a:xfrm>
            <a:off x="8974836" y="508406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FR-12.2  </a:t>
            </a:r>
            <a:r>
              <a:rPr lang="en-US" sz="1150" b="1" dirty="0">
                <a:solidFill>
                  <a:srgbClr val="1A1A22"/>
                </a:solidFill>
                <a:latin typeface="Calibri" pitchFamily="34" charset="0"/>
                <a:ea typeface="Calibri" pitchFamily="34" charset="-122"/>
                <a:cs typeface="Calibri" pitchFamily="34" charset="-120"/>
              </a:rPr>
              <a:t>Data Isolation</a:t>
            </a:r>
            <a:endParaRPr lang="en-US" sz="1150" dirty="0"/>
          </a:p>
        </p:txBody>
      </p:sp>
      <p:sp>
        <p:nvSpPr>
          <p:cNvPr id="46" name="Text 44"/>
          <p:cNvSpPr txBox="1"/>
          <p:nvPr/>
        </p:nvSpPr>
        <p:spPr>
          <a:xfrm>
            <a:off x="6400800" y="540410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FR-12.3  </a:t>
            </a:r>
            <a:r>
              <a:rPr lang="en-US" sz="1150" b="1" dirty="0">
                <a:solidFill>
                  <a:srgbClr val="1A1A22"/>
                </a:solidFill>
                <a:latin typeface="Calibri" pitchFamily="34" charset="0"/>
                <a:ea typeface="Calibri" pitchFamily="34" charset="-122"/>
                <a:cs typeface="Calibri" pitchFamily="34" charset="-120"/>
              </a:rPr>
              <a:t>Organisation Listing</a:t>
            </a:r>
            <a:endParaRPr lang="en-US" sz="1150" dirty="0"/>
          </a:p>
        </p:txBody>
      </p:sp>
      <p:sp>
        <p:nvSpPr>
          <p:cNvPr id="47" name="Text 45"/>
          <p:cNvSpPr txBox="1"/>
          <p:nvPr/>
        </p:nvSpPr>
        <p:spPr>
          <a:xfrm>
            <a:off x="6400800" y="5751576"/>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W-34, W-35</a:t>
            </a:r>
            <a:endParaRPr lang="en-US" sz="1050" dirty="0"/>
          </a:p>
        </p:txBody>
      </p:sp>
      <p:sp>
        <p:nvSpPr>
          <p:cNvPr id="48" name="Text 46"/>
          <p:cNvSpPr txBox="1"/>
          <p:nvPr/>
        </p:nvSpPr>
        <p:spPr>
          <a:xfrm>
            <a:off x="9976104" y="5742432"/>
            <a:ext cx="1572768" cy="246888"/>
          </a:xfrm>
          <a:prstGeom prst="rect">
            <a:avLst/>
          </a:prstGeom>
          <a:solidFill>
            <a:srgbClr val="EFE7FB"/>
          </a:solidFill>
          <a:ln/>
        </p:spPr>
        <p:txBody>
          <a:bodyPr wrap="square" lIns="0" tIns="0" rIns="0" bIns="0" rtlCol="0" anchor="ctr"/>
          <a:lstStyle/>
          <a:p>
            <a:pPr marL="0" indent="0" algn="ctr">
              <a:buNone/>
            </a:pPr>
            <a:r>
              <a:rPr lang="en-US" sz="950" b="1" dirty="0">
                <a:solidFill>
                  <a:srgbClr val="2B0B5E"/>
                </a:solidFill>
                <a:latin typeface="Calibri" pitchFamily="34" charset="0"/>
                <a:ea typeface="Calibri" pitchFamily="34" charset="-122"/>
                <a:cs typeface="Calibri" pitchFamily="34" charset="-120"/>
              </a:rPr>
              <a:t>Administration · 3 FRs</a:t>
            </a:r>
            <a:endParaRPr lang="en-US" sz="950" dirty="0"/>
          </a:p>
        </p:txBody>
      </p:sp>
      <p:sp>
        <p:nvSpPr>
          <p:cNvPr id="49" name="Text 47">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50" name="Text 48">
            <a:hlinkClick r:id="rId3"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51" name="Text 49">
            <a:hlinkClick r:id="rId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MODULES · </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Modules and Main FRs  (4 of 5)</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r>
              <a:rPr lang="en-US" sz="1100" b="1" dirty="0">
                <a:solidFill>
                  <a:srgbClr val="5E5E6B"/>
                </a:solidFill>
                <a:latin typeface="Calibri" pitchFamily="34" charset="0"/>
                <a:ea typeface="Calibri" pitchFamily="34" charset="-122"/>
                <a:cs typeface="Calibri" pitchFamily="34" charset="-120"/>
              </a:rPr>
              <a:t>18 modules · 118 FRs</a:t>
            </a: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17</a:t>
            </a:r>
            <a:endParaRPr lang="en-US" sz="1000" dirty="0"/>
          </a:p>
        </p:txBody>
      </p:sp>
      <p:sp>
        <p:nvSpPr>
          <p:cNvPr id="6" name="Shape 4"/>
          <p:cNvSpPr/>
          <p:nvPr/>
        </p:nvSpPr>
        <p:spPr>
          <a:xfrm>
            <a:off x="457200" y="1234440"/>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7" name="Shape 5"/>
          <p:cNvSpPr/>
          <p:nvPr/>
        </p:nvSpPr>
        <p:spPr>
          <a:xfrm>
            <a:off x="457200" y="1307592"/>
            <a:ext cx="64008" cy="2212848"/>
          </a:xfrm>
          <a:prstGeom prst="rect">
            <a:avLst/>
          </a:prstGeom>
          <a:solidFill>
            <a:srgbClr val="4B1FA0"/>
          </a:solidFill>
          <a:ln/>
        </p:spPr>
        <p:txBody>
          <a:bodyPr/>
          <a:lstStyle/>
          <a:p>
            <a:endParaRPr lang="en-PK"/>
          </a:p>
        </p:txBody>
      </p:sp>
      <p:sp>
        <p:nvSpPr>
          <p:cNvPr id="8" name="Text 6"/>
          <p:cNvSpPr txBox="1"/>
          <p:nvPr/>
        </p:nvSpPr>
        <p:spPr>
          <a:xfrm>
            <a:off x="685800" y="1362456"/>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M13  </a:t>
            </a:r>
            <a:r>
              <a:rPr lang="en-US" sz="1700" b="1" dirty="0">
                <a:solidFill>
                  <a:srgbClr val="2B0B5E"/>
                </a:solidFill>
                <a:latin typeface="Calibri" pitchFamily="34" charset="0"/>
                <a:ea typeface="Calibri" pitchFamily="34" charset="-122"/>
                <a:cs typeface="Calibri" pitchFamily="34" charset="-120"/>
              </a:rPr>
              <a:t>User and Role Management</a:t>
            </a:r>
            <a:endParaRPr lang="en-US" sz="1700" dirty="0"/>
          </a:p>
        </p:txBody>
      </p:sp>
      <p:sp>
        <p:nvSpPr>
          <p:cNvPr id="9" name="Text 7"/>
          <p:cNvSpPr txBox="1"/>
          <p:nvPr/>
        </p:nvSpPr>
        <p:spPr>
          <a:xfrm>
            <a:off x="685800" y="1783080"/>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Five fixed roles, email invitations, secure sessions and the rule that nobody approves their own work.</a:t>
            </a:r>
            <a:endParaRPr lang="en-US" sz="1200" dirty="0"/>
          </a:p>
        </p:txBody>
      </p:sp>
      <p:sp>
        <p:nvSpPr>
          <p:cNvPr id="10" name="Text 8"/>
          <p:cNvSpPr txBox="1"/>
          <p:nvPr/>
        </p:nvSpPr>
        <p:spPr>
          <a:xfrm>
            <a:off x="685800" y="2368296"/>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11" name="Text 9"/>
          <p:cNvSpPr txBox="1"/>
          <p:nvPr/>
        </p:nvSpPr>
        <p:spPr>
          <a:xfrm>
            <a:off x="685800"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FR-13.1  </a:t>
            </a:r>
            <a:r>
              <a:rPr lang="en-US" sz="1150" b="1" dirty="0">
                <a:solidFill>
                  <a:srgbClr val="1A1A22"/>
                </a:solidFill>
                <a:latin typeface="Calibri" pitchFamily="34" charset="0"/>
                <a:ea typeface="Calibri" pitchFamily="34" charset="-122"/>
                <a:cs typeface="Calibri" pitchFamily="34" charset="-120"/>
              </a:rPr>
              <a:t>Role-Based Access</a:t>
            </a:r>
            <a:endParaRPr lang="en-US" sz="1150" dirty="0"/>
          </a:p>
        </p:txBody>
      </p:sp>
      <p:sp>
        <p:nvSpPr>
          <p:cNvPr id="12" name="Text 10"/>
          <p:cNvSpPr txBox="1"/>
          <p:nvPr/>
        </p:nvSpPr>
        <p:spPr>
          <a:xfrm>
            <a:off x="3259836"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FR-13.2  </a:t>
            </a:r>
            <a:r>
              <a:rPr lang="en-US" sz="1150" b="1" dirty="0">
                <a:solidFill>
                  <a:srgbClr val="1A1A22"/>
                </a:solidFill>
                <a:latin typeface="Calibri" pitchFamily="34" charset="0"/>
                <a:ea typeface="Calibri" pitchFamily="34" charset="-122"/>
                <a:cs typeface="Calibri" pitchFamily="34" charset="-120"/>
              </a:rPr>
              <a:t>User Invitation</a:t>
            </a:r>
            <a:endParaRPr lang="en-US" sz="1150" dirty="0"/>
          </a:p>
        </p:txBody>
      </p:sp>
      <p:sp>
        <p:nvSpPr>
          <p:cNvPr id="13" name="Text 11"/>
          <p:cNvSpPr txBox="1"/>
          <p:nvPr/>
        </p:nvSpPr>
        <p:spPr>
          <a:xfrm>
            <a:off x="685800"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FR-13.3  </a:t>
            </a:r>
            <a:r>
              <a:rPr lang="en-US" sz="1150" b="1" dirty="0">
                <a:solidFill>
                  <a:srgbClr val="1A1A22"/>
                </a:solidFill>
                <a:latin typeface="Calibri" pitchFamily="34" charset="0"/>
                <a:ea typeface="Calibri" pitchFamily="34" charset="-122"/>
                <a:cs typeface="Calibri" pitchFamily="34" charset="-120"/>
              </a:rPr>
              <a:t>Self-Approval Prevention</a:t>
            </a:r>
            <a:endParaRPr lang="en-US" sz="1150" dirty="0"/>
          </a:p>
        </p:txBody>
      </p:sp>
      <p:sp>
        <p:nvSpPr>
          <p:cNvPr id="14" name="Text 12"/>
          <p:cNvSpPr txBox="1"/>
          <p:nvPr/>
        </p:nvSpPr>
        <p:spPr>
          <a:xfrm>
            <a:off x="3259836"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FR-13.4  </a:t>
            </a:r>
            <a:r>
              <a:rPr lang="en-US" sz="1150" b="1" dirty="0">
                <a:solidFill>
                  <a:srgbClr val="1A1A22"/>
                </a:solidFill>
                <a:latin typeface="Calibri" pitchFamily="34" charset="0"/>
                <a:ea typeface="Calibri" pitchFamily="34" charset="-122"/>
                <a:cs typeface="Calibri" pitchFamily="34" charset="-120"/>
              </a:rPr>
              <a:t>Session Tokens</a:t>
            </a:r>
            <a:endParaRPr lang="en-US" sz="1150" dirty="0"/>
          </a:p>
        </p:txBody>
      </p:sp>
      <p:sp>
        <p:nvSpPr>
          <p:cNvPr id="15" name="Text 13"/>
          <p:cNvSpPr txBox="1"/>
          <p:nvPr/>
        </p:nvSpPr>
        <p:spPr>
          <a:xfrm>
            <a:off x="685800" y="3264408"/>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W-01–W-04, W-20, W-22, W-36–W-38, W-47, M-01, M-05</a:t>
            </a:r>
            <a:endParaRPr lang="en-US" sz="1050" dirty="0"/>
          </a:p>
        </p:txBody>
      </p:sp>
      <p:sp>
        <p:nvSpPr>
          <p:cNvPr id="16" name="Text 14"/>
          <p:cNvSpPr txBox="1"/>
          <p:nvPr/>
        </p:nvSpPr>
        <p:spPr>
          <a:xfrm>
            <a:off x="4261104" y="3255264"/>
            <a:ext cx="1572768" cy="246888"/>
          </a:xfrm>
          <a:prstGeom prst="rect">
            <a:avLst/>
          </a:prstGeom>
          <a:solidFill>
            <a:srgbClr val="EFE7FB"/>
          </a:solidFill>
          <a:ln/>
        </p:spPr>
        <p:txBody>
          <a:bodyPr wrap="square" lIns="0" tIns="0" rIns="0" bIns="0" rtlCol="0" anchor="ctr"/>
          <a:lstStyle/>
          <a:p>
            <a:pPr marL="0" indent="0" algn="ctr">
              <a:buNone/>
            </a:pPr>
            <a:r>
              <a:rPr lang="en-US" sz="950" b="1" dirty="0">
                <a:solidFill>
                  <a:srgbClr val="2B0B5E"/>
                </a:solidFill>
                <a:latin typeface="Calibri" pitchFamily="34" charset="0"/>
                <a:ea typeface="Calibri" pitchFamily="34" charset="-122"/>
                <a:cs typeface="Calibri" pitchFamily="34" charset="-120"/>
              </a:rPr>
              <a:t>Administration · 6 FRs</a:t>
            </a:r>
            <a:endParaRPr lang="en-US" sz="950" dirty="0"/>
          </a:p>
        </p:txBody>
      </p:sp>
      <p:sp>
        <p:nvSpPr>
          <p:cNvPr id="17" name="Shape 15"/>
          <p:cNvSpPr/>
          <p:nvPr/>
        </p:nvSpPr>
        <p:spPr>
          <a:xfrm>
            <a:off x="6172200" y="1234440"/>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18" name="Shape 16"/>
          <p:cNvSpPr/>
          <p:nvPr/>
        </p:nvSpPr>
        <p:spPr>
          <a:xfrm>
            <a:off x="6172200" y="1307592"/>
            <a:ext cx="64008" cy="2212848"/>
          </a:xfrm>
          <a:prstGeom prst="rect">
            <a:avLst/>
          </a:prstGeom>
          <a:solidFill>
            <a:srgbClr val="4B1FA0"/>
          </a:solidFill>
          <a:ln/>
        </p:spPr>
        <p:txBody>
          <a:bodyPr/>
          <a:lstStyle/>
          <a:p>
            <a:endParaRPr lang="en-PK"/>
          </a:p>
        </p:txBody>
      </p:sp>
      <p:sp>
        <p:nvSpPr>
          <p:cNvPr id="19" name="Text 17"/>
          <p:cNvSpPr txBox="1"/>
          <p:nvPr/>
        </p:nvSpPr>
        <p:spPr>
          <a:xfrm>
            <a:off x="6400800" y="1362456"/>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M14  </a:t>
            </a:r>
            <a:r>
              <a:rPr lang="en-US" sz="1700" b="1" dirty="0">
                <a:solidFill>
                  <a:srgbClr val="2B0B5E"/>
                </a:solidFill>
                <a:latin typeface="Calibri" pitchFamily="34" charset="0"/>
                <a:ea typeface="Calibri" pitchFamily="34" charset="-122"/>
                <a:cs typeface="Calibri" pitchFamily="34" charset="-120"/>
              </a:rPr>
              <a:t>Template Library Management</a:t>
            </a:r>
            <a:endParaRPr lang="en-US" sz="1700" dirty="0"/>
          </a:p>
        </p:txBody>
      </p:sp>
      <p:sp>
        <p:nvSpPr>
          <p:cNvPr id="20" name="Text 18"/>
          <p:cNvSpPr txBox="1"/>
          <p:nvPr/>
        </p:nvSpPr>
        <p:spPr>
          <a:xfrm>
            <a:off x="6400800" y="1783080"/>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Keeps versioned BOQ and responsibility templates up to date for every client.</a:t>
            </a:r>
            <a:endParaRPr lang="en-US" sz="1200" dirty="0"/>
          </a:p>
        </p:txBody>
      </p:sp>
      <p:sp>
        <p:nvSpPr>
          <p:cNvPr id="21" name="Text 19"/>
          <p:cNvSpPr txBox="1"/>
          <p:nvPr/>
        </p:nvSpPr>
        <p:spPr>
          <a:xfrm>
            <a:off x="6400800" y="2368296"/>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22" name="Text 20"/>
          <p:cNvSpPr txBox="1"/>
          <p:nvPr/>
        </p:nvSpPr>
        <p:spPr>
          <a:xfrm>
            <a:off x="6400800"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FR-14.1  </a:t>
            </a:r>
            <a:r>
              <a:rPr lang="en-US" sz="1150" b="1" dirty="0">
                <a:solidFill>
                  <a:srgbClr val="1A1A22"/>
                </a:solidFill>
                <a:latin typeface="Calibri" pitchFamily="34" charset="0"/>
                <a:ea typeface="Calibri" pitchFamily="34" charset="-122"/>
                <a:cs typeface="Calibri" pitchFamily="34" charset="-120"/>
              </a:rPr>
              <a:t>BOQ Template Upload</a:t>
            </a:r>
            <a:endParaRPr lang="en-US" sz="1150" dirty="0"/>
          </a:p>
        </p:txBody>
      </p:sp>
      <p:sp>
        <p:nvSpPr>
          <p:cNvPr id="23" name="Text 21"/>
          <p:cNvSpPr txBox="1"/>
          <p:nvPr/>
        </p:nvSpPr>
        <p:spPr>
          <a:xfrm>
            <a:off x="8974836"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FR-14.2  </a:t>
            </a:r>
            <a:r>
              <a:rPr lang="en-US" sz="1150" b="1" dirty="0">
                <a:solidFill>
                  <a:srgbClr val="1A1A22"/>
                </a:solidFill>
                <a:latin typeface="Calibri" pitchFamily="34" charset="0"/>
                <a:ea typeface="Calibri" pitchFamily="34" charset="-122"/>
                <a:cs typeface="Calibri" pitchFamily="34" charset="-120"/>
              </a:rPr>
              <a:t>Responsibility Template</a:t>
            </a:r>
            <a:endParaRPr lang="en-US" sz="1150" dirty="0"/>
          </a:p>
        </p:txBody>
      </p:sp>
      <p:sp>
        <p:nvSpPr>
          <p:cNvPr id="24" name="Text 22"/>
          <p:cNvSpPr txBox="1"/>
          <p:nvPr/>
        </p:nvSpPr>
        <p:spPr>
          <a:xfrm>
            <a:off x="6400800"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FR-14.3  </a:t>
            </a:r>
            <a:r>
              <a:rPr lang="en-US" sz="1150" b="1" dirty="0">
                <a:solidFill>
                  <a:srgbClr val="1A1A22"/>
                </a:solidFill>
                <a:latin typeface="Calibri" pitchFamily="34" charset="0"/>
                <a:ea typeface="Calibri" pitchFamily="34" charset="-122"/>
                <a:cs typeface="Calibri" pitchFamily="34" charset="-120"/>
              </a:rPr>
              <a:t>Version Pinning</a:t>
            </a:r>
            <a:endParaRPr lang="en-US" sz="1150" dirty="0"/>
          </a:p>
        </p:txBody>
      </p:sp>
      <p:sp>
        <p:nvSpPr>
          <p:cNvPr id="25" name="Text 23"/>
          <p:cNvSpPr txBox="1"/>
          <p:nvPr/>
        </p:nvSpPr>
        <p:spPr>
          <a:xfrm>
            <a:off x="6400800" y="3264408"/>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W-39, W-40</a:t>
            </a:r>
            <a:endParaRPr lang="en-US" sz="1050" dirty="0"/>
          </a:p>
        </p:txBody>
      </p:sp>
      <p:sp>
        <p:nvSpPr>
          <p:cNvPr id="26" name="Text 24"/>
          <p:cNvSpPr txBox="1"/>
          <p:nvPr/>
        </p:nvSpPr>
        <p:spPr>
          <a:xfrm>
            <a:off x="9976104" y="3255264"/>
            <a:ext cx="1572768" cy="246888"/>
          </a:xfrm>
          <a:prstGeom prst="rect">
            <a:avLst/>
          </a:prstGeom>
          <a:solidFill>
            <a:srgbClr val="EFE7FB"/>
          </a:solidFill>
          <a:ln/>
        </p:spPr>
        <p:txBody>
          <a:bodyPr wrap="square" lIns="0" tIns="0" rIns="0" bIns="0" rtlCol="0" anchor="ctr"/>
          <a:lstStyle/>
          <a:p>
            <a:pPr marL="0" indent="0" algn="ctr">
              <a:buNone/>
            </a:pPr>
            <a:r>
              <a:rPr lang="en-US" sz="950" b="1" dirty="0">
                <a:solidFill>
                  <a:srgbClr val="2B0B5E"/>
                </a:solidFill>
                <a:latin typeface="Calibri" pitchFamily="34" charset="0"/>
                <a:ea typeface="Calibri" pitchFamily="34" charset="-122"/>
                <a:cs typeface="Calibri" pitchFamily="34" charset="-120"/>
              </a:rPr>
              <a:t>Administration · 3 FRs</a:t>
            </a:r>
            <a:endParaRPr lang="en-US" sz="950" dirty="0"/>
          </a:p>
        </p:txBody>
      </p:sp>
      <p:sp>
        <p:nvSpPr>
          <p:cNvPr id="27" name="Shape 25"/>
          <p:cNvSpPr/>
          <p:nvPr/>
        </p:nvSpPr>
        <p:spPr>
          <a:xfrm>
            <a:off x="457200" y="3721608"/>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28" name="Shape 26"/>
          <p:cNvSpPr/>
          <p:nvPr/>
        </p:nvSpPr>
        <p:spPr>
          <a:xfrm>
            <a:off x="457200" y="3794760"/>
            <a:ext cx="64008" cy="2212848"/>
          </a:xfrm>
          <a:prstGeom prst="rect">
            <a:avLst/>
          </a:prstGeom>
          <a:solidFill>
            <a:srgbClr val="4B1FA0"/>
          </a:solidFill>
          <a:ln/>
        </p:spPr>
        <p:txBody>
          <a:bodyPr/>
          <a:lstStyle/>
          <a:p>
            <a:endParaRPr lang="en-PK"/>
          </a:p>
        </p:txBody>
      </p:sp>
      <p:sp>
        <p:nvSpPr>
          <p:cNvPr id="29" name="Text 27"/>
          <p:cNvSpPr txBox="1"/>
          <p:nvPr/>
        </p:nvSpPr>
        <p:spPr>
          <a:xfrm>
            <a:off x="685800" y="3849624"/>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M15  </a:t>
            </a:r>
            <a:r>
              <a:rPr lang="en-US" sz="1700" b="1" dirty="0">
                <a:solidFill>
                  <a:srgbClr val="2B0B5E"/>
                </a:solidFill>
                <a:latin typeface="Calibri" pitchFamily="34" charset="0"/>
                <a:ea typeface="Calibri" pitchFamily="34" charset="-122"/>
                <a:cs typeface="Calibri" pitchFamily="34" charset="-120"/>
              </a:rPr>
              <a:t>Audit Log and Activity Tracking</a:t>
            </a:r>
            <a:endParaRPr lang="en-US" sz="1700" dirty="0"/>
          </a:p>
        </p:txBody>
      </p:sp>
      <p:sp>
        <p:nvSpPr>
          <p:cNvPr id="30" name="Text 28"/>
          <p:cNvSpPr txBox="1"/>
          <p:nvPr/>
        </p:nvSpPr>
        <p:spPr>
          <a:xfrm>
            <a:off x="685800" y="4270248"/>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Records every important action in an insert-only log that can be filtered and exported.</a:t>
            </a:r>
            <a:endParaRPr lang="en-US" sz="1200" dirty="0"/>
          </a:p>
        </p:txBody>
      </p:sp>
      <p:sp>
        <p:nvSpPr>
          <p:cNvPr id="31" name="Text 29"/>
          <p:cNvSpPr txBox="1"/>
          <p:nvPr/>
        </p:nvSpPr>
        <p:spPr>
          <a:xfrm>
            <a:off x="685800" y="4855464"/>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32" name="Text 30"/>
          <p:cNvSpPr txBox="1"/>
          <p:nvPr/>
        </p:nvSpPr>
        <p:spPr>
          <a:xfrm>
            <a:off x="685800" y="508406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FR-15.1  </a:t>
            </a:r>
            <a:r>
              <a:rPr lang="en-US" sz="1150" b="1" dirty="0">
                <a:solidFill>
                  <a:srgbClr val="1A1A22"/>
                </a:solidFill>
                <a:latin typeface="Calibri" pitchFamily="34" charset="0"/>
                <a:ea typeface="Calibri" pitchFamily="34" charset="-122"/>
                <a:cs typeface="Calibri" pitchFamily="34" charset="-120"/>
              </a:rPr>
              <a:t>Audit Record</a:t>
            </a:r>
            <a:endParaRPr lang="en-US" sz="1150" dirty="0"/>
          </a:p>
        </p:txBody>
      </p:sp>
      <p:sp>
        <p:nvSpPr>
          <p:cNvPr id="33" name="Text 31"/>
          <p:cNvSpPr txBox="1"/>
          <p:nvPr/>
        </p:nvSpPr>
        <p:spPr>
          <a:xfrm>
            <a:off x="3259836" y="508406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FR-15.3  </a:t>
            </a:r>
            <a:r>
              <a:rPr lang="en-US" sz="1150" b="1" dirty="0">
                <a:solidFill>
                  <a:srgbClr val="1A1A22"/>
                </a:solidFill>
                <a:latin typeface="Calibri" pitchFamily="34" charset="0"/>
                <a:ea typeface="Calibri" pitchFamily="34" charset="-122"/>
                <a:cs typeface="Calibri" pitchFamily="34" charset="-120"/>
              </a:rPr>
              <a:t>Audit Log Filtering</a:t>
            </a:r>
            <a:endParaRPr lang="en-US" sz="1150" dirty="0"/>
          </a:p>
        </p:txBody>
      </p:sp>
      <p:sp>
        <p:nvSpPr>
          <p:cNvPr id="34" name="Text 32"/>
          <p:cNvSpPr txBox="1"/>
          <p:nvPr/>
        </p:nvSpPr>
        <p:spPr>
          <a:xfrm>
            <a:off x="685800" y="540410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FR-15.4  </a:t>
            </a:r>
            <a:r>
              <a:rPr lang="en-US" sz="1150" b="1" dirty="0">
                <a:solidFill>
                  <a:srgbClr val="1A1A22"/>
                </a:solidFill>
                <a:latin typeface="Calibri" pitchFamily="34" charset="0"/>
                <a:ea typeface="Calibri" pitchFamily="34" charset="-122"/>
                <a:cs typeface="Calibri" pitchFamily="34" charset="-120"/>
              </a:rPr>
              <a:t>Insert-Only Records</a:t>
            </a:r>
            <a:endParaRPr lang="en-US" sz="1150" dirty="0"/>
          </a:p>
        </p:txBody>
      </p:sp>
      <p:sp>
        <p:nvSpPr>
          <p:cNvPr id="35" name="Text 33"/>
          <p:cNvSpPr txBox="1"/>
          <p:nvPr/>
        </p:nvSpPr>
        <p:spPr>
          <a:xfrm>
            <a:off x="3259836" y="540410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FR-15.6  </a:t>
            </a:r>
            <a:r>
              <a:rPr lang="en-US" sz="1150" b="1" dirty="0">
                <a:solidFill>
                  <a:srgbClr val="1A1A22"/>
                </a:solidFill>
                <a:latin typeface="Calibri" pitchFamily="34" charset="0"/>
                <a:ea typeface="Calibri" pitchFamily="34" charset="-122"/>
                <a:cs typeface="Calibri" pitchFamily="34" charset="-120"/>
              </a:rPr>
              <a:t>Project Timeline</a:t>
            </a:r>
            <a:endParaRPr lang="en-US" sz="1150" dirty="0"/>
          </a:p>
        </p:txBody>
      </p:sp>
      <p:sp>
        <p:nvSpPr>
          <p:cNvPr id="36" name="Text 34"/>
          <p:cNvSpPr txBox="1"/>
          <p:nvPr/>
        </p:nvSpPr>
        <p:spPr>
          <a:xfrm>
            <a:off x="685800" y="5751576"/>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W-41, W-42</a:t>
            </a:r>
            <a:endParaRPr lang="en-US" sz="1050" dirty="0"/>
          </a:p>
        </p:txBody>
      </p:sp>
      <p:sp>
        <p:nvSpPr>
          <p:cNvPr id="37" name="Text 35"/>
          <p:cNvSpPr txBox="1"/>
          <p:nvPr/>
        </p:nvSpPr>
        <p:spPr>
          <a:xfrm>
            <a:off x="4261104" y="5742432"/>
            <a:ext cx="1572768" cy="246888"/>
          </a:xfrm>
          <a:prstGeom prst="rect">
            <a:avLst/>
          </a:prstGeom>
          <a:solidFill>
            <a:srgbClr val="EFE7FB"/>
          </a:solidFill>
          <a:ln/>
        </p:spPr>
        <p:txBody>
          <a:bodyPr wrap="square" lIns="0" tIns="0" rIns="0" bIns="0" rtlCol="0" anchor="ctr"/>
          <a:lstStyle/>
          <a:p>
            <a:pPr marL="0" indent="0" algn="ctr">
              <a:buNone/>
            </a:pPr>
            <a:r>
              <a:rPr lang="en-US" sz="950" b="1" dirty="0">
                <a:solidFill>
                  <a:srgbClr val="2B0B5E"/>
                </a:solidFill>
                <a:latin typeface="Calibri" pitchFamily="34" charset="0"/>
                <a:ea typeface="Calibri" pitchFamily="34" charset="-122"/>
                <a:cs typeface="Calibri" pitchFamily="34" charset="-120"/>
              </a:rPr>
              <a:t>Administration · 6 FRs</a:t>
            </a:r>
            <a:endParaRPr lang="en-US" sz="950" dirty="0"/>
          </a:p>
        </p:txBody>
      </p:sp>
      <p:sp>
        <p:nvSpPr>
          <p:cNvPr id="38" name="Shape 36"/>
          <p:cNvSpPr/>
          <p:nvPr/>
        </p:nvSpPr>
        <p:spPr>
          <a:xfrm>
            <a:off x="6172200" y="3721608"/>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39" name="Shape 37"/>
          <p:cNvSpPr/>
          <p:nvPr/>
        </p:nvSpPr>
        <p:spPr>
          <a:xfrm>
            <a:off x="6172200" y="3794760"/>
            <a:ext cx="64008" cy="2212848"/>
          </a:xfrm>
          <a:prstGeom prst="rect">
            <a:avLst/>
          </a:prstGeom>
          <a:solidFill>
            <a:srgbClr val="4B1FA0"/>
          </a:solidFill>
          <a:ln/>
        </p:spPr>
        <p:txBody>
          <a:bodyPr/>
          <a:lstStyle/>
          <a:p>
            <a:endParaRPr lang="en-PK"/>
          </a:p>
        </p:txBody>
      </p:sp>
      <p:sp>
        <p:nvSpPr>
          <p:cNvPr id="40" name="Text 38"/>
          <p:cNvSpPr txBox="1"/>
          <p:nvPr/>
        </p:nvSpPr>
        <p:spPr>
          <a:xfrm>
            <a:off x="6400800" y="3849624"/>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M16  </a:t>
            </a:r>
            <a:r>
              <a:rPr lang="en-US" sz="1700" b="1" dirty="0">
                <a:solidFill>
                  <a:srgbClr val="2B0B5E"/>
                </a:solidFill>
                <a:latin typeface="Calibri" pitchFamily="34" charset="0"/>
                <a:ea typeface="Calibri" pitchFamily="34" charset="-122"/>
                <a:cs typeface="Calibri" pitchFamily="34" charset="-120"/>
              </a:rPr>
              <a:t>Analytics Dashboard</a:t>
            </a:r>
            <a:endParaRPr lang="en-US" sz="1700" dirty="0"/>
          </a:p>
        </p:txBody>
      </p:sp>
      <p:sp>
        <p:nvSpPr>
          <p:cNvPr id="41" name="Text 39"/>
          <p:cNvSpPr txBox="1"/>
          <p:nvPr/>
        </p:nvSpPr>
        <p:spPr>
          <a:xfrm>
            <a:off x="6400800" y="4270248"/>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Shows turnaround time, client mix and the most common non-compliant items.</a:t>
            </a:r>
            <a:endParaRPr lang="en-US" sz="1200" dirty="0"/>
          </a:p>
        </p:txBody>
      </p:sp>
      <p:sp>
        <p:nvSpPr>
          <p:cNvPr id="42" name="Text 40"/>
          <p:cNvSpPr txBox="1"/>
          <p:nvPr/>
        </p:nvSpPr>
        <p:spPr>
          <a:xfrm>
            <a:off x="6400800" y="4855464"/>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43" name="Text 41"/>
          <p:cNvSpPr txBox="1"/>
          <p:nvPr/>
        </p:nvSpPr>
        <p:spPr>
          <a:xfrm>
            <a:off x="6400800" y="508406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FR-16.1  </a:t>
            </a:r>
            <a:r>
              <a:rPr lang="en-US" sz="1150" b="1" dirty="0">
                <a:solidFill>
                  <a:srgbClr val="1A1A22"/>
                </a:solidFill>
                <a:latin typeface="Calibri" pitchFamily="34" charset="0"/>
                <a:ea typeface="Calibri" pitchFamily="34" charset="-122"/>
                <a:cs typeface="Calibri" pitchFamily="34" charset="-120"/>
              </a:rPr>
              <a:t>Summary Metrics</a:t>
            </a:r>
            <a:endParaRPr lang="en-US" sz="1150" dirty="0"/>
          </a:p>
        </p:txBody>
      </p:sp>
      <p:sp>
        <p:nvSpPr>
          <p:cNvPr id="44" name="Text 42"/>
          <p:cNvSpPr txBox="1"/>
          <p:nvPr/>
        </p:nvSpPr>
        <p:spPr>
          <a:xfrm>
            <a:off x="8974836" y="508406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FR-16.2  </a:t>
            </a:r>
            <a:r>
              <a:rPr lang="en-US" sz="1150" b="1" dirty="0">
                <a:solidFill>
                  <a:srgbClr val="1A1A22"/>
                </a:solidFill>
                <a:latin typeface="Calibri" pitchFamily="34" charset="0"/>
                <a:ea typeface="Calibri" pitchFamily="34" charset="-122"/>
                <a:cs typeface="Calibri" pitchFamily="34" charset="-120"/>
              </a:rPr>
              <a:t>Turnaround Chart</a:t>
            </a:r>
            <a:endParaRPr lang="en-US" sz="1150" dirty="0"/>
          </a:p>
        </p:txBody>
      </p:sp>
      <p:sp>
        <p:nvSpPr>
          <p:cNvPr id="45" name="Text 43"/>
          <p:cNvSpPr txBox="1"/>
          <p:nvPr/>
        </p:nvSpPr>
        <p:spPr>
          <a:xfrm>
            <a:off x="6400800" y="540410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FR-16.3  </a:t>
            </a:r>
            <a:r>
              <a:rPr lang="en-US" sz="1150" b="1" dirty="0">
                <a:solidFill>
                  <a:srgbClr val="1A1A22"/>
                </a:solidFill>
                <a:latin typeface="Calibri" pitchFamily="34" charset="0"/>
                <a:ea typeface="Calibri" pitchFamily="34" charset="-122"/>
                <a:cs typeface="Calibri" pitchFamily="34" charset="-120"/>
              </a:rPr>
              <a:t>Client Breakdown</a:t>
            </a:r>
            <a:endParaRPr lang="en-US" sz="1150" dirty="0"/>
          </a:p>
        </p:txBody>
      </p:sp>
      <p:sp>
        <p:nvSpPr>
          <p:cNvPr id="46" name="Text 44"/>
          <p:cNvSpPr txBox="1"/>
          <p:nvPr/>
        </p:nvSpPr>
        <p:spPr>
          <a:xfrm>
            <a:off x="8974836" y="5404104"/>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FR-16.4  </a:t>
            </a:r>
            <a:r>
              <a:rPr lang="en-US" sz="1150" b="1" dirty="0">
                <a:solidFill>
                  <a:srgbClr val="1A1A22"/>
                </a:solidFill>
                <a:latin typeface="Calibri" pitchFamily="34" charset="0"/>
                <a:ea typeface="Calibri" pitchFamily="34" charset="-122"/>
                <a:cs typeface="Calibri" pitchFamily="34" charset="-120"/>
              </a:rPr>
              <a:t>Top NC Items</a:t>
            </a:r>
            <a:endParaRPr lang="en-US" sz="1150" dirty="0"/>
          </a:p>
        </p:txBody>
      </p:sp>
      <p:sp>
        <p:nvSpPr>
          <p:cNvPr id="47" name="Text 45"/>
          <p:cNvSpPr txBox="1"/>
          <p:nvPr/>
        </p:nvSpPr>
        <p:spPr>
          <a:xfrm>
            <a:off x="6400800" y="5751576"/>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W-43</a:t>
            </a:r>
            <a:endParaRPr lang="en-US" sz="1050" dirty="0"/>
          </a:p>
        </p:txBody>
      </p:sp>
      <p:sp>
        <p:nvSpPr>
          <p:cNvPr id="48" name="Text 46"/>
          <p:cNvSpPr txBox="1"/>
          <p:nvPr/>
        </p:nvSpPr>
        <p:spPr>
          <a:xfrm>
            <a:off x="9976104" y="5742432"/>
            <a:ext cx="1572768" cy="246888"/>
          </a:xfrm>
          <a:prstGeom prst="rect">
            <a:avLst/>
          </a:prstGeom>
          <a:solidFill>
            <a:srgbClr val="EFE7FB"/>
          </a:solidFill>
          <a:ln/>
        </p:spPr>
        <p:txBody>
          <a:bodyPr wrap="square" lIns="0" tIns="0" rIns="0" bIns="0" rtlCol="0" anchor="ctr"/>
          <a:lstStyle/>
          <a:p>
            <a:pPr marL="0" indent="0" algn="ctr">
              <a:buNone/>
            </a:pPr>
            <a:r>
              <a:rPr lang="en-US" sz="950" b="1" dirty="0">
                <a:solidFill>
                  <a:srgbClr val="2B0B5E"/>
                </a:solidFill>
                <a:latin typeface="Calibri" pitchFamily="34" charset="0"/>
                <a:ea typeface="Calibri" pitchFamily="34" charset="-122"/>
                <a:cs typeface="Calibri" pitchFamily="34" charset="-120"/>
              </a:rPr>
              <a:t>Administration · 4 FRs</a:t>
            </a:r>
            <a:endParaRPr lang="en-US" sz="950" dirty="0"/>
          </a:p>
        </p:txBody>
      </p:sp>
      <p:sp>
        <p:nvSpPr>
          <p:cNvPr id="49" name="Text 47">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50" name="Text 48">
            <a:hlinkClick r:id="rId3"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51" name="Text 49">
            <a:hlinkClick r:id="rId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MODULES ·</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Modules and Main FRs  (5 of 5)</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r>
              <a:rPr lang="en-US" sz="1100" b="1" dirty="0">
                <a:solidFill>
                  <a:srgbClr val="5E5E6B"/>
                </a:solidFill>
                <a:latin typeface="Calibri" pitchFamily="34" charset="0"/>
                <a:ea typeface="Calibri" pitchFamily="34" charset="-122"/>
                <a:cs typeface="Calibri" pitchFamily="34" charset="-120"/>
              </a:rPr>
              <a:t>18 modules · 118 FRs</a:t>
            </a: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18</a:t>
            </a:r>
            <a:endParaRPr lang="en-US" sz="1000" dirty="0"/>
          </a:p>
        </p:txBody>
      </p:sp>
      <p:sp>
        <p:nvSpPr>
          <p:cNvPr id="6" name="Shape 4"/>
          <p:cNvSpPr/>
          <p:nvPr/>
        </p:nvSpPr>
        <p:spPr>
          <a:xfrm>
            <a:off x="457200" y="1234440"/>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7" name="Shape 5"/>
          <p:cNvSpPr/>
          <p:nvPr/>
        </p:nvSpPr>
        <p:spPr>
          <a:xfrm>
            <a:off x="457200" y="1307592"/>
            <a:ext cx="64008" cy="2212848"/>
          </a:xfrm>
          <a:prstGeom prst="rect">
            <a:avLst/>
          </a:prstGeom>
          <a:solidFill>
            <a:srgbClr val="4B1FA0"/>
          </a:solidFill>
          <a:ln/>
        </p:spPr>
        <p:txBody>
          <a:bodyPr/>
          <a:lstStyle/>
          <a:p>
            <a:endParaRPr lang="en-PK"/>
          </a:p>
        </p:txBody>
      </p:sp>
      <p:sp>
        <p:nvSpPr>
          <p:cNvPr id="8" name="Text 6"/>
          <p:cNvSpPr txBox="1"/>
          <p:nvPr/>
        </p:nvSpPr>
        <p:spPr>
          <a:xfrm>
            <a:off x="685800" y="1362456"/>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M17  </a:t>
            </a:r>
            <a:r>
              <a:rPr lang="en-US" sz="1700" b="1" dirty="0">
                <a:solidFill>
                  <a:srgbClr val="2B0B5E"/>
                </a:solidFill>
                <a:latin typeface="Calibri" pitchFamily="34" charset="0"/>
                <a:ea typeface="Calibri" pitchFamily="34" charset="-122"/>
                <a:cs typeface="Calibri" pitchFamily="34" charset="-120"/>
              </a:rPr>
              <a:t>Bid Tasks and Deadlines</a:t>
            </a:r>
            <a:endParaRPr lang="en-US" sz="1700" dirty="0"/>
          </a:p>
        </p:txBody>
      </p:sp>
      <p:sp>
        <p:nvSpPr>
          <p:cNvPr id="9" name="Text 7"/>
          <p:cNvSpPr txBox="1"/>
          <p:nvPr/>
        </p:nvSpPr>
        <p:spPr>
          <a:xfrm>
            <a:off x="685800" y="1783080"/>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Creates bid tasks from the closing date, assigns them to engineers and sends deadline alerts.</a:t>
            </a:r>
            <a:endParaRPr lang="en-US" sz="1200" dirty="0"/>
          </a:p>
        </p:txBody>
      </p:sp>
      <p:sp>
        <p:nvSpPr>
          <p:cNvPr id="10" name="Text 8"/>
          <p:cNvSpPr txBox="1"/>
          <p:nvPr/>
        </p:nvSpPr>
        <p:spPr>
          <a:xfrm>
            <a:off x="685800" y="2368296"/>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11" name="Text 9"/>
          <p:cNvSpPr txBox="1"/>
          <p:nvPr/>
        </p:nvSpPr>
        <p:spPr>
          <a:xfrm>
            <a:off x="685800"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FR-17.1  </a:t>
            </a:r>
            <a:r>
              <a:rPr lang="en-US" sz="1150" b="1" dirty="0">
                <a:solidFill>
                  <a:srgbClr val="1A1A22"/>
                </a:solidFill>
                <a:latin typeface="Calibri" pitchFamily="34" charset="0"/>
                <a:ea typeface="Calibri" pitchFamily="34" charset="-122"/>
                <a:cs typeface="Calibri" pitchFamily="34" charset="-120"/>
              </a:rPr>
              <a:t>Automatic Task Creation</a:t>
            </a:r>
            <a:endParaRPr lang="en-US" sz="1150" dirty="0"/>
          </a:p>
        </p:txBody>
      </p:sp>
      <p:sp>
        <p:nvSpPr>
          <p:cNvPr id="12" name="Text 10"/>
          <p:cNvSpPr txBox="1"/>
          <p:nvPr/>
        </p:nvSpPr>
        <p:spPr>
          <a:xfrm>
            <a:off x="3259836"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FR-17.2  </a:t>
            </a:r>
            <a:r>
              <a:rPr lang="en-US" sz="1150" b="1" dirty="0">
                <a:solidFill>
                  <a:srgbClr val="1A1A22"/>
                </a:solidFill>
                <a:latin typeface="Calibri" pitchFamily="34" charset="0"/>
                <a:ea typeface="Calibri" pitchFamily="34" charset="-122"/>
                <a:cs typeface="Calibri" pitchFamily="34" charset="-120"/>
              </a:rPr>
              <a:t>Manual Task Assignment</a:t>
            </a:r>
            <a:endParaRPr lang="en-US" sz="1150" dirty="0"/>
          </a:p>
        </p:txBody>
      </p:sp>
      <p:sp>
        <p:nvSpPr>
          <p:cNvPr id="13" name="Text 11"/>
          <p:cNvSpPr txBox="1"/>
          <p:nvPr/>
        </p:nvSpPr>
        <p:spPr>
          <a:xfrm>
            <a:off x="685800"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FR-17.3  </a:t>
            </a:r>
            <a:r>
              <a:rPr lang="en-US" sz="1150" b="1" dirty="0">
                <a:solidFill>
                  <a:srgbClr val="1A1A22"/>
                </a:solidFill>
                <a:latin typeface="Calibri" pitchFamily="34" charset="0"/>
                <a:ea typeface="Calibri" pitchFamily="34" charset="-122"/>
                <a:cs typeface="Calibri" pitchFamily="34" charset="-120"/>
              </a:rPr>
              <a:t>Task Views</a:t>
            </a:r>
            <a:endParaRPr lang="en-US" sz="1150" dirty="0"/>
          </a:p>
        </p:txBody>
      </p:sp>
      <p:sp>
        <p:nvSpPr>
          <p:cNvPr id="14" name="Text 12"/>
          <p:cNvSpPr txBox="1"/>
          <p:nvPr/>
        </p:nvSpPr>
        <p:spPr>
          <a:xfrm>
            <a:off x="3259836"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FR-17.4  </a:t>
            </a:r>
            <a:r>
              <a:rPr lang="en-US" sz="1150" b="1" dirty="0">
                <a:solidFill>
                  <a:srgbClr val="1A1A22"/>
                </a:solidFill>
                <a:latin typeface="Calibri" pitchFamily="34" charset="0"/>
                <a:ea typeface="Calibri" pitchFamily="34" charset="-122"/>
                <a:cs typeface="Calibri" pitchFamily="34" charset="-120"/>
              </a:rPr>
              <a:t>Deadline Alerts</a:t>
            </a:r>
            <a:endParaRPr lang="en-US" sz="1150" dirty="0"/>
          </a:p>
        </p:txBody>
      </p:sp>
      <p:sp>
        <p:nvSpPr>
          <p:cNvPr id="15" name="Text 13"/>
          <p:cNvSpPr txBox="1"/>
          <p:nvPr/>
        </p:nvSpPr>
        <p:spPr>
          <a:xfrm>
            <a:off x="685800" y="3264408"/>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W-05, W-44–W-46, M-09</a:t>
            </a:r>
            <a:endParaRPr lang="en-US" sz="1050" dirty="0"/>
          </a:p>
        </p:txBody>
      </p:sp>
      <p:sp>
        <p:nvSpPr>
          <p:cNvPr id="16" name="Text 14"/>
          <p:cNvSpPr txBox="1"/>
          <p:nvPr/>
        </p:nvSpPr>
        <p:spPr>
          <a:xfrm>
            <a:off x="4261104" y="3255264"/>
            <a:ext cx="1572768" cy="246888"/>
          </a:xfrm>
          <a:prstGeom prst="rect">
            <a:avLst/>
          </a:prstGeom>
          <a:solidFill>
            <a:srgbClr val="ECECF1"/>
          </a:solidFill>
          <a:ln/>
        </p:spPr>
        <p:txBody>
          <a:bodyPr wrap="square" lIns="0" tIns="0" rIns="0" bIns="0" rtlCol="0" anchor="ctr"/>
          <a:lstStyle/>
          <a:p>
            <a:pPr marL="0" indent="0" algn="ctr">
              <a:buNone/>
            </a:pPr>
            <a:r>
              <a:rPr lang="en-US" sz="950" b="1" dirty="0">
                <a:solidFill>
                  <a:srgbClr val="1A1A22"/>
                </a:solidFill>
                <a:latin typeface="Calibri" pitchFamily="34" charset="0"/>
                <a:ea typeface="Calibri" pitchFamily="34" charset="-122"/>
                <a:cs typeface="Calibri" pitchFamily="34" charset="-120"/>
              </a:rPr>
              <a:t>Proposal workflow · 5 FRs</a:t>
            </a:r>
            <a:endParaRPr lang="en-US" sz="950" dirty="0"/>
          </a:p>
        </p:txBody>
      </p:sp>
      <p:sp>
        <p:nvSpPr>
          <p:cNvPr id="17" name="Shape 15"/>
          <p:cNvSpPr/>
          <p:nvPr/>
        </p:nvSpPr>
        <p:spPr>
          <a:xfrm>
            <a:off x="6172200" y="1234440"/>
            <a:ext cx="5559552" cy="2359152"/>
          </a:xfrm>
          <a:prstGeom prst="roundRect">
            <a:avLst>
              <a:gd name="adj" fmla="val 3101"/>
            </a:avLst>
          </a:prstGeom>
          <a:solidFill>
            <a:srgbClr val="FFFFFF"/>
          </a:solidFill>
          <a:ln w="12700">
            <a:solidFill>
              <a:srgbClr val="E6E5EC"/>
            </a:solidFill>
            <a:prstDash val="solid"/>
          </a:ln>
        </p:spPr>
        <p:txBody>
          <a:bodyPr/>
          <a:lstStyle/>
          <a:p>
            <a:endParaRPr lang="en-PK"/>
          </a:p>
        </p:txBody>
      </p:sp>
      <p:sp>
        <p:nvSpPr>
          <p:cNvPr id="18" name="Shape 16"/>
          <p:cNvSpPr/>
          <p:nvPr/>
        </p:nvSpPr>
        <p:spPr>
          <a:xfrm>
            <a:off x="6172200" y="1307592"/>
            <a:ext cx="64008" cy="2212848"/>
          </a:xfrm>
          <a:prstGeom prst="rect">
            <a:avLst/>
          </a:prstGeom>
          <a:solidFill>
            <a:srgbClr val="4B1FA0"/>
          </a:solidFill>
          <a:ln/>
        </p:spPr>
        <p:txBody>
          <a:bodyPr/>
          <a:lstStyle/>
          <a:p>
            <a:endParaRPr lang="en-PK"/>
          </a:p>
        </p:txBody>
      </p:sp>
      <p:sp>
        <p:nvSpPr>
          <p:cNvPr id="19" name="Text 17"/>
          <p:cNvSpPr txBox="1"/>
          <p:nvPr/>
        </p:nvSpPr>
        <p:spPr>
          <a:xfrm>
            <a:off x="6400800" y="1362456"/>
            <a:ext cx="5148072" cy="411480"/>
          </a:xfrm>
          <a:prstGeom prst="rect">
            <a:avLst/>
          </a:prstGeom>
          <a:noFill/>
          <a:ln/>
        </p:spPr>
        <p:txBody>
          <a:bodyPr wrap="square" lIns="0" tIns="0" rIns="0" bIns="0" rtlCol="0" anchor="ctr"/>
          <a:lstStyle/>
          <a:p>
            <a:pPr marL="0" indent="0">
              <a:buNone/>
            </a:pPr>
            <a:r>
              <a:rPr lang="en-US" sz="1700" b="1" dirty="0">
                <a:solidFill>
                  <a:srgbClr val="4B1FA0"/>
                </a:solidFill>
                <a:latin typeface="Calibri" pitchFamily="34" charset="0"/>
                <a:ea typeface="Calibri" pitchFamily="34" charset="-122"/>
                <a:cs typeface="Calibri" pitchFamily="34" charset="-120"/>
              </a:rPr>
              <a:t>M18  </a:t>
            </a:r>
            <a:r>
              <a:rPr lang="en-US" sz="1700" b="1" dirty="0">
                <a:solidFill>
                  <a:srgbClr val="2B0B5E"/>
                </a:solidFill>
                <a:latin typeface="Calibri" pitchFamily="34" charset="0"/>
                <a:ea typeface="Calibri" pitchFamily="34" charset="-122"/>
                <a:cs typeface="Calibri" pitchFamily="34" charset="-120"/>
              </a:rPr>
              <a:t>Mobile Application</a:t>
            </a:r>
            <a:endParaRPr lang="en-US" sz="1700" dirty="0"/>
          </a:p>
        </p:txBody>
      </p:sp>
      <p:sp>
        <p:nvSpPr>
          <p:cNvPr id="20" name="Text 18"/>
          <p:cNvSpPr txBox="1"/>
          <p:nvPr/>
        </p:nvSpPr>
        <p:spPr>
          <a:xfrm>
            <a:off x="6400800" y="1783080"/>
            <a:ext cx="5148072" cy="54864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Android-first app for approvals, camera document capture, tasks and push alerts.</a:t>
            </a:r>
            <a:endParaRPr lang="en-US" sz="1200" dirty="0"/>
          </a:p>
        </p:txBody>
      </p:sp>
      <p:sp>
        <p:nvSpPr>
          <p:cNvPr id="21" name="Text 19"/>
          <p:cNvSpPr txBox="1"/>
          <p:nvPr/>
        </p:nvSpPr>
        <p:spPr>
          <a:xfrm>
            <a:off x="6400800" y="2368296"/>
            <a:ext cx="3657600" cy="201168"/>
          </a:xfrm>
          <a:prstGeom prst="rect">
            <a:avLst/>
          </a:prstGeom>
          <a:noFill/>
          <a:ln/>
        </p:spPr>
        <p:txBody>
          <a:bodyPr wrap="square" lIns="0" tIns="0" rIns="0" bIns="0" rtlCol="0" anchor="t"/>
          <a:lstStyle/>
          <a:p>
            <a:pPr marL="0" indent="0">
              <a:buNone/>
            </a:pPr>
            <a:r>
              <a:rPr lang="en-US" sz="950" b="1" kern="0" spc="100" dirty="0">
                <a:solidFill>
                  <a:srgbClr val="4B1FA0"/>
                </a:solidFill>
                <a:latin typeface="Calibri" pitchFamily="34" charset="0"/>
                <a:ea typeface="Calibri" pitchFamily="34" charset="-122"/>
                <a:cs typeface="Calibri" pitchFamily="34" charset="-120"/>
              </a:rPr>
              <a:t>MAIN FUNCTIONAL REQUIREMENTS</a:t>
            </a:r>
            <a:endParaRPr lang="en-US" sz="950" dirty="0"/>
          </a:p>
        </p:txBody>
      </p:sp>
      <p:sp>
        <p:nvSpPr>
          <p:cNvPr id="22" name="Text 20"/>
          <p:cNvSpPr txBox="1"/>
          <p:nvPr/>
        </p:nvSpPr>
        <p:spPr>
          <a:xfrm>
            <a:off x="6400800"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FR-18.3  </a:t>
            </a:r>
            <a:r>
              <a:rPr lang="en-US" sz="1150" b="1" dirty="0">
                <a:solidFill>
                  <a:srgbClr val="1A1A22"/>
                </a:solidFill>
                <a:latin typeface="Calibri" pitchFamily="34" charset="0"/>
                <a:ea typeface="Calibri" pitchFamily="34" charset="-122"/>
                <a:cs typeface="Calibri" pitchFamily="34" charset="-120"/>
              </a:rPr>
              <a:t>Mobile Proposal Review</a:t>
            </a:r>
            <a:endParaRPr lang="en-US" sz="1150" dirty="0"/>
          </a:p>
        </p:txBody>
      </p:sp>
      <p:sp>
        <p:nvSpPr>
          <p:cNvPr id="23" name="Text 21"/>
          <p:cNvSpPr txBox="1"/>
          <p:nvPr/>
        </p:nvSpPr>
        <p:spPr>
          <a:xfrm>
            <a:off x="8974836" y="259689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FR-18.4  </a:t>
            </a:r>
            <a:r>
              <a:rPr lang="en-US" sz="1150" b="1" dirty="0">
                <a:solidFill>
                  <a:srgbClr val="1A1A22"/>
                </a:solidFill>
                <a:latin typeface="Calibri" pitchFamily="34" charset="0"/>
                <a:ea typeface="Calibri" pitchFamily="34" charset="-122"/>
                <a:cs typeface="Calibri" pitchFamily="34" charset="-120"/>
              </a:rPr>
              <a:t>Document Capture</a:t>
            </a:r>
            <a:endParaRPr lang="en-US" sz="1150" dirty="0"/>
          </a:p>
        </p:txBody>
      </p:sp>
      <p:sp>
        <p:nvSpPr>
          <p:cNvPr id="24" name="Text 22"/>
          <p:cNvSpPr txBox="1"/>
          <p:nvPr/>
        </p:nvSpPr>
        <p:spPr>
          <a:xfrm>
            <a:off x="6400800"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FR-18.5  </a:t>
            </a:r>
            <a:r>
              <a:rPr lang="en-US" sz="1150" b="1" dirty="0">
                <a:solidFill>
                  <a:srgbClr val="1A1A22"/>
                </a:solidFill>
                <a:latin typeface="Calibri" pitchFamily="34" charset="0"/>
                <a:ea typeface="Calibri" pitchFamily="34" charset="-122"/>
                <a:cs typeface="Calibri" pitchFamily="34" charset="-120"/>
              </a:rPr>
              <a:t>Mobile Tasks View</a:t>
            </a:r>
            <a:endParaRPr lang="en-US" sz="1150" dirty="0"/>
          </a:p>
        </p:txBody>
      </p:sp>
      <p:sp>
        <p:nvSpPr>
          <p:cNvPr id="25" name="Text 23"/>
          <p:cNvSpPr txBox="1"/>
          <p:nvPr/>
        </p:nvSpPr>
        <p:spPr>
          <a:xfrm>
            <a:off x="8974836" y="2916936"/>
            <a:ext cx="2500884" cy="283464"/>
          </a:xfrm>
          <a:prstGeom prst="rect">
            <a:avLst/>
          </a:prstGeom>
          <a:solidFill>
            <a:srgbClr val="F4F0FB"/>
          </a:solidFill>
          <a:ln/>
        </p:spPr>
        <p:txBody>
          <a:bodyPr wrap="square" lIns="0" tIns="76200" rIns="76200" bIns="0" rtlCol="0" anchor="ctr"/>
          <a:lstStyle/>
          <a:p>
            <a:pPr marL="0" indent="0">
              <a:buNone/>
            </a:pPr>
            <a:r>
              <a:rPr lang="en-US" sz="1150" b="1" dirty="0">
                <a:solidFill>
                  <a:srgbClr val="4B1FA0"/>
                </a:solidFill>
                <a:latin typeface="Calibri" pitchFamily="34" charset="0"/>
                <a:ea typeface="Calibri" pitchFamily="34" charset="-122"/>
                <a:cs typeface="Calibri" pitchFamily="34" charset="-120"/>
              </a:rPr>
              <a:t>FR-18.6  </a:t>
            </a:r>
            <a:r>
              <a:rPr lang="en-US" sz="1150" b="1" dirty="0">
                <a:solidFill>
                  <a:srgbClr val="1A1A22"/>
                </a:solidFill>
                <a:latin typeface="Calibri" pitchFamily="34" charset="0"/>
                <a:ea typeface="Calibri" pitchFamily="34" charset="-122"/>
                <a:cs typeface="Calibri" pitchFamily="34" charset="-120"/>
              </a:rPr>
              <a:t>Push Notifications</a:t>
            </a:r>
            <a:endParaRPr lang="en-US" sz="1150" dirty="0"/>
          </a:p>
        </p:txBody>
      </p:sp>
      <p:sp>
        <p:nvSpPr>
          <p:cNvPr id="26" name="Text 24"/>
          <p:cNvSpPr txBox="1"/>
          <p:nvPr/>
        </p:nvSpPr>
        <p:spPr>
          <a:xfrm>
            <a:off x="6400800" y="3264408"/>
            <a:ext cx="3547872" cy="237744"/>
          </a:xfrm>
          <a:prstGeom prst="rect">
            <a:avLst/>
          </a:prstGeom>
          <a:noFill/>
          <a:ln/>
        </p:spPr>
        <p:txBody>
          <a:bodyPr wrap="square" lIns="0" tIns="0" rIns="0" bIns="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Screens  </a:t>
            </a:r>
            <a:r>
              <a:rPr lang="en-US" sz="1050" dirty="0">
                <a:solidFill>
                  <a:srgbClr val="5E5E6B"/>
                </a:solidFill>
                <a:latin typeface="Calibri" pitchFamily="34" charset="0"/>
                <a:ea typeface="Calibri" pitchFamily="34" charset="-122"/>
                <a:cs typeface="Calibri" pitchFamily="34" charset="-120"/>
              </a:rPr>
              <a:t>M-01–M-14</a:t>
            </a:r>
            <a:endParaRPr lang="en-US" sz="1050" dirty="0"/>
          </a:p>
        </p:txBody>
      </p:sp>
      <p:sp>
        <p:nvSpPr>
          <p:cNvPr id="27" name="Text 25"/>
          <p:cNvSpPr txBox="1"/>
          <p:nvPr/>
        </p:nvSpPr>
        <p:spPr>
          <a:xfrm>
            <a:off x="9976104" y="3255264"/>
            <a:ext cx="1572768" cy="246888"/>
          </a:xfrm>
          <a:prstGeom prst="rect">
            <a:avLst/>
          </a:prstGeom>
          <a:solidFill>
            <a:srgbClr val="2B0B5E"/>
          </a:solid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Mobile · 8 FRs</a:t>
            </a:r>
            <a:endParaRPr lang="en-US" sz="950" dirty="0"/>
          </a:p>
        </p:txBody>
      </p:sp>
      <p:sp>
        <p:nvSpPr>
          <p:cNvPr id="28" name="Shape 26"/>
          <p:cNvSpPr/>
          <p:nvPr/>
        </p:nvSpPr>
        <p:spPr>
          <a:xfrm>
            <a:off x="457200" y="3721608"/>
            <a:ext cx="11274552" cy="2359152"/>
          </a:xfrm>
          <a:prstGeom prst="roundRect">
            <a:avLst>
              <a:gd name="adj" fmla="val 3101"/>
            </a:avLst>
          </a:prstGeom>
          <a:solidFill>
            <a:srgbClr val="F4F0FB"/>
          </a:solidFill>
          <a:ln w="12700">
            <a:solidFill>
              <a:srgbClr val="E6E5EC"/>
            </a:solidFill>
            <a:prstDash val="solid"/>
          </a:ln>
        </p:spPr>
        <p:txBody>
          <a:bodyPr/>
          <a:lstStyle/>
          <a:p>
            <a:endParaRPr lang="en-PK"/>
          </a:p>
        </p:txBody>
      </p:sp>
      <p:sp>
        <p:nvSpPr>
          <p:cNvPr id="29" name="Text 27"/>
          <p:cNvSpPr txBox="1"/>
          <p:nvPr/>
        </p:nvSpPr>
        <p:spPr>
          <a:xfrm>
            <a:off x="685800" y="3858768"/>
            <a:ext cx="5486400" cy="256032"/>
          </a:xfrm>
          <a:prstGeom prst="rect">
            <a:avLst/>
          </a:prstGeom>
          <a:noFill/>
          <a:ln/>
        </p:spPr>
        <p:txBody>
          <a:bodyPr wrap="square" lIns="0" tIns="0" rIns="0" bIns="0" rtlCol="0" anchor="t"/>
          <a:lstStyle/>
          <a:p>
            <a:pPr marL="0" indent="0">
              <a:buNone/>
            </a:pPr>
            <a:r>
              <a:rPr lang="en-US" sz="1050" b="1" kern="0" spc="100" dirty="0">
                <a:solidFill>
                  <a:srgbClr val="4B1FA0"/>
                </a:solidFill>
                <a:latin typeface="Calibri" pitchFamily="34" charset="0"/>
                <a:ea typeface="Calibri" pitchFamily="34" charset="-122"/>
                <a:cs typeface="Calibri" pitchFamily="34" charset="-120"/>
              </a:rPr>
              <a:t>ALL 18 MODULES AT A GLANCE</a:t>
            </a:r>
            <a:endParaRPr lang="en-US" sz="1050" dirty="0"/>
          </a:p>
        </p:txBody>
      </p:sp>
      <p:sp>
        <p:nvSpPr>
          <p:cNvPr id="30" name="Text 28"/>
          <p:cNvSpPr txBox="1"/>
          <p:nvPr/>
        </p:nvSpPr>
        <p:spPr>
          <a:xfrm>
            <a:off x="685800" y="4178808"/>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M1  </a:t>
            </a:r>
            <a:r>
              <a:rPr lang="en-US" sz="1150" dirty="0">
                <a:solidFill>
                  <a:srgbClr val="2B0B5E"/>
                </a:solidFill>
                <a:latin typeface="Calibri" pitchFamily="34" charset="0"/>
                <a:ea typeface="Calibri" pitchFamily="34" charset="-122"/>
                <a:cs typeface="Calibri" pitchFamily="34" charset="-120"/>
              </a:rPr>
              <a:t>RFP Parser and Classifier</a:t>
            </a:r>
            <a:endParaRPr lang="en-US" sz="1150" dirty="0"/>
          </a:p>
        </p:txBody>
      </p:sp>
      <p:sp>
        <p:nvSpPr>
          <p:cNvPr id="31" name="Shape 29">
            <a:hlinkClick r:id="rId3" action="ppaction://hlinksldjump" tooltip="Module 1"/>
          </p:cNvPr>
          <p:cNvSpPr/>
          <p:nvPr/>
        </p:nvSpPr>
        <p:spPr>
          <a:xfrm>
            <a:off x="685800" y="4178808"/>
            <a:ext cx="3566160" cy="274320"/>
          </a:xfrm>
          <a:prstGeom prst="rect">
            <a:avLst/>
          </a:prstGeom>
          <a:solidFill>
            <a:srgbClr val="FFFFFF">
              <a:alpha val="0"/>
            </a:srgbClr>
          </a:solidFill>
          <a:ln/>
        </p:spPr>
        <p:txBody>
          <a:bodyPr/>
          <a:lstStyle/>
          <a:p>
            <a:endParaRPr lang="en-PK"/>
          </a:p>
        </p:txBody>
      </p:sp>
      <p:sp>
        <p:nvSpPr>
          <p:cNvPr id="32" name="Text 30"/>
          <p:cNvSpPr txBox="1"/>
          <p:nvPr/>
        </p:nvSpPr>
        <p:spPr>
          <a:xfrm>
            <a:off x="4343400" y="4178808"/>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M2  </a:t>
            </a:r>
            <a:r>
              <a:rPr lang="en-US" sz="1150" dirty="0">
                <a:solidFill>
                  <a:srgbClr val="2B0B5E"/>
                </a:solidFill>
                <a:latin typeface="Calibri" pitchFamily="34" charset="0"/>
                <a:ea typeface="Calibri" pitchFamily="34" charset="-122"/>
                <a:cs typeface="Calibri" pitchFamily="34" charset="-120"/>
              </a:rPr>
              <a:t>Submission Checklist Generator</a:t>
            </a:r>
            <a:endParaRPr lang="en-US" sz="1150" dirty="0"/>
          </a:p>
        </p:txBody>
      </p:sp>
      <p:sp>
        <p:nvSpPr>
          <p:cNvPr id="33" name="Shape 31">
            <a:hlinkClick r:id="rId3" action="ppaction://hlinksldjump" tooltip="Module 2"/>
          </p:cNvPr>
          <p:cNvSpPr/>
          <p:nvPr/>
        </p:nvSpPr>
        <p:spPr>
          <a:xfrm>
            <a:off x="4343400" y="4178808"/>
            <a:ext cx="3566160" cy="274320"/>
          </a:xfrm>
          <a:prstGeom prst="rect">
            <a:avLst/>
          </a:prstGeom>
          <a:solidFill>
            <a:srgbClr val="FFFFFF">
              <a:alpha val="0"/>
            </a:srgbClr>
          </a:solidFill>
          <a:ln/>
        </p:spPr>
        <p:txBody>
          <a:bodyPr/>
          <a:lstStyle/>
          <a:p>
            <a:endParaRPr lang="en-PK"/>
          </a:p>
        </p:txBody>
      </p:sp>
      <p:sp>
        <p:nvSpPr>
          <p:cNvPr id="34" name="Text 32"/>
          <p:cNvSpPr txBox="1"/>
          <p:nvPr/>
        </p:nvSpPr>
        <p:spPr>
          <a:xfrm>
            <a:off x="8001000" y="4178808"/>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M3  </a:t>
            </a:r>
            <a:r>
              <a:rPr lang="en-US" sz="1150" dirty="0">
                <a:solidFill>
                  <a:srgbClr val="2B0B5E"/>
                </a:solidFill>
                <a:latin typeface="Calibri" pitchFamily="34" charset="0"/>
                <a:ea typeface="Calibri" pitchFamily="34" charset="-122"/>
                <a:cs typeface="Calibri" pitchFamily="34" charset="-120"/>
              </a:rPr>
              <a:t>Compliance Matrix Generator</a:t>
            </a:r>
            <a:endParaRPr lang="en-US" sz="1150" dirty="0"/>
          </a:p>
        </p:txBody>
      </p:sp>
      <p:sp>
        <p:nvSpPr>
          <p:cNvPr id="35" name="Shape 33">
            <a:hlinkClick r:id="rId3" action="ppaction://hlinksldjump" tooltip="Module 3"/>
          </p:cNvPr>
          <p:cNvSpPr/>
          <p:nvPr/>
        </p:nvSpPr>
        <p:spPr>
          <a:xfrm>
            <a:off x="8001000" y="4178808"/>
            <a:ext cx="3566160" cy="274320"/>
          </a:xfrm>
          <a:prstGeom prst="rect">
            <a:avLst/>
          </a:prstGeom>
          <a:solidFill>
            <a:srgbClr val="FFFFFF">
              <a:alpha val="0"/>
            </a:srgbClr>
          </a:solidFill>
          <a:ln/>
        </p:spPr>
        <p:txBody>
          <a:bodyPr/>
          <a:lstStyle/>
          <a:p>
            <a:endParaRPr lang="en-PK"/>
          </a:p>
        </p:txBody>
      </p:sp>
      <p:sp>
        <p:nvSpPr>
          <p:cNvPr id="36" name="Text 34"/>
          <p:cNvSpPr txBox="1"/>
          <p:nvPr/>
        </p:nvSpPr>
        <p:spPr>
          <a:xfrm>
            <a:off x="685800" y="4480560"/>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M4  </a:t>
            </a:r>
            <a:r>
              <a:rPr lang="en-US" sz="1150" dirty="0">
                <a:solidFill>
                  <a:srgbClr val="2B0B5E"/>
                </a:solidFill>
                <a:latin typeface="Calibri" pitchFamily="34" charset="0"/>
                <a:ea typeface="Calibri" pitchFamily="34" charset="-122"/>
                <a:cs typeface="Calibri" pitchFamily="34" charset="-120"/>
              </a:rPr>
              <a:t>Technical Evaluation Criteria Analyser</a:t>
            </a:r>
            <a:endParaRPr lang="en-US" sz="1150" dirty="0"/>
          </a:p>
        </p:txBody>
      </p:sp>
      <p:sp>
        <p:nvSpPr>
          <p:cNvPr id="37" name="Shape 35">
            <a:hlinkClick r:id="rId3" action="ppaction://hlinksldjump" tooltip="Module 4"/>
          </p:cNvPr>
          <p:cNvSpPr/>
          <p:nvPr/>
        </p:nvSpPr>
        <p:spPr>
          <a:xfrm>
            <a:off x="685800" y="4480560"/>
            <a:ext cx="3566160" cy="274320"/>
          </a:xfrm>
          <a:prstGeom prst="rect">
            <a:avLst/>
          </a:prstGeom>
          <a:solidFill>
            <a:srgbClr val="FFFFFF">
              <a:alpha val="0"/>
            </a:srgbClr>
          </a:solidFill>
          <a:ln/>
        </p:spPr>
        <p:txBody>
          <a:bodyPr/>
          <a:lstStyle/>
          <a:p>
            <a:endParaRPr lang="en-PK"/>
          </a:p>
        </p:txBody>
      </p:sp>
      <p:sp>
        <p:nvSpPr>
          <p:cNvPr id="38" name="Text 36"/>
          <p:cNvSpPr txBox="1"/>
          <p:nvPr/>
        </p:nvSpPr>
        <p:spPr>
          <a:xfrm>
            <a:off x="4343400" y="4480560"/>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M5  </a:t>
            </a:r>
            <a:r>
              <a:rPr lang="en-US" sz="1150" dirty="0">
                <a:solidFill>
                  <a:srgbClr val="2B0B5E"/>
                </a:solidFill>
                <a:latin typeface="Calibri" pitchFamily="34" charset="0"/>
                <a:ea typeface="Calibri" pitchFamily="34" charset="-122"/>
                <a:cs typeface="Calibri" pitchFamily="34" charset="-120"/>
              </a:rPr>
              <a:t>HLD Diagram Generator</a:t>
            </a:r>
            <a:endParaRPr lang="en-US" sz="1150" dirty="0"/>
          </a:p>
        </p:txBody>
      </p:sp>
      <p:sp>
        <p:nvSpPr>
          <p:cNvPr id="39" name="Shape 37">
            <a:hlinkClick r:id="rId4" action="ppaction://hlinksldjump" tooltip="Module 5"/>
          </p:cNvPr>
          <p:cNvSpPr/>
          <p:nvPr/>
        </p:nvSpPr>
        <p:spPr>
          <a:xfrm>
            <a:off x="4343400" y="4480560"/>
            <a:ext cx="3566160" cy="274320"/>
          </a:xfrm>
          <a:prstGeom prst="rect">
            <a:avLst/>
          </a:prstGeom>
          <a:solidFill>
            <a:srgbClr val="FFFFFF">
              <a:alpha val="0"/>
            </a:srgbClr>
          </a:solidFill>
          <a:ln/>
        </p:spPr>
        <p:txBody>
          <a:bodyPr/>
          <a:lstStyle/>
          <a:p>
            <a:endParaRPr lang="en-PK"/>
          </a:p>
        </p:txBody>
      </p:sp>
      <p:sp>
        <p:nvSpPr>
          <p:cNvPr id="40" name="Text 38"/>
          <p:cNvSpPr txBox="1"/>
          <p:nvPr/>
        </p:nvSpPr>
        <p:spPr>
          <a:xfrm>
            <a:off x="8001000" y="4480560"/>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M6  </a:t>
            </a:r>
            <a:r>
              <a:rPr lang="en-US" sz="1150" dirty="0">
                <a:solidFill>
                  <a:srgbClr val="2B0B5E"/>
                </a:solidFill>
                <a:latin typeface="Calibri" pitchFamily="34" charset="0"/>
                <a:ea typeface="Calibri" pitchFamily="34" charset="-122"/>
                <a:cs typeface="Calibri" pitchFamily="34" charset="-120"/>
              </a:rPr>
              <a:t>Technical Proposal Generator</a:t>
            </a:r>
            <a:endParaRPr lang="en-US" sz="1150" dirty="0"/>
          </a:p>
        </p:txBody>
      </p:sp>
      <p:sp>
        <p:nvSpPr>
          <p:cNvPr id="41" name="Shape 39">
            <a:hlinkClick r:id="rId4" action="ppaction://hlinksldjump" tooltip="Module 6"/>
          </p:cNvPr>
          <p:cNvSpPr/>
          <p:nvPr/>
        </p:nvSpPr>
        <p:spPr>
          <a:xfrm>
            <a:off x="8001000" y="4480560"/>
            <a:ext cx="3566160" cy="274320"/>
          </a:xfrm>
          <a:prstGeom prst="rect">
            <a:avLst/>
          </a:prstGeom>
          <a:solidFill>
            <a:srgbClr val="FFFFFF">
              <a:alpha val="0"/>
            </a:srgbClr>
          </a:solidFill>
          <a:ln/>
        </p:spPr>
        <p:txBody>
          <a:bodyPr/>
          <a:lstStyle/>
          <a:p>
            <a:endParaRPr lang="en-PK"/>
          </a:p>
        </p:txBody>
      </p:sp>
      <p:sp>
        <p:nvSpPr>
          <p:cNvPr id="42" name="Text 40"/>
          <p:cNvSpPr txBox="1"/>
          <p:nvPr/>
        </p:nvSpPr>
        <p:spPr>
          <a:xfrm>
            <a:off x="685800" y="4782312"/>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M7  </a:t>
            </a:r>
            <a:r>
              <a:rPr lang="en-US" sz="1150" dirty="0">
                <a:solidFill>
                  <a:srgbClr val="2B0B5E"/>
                </a:solidFill>
                <a:latin typeface="Calibri" pitchFamily="34" charset="0"/>
                <a:ea typeface="Calibri" pitchFamily="34" charset="-122"/>
                <a:cs typeface="Calibri" pitchFamily="34" charset="-120"/>
              </a:rPr>
              <a:t>BOQ Generator</a:t>
            </a:r>
            <a:endParaRPr lang="en-US" sz="1150" dirty="0"/>
          </a:p>
        </p:txBody>
      </p:sp>
      <p:sp>
        <p:nvSpPr>
          <p:cNvPr id="43" name="Shape 41">
            <a:hlinkClick r:id="rId4" action="ppaction://hlinksldjump" tooltip="Module 7"/>
          </p:cNvPr>
          <p:cNvSpPr/>
          <p:nvPr/>
        </p:nvSpPr>
        <p:spPr>
          <a:xfrm>
            <a:off x="685800" y="4782312"/>
            <a:ext cx="3566160" cy="274320"/>
          </a:xfrm>
          <a:prstGeom prst="rect">
            <a:avLst/>
          </a:prstGeom>
          <a:solidFill>
            <a:srgbClr val="FFFFFF">
              <a:alpha val="0"/>
            </a:srgbClr>
          </a:solidFill>
          <a:ln/>
        </p:spPr>
        <p:txBody>
          <a:bodyPr/>
          <a:lstStyle/>
          <a:p>
            <a:endParaRPr lang="en-PK"/>
          </a:p>
        </p:txBody>
      </p:sp>
      <p:sp>
        <p:nvSpPr>
          <p:cNvPr id="44" name="Text 42"/>
          <p:cNvSpPr txBox="1"/>
          <p:nvPr/>
        </p:nvSpPr>
        <p:spPr>
          <a:xfrm>
            <a:off x="4343400" y="4782312"/>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M8  </a:t>
            </a:r>
            <a:r>
              <a:rPr lang="en-US" sz="1150" dirty="0">
                <a:solidFill>
                  <a:srgbClr val="2B0B5E"/>
                </a:solidFill>
                <a:latin typeface="Calibri" pitchFamily="34" charset="0"/>
                <a:ea typeface="Calibri" pitchFamily="34" charset="-122"/>
                <a:cs typeface="Calibri" pitchFamily="34" charset="-120"/>
              </a:rPr>
              <a:t>Responsibility Matrix Generator</a:t>
            </a:r>
            <a:endParaRPr lang="en-US" sz="1150" dirty="0"/>
          </a:p>
        </p:txBody>
      </p:sp>
      <p:sp>
        <p:nvSpPr>
          <p:cNvPr id="45" name="Shape 43">
            <a:hlinkClick r:id="rId4" action="ppaction://hlinksldjump" tooltip="Module 8"/>
          </p:cNvPr>
          <p:cNvSpPr/>
          <p:nvPr/>
        </p:nvSpPr>
        <p:spPr>
          <a:xfrm>
            <a:off x="4343400" y="4782312"/>
            <a:ext cx="3566160" cy="274320"/>
          </a:xfrm>
          <a:prstGeom prst="rect">
            <a:avLst/>
          </a:prstGeom>
          <a:solidFill>
            <a:srgbClr val="FFFFFF">
              <a:alpha val="0"/>
            </a:srgbClr>
          </a:solidFill>
          <a:ln/>
        </p:spPr>
        <p:txBody>
          <a:bodyPr/>
          <a:lstStyle/>
          <a:p>
            <a:endParaRPr lang="en-PK"/>
          </a:p>
        </p:txBody>
      </p:sp>
      <p:sp>
        <p:nvSpPr>
          <p:cNvPr id="46" name="Text 44"/>
          <p:cNvSpPr txBox="1"/>
          <p:nvPr/>
        </p:nvSpPr>
        <p:spPr>
          <a:xfrm>
            <a:off x="8001000" y="4782312"/>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M9  </a:t>
            </a:r>
            <a:r>
              <a:rPr lang="en-US" sz="1150" dirty="0">
                <a:solidFill>
                  <a:srgbClr val="2B0B5E"/>
                </a:solidFill>
                <a:latin typeface="Calibri" pitchFamily="34" charset="0"/>
                <a:ea typeface="Calibri" pitchFamily="34" charset="-122"/>
                <a:cs typeface="Calibri" pitchFamily="34" charset="-120"/>
              </a:rPr>
              <a:t>Project Vault and Centralised Storage</a:t>
            </a:r>
            <a:endParaRPr lang="en-US" sz="1150" dirty="0"/>
          </a:p>
        </p:txBody>
      </p:sp>
      <p:sp>
        <p:nvSpPr>
          <p:cNvPr id="47" name="Shape 45">
            <a:hlinkClick r:id="rId5" action="ppaction://hlinksldjump" tooltip="Module 9"/>
          </p:cNvPr>
          <p:cNvSpPr/>
          <p:nvPr/>
        </p:nvSpPr>
        <p:spPr>
          <a:xfrm>
            <a:off x="8001000" y="4782312"/>
            <a:ext cx="3566160" cy="274320"/>
          </a:xfrm>
          <a:prstGeom prst="rect">
            <a:avLst/>
          </a:prstGeom>
          <a:solidFill>
            <a:srgbClr val="FFFFFF">
              <a:alpha val="0"/>
            </a:srgbClr>
          </a:solidFill>
          <a:ln/>
        </p:spPr>
        <p:txBody>
          <a:bodyPr/>
          <a:lstStyle/>
          <a:p>
            <a:endParaRPr lang="en-PK"/>
          </a:p>
        </p:txBody>
      </p:sp>
      <p:sp>
        <p:nvSpPr>
          <p:cNvPr id="48" name="Text 46"/>
          <p:cNvSpPr txBox="1"/>
          <p:nvPr/>
        </p:nvSpPr>
        <p:spPr>
          <a:xfrm>
            <a:off x="685800" y="5084064"/>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M10  </a:t>
            </a:r>
            <a:r>
              <a:rPr lang="en-US" sz="1150" dirty="0">
                <a:solidFill>
                  <a:srgbClr val="2B0B5E"/>
                </a:solidFill>
                <a:latin typeface="Calibri" pitchFamily="34" charset="0"/>
                <a:ea typeface="Calibri" pitchFamily="34" charset="-122"/>
                <a:cs typeface="Calibri" pitchFamily="34" charset="-120"/>
              </a:rPr>
              <a:t>Submission Package Builder</a:t>
            </a:r>
            <a:endParaRPr lang="en-US" sz="1150" dirty="0"/>
          </a:p>
        </p:txBody>
      </p:sp>
      <p:sp>
        <p:nvSpPr>
          <p:cNvPr id="49" name="Shape 47">
            <a:hlinkClick r:id="rId5" action="ppaction://hlinksldjump" tooltip="Module 10"/>
          </p:cNvPr>
          <p:cNvSpPr/>
          <p:nvPr/>
        </p:nvSpPr>
        <p:spPr>
          <a:xfrm>
            <a:off x="685800" y="5084064"/>
            <a:ext cx="3566160" cy="274320"/>
          </a:xfrm>
          <a:prstGeom prst="rect">
            <a:avLst/>
          </a:prstGeom>
          <a:solidFill>
            <a:srgbClr val="FFFFFF">
              <a:alpha val="0"/>
            </a:srgbClr>
          </a:solidFill>
          <a:ln/>
        </p:spPr>
        <p:txBody>
          <a:bodyPr/>
          <a:lstStyle/>
          <a:p>
            <a:endParaRPr lang="en-PK"/>
          </a:p>
        </p:txBody>
      </p:sp>
      <p:sp>
        <p:nvSpPr>
          <p:cNvPr id="50" name="Text 48"/>
          <p:cNvSpPr txBox="1"/>
          <p:nvPr/>
        </p:nvSpPr>
        <p:spPr>
          <a:xfrm>
            <a:off x="4343400" y="5084064"/>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M11  </a:t>
            </a:r>
            <a:r>
              <a:rPr lang="en-US" sz="1150" dirty="0">
                <a:solidFill>
                  <a:srgbClr val="2B0B5E"/>
                </a:solidFill>
                <a:latin typeface="Calibri" pitchFamily="34" charset="0"/>
                <a:ea typeface="Calibri" pitchFamily="34" charset="-122"/>
                <a:cs typeface="Calibri" pitchFamily="34" charset="-120"/>
              </a:rPr>
              <a:t>Knowledge Base and Past Project Reuse</a:t>
            </a:r>
            <a:endParaRPr lang="en-US" sz="1150" dirty="0"/>
          </a:p>
        </p:txBody>
      </p:sp>
      <p:sp>
        <p:nvSpPr>
          <p:cNvPr id="51" name="Shape 49">
            <a:hlinkClick r:id="rId5" action="ppaction://hlinksldjump" tooltip="Module 11"/>
          </p:cNvPr>
          <p:cNvSpPr/>
          <p:nvPr/>
        </p:nvSpPr>
        <p:spPr>
          <a:xfrm>
            <a:off x="4343400" y="5084064"/>
            <a:ext cx="3566160" cy="274320"/>
          </a:xfrm>
          <a:prstGeom prst="rect">
            <a:avLst/>
          </a:prstGeom>
          <a:solidFill>
            <a:srgbClr val="FFFFFF">
              <a:alpha val="0"/>
            </a:srgbClr>
          </a:solidFill>
          <a:ln/>
        </p:spPr>
        <p:txBody>
          <a:bodyPr/>
          <a:lstStyle/>
          <a:p>
            <a:endParaRPr lang="en-PK"/>
          </a:p>
        </p:txBody>
      </p:sp>
      <p:sp>
        <p:nvSpPr>
          <p:cNvPr id="52" name="Text 50"/>
          <p:cNvSpPr txBox="1"/>
          <p:nvPr/>
        </p:nvSpPr>
        <p:spPr>
          <a:xfrm>
            <a:off x="8001000" y="5084064"/>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M12  </a:t>
            </a:r>
            <a:r>
              <a:rPr lang="en-US" sz="1150" dirty="0">
                <a:solidFill>
                  <a:srgbClr val="2B0B5E"/>
                </a:solidFill>
                <a:latin typeface="Calibri" pitchFamily="34" charset="0"/>
                <a:ea typeface="Calibri" pitchFamily="34" charset="-122"/>
                <a:cs typeface="Calibri" pitchFamily="34" charset="-120"/>
              </a:rPr>
              <a:t>Company and Organisation Management</a:t>
            </a:r>
            <a:endParaRPr lang="en-US" sz="1150" dirty="0"/>
          </a:p>
        </p:txBody>
      </p:sp>
      <p:sp>
        <p:nvSpPr>
          <p:cNvPr id="53" name="Shape 51">
            <a:hlinkClick r:id="rId5" action="ppaction://hlinksldjump" tooltip="Module 12"/>
          </p:cNvPr>
          <p:cNvSpPr/>
          <p:nvPr/>
        </p:nvSpPr>
        <p:spPr>
          <a:xfrm>
            <a:off x="8001000" y="5084064"/>
            <a:ext cx="3566160" cy="274320"/>
          </a:xfrm>
          <a:prstGeom prst="rect">
            <a:avLst/>
          </a:prstGeom>
          <a:solidFill>
            <a:srgbClr val="FFFFFF">
              <a:alpha val="0"/>
            </a:srgbClr>
          </a:solidFill>
          <a:ln/>
        </p:spPr>
        <p:txBody>
          <a:bodyPr/>
          <a:lstStyle/>
          <a:p>
            <a:endParaRPr lang="en-PK"/>
          </a:p>
        </p:txBody>
      </p:sp>
      <p:sp>
        <p:nvSpPr>
          <p:cNvPr id="54" name="Text 52"/>
          <p:cNvSpPr txBox="1"/>
          <p:nvPr/>
        </p:nvSpPr>
        <p:spPr>
          <a:xfrm>
            <a:off x="685800" y="5385816"/>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M13  </a:t>
            </a:r>
            <a:r>
              <a:rPr lang="en-US" sz="1150" dirty="0">
                <a:solidFill>
                  <a:srgbClr val="2B0B5E"/>
                </a:solidFill>
                <a:latin typeface="Calibri" pitchFamily="34" charset="0"/>
                <a:ea typeface="Calibri" pitchFamily="34" charset="-122"/>
                <a:cs typeface="Calibri" pitchFamily="34" charset="-120"/>
              </a:rPr>
              <a:t>User and Role Management</a:t>
            </a:r>
            <a:endParaRPr lang="en-US" sz="1150" dirty="0"/>
          </a:p>
        </p:txBody>
      </p:sp>
      <p:sp>
        <p:nvSpPr>
          <p:cNvPr id="55" name="Shape 53">
            <a:hlinkClick r:id="rId6" action="ppaction://hlinksldjump" tooltip="Module 13"/>
          </p:cNvPr>
          <p:cNvSpPr/>
          <p:nvPr/>
        </p:nvSpPr>
        <p:spPr>
          <a:xfrm>
            <a:off x="685800" y="5385816"/>
            <a:ext cx="3566160" cy="274320"/>
          </a:xfrm>
          <a:prstGeom prst="rect">
            <a:avLst/>
          </a:prstGeom>
          <a:solidFill>
            <a:srgbClr val="FFFFFF">
              <a:alpha val="0"/>
            </a:srgbClr>
          </a:solidFill>
          <a:ln/>
        </p:spPr>
        <p:txBody>
          <a:bodyPr/>
          <a:lstStyle/>
          <a:p>
            <a:endParaRPr lang="en-PK"/>
          </a:p>
        </p:txBody>
      </p:sp>
      <p:sp>
        <p:nvSpPr>
          <p:cNvPr id="56" name="Text 54"/>
          <p:cNvSpPr txBox="1"/>
          <p:nvPr/>
        </p:nvSpPr>
        <p:spPr>
          <a:xfrm>
            <a:off x="4343400" y="5385816"/>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M14  </a:t>
            </a:r>
            <a:r>
              <a:rPr lang="en-US" sz="1150" dirty="0">
                <a:solidFill>
                  <a:srgbClr val="2B0B5E"/>
                </a:solidFill>
                <a:latin typeface="Calibri" pitchFamily="34" charset="0"/>
                <a:ea typeface="Calibri" pitchFamily="34" charset="-122"/>
                <a:cs typeface="Calibri" pitchFamily="34" charset="-120"/>
              </a:rPr>
              <a:t>Template Library Management</a:t>
            </a:r>
            <a:endParaRPr lang="en-US" sz="1150" dirty="0"/>
          </a:p>
        </p:txBody>
      </p:sp>
      <p:sp>
        <p:nvSpPr>
          <p:cNvPr id="57" name="Shape 55">
            <a:hlinkClick r:id="rId6" action="ppaction://hlinksldjump" tooltip="Module 14"/>
          </p:cNvPr>
          <p:cNvSpPr/>
          <p:nvPr/>
        </p:nvSpPr>
        <p:spPr>
          <a:xfrm>
            <a:off x="4343400" y="5385816"/>
            <a:ext cx="3566160" cy="274320"/>
          </a:xfrm>
          <a:prstGeom prst="rect">
            <a:avLst/>
          </a:prstGeom>
          <a:solidFill>
            <a:srgbClr val="FFFFFF">
              <a:alpha val="0"/>
            </a:srgbClr>
          </a:solidFill>
          <a:ln/>
        </p:spPr>
        <p:txBody>
          <a:bodyPr/>
          <a:lstStyle/>
          <a:p>
            <a:endParaRPr lang="en-PK"/>
          </a:p>
        </p:txBody>
      </p:sp>
      <p:sp>
        <p:nvSpPr>
          <p:cNvPr id="58" name="Text 56"/>
          <p:cNvSpPr txBox="1"/>
          <p:nvPr/>
        </p:nvSpPr>
        <p:spPr>
          <a:xfrm>
            <a:off x="8001000" y="5385816"/>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M15  </a:t>
            </a:r>
            <a:r>
              <a:rPr lang="en-US" sz="1150" dirty="0">
                <a:solidFill>
                  <a:srgbClr val="2B0B5E"/>
                </a:solidFill>
                <a:latin typeface="Calibri" pitchFamily="34" charset="0"/>
                <a:ea typeface="Calibri" pitchFamily="34" charset="-122"/>
                <a:cs typeface="Calibri" pitchFamily="34" charset="-120"/>
              </a:rPr>
              <a:t>Audit Log and Activity Tracking</a:t>
            </a:r>
            <a:endParaRPr lang="en-US" sz="1150" dirty="0"/>
          </a:p>
        </p:txBody>
      </p:sp>
      <p:sp>
        <p:nvSpPr>
          <p:cNvPr id="59" name="Shape 57">
            <a:hlinkClick r:id="rId6" action="ppaction://hlinksldjump" tooltip="Module 15"/>
          </p:cNvPr>
          <p:cNvSpPr/>
          <p:nvPr/>
        </p:nvSpPr>
        <p:spPr>
          <a:xfrm>
            <a:off x="8001000" y="5385816"/>
            <a:ext cx="3566160" cy="274320"/>
          </a:xfrm>
          <a:prstGeom prst="rect">
            <a:avLst/>
          </a:prstGeom>
          <a:solidFill>
            <a:srgbClr val="FFFFFF">
              <a:alpha val="0"/>
            </a:srgbClr>
          </a:solidFill>
          <a:ln/>
        </p:spPr>
        <p:txBody>
          <a:bodyPr/>
          <a:lstStyle/>
          <a:p>
            <a:endParaRPr lang="en-PK"/>
          </a:p>
        </p:txBody>
      </p:sp>
      <p:sp>
        <p:nvSpPr>
          <p:cNvPr id="60" name="Text 58"/>
          <p:cNvSpPr txBox="1"/>
          <p:nvPr/>
        </p:nvSpPr>
        <p:spPr>
          <a:xfrm>
            <a:off x="685800" y="5687568"/>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M16  </a:t>
            </a:r>
            <a:r>
              <a:rPr lang="en-US" sz="1150" dirty="0">
                <a:solidFill>
                  <a:srgbClr val="2B0B5E"/>
                </a:solidFill>
                <a:latin typeface="Calibri" pitchFamily="34" charset="0"/>
                <a:ea typeface="Calibri" pitchFamily="34" charset="-122"/>
                <a:cs typeface="Calibri" pitchFamily="34" charset="-120"/>
              </a:rPr>
              <a:t>Analytics Dashboard</a:t>
            </a:r>
            <a:endParaRPr lang="en-US" sz="1150" dirty="0"/>
          </a:p>
        </p:txBody>
      </p:sp>
      <p:sp>
        <p:nvSpPr>
          <p:cNvPr id="61" name="Shape 59">
            <a:hlinkClick r:id="rId6" action="ppaction://hlinksldjump" tooltip="Module 16"/>
          </p:cNvPr>
          <p:cNvSpPr/>
          <p:nvPr/>
        </p:nvSpPr>
        <p:spPr>
          <a:xfrm>
            <a:off x="685800" y="5687568"/>
            <a:ext cx="3566160" cy="274320"/>
          </a:xfrm>
          <a:prstGeom prst="rect">
            <a:avLst/>
          </a:prstGeom>
          <a:solidFill>
            <a:srgbClr val="FFFFFF">
              <a:alpha val="0"/>
            </a:srgbClr>
          </a:solidFill>
          <a:ln/>
        </p:spPr>
        <p:txBody>
          <a:bodyPr/>
          <a:lstStyle/>
          <a:p>
            <a:endParaRPr lang="en-PK"/>
          </a:p>
        </p:txBody>
      </p:sp>
      <p:sp>
        <p:nvSpPr>
          <p:cNvPr id="62" name="Text 60"/>
          <p:cNvSpPr txBox="1"/>
          <p:nvPr/>
        </p:nvSpPr>
        <p:spPr>
          <a:xfrm>
            <a:off x="4343400" y="5687568"/>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M17  </a:t>
            </a:r>
            <a:r>
              <a:rPr lang="en-US" sz="1150" dirty="0">
                <a:solidFill>
                  <a:srgbClr val="2B0B5E"/>
                </a:solidFill>
                <a:latin typeface="Calibri" pitchFamily="34" charset="0"/>
                <a:ea typeface="Calibri" pitchFamily="34" charset="-122"/>
                <a:cs typeface="Calibri" pitchFamily="34" charset="-120"/>
              </a:rPr>
              <a:t>Bid Tasks and Deadlines</a:t>
            </a:r>
            <a:endParaRPr lang="en-US" sz="1150" dirty="0"/>
          </a:p>
        </p:txBody>
      </p:sp>
      <p:sp>
        <p:nvSpPr>
          <p:cNvPr id="63" name="Shape 61">
            <a:hlinkClick r:id="rId7" action="ppaction://hlinksldjump" tooltip="Module 17"/>
          </p:cNvPr>
          <p:cNvSpPr/>
          <p:nvPr/>
        </p:nvSpPr>
        <p:spPr>
          <a:xfrm>
            <a:off x="4343400" y="5687568"/>
            <a:ext cx="3566160" cy="274320"/>
          </a:xfrm>
          <a:prstGeom prst="rect">
            <a:avLst/>
          </a:prstGeom>
          <a:solidFill>
            <a:srgbClr val="FFFFFF">
              <a:alpha val="0"/>
            </a:srgbClr>
          </a:solidFill>
          <a:ln/>
        </p:spPr>
        <p:txBody>
          <a:bodyPr/>
          <a:lstStyle/>
          <a:p>
            <a:endParaRPr lang="en-PK"/>
          </a:p>
        </p:txBody>
      </p:sp>
      <p:sp>
        <p:nvSpPr>
          <p:cNvPr id="64" name="Text 62"/>
          <p:cNvSpPr txBox="1"/>
          <p:nvPr/>
        </p:nvSpPr>
        <p:spPr>
          <a:xfrm>
            <a:off x="8001000" y="5687568"/>
            <a:ext cx="3566160" cy="274320"/>
          </a:xfrm>
          <a:prstGeom prst="rect">
            <a:avLst/>
          </a:prstGeom>
          <a:noFill/>
          <a:ln/>
        </p:spPr>
        <p:txBody>
          <a:bodyPr wrap="square" lIns="0" tIns="0" rIns="0" bIns="0" rtlCol="0" anchor="t"/>
          <a:lstStyle/>
          <a:p>
            <a:pPr marL="0" indent="0">
              <a:buNone/>
            </a:pPr>
            <a:r>
              <a:rPr lang="en-US" sz="1150" b="1" dirty="0">
                <a:solidFill>
                  <a:srgbClr val="4B1FA0"/>
                </a:solidFill>
                <a:latin typeface="Calibri" pitchFamily="34" charset="0"/>
                <a:ea typeface="Calibri" pitchFamily="34" charset="-122"/>
                <a:cs typeface="Calibri" pitchFamily="34" charset="-120"/>
              </a:rPr>
              <a:t>M18  </a:t>
            </a:r>
            <a:r>
              <a:rPr lang="en-US" sz="1150" dirty="0">
                <a:solidFill>
                  <a:srgbClr val="2B0B5E"/>
                </a:solidFill>
                <a:latin typeface="Calibri" pitchFamily="34" charset="0"/>
                <a:ea typeface="Calibri" pitchFamily="34" charset="-122"/>
                <a:cs typeface="Calibri" pitchFamily="34" charset="-120"/>
              </a:rPr>
              <a:t>Mobile Application</a:t>
            </a:r>
            <a:endParaRPr lang="en-US" sz="1150" dirty="0"/>
          </a:p>
        </p:txBody>
      </p:sp>
      <p:sp>
        <p:nvSpPr>
          <p:cNvPr id="65" name="Shape 63">
            <a:hlinkClick r:id="rId7" action="ppaction://hlinksldjump" tooltip="Module 18"/>
          </p:cNvPr>
          <p:cNvSpPr/>
          <p:nvPr/>
        </p:nvSpPr>
        <p:spPr>
          <a:xfrm>
            <a:off x="8001000" y="5687568"/>
            <a:ext cx="3566160" cy="274320"/>
          </a:xfrm>
          <a:prstGeom prst="rect">
            <a:avLst/>
          </a:prstGeom>
          <a:solidFill>
            <a:srgbClr val="FFFFFF">
              <a:alpha val="0"/>
            </a:srgbClr>
          </a:solidFill>
          <a:ln/>
        </p:spPr>
        <p:txBody>
          <a:bodyPr/>
          <a:lstStyle/>
          <a:p>
            <a:endParaRPr lang="en-PK"/>
          </a:p>
        </p:txBody>
      </p:sp>
      <p:sp>
        <p:nvSpPr>
          <p:cNvPr id="66" name="Text 64">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67" name="Text 65">
            <a:hlinkClick r:id="rId8"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8"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68" name="Text 66">
            <a:hlinkClick r:id="rId9"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9"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REQUIREMENTS</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Requirement Elicitation Process</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19</a:t>
            </a:r>
            <a:endParaRPr lang="en-US" sz="1000" dirty="0"/>
          </a:p>
        </p:txBody>
      </p:sp>
      <p:sp>
        <p:nvSpPr>
          <p:cNvPr id="6" name="Shape 4"/>
          <p:cNvSpPr/>
          <p:nvPr/>
        </p:nvSpPr>
        <p:spPr>
          <a:xfrm>
            <a:off x="457200" y="1325880"/>
            <a:ext cx="5559552" cy="1828800"/>
          </a:xfrm>
          <a:prstGeom prst="roundRect">
            <a:avLst>
              <a:gd name="adj" fmla="val 5000"/>
            </a:avLst>
          </a:prstGeom>
          <a:solidFill>
            <a:srgbClr val="FFFFFF"/>
          </a:solidFill>
          <a:ln w="12700">
            <a:solidFill>
              <a:srgbClr val="E6E5EC"/>
            </a:solidFill>
            <a:prstDash val="solid"/>
          </a:ln>
        </p:spPr>
        <p:txBody>
          <a:bodyPr/>
          <a:lstStyle/>
          <a:p>
            <a:endParaRPr lang="en-PK"/>
          </a:p>
        </p:txBody>
      </p:sp>
      <p:sp>
        <p:nvSpPr>
          <p:cNvPr id="7" name="Text 5"/>
          <p:cNvSpPr txBox="1"/>
          <p:nvPr/>
        </p:nvSpPr>
        <p:spPr>
          <a:xfrm>
            <a:off x="658368" y="1472184"/>
            <a:ext cx="5120640" cy="365760"/>
          </a:xfrm>
          <a:prstGeom prst="rect">
            <a:avLst/>
          </a:prstGeom>
          <a:noFill/>
          <a:ln/>
        </p:spPr>
        <p:txBody>
          <a:bodyPr wrap="square" lIns="0" tIns="0" rIns="0" bIns="0" rtlCol="0" anchor="t"/>
          <a:lstStyle/>
          <a:p>
            <a:pPr marL="0" indent="0">
              <a:buNone/>
            </a:pPr>
            <a:r>
              <a:rPr lang="en-US" sz="1500" b="1" dirty="0">
                <a:solidFill>
                  <a:srgbClr val="2B0B5E"/>
                </a:solidFill>
                <a:latin typeface="Calibri" pitchFamily="34" charset="0"/>
                <a:ea typeface="Calibri" pitchFamily="34" charset="-122"/>
                <a:cs typeface="Calibri" pitchFamily="34" charset="-120"/>
              </a:rPr>
              <a:t>Document analysis</a:t>
            </a:r>
            <a:endParaRPr lang="en-US" sz="1500" dirty="0"/>
          </a:p>
        </p:txBody>
      </p:sp>
      <p:sp>
        <p:nvSpPr>
          <p:cNvPr id="8" name="Text 6"/>
          <p:cNvSpPr txBox="1"/>
          <p:nvPr/>
        </p:nvSpPr>
        <p:spPr>
          <a:xfrm>
            <a:off x="658368" y="1874520"/>
            <a:ext cx="5120640" cy="1234440"/>
          </a:xfrm>
          <a:prstGeom prst="rect">
            <a:avLst/>
          </a:prstGeom>
          <a:noFill/>
          <a:ln/>
        </p:spPr>
        <p:txBody>
          <a:bodyPr wrap="square" lIns="0" tIns="0" rIns="0" bIns="0" rtlCol="0" anchor="t"/>
          <a:lstStyle/>
          <a:p>
            <a:pPr marL="0" indent="0">
              <a:spcAft>
                <a:spcPts val="600"/>
              </a:spcAft>
              <a:buNone/>
            </a:pPr>
            <a:r>
              <a:rPr lang="en-US" sz="1450" dirty="0">
                <a:solidFill>
                  <a:srgbClr val="1A1A22"/>
                </a:solidFill>
                <a:latin typeface="Calibri" pitchFamily="34" charset="0"/>
                <a:ea typeface="Calibri" pitchFamily="34" charset="-122"/>
                <a:cs typeface="Calibri" pitchFamily="34" charset="-120"/>
              </a:rPr>
              <a:t>What: the approved scope, the scope evaluation remarks and sample telecom RFP documents.</a:t>
            </a:r>
            <a:endParaRPr lang="en-US" sz="1450" dirty="0"/>
          </a:p>
          <a:p>
            <a:pPr marL="0" indent="0">
              <a:buNone/>
            </a:pPr>
            <a:r>
              <a:rPr lang="en-US" sz="1450" dirty="0">
                <a:solidFill>
                  <a:srgbClr val="1A1A22"/>
                </a:solidFill>
                <a:latin typeface="Calibri" pitchFamily="34" charset="0"/>
                <a:ea typeface="Calibri" pitchFamily="34" charset="-122"/>
                <a:cs typeface="Calibri" pitchFamily="34" charset="-120"/>
              </a:rPr>
              <a:t>Why: the remarks defined what had to change; real RFPs show the structure the system must read.</a:t>
            </a:r>
            <a:endParaRPr lang="en-US" sz="1450" dirty="0"/>
          </a:p>
        </p:txBody>
      </p:sp>
      <p:sp>
        <p:nvSpPr>
          <p:cNvPr id="9" name="Shape 7"/>
          <p:cNvSpPr/>
          <p:nvPr/>
        </p:nvSpPr>
        <p:spPr>
          <a:xfrm>
            <a:off x="6172200" y="1325880"/>
            <a:ext cx="5559552" cy="1828800"/>
          </a:xfrm>
          <a:prstGeom prst="roundRect">
            <a:avLst>
              <a:gd name="adj" fmla="val 5000"/>
            </a:avLst>
          </a:prstGeom>
          <a:solidFill>
            <a:srgbClr val="FFFFFF"/>
          </a:solidFill>
          <a:ln w="12700">
            <a:solidFill>
              <a:srgbClr val="E6E5EC"/>
            </a:solidFill>
            <a:prstDash val="solid"/>
          </a:ln>
        </p:spPr>
        <p:txBody>
          <a:bodyPr/>
          <a:lstStyle/>
          <a:p>
            <a:endParaRPr lang="en-PK"/>
          </a:p>
        </p:txBody>
      </p:sp>
      <p:sp>
        <p:nvSpPr>
          <p:cNvPr id="10" name="Text 8"/>
          <p:cNvSpPr txBox="1"/>
          <p:nvPr/>
        </p:nvSpPr>
        <p:spPr>
          <a:xfrm>
            <a:off x="6373368" y="1472184"/>
            <a:ext cx="5120640" cy="365760"/>
          </a:xfrm>
          <a:prstGeom prst="rect">
            <a:avLst/>
          </a:prstGeom>
          <a:noFill/>
          <a:ln/>
        </p:spPr>
        <p:txBody>
          <a:bodyPr wrap="square" lIns="0" tIns="0" rIns="0" bIns="0" rtlCol="0" anchor="t"/>
          <a:lstStyle/>
          <a:p>
            <a:pPr marL="0" indent="0">
              <a:buNone/>
            </a:pPr>
            <a:r>
              <a:rPr lang="en-US" sz="1500" b="1" dirty="0">
                <a:solidFill>
                  <a:srgbClr val="2B0B5E"/>
                </a:solidFill>
                <a:latin typeface="Calibri" pitchFamily="34" charset="0"/>
                <a:ea typeface="Calibri" pitchFamily="34" charset="-122"/>
                <a:cs typeface="Calibri" pitchFamily="34" charset="-120"/>
              </a:rPr>
              <a:t>Discussions with presales engineers</a:t>
            </a:r>
            <a:endParaRPr lang="en-US" sz="1500" dirty="0"/>
          </a:p>
        </p:txBody>
      </p:sp>
      <p:sp>
        <p:nvSpPr>
          <p:cNvPr id="11" name="Text 9"/>
          <p:cNvSpPr txBox="1"/>
          <p:nvPr/>
        </p:nvSpPr>
        <p:spPr>
          <a:xfrm>
            <a:off x="6373368" y="1874520"/>
            <a:ext cx="5120640" cy="1234440"/>
          </a:xfrm>
          <a:prstGeom prst="rect">
            <a:avLst/>
          </a:prstGeom>
          <a:noFill/>
          <a:ln/>
        </p:spPr>
        <p:txBody>
          <a:bodyPr wrap="square" lIns="0" tIns="0" rIns="0" bIns="0" rtlCol="0" anchor="t"/>
          <a:lstStyle/>
          <a:p>
            <a:pPr marL="0" indent="0">
              <a:spcAft>
                <a:spcPts val="600"/>
              </a:spcAft>
              <a:buNone/>
            </a:pPr>
            <a:r>
              <a:rPr lang="en-US" sz="1450" dirty="0">
                <a:solidFill>
                  <a:srgbClr val="1A1A22"/>
                </a:solidFill>
                <a:latin typeface="Calibri" pitchFamily="34" charset="0"/>
                <a:ea typeface="Calibri" pitchFamily="34" charset="-122"/>
                <a:cs typeface="Calibri" pitchFamily="34" charset="-120"/>
              </a:rPr>
              <a:t>What: how bids are prepared today in telecom IT companies.</a:t>
            </a:r>
            <a:endParaRPr lang="en-US" sz="1450" dirty="0"/>
          </a:p>
          <a:p>
            <a:pPr marL="0" indent="0">
              <a:buNone/>
            </a:pPr>
            <a:r>
              <a:rPr lang="en-US" sz="1450" dirty="0">
                <a:solidFill>
                  <a:srgbClr val="1A1A22"/>
                </a:solidFill>
                <a:latin typeface="Calibri" pitchFamily="34" charset="0"/>
                <a:ea typeface="Calibri" pitchFamily="34" charset="-122"/>
                <a:cs typeface="Calibri" pitchFamily="34" charset="-120"/>
              </a:rPr>
              <a:t>Why: to understand the manual workflow, its steps and its pain points.</a:t>
            </a:r>
            <a:endParaRPr lang="en-US" sz="1450" dirty="0"/>
          </a:p>
        </p:txBody>
      </p:sp>
      <p:sp>
        <p:nvSpPr>
          <p:cNvPr id="12" name="Shape 10"/>
          <p:cNvSpPr/>
          <p:nvPr/>
        </p:nvSpPr>
        <p:spPr>
          <a:xfrm>
            <a:off x="457200" y="3337560"/>
            <a:ext cx="5559552" cy="1828800"/>
          </a:xfrm>
          <a:prstGeom prst="roundRect">
            <a:avLst>
              <a:gd name="adj" fmla="val 5000"/>
            </a:avLst>
          </a:prstGeom>
          <a:solidFill>
            <a:srgbClr val="FFFFFF"/>
          </a:solidFill>
          <a:ln w="12700">
            <a:solidFill>
              <a:srgbClr val="E6E5EC"/>
            </a:solidFill>
            <a:prstDash val="solid"/>
          </a:ln>
        </p:spPr>
        <p:txBody>
          <a:bodyPr/>
          <a:lstStyle/>
          <a:p>
            <a:endParaRPr lang="en-PK"/>
          </a:p>
        </p:txBody>
      </p:sp>
      <p:sp>
        <p:nvSpPr>
          <p:cNvPr id="13" name="Text 11"/>
          <p:cNvSpPr txBox="1"/>
          <p:nvPr/>
        </p:nvSpPr>
        <p:spPr>
          <a:xfrm>
            <a:off x="658368" y="3483864"/>
            <a:ext cx="5120640" cy="365760"/>
          </a:xfrm>
          <a:prstGeom prst="rect">
            <a:avLst/>
          </a:prstGeom>
          <a:noFill/>
          <a:ln/>
        </p:spPr>
        <p:txBody>
          <a:bodyPr wrap="square" lIns="0" tIns="0" rIns="0" bIns="0" rtlCol="0" anchor="t"/>
          <a:lstStyle/>
          <a:p>
            <a:pPr marL="0" indent="0">
              <a:buNone/>
            </a:pPr>
            <a:r>
              <a:rPr lang="en-US" sz="1500" b="1" dirty="0">
                <a:solidFill>
                  <a:srgbClr val="2B0B5E"/>
                </a:solidFill>
                <a:latin typeface="Calibri" pitchFamily="34" charset="0"/>
                <a:ea typeface="Calibri" pitchFamily="34" charset="-122"/>
                <a:cs typeface="Calibri" pitchFamily="34" charset="-120"/>
              </a:rPr>
              <a:t>Related system analysis</a:t>
            </a:r>
            <a:endParaRPr lang="en-US" sz="1500" dirty="0"/>
          </a:p>
        </p:txBody>
      </p:sp>
      <p:sp>
        <p:nvSpPr>
          <p:cNvPr id="14" name="Text 12"/>
          <p:cNvSpPr txBox="1"/>
          <p:nvPr/>
        </p:nvSpPr>
        <p:spPr>
          <a:xfrm>
            <a:off x="658368" y="3886200"/>
            <a:ext cx="5120640" cy="1234440"/>
          </a:xfrm>
          <a:prstGeom prst="rect">
            <a:avLst/>
          </a:prstGeom>
          <a:noFill/>
          <a:ln/>
        </p:spPr>
        <p:txBody>
          <a:bodyPr wrap="square" lIns="0" tIns="0" rIns="0" bIns="0" rtlCol="0" anchor="t"/>
          <a:lstStyle/>
          <a:p>
            <a:pPr marL="0" indent="0">
              <a:spcAft>
                <a:spcPts val="600"/>
              </a:spcAft>
              <a:buNone/>
            </a:pPr>
            <a:r>
              <a:rPr lang="en-US" sz="1450" dirty="0">
                <a:solidFill>
                  <a:srgbClr val="1A1A22"/>
                </a:solidFill>
                <a:latin typeface="Calibri" pitchFamily="34" charset="0"/>
                <a:ea typeface="Calibri" pitchFamily="34" charset="-122"/>
                <a:cs typeface="Calibri" pitchFamily="34" charset="-120"/>
              </a:rPr>
              <a:t>What: Jasper AI, Proposify, Microsoft Copilot and ChatGPT.</a:t>
            </a:r>
            <a:endParaRPr lang="en-US" sz="1450" dirty="0"/>
          </a:p>
          <a:p>
            <a:pPr marL="0" indent="0">
              <a:buNone/>
            </a:pPr>
            <a:r>
              <a:rPr lang="en-US" sz="1450" dirty="0">
                <a:solidFill>
                  <a:srgbClr val="1A1A22"/>
                </a:solidFill>
                <a:latin typeface="Calibri" pitchFamily="34" charset="0"/>
                <a:ea typeface="Calibri" pitchFamily="34" charset="-122"/>
                <a:cs typeface="Calibri" pitchFamily="34" charset="-120"/>
              </a:rPr>
              <a:t>Why: to learn what existing tools cover and position PropBot against them.</a:t>
            </a:r>
            <a:endParaRPr lang="en-US" sz="1450" dirty="0"/>
          </a:p>
        </p:txBody>
      </p:sp>
      <p:sp>
        <p:nvSpPr>
          <p:cNvPr id="15" name="Shape 13"/>
          <p:cNvSpPr/>
          <p:nvPr/>
        </p:nvSpPr>
        <p:spPr>
          <a:xfrm>
            <a:off x="6172200" y="3337560"/>
            <a:ext cx="5559552" cy="1828800"/>
          </a:xfrm>
          <a:prstGeom prst="roundRect">
            <a:avLst>
              <a:gd name="adj" fmla="val 5000"/>
            </a:avLst>
          </a:prstGeom>
          <a:solidFill>
            <a:srgbClr val="FFFFFF"/>
          </a:solidFill>
          <a:ln w="12700">
            <a:solidFill>
              <a:srgbClr val="E6E5EC"/>
            </a:solidFill>
            <a:prstDash val="solid"/>
          </a:ln>
        </p:spPr>
        <p:txBody>
          <a:bodyPr/>
          <a:lstStyle/>
          <a:p>
            <a:endParaRPr lang="en-PK"/>
          </a:p>
        </p:txBody>
      </p:sp>
      <p:sp>
        <p:nvSpPr>
          <p:cNvPr id="16" name="Text 14"/>
          <p:cNvSpPr txBox="1"/>
          <p:nvPr/>
        </p:nvSpPr>
        <p:spPr>
          <a:xfrm>
            <a:off x="6373368" y="3483864"/>
            <a:ext cx="5120640" cy="365760"/>
          </a:xfrm>
          <a:prstGeom prst="rect">
            <a:avLst/>
          </a:prstGeom>
          <a:noFill/>
          <a:ln/>
        </p:spPr>
        <p:txBody>
          <a:bodyPr wrap="square" lIns="0" tIns="0" rIns="0" bIns="0" rtlCol="0" anchor="t"/>
          <a:lstStyle/>
          <a:p>
            <a:pPr marL="0" indent="0">
              <a:buNone/>
            </a:pPr>
            <a:r>
              <a:rPr lang="en-US" sz="1500" b="1" dirty="0">
                <a:solidFill>
                  <a:srgbClr val="2B0B5E"/>
                </a:solidFill>
                <a:latin typeface="Calibri" pitchFamily="34" charset="0"/>
                <a:ea typeface="Calibri" pitchFamily="34" charset="-122"/>
                <a:cs typeface="Calibri" pitchFamily="34" charset="-120"/>
              </a:rPr>
              <a:t>Prototyping</a:t>
            </a:r>
            <a:endParaRPr lang="en-US" sz="1500" dirty="0"/>
          </a:p>
        </p:txBody>
      </p:sp>
      <p:sp>
        <p:nvSpPr>
          <p:cNvPr id="17" name="Text 15"/>
          <p:cNvSpPr txBox="1"/>
          <p:nvPr/>
        </p:nvSpPr>
        <p:spPr>
          <a:xfrm>
            <a:off x="6373368" y="3886200"/>
            <a:ext cx="5120640" cy="1234440"/>
          </a:xfrm>
          <a:prstGeom prst="rect">
            <a:avLst/>
          </a:prstGeom>
          <a:noFill/>
          <a:ln/>
        </p:spPr>
        <p:txBody>
          <a:bodyPr wrap="square" lIns="0" tIns="0" rIns="0" bIns="0" rtlCol="0" anchor="t"/>
          <a:lstStyle/>
          <a:p>
            <a:pPr marL="0" indent="0">
              <a:spcAft>
                <a:spcPts val="600"/>
              </a:spcAft>
              <a:buNone/>
            </a:pPr>
            <a:r>
              <a:rPr lang="en-US" sz="1450" dirty="0">
                <a:solidFill>
                  <a:srgbClr val="1A1A22"/>
                </a:solidFill>
                <a:latin typeface="Calibri" pitchFamily="34" charset="0"/>
                <a:ea typeface="Calibri" pitchFamily="34" charset="-122"/>
                <a:cs typeface="Calibri" pitchFamily="34" charset="-120"/>
              </a:rPr>
              <a:t>What: 61 mockups (47 web, 14 mobile), reviewed by the team.</a:t>
            </a:r>
            <a:endParaRPr lang="en-US" sz="1450" dirty="0"/>
          </a:p>
          <a:p>
            <a:pPr marL="0" indent="0">
              <a:buNone/>
            </a:pPr>
            <a:r>
              <a:rPr lang="en-US" sz="1450" dirty="0">
                <a:solidFill>
                  <a:srgbClr val="1A1A22"/>
                </a:solidFill>
                <a:latin typeface="Calibri" pitchFamily="34" charset="0"/>
                <a:ea typeface="Calibri" pitchFamily="34" charset="-122"/>
                <a:cs typeface="Calibri" pitchFamily="34" charset="-120"/>
              </a:rPr>
              <a:t>Why: makes each user action and system response explicit, so FRs can be derived from them.</a:t>
            </a:r>
            <a:endParaRPr lang="en-US" sz="1450" dirty="0"/>
          </a:p>
        </p:txBody>
      </p:sp>
      <p:sp>
        <p:nvSpPr>
          <p:cNvPr id="18" name="Text 16"/>
          <p:cNvSpPr txBox="1"/>
          <p:nvPr/>
        </p:nvSpPr>
        <p:spPr>
          <a:xfrm>
            <a:off x="457200" y="5440680"/>
            <a:ext cx="11274552" cy="384048"/>
          </a:xfrm>
          <a:prstGeom prst="rect">
            <a:avLst/>
          </a:prstGeom>
          <a:solidFill>
            <a:srgbClr val="EFE7FB"/>
          </a:solidFill>
          <a:ln/>
        </p:spPr>
        <p:txBody>
          <a:bodyPr wrap="square" lIns="0" tIns="152400" rIns="152400" bIns="0" rtlCol="0" anchor="ctr"/>
          <a:lstStyle/>
          <a:p>
            <a:pPr marL="0" indent="0">
              <a:buNone/>
            </a:pPr>
            <a:r>
              <a:rPr lang="en-US" sz="1300" b="1" dirty="0">
                <a:solidFill>
                  <a:srgbClr val="2B0B5E"/>
                </a:solidFill>
                <a:latin typeface="Calibri" pitchFamily="34" charset="0"/>
                <a:ea typeface="Calibri" pitchFamily="34" charset="-122"/>
                <a:cs typeface="Calibri" pitchFamily="34" charset="-120"/>
              </a:rPr>
              <a:t>Result: 18 modules → 118 features → 41 use cases → 118 functional requirements and 40 non-functional requirements</a:t>
            </a:r>
            <a:endParaRPr lang="en-US" sz="1300" dirty="0"/>
          </a:p>
        </p:txBody>
      </p:sp>
      <p:sp>
        <p:nvSpPr>
          <p:cNvPr id="19" name="Text 17">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20" name="Text 18">
            <a:hlinkClick r:id="rId3"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21" name="Text 19">
            <a:hlinkClick r:id="rId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REQUIREMENTS</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Requirement Analysis Techniques</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20</a:t>
            </a:r>
            <a:endParaRPr lang="en-US" sz="1000" dirty="0"/>
          </a:p>
        </p:txBody>
      </p:sp>
      <p:sp>
        <p:nvSpPr>
          <p:cNvPr id="6" name="Shape 4"/>
          <p:cNvSpPr/>
          <p:nvPr/>
        </p:nvSpPr>
        <p:spPr>
          <a:xfrm>
            <a:off x="457200" y="1325880"/>
            <a:ext cx="3657600" cy="4206240"/>
          </a:xfrm>
          <a:prstGeom prst="roundRect">
            <a:avLst>
              <a:gd name="adj" fmla="val 2500"/>
            </a:avLst>
          </a:prstGeom>
          <a:solidFill>
            <a:srgbClr val="FFFFFF"/>
          </a:solidFill>
          <a:ln w="12700">
            <a:solidFill>
              <a:srgbClr val="E6E5EC"/>
            </a:solidFill>
            <a:prstDash val="solid"/>
          </a:ln>
        </p:spPr>
        <p:txBody>
          <a:bodyPr/>
          <a:lstStyle/>
          <a:p>
            <a:endParaRPr lang="en-PK"/>
          </a:p>
        </p:txBody>
      </p:sp>
      <p:sp>
        <p:nvSpPr>
          <p:cNvPr id="7" name="Text 5"/>
          <p:cNvSpPr txBox="1"/>
          <p:nvPr/>
        </p:nvSpPr>
        <p:spPr>
          <a:xfrm>
            <a:off x="685800" y="1508760"/>
            <a:ext cx="3200400" cy="411480"/>
          </a:xfrm>
          <a:prstGeom prst="rect">
            <a:avLst/>
          </a:prstGeom>
          <a:noFill/>
          <a:ln/>
        </p:spPr>
        <p:txBody>
          <a:bodyPr wrap="square" lIns="0" tIns="0" rIns="0" bIns="0" rtlCol="0" anchor="t"/>
          <a:lstStyle/>
          <a:p>
            <a:pPr marL="0" indent="0">
              <a:buNone/>
            </a:pPr>
            <a:r>
              <a:rPr lang="en-US" sz="1800" b="1" dirty="0">
                <a:solidFill>
                  <a:srgbClr val="2B0B5E"/>
                </a:solidFill>
                <a:latin typeface="Calibri" pitchFamily="34" charset="0"/>
                <a:ea typeface="Calibri" pitchFamily="34" charset="-122"/>
                <a:cs typeface="Calibri" pitchFamily="34" charset="-120"/>
              </a:rPr>
              <a:t>Mockups</a:t>
            </a:r>
            <a:endParaRPr lang="en-US" sz="1800" dirty="0"/>
          </a:p>
        </p:txBody>
      </p:sp>
      <p:sp>
        <p:nvSpPr>
          <p:cNvPr id="8" name="Text 6"/>
          <p:cNvSpPr txBox="1"/>
          <p:nvPr/>
        </p:nvSpPr>
        <p:spPr>
          <a:xfrm>
            <a:off x="685800" y="1938528"/>
            <a:ext cx="3200400" cy="320040"/>
          </a:xfrm>
          <a:prstGeom prst="rect">
            <a:avLst/>
          </a:prstGeom>
          <a:noFill/>
          <a:ln/>
        </p:spPr>
        <p:txBody>
          <a:bodyPr wrap="square" lIns="0" tIns="0" rIns="0" bIns="0" rtlCol="0" anchor="t"/>
          <a:lstStyle/>
          <a:p>
            <a:pPr marL="0" indent="0">
              <a:buNone/>
            </a:pPr>
            <a:r>
              <a:rPr lang="en-US" sz="1250" b="1" dirty="0">
                <a:solidFill>
                  <a:srgbClr val="4B1FA0"/>
                </a:solidFill>
                <a:latin typeface="Calibri" pitchFamily="34" charset="0"/>
                <a:ea typeface="Calibri" pitchFamily="34" charset="-122"/>
                <a:cs typeface="Calibri" pitchFamily="34" charset="-120"/>
              </a:rPr>
              <a:t>User actions and system responses</a:t>
            </a:r>
            <a:endParaRPr lang="en-US" sz="1250" dirty="0"/>
          </a:p>
        </p:txBody>
      </p:sp>
      <p:sp>
        <p:nvSpPr>
          <p:cNvPr id="9" name="Text 7"/>
          <p:cNvSpPr txBox="1"/>
          <p:nvPr/>
        </p:nvSpPr>
        <p:spPr>
          <a:xfrm>
            <a:off x="685800" y="2423160"/>
            <a:ext cx="3200400" cy="2377440"/>
          </a:xfrm>
          <a:prstGeom prst="rect">
            <a:avLst/>
          </a:prstGeom>
          <a:noFill/>
          <a:ln/>
        </p:spPr>
        <p:txBody>
          <a:bodyPr wrap="square" lIns="0" tIns="0" rIns="0" bIns="0" rtlCol="0" anchor="t"/>
          <a:lstStyle/>
          <a:p>
            <a:pPr marL="0" indent="0">
              <a:buNone/>
            </a:pPr>
            <a:r>
              <a:rPr lang="en-US" sz="1550" dirty="0">
                <a:solidFill>
                  <a:srgbClr val="1A1A22"/>
                </a:solidFill>
                <a:latin typeface="Calibri" pitchFamily="34" charset="0"/>
                <a:ea typeface="Calibri" pitchFamily="34" charset="-122"/>
                <a:cs typeface="Calibri" pitchFamily="34" charset="-120"/>
              </a:rPr>
              <a:t>61 screens (W-01–W-47, M-01–M-14). Each screen’s actions and responses give FRs and business rules; all 118 FRs are mapped to a screen (§2.5.1, §2.5.3).</a:t>
            </a:r>
            <a:endParaRPr lang="en-US" sz="1550" dirty="0"/>
          </a:p>
        </p:txBody>
      </p:sp>
      <p:sp>
        <p:nvSpPr>
          <p:cNvPr id="10" name="Text 8">
            <a:hlinkClick r:id="rId3" action="ppaction://hlinksldjump" tooltip="See example"/>
          </p:cNvPr>
          <p:cNvSpPr/>
          <p:nvPr/>
        </p:nvSpPr>
        <p:spPr>
          <a:xfrm>
            <a:off x="685800" y="4983480"/>
            <a:ext cx="1828800" cy="310896"/>
          </a:xfrm>
          <a:prstGeom prst="roundRect">
            <a:avLst>
              <a:gd name="adj" fmla="val 23529"/>
            </a:avLst>
          </a:prstGeom>
          <a:solidFill>
            <a:srgbClr val="4B1FA0"/>
          </a:solidFill>
          <a:ln w="12700">
            <a:solidFill>
              <a:srgbClr val="4B1FA0"/>
            </a:solidFill>
          </a:ln>
        </p:spPr>
        <p:txBody>
          <a:bodyPr wrap="square" lIns="0" tIns="0" rIns="0" bIns="0" rtlCol="0" anchor="ctr"/>
          <a:lstStyle/>
          <a:p>
            <a:pPr marL="0" indent="0" algn="ctr">
              <a:buNone/>
            </a:pPr>
            <a:r>
              <a:rPr lang="en-US" sz="1100" b="1" u="none" dirty="0">
                <a:solidFill>
                  <a:srgbClr val="FFFFFF"/>
                </a:solidFill>
                <a:latin typeface="Calibri" pitchFamily="34" charset="0"/>
                <a:ea typeface="Calibri" pitchFamily="34" charset="-122"/>
                <a:cs typeface="Calibri" pitchFamily="34" charset="-120"/>
                <a:hlinkClick r:id="rId3" action="ppaction://hlinksldjump" tooltip="See example">
                  <a:extLst>
                    <a:ext uri="{A12FA001-AC4F-418D-AE19-62706E023703}">
                      <ahyp:hlinkClr xmlns:ahyp="http://schemas.microsoft.com/office/drawing/2018/hyperlinkcolor" val="tx"/>
                    </a:ext>
                  </a:extLst>
                </a:hlinkClick>
              </a:rPr>
              <a:t>See example →</a:t>
            </a:r>
            <a:endParaRPr lang="en-US" sz="1100" dirty="0"/>
          </a:p>
        </p:txBody>
      </p:sp>
      <p:sp>
        <p:nvSpPr>
          <p:cNvPr id="11" name="Shape 9"/>
          <p:cNvSpPr/>
          <p:nvPr/>
        </p:nvSpPr>
        <p:spPr>
          <a:xfrm>
            <a:off x="4261104" y="1325880"/>
            <a:ext cx="3657600" cy="4206240"/>
          </a:xfrm>
          <a:prstGeom prst="roundRect">
            <a:avLst>
              <a:gd name="adj" fmla="val 2500"/>
            </a:avLst>
          </a:prstGeom>
          <a:solidFill>
            <a:srgbClr val="FFFFFF"/>
          </a:solidFill>
          <a:ln w="12700">
            <a:solidFill>
              <a:srgbClr val="E6E5EC"/>
            </a:solidFill>
            <a:prstDash val="solid"/>
          </a:ln>
        </p:spPr>
        <p:txBody>
          <a:bodyPr/>
          <a:lstStyle/>
          <a:p>
            <a:endParaRPr lang="en-PK"/>
          </a:p>
        </p:txBody>
      </p:sp>
      <p:sp>
        <p:nvSpPr>
          <p:cNvPr id="12" name="Text 10"/>
          <p:cNvSpPr txBox="1"/>
          <p:nvPr/>
        </p:nvSpPr>
        <p:spPr>
          <a:xfrm>
            <a:off x="4489704" y="1508760"/>
            <a:ext cx="3200400" cy="411480"/>
          </a:xfrm>
          <a:prstGeom prst="rect">
            <a:avLst/>
          </a:prstGeom>
          <a:noFill/>
          <a:ln/>
        </p:spPr>
        <p:txBody>
          <a:bodyPr wrap="square" lIns="0" tIns="0" rIns="0" bIns="0" rtlCol="0" anchor="t"/>
          <a:lstStyle/>
          <a:p>
            <a:pPr marL="0" indent="0">
              <a:buNone/>
            </a:pPr>
            <a:r>
              <a:rPr lang="en-US" sz="1800" b="1" dirty="0">
                <a:solidFill>
                  <a:srgbClr val="2B0B5E"/>
                </a:solidFill>
                <a:latin typeface="Calibri" pitchFamily="34" charset="0"/>
                <a:ea typeface="Calibri" pitchFamily="34" charset="-122"/>
                <a:cs typeface="Calibri" pitchFamily="34" charset="-120"/>
              </a:rPr>
              <a:t>Event–Response Tables</a:t>
            </a:r>
            <a:endParaRPr lang="en-US" sz="1800" dirty="0"/>
          </a:p>
        </p:txBody>
      </p:sp>
      <p:sp>
        <p:nvSpPr>
          <p:cNvPr id="13" name="Text 11"/>
          <p:cNvSpPr txBox="1"/>
          <p:nvPr/>
        </p:nvSpPr>
        <p:spPr>
          <a:xfrm>
            <a:off x="4489704" y="1938528"/>
            <a:ext cx="3200400" cy="320040"/>
          </a:xfrm>
          <a:prstGeom prst="rect">
            <a:avLst/>
          </a:prstGeom>
          <a:noFill/>
          <a:ln/>
        </p:spPr>
        <p:txBody>
          <a:bodyPr wrap="square" lIns="0" tIns="0" rIns="0" bIns="0" rtlCol="0" anchor="t"/>
          <a:lstStyle/>
          <a:p>
            <a:pPr marL="0" indent="0">
              <a:buNone/>
            </a:pPr>
            <a:r>
              <a:rPr lang="en-US" sz="1250" b="1" dirty="0">
                <a:solidFill>
                  <a:srgbClr val="4B1FA0"/>
                </a:solidFill>
                <a:latin typeface="Calibri" pitchFamily="34" charset="0"/>
                <a:ea typeface="Calibri" pitchFamily="34" charset="-122"/>
                <a:cs typeface="Calibri" pitchFamily="34" charset="-120"/>
              </a:rPr>
              <a:t>How the back end reacts to events</a:t>
            </a:r>
            <a:endParaRPr lang="en-US" sz="1250" dirty="0"/>
          </a:p>
        </p:txBody>
      </p:sp>
      <p:sp>
        <p:nvSpPr>
          <p:cNvPr id="14" name="Text 12"/>
          <p:cNvSpPr txBox="1"/>
          <p:nvPr/>
        </p:nvSpPr>
        <p:spPr>
          <a:xfrm>
            <a:off x="4489704" y="2423160"/>
            <a:ext cx="3200400" cy="2377440"/>
          </a:xfrm>
          <a:prstGeom prst="rect">
            <a:avLst/>
          </a:prstGeom>
          <a:noFill/>
          <a:ln/>
        </p:spPr>
        <p:txBody>
          <a:bodyPr wrap="square" lIns="0" tIns="0" rIns="0" bIns="0" rtlCol="0" anchor="t"/>
          <a:lstStyle/>
          <a:p>
            <a:pPr marL="0" indent="0">
              <a:buNone/>
            </a:pPr>
            <a:r>
              <a:rPr lang="en-US" sz="1550" dirty="0">
                <a:solidFill>
                  <a:srgbClr val="1A1A22"/>
                </a:solidFill>
                <a:latin typeface="Calibri" pitchFamily="34" charset="0"/>
                <a:ea typeface="Calibri" pitchFamily="34" charset="-122"/>
                <a:cs typeface="Calibri" pitchFamily="34" charset="-120"/>
              </a:rPr>
              <a:t>4 back-end processes with trigger, source, states, response and exceptions: sessions, audit logging, deadlines and alerts, and the readiness check (§2.5.2).</a:t>
            </a:r>
            <a:endParaRPr lang="en-US" sz="1550" dirty="0"/>
          </a:p>
        </p:txBody>
      </p:sp>
      <p:sp>
        <p:nvSpPr>
          <p:cNvPr id="15" name="Text 13">
            <a:hlinkClick r:id="rId4" action="ppaction://hlinksldjump" tooltip="See example"/>
          </p:cNvPr>
          <p:cNvSpPr/>
          <p:nvPr/>
        </p:nvSpPr>
        <p:spPr>
          <a:xfrm>
            <a:off x="4489704" y="4983480"/>
            <a:ext cx="1828800" cy="310896"/>
          </a:xfrm>
          <a:prstGeom prst="roundRect">
            <a:avLst>
              <a:gd name="adj" fmla="val 23529"/>
            </a:avLst>
          </a:prstGeom>
          <a:solidFill>
            <a:srgbClr val="4B1FA0"/>
          </a:solidFill>
          <a:ln w="12700">
            <a:solidFill>
              <a:srgbClr val="4B1FA0"/>
            </a:solidFill>
          </a:ln>
        </p:spPr>
        <p:txBody>
          <a:bodyPr wrap="square" lIns="0" tIns="0" rIns="0" bIns="0" rtlCol="0" anchor="ctr"/>
          <a:lstStyle/>
          <a:p>
            <a:pPr marL="0" indent="0" algn="ctr">
              <a:buNone/>
            </a:pPr>
            <a:r>
              <a:rPr lang="en-US" sz="1100" b="1" u="none" dirty="0">
                <a:solidFill>
                  <a:srgbClr val="FFFFFF"/>
                </a:solidFill>
                <a:latin typeface="Calibri" pitchFamily="34" charset="0"/>
                <a:ea typeface="Calibri" pitchFamily="34" charset="-122"/>
                <a:cs typeface="Calibri" pitchFamily="34" charset="-120"/>
                <a:hlinkClick r:id="rId4" action="ppaction://hlinksldjump" tooltip="See example">
                  <a:extLst>
                    <a:ext uri="{A12FA001-AC4F-418D-AE19-62706E023703}">
                      <ahyp:hlinkClr xmlns:ahyp="http://schemas.microsoft.com/office/drawing/2018/hyperlinkcolor" val="tx"/>
                    </a:ext>
                  </a:extLst>
                </a:hlinkClick>
              </a:rPr>
              <a:t>See example →</a:t>
            </a:r>
            <a:endParaRPr lang="en-US" sz="1100" dirty="0"/>
          </a:p>
        </p:txBody>
      </p:sp>
      <p:sp>
        <p:nvSpPr>
          <p:cNvPr id="16" name="Shape 14"/>
          <p:cNvSpPr/>
          <p:nvPr/>
        </p:nvSpPr>
        <p:spPr>
          <a:xfrm>
            <a:off x="8065008" y="1325880"/>
            <a:ext cx="3657600" cy="4206240"/>
          </a:xfrm>
          <a:prstGeom prst="roundRect">
            <a:avLst>
              <a:gd name="adj" fmla="val 2500"/>
            </a:avLst>
          </a:prstGeom>
          <a:solidFill>
            <a:srgbClr val="EFE7FB"/>
          </a:solidFill>
          <a:ln w="12700">
            <a:solidFill>
              <a:srgbClr val="E6E5EC"/>
            </a:solidFill>
            <a:prstDash val="solid"/>
          </a:ln>
        </p:spPr>
        <p:txBody>
          <a:bodyPr/>
          <a:lstStyle/>
          <a:p>
            <a:endParaRPr lang="en-PK"/>
          </a:p>
        </p:txBody>
      </p:sp>
      <p:sp>
        <p:nvSpPr>
          <p:cNvPr id="17" name="Text 15"/>
          <p:cNvSpPr txBox="1"/>
          <p:nvPr/>
        </p:nvSpPr>
        <p:spPr>
          <a:xfrm>
            <a:off x="8293608" y="1508760"/>
            <a:ext cx="3200400" cy="411480"/>
          </a:xfrm>
          <a:prstGeom prst="rect">
            <a:avLst/>
          </a:prstGeom>
          <a:noFill/>
          <a:ln/>
        </p:spPr>
        <p:txBody>
          <a:bodyPr wrap="square" lIns="0" tIns="0" rIns="0" bIns="0" rtlCol="0" anchor="t"/>
          <a:lstStyle/>
          <a:p>
            <a:pPr marL="0" indent="0">
              <a:buNone/>
            </a:pPr>
            <a:r>
              <a:rPr lang="en-US" sz="1800" b="1" dirty="0">
                <a:solidFill>
                  <a:srgbClr val="2B0B5E"/>
                </a:solidFill>
                <a:latin typeface="Calibri" pitchFamily="34" charset="0"/>
                <a:ea typeface="Calibri" pitchFamily="34" charset="-122"/>
                <a:cs typeface="Calibri" pitchFamily="34" charset="-120"/>
              </a:rPr>
              <a:t>Walkthrough</a:t>
            </a:r>
            <a:endParaRPr lang="en-US" sz="1800" dirty="0"/>
          </a:p>
        </p:txBody>
      </p:sp>
      <p:sp>
        <p:nvSpPr>
          <p:cNvPr id="18" name="Text 16"/>
          <p:cNvSpPr txBox="1"/>
          <p:nvPr/>
        </p:nvSpPr>
        <p:spPr>
          <a:xfrm>
            <a:off x="8293608" y="1938528"/>
            <a:ext cx="3200400" cy="320040"/>
          </a:xfrm>
          <a:prstGeom prst="rect">
            <a:avLst/>
          </a:prstGeom>
          <a:noFill/>
          <a:ln/>
        </p:spPr>
        <p:txBody>
          <a:bodyPr wrap="square" lIns="0" tIns="0" rIns="0" bIns="0" rtlCol="0" anchor="t"/>
          <a:lstStyle/>
          <a:p>
            <a:pPr marL="0" indent="0">
              <a:buNone/>
            </a:pPr>
            <a:r>
              <a:rPr lang="en-US" sz="1250" b="1" dirty="0">
                <a:solidFill>
                  <a:srgbClr val="4B1FA0"/>
                </a:solidFill>
                <a:latin typeface="Calibri" pitchFamily="34" charset="0"/>
                <a:ea typeface="Calibri" pitchFamily="34" charset="-122"/>
                <a:cs typeface="Calibri" pitchFamily="34" charset="-120"/>
              </a:rPr>
              <a:t>One bid through the screens</a:t>
            </a:r>
            <a:endParaRPr lang="en-US" sz="1250" dirty="0"/>
          </a:p>
        </p:txBody>
      </p:sp>
      <p:sp>
        <p:nvSpPr>
          <p:cNvPr id="19" name="Text 17"/>
          <p:cNvSpPr txBox="1"/>
          <p:nvPr/>
        </p:nvSpPr>
        <p:spPr>
          <a:xfrm>
            <a:off x="8293608" y="2423160"/>
            <a:ext cx="3200400" cy="2377440"/>
          </a:xfrm>
          <a:prstGeom prst="rect">
            <a:avLst/>
          </a:prstGeom>
          <a:noFill/>
          <a:ln/>
        </p:spPr>
        <p:txBody>
          <a:bodyPr wrap="square" lIns="0" tIns="0" rIns="0" bIns="0" rtlCol="0" anchor="t"/>
          <a:lstStyle/>
          <a:p>
            <a:pPr marL="0" indent="0">
              <a:buNone/>
            </a:pPr>
            <a:r>
              <a:rPr lang="en-US" sz="1550" dirty="0">
                <a:solidFill>
                  <a:srgbClr val="1A1A22"/>
                </a:solidFill>
                <a:latin typeface="Calibri" pitchFamily="34" charset="0"/>
                <a:ea typeface="Calibri" pitchFamily="34" charset="-122"/>
                <a:cs typeface="Calibri" pitchFamily="34" charset="-120"/>
              </a:rPr>
              <a:t>One RFP followed from upload to the saved submission package across the linked mockups.</a:t>
            </a:r>
            <a:endParaRPr lang="en-US" sz="1550" dirty="0"/>
          </a:p>
        </p:txBody>
      </p:sp>
      <p:sp>
        <p:nvSpPr>
          <p:cNvPr id="20" name="Text 18">
            <a:hlinkClick r:id="rId5" action="ppaction://hlinksldjump" tooltip="See walkthrough"/>
          </p:cNvPr>
          <p:cNvSpPr/>
          <p:nvPr/>
        </p:nvSpPr>
        <p:spPr>
          <a:xfrm>
            <a:off x="8293608" y="4983480"/>
            <a:ext cx="1828800" cy="310896"/>
          </a:xfrm>
          <a:prstGeom prst="roundRect">
            <a:avLst>
              <a:gd name="adj" fmla="val 23529"/>
            </a:avLst>
          </a:prstGeom>
          <a:solidFill>
            <a:srgbClr val="4B1FA0"/>
          </a:solidFill>
          <a:ln w="12700">
            <a:solidFill>
              <a:srgbClr val="4B1FA0"/>
            </a:solidFill>
          </a:ln>
        </p:spPr>
        <p:txBody>
          <a:bodyPr wrap="square" lIns="0" tIns="0" rIns="0" bIns="0" rtlCol="0" anchor="ctr"/>
          <a:lstStyle/>
          <a:p>
            <a:pPr marL="0" indent="0" algn="ctr">
              <a:buNone/>
            </a:pPr>
            <a:r>
              <a:rPr lang="en-US" sz="1100" b="1" u="none" dirty="0">
                <a:solidFill>
                  <a:srgbClr val="FFFFFF"/>
                </a:solidFill>
                <a:latin typeface="Calibri" pitchFamily="34" charset="0"/>
                <a:ea typeface="Calibri" pitchFamily="34" charset="-122"/>
                <a:cs typeface="Calibri" pitchFamily="34" charset="-120"/>
                <a:hlinkClick r:id="rId5" action="ppaction://hlinksldjump" tooltip="See walkthrough">
                  <a:extLst>
                    <a:ext uri="{A12FA001-AC4F-418D-AE19-62706E023703}">
                      <ahyp:hlinkClr xmlns:ahyp="http://schemas.microsoft.com/office/drawing/2018/hyperlinkcolor" val="tx"/>
                    </a:ext>
                  </a:extLst>
                </a:hlinkClick>
              </a:rPr>
              <a:t>See walkthrough →</a:t>
            </a:r>
            <a:endParaRPr lang="en-US" sz="1100" dirty="0"/>
          </a:p>
        </p:txBody>
      </p:sp>
      <p:sp>
        <p:nvSpPr>
          <p:cNvPr id="21" name="Text 19">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22" name="Text 20">
            <a:hlinkClick r:id="rId6"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23" name="Text 21">
            <a:hlinkClick r:id="rId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REQUIREMENTS · TABLE 2.56 </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Event–Response Table: Submission Readiness Check</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r>
              <a:rPr lang="en-US" sz="1100" b="1" dirty="0">
                <a:solidFill>
                  <a:srgbClr val="5E5E6B"/>
                </a:solidFill>
                <a:latin typeface="Calibri" pitchFamily="34" charset="0"/>
                <a:ea typeface="Calibri" pitchFamily="34" charset="-122"/>
                <a:cs typeface="Calibri" pitchFamily="34" charset="-120"/>
              </a:rPr>
              <a:t>Module 10</a:t>
            </a: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21</a:t>
            </a:r>
            <a:endParaRPr lang="en-US" sz="1000" dirty="0"/>
          </a:p>
        </p:txBody>
      </p:sp>
      <p:sp>
        <p:nvSpPr>
          <p:cNvPr id="6" name="Text 4"/>
          <p:cNvSpPr txBox="1"/>
          <p:nvPr/>
        </p:nvSpPr>
        <p:spPr>
          <a:xfrm>
            <a:off x="457200" y="1143000"/>
            <a:ext cx="10972800" cy="274320"/>
          </a:xfrm>
          <a:prstGeom prst="rect">
            <a:avLst/>
          </a:prstGeom>
          <a:noFill/>
          <a:ln/>
        </p:spPr>
        <p:txBody>
          <a:bodyPr wrap="square" lIns="0" tIns="0" rIns="0" bIns="0" rtlCol="0" anchor="t"/>
          <a:lstStyle/>
          <a:p>
            <a:pPr marL="0" indent="0">
              <a:buNone/>
            </a:pPr>
            <a:endParaRPr lang="en-US" sz="11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74552" cy="3312160"/>
        </p:xfrm>
        <a:graphic>
          <a:graphicData uri="http://schemas.openxmlformats.org/drawingml/2006/table">
            <a:tbl>
              <a:tblPr/>
              <a:tblGrid>
                <a:gridCol w="18288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73352">
                  <a:extLst>
                    <a:ext uri="{9D8B030D-6E8A-4147-A177-3AD203B41FA5}">
                      <a16:colId xmlns:a16="http://schemas.microsoft.com/office/drawing/2014/main" val="20004"/>
                    </a:ext>
                  </a:extLst>
                </a:gridCol>
              </a:tblGrid>
              <a:tr h="0">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EVENT</a:t>
                      </a:r>
                      <a:endParaRPr lang="en-US" sz="10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TRIGGER</a:t>
                      </a:r>
                      <a:endParaRPr lang="en-US" sz="10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RESPONSE</a:t>
                      </a:r>
                      <a:endParaRPr lang="en-US" sz="10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STATE AFTER</a:t>
                      </a:r>
                      <a:endParaRPr lang="en-US" sz="10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EXCEPTION</a:t>
                      </a:r>
                      <a:endParaRPr lang="en-US" sz="10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extLst>
                  <a:ext uri="{0D108BD9-81ED-4DB2-BD59-A6C34878D82A}">
                    <a16:rowId xmlns:a16="http://schemas.microsoft.com/office/drawing/2014/main" val="10000"/>
                  </a:ext>
                </a:extLst>
              </a:tr>
              <a:tr h="0">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Packaging attempt initiated</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Engineer requests the submission package</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1. Check mandatory checklist items. 2. Check NC items for a justification. 3. Check proposal sections for approval.</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Blocker and warning list computed</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Blocker detected</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Missing mandatory item, unjustified NC item or unapproved section</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1. Add the item to the blocker list. 2. Prevent ZIP generation.</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Packaging blocked; blocker list shown</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Engineer resolves each blocker and re-runs the check</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2"/>
                  </a:ext>
                </a:extLst>
              </a:tr>
              <a:tr h="0">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Warning detected</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Score below the qualifying threshold, or a requirement not linked to any output</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1. Add the item to the warning list. 2. Still allow packaging.</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Packaging proceeds; warnings shown</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Readiness check passed</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No blockers remain</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1. Allow ZIP generation. 2. Save to the project vault.</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Package built and stored</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50" dirty="0">
                          <a:solidFill>
                            <a:srgbClr val="1A1A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88900" marB="88900">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4"/>
                  </a:ext>
                </a:extLst>
              </a:tr>
            </a:tbl>
          </a:graphicData>
        </a:graphic>
      </p:graphicFrame>
      <p:sp>
        <p:nvSpPr>
          <p:cNvPr id="8" name="Text 5"/>
          <p:cNvSpPr txBox="1"/>
          <p:nvPr/>
        </p:nvSpPr>
        <p:spPr>
          <a:xfrm>
            <a:off x="457200" y="5257800"/>
            <a:ext cx="11247120" cy="457200"/>
          </a:xfrm>
          <a:prstGeom prst="rect">
            <a:avLst/>
          </a:prstGeom>
          <a:noFill/>
          <a:ln/>
        </p:spPr>
        <p:txBody>
          <a:bodyPr wrap="square" lIns="0" tIns="0" rIns="0" bIns="0" rtlCol="0" anchor="t"/>
          <a:lstStyle/>
          <a:p>
            <a:pPr marL="0" indent="0">
              <a:buNone/>
            </a:pPr>
            <a:r>
              <a:rPr lang="en-US" sz="1250" b="1" dirty="0">
                <a:solidFill>
                  <a:srgbClr val="4B1FA0"/>
                </a:solidFill>
                <a:latin typeface="Calibri" pitchFamily="34" charset="0"/>
                <a:ea typeface="Calibri" pitchFamily="34" charset="-122"/>
                <a:cs typeface="Calibri" pitchFamily="34" charset="-120"/>
              </a:rPr>
              <a:t>DERIVED REQUIREMENTS   </a:t>
            </a:r>
            <a:r>
              <a:rPr lang="en-US" sz="1250" dirty="0">
                <a:solidFill>
                  <a:srgbClr val="1A1A22"/>
                </a:solidFill>
                <a:latin typeface="Calibri" pitchFamily="34" charset="0"/>
                <a:ea typeface="Calibri" pitchFamily="34" charset="-122"/>
                <a:cs typeface="Calibri" pitchFamily="34" charset="-120"/>
              </a:rPr>
              <a:t>FR-10.3 blocking error list · FR-10.7 readiness check · FR-2.6 submission blocking · FR-10.4 ZIP generation · FR-10.5 vault persistence</a:t>
            </a:r>
            <a:endParaRPr lang="en-US" sz="1250" dirty="0"/>
          </a:p>
        </p:txBody>
      </p:sp>
      <p:sp>
        <p:nvSpPr>
          <p:cNvPr id="9" name="Text 6">
            <a:hlinkClick r:id="" action="ppaction://noaction"/>
          </p:cNvPr>
          <p:cNvSpPr/>
          <p:nvPr/>
        </p:nvSpPr>
        <p:spPr>
          <a:xfrm>
            <a:off x="6161227"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10" name="Text 7">
            <a:hlinkClick r:id="rId3" action="ppaction://hlinksldjump" tooltip="Contents"/>
          </p:cNvPr>
          <p:cNvSpPr/>
          <p:nvPr/>
        </p:nvSpPr>
        <p:spPr>
          <a:xfrm>
            <a:off x="7139635"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11" name="Text 8">
            <a:hlinkClick r:id="rId4" action="ppaction://hlinksldjump" tooltip="Techniques"/>
          </p:cNvPr>
          <p:cNvSpPr/>
          <p:nvPr/>
        </p:nvSpPr>
        <p:spPr>
          <a:xfrm>
            <a:off x="8200339" y="6355080"/>
            <a:ext cx="1261872"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Techniques">
                  <a:extLst>
                    <a:ext uri="{A12FA001-AC4F-418D-AE19-62706E023703}">
                      <ahyp:hlinkClr xmlns:ahyp="http://schemas.microsoft.com/office/drawing/2018/hyperlinkcolor" val="tx"/>
                    </a:ext>
                  </a:extLst>
                </a:hlinkClick>
              </a:rPr>
              <a:t>← Techniques</a:t>
            </a:r>
            <a:endParaRPr lang="en-US" sz="1100" dirty="0"/>
          </a:p>
        </p:txBody>
      </p:sp>
      <p:sp>
        <p:nvSpPr>
          <p:cNvPr id="12" name="Text 9">
            <a:hlinkClick r:id="rId5" action="ppaction://hlinksldjump" tooltip="Mockup W-28"/>
          </p:cNvPr>
          <p:cNvSpPr/>
          <p:nvPr/>
        </p:nvSpPr>
        <p:spPr>
          <a:xfrm>
            <a:off x="9571939" y="6355080"/>
            <a:ext cx="1184148"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Mockup W-28">
                  <a:extLst>
                    <a:ext uri="{A12FA001-AC4F-418D-AE19-62706E023703}">
                      <ahyp:hlinkClr xmlns:ahyp="http://schemas.microsoft.com/office/drawing/2018/hyperlinkcolor" val="tx"/>
                    </a:ext>
                  </a:extLst>
                </a:hlinkClick>
              </a:rPr>
              <a:t>Mockup W-28</a:t>
            </a:r>
            <a:endParaRPr lang="en-US" sz="1100" dirty="0"/>
          </a:p>
        </p:txBody>
      </p:sp>
      <p:sp>
        <p:nvSpPr>
          <p:cNvPr id="13" name="Text 10">
            <a:hlinkClick r:id="rId6"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PropBot system use case diagram"/>
          <p:cNvPicPr>
            <a:picLocks noChangeAspect="1"/>
          </p:cNvPicPr>
          <p:nvPr/>
        </p:nvPicPr>
        <p:blipFill>
          <a:blip r:embed="rId3"/>
          <a:stretch>
            <a:fillRect/>
          </a:stretch>
        </p:blipFill>
        <p:spPr>
          <a:xfrm>
            <a:off x="1391478" y="109728"/>
            <a:ext cx="8935279" cy="6428232"/>
          </a:xfrm>
          <a:prstGeom prst="rect">
            <a:avLst/>
          </a:prstGeom>
        </p:spPr>
      </p:pic>
      <p:sp>
        <p:nvSpPr>
          <p:cNvPr id="3" name="Shape 0">
            <a:hlinkClick r:id="rId4" action="ppaction://hlinksldjump" tooltip="User Authentication"/>
          </p:cNvPr>
          <p:cNvSpPr/>
          <p:nvPr/>
        </p:nvSpPr>
        <p:spPr>
          <a:xfrm>
            <a:off x="5013309" y="1031820"/>
            <a:ext cx="897170" cy="274135"/>
          </a:xfrm>
          <a:prstGeom prst="ellipse">
            <a:avLst/>
          </a:prstGeom>
          <a:solidFill>
            <a:srgbClr val="FFFFFF">
              <a:alpha val="0"/>
            </a:srgbClr>
          </a:solidFill>
          <a:ln/>
        </p:spPr>
        <p:txBody>
          <a:bodyPr/>
          <a:lstStyle/>
          <a:p>
            <a:endParaRPr lang="en-PK"/>
          </a:p>
        </p:txBody>
      </p:sp>
      <p:sp>
        <p:nvSpPr>
          <p:cNvPr id="4" name="Shape 1">
            <a:hlinkClick r:id="rId4" action="ppaction://hlinksldjump" tooltip="Receive Notifications"/>
          </p:cNvPr>
          <p:cNvSpPr/>
          <p:nvPr/>
        </p:nvSpPr>
        <p:spPr>
          <a:xfrm>
            <a:off x="6217843" y="1031820"/>
            <a:ext cx="897170" cy="274135"/>
          </a:xfrm>
          <a:prstGeom prst="ellipse">
            <a:avLst/>
          </a:prstGeom>
          <a:solidFill>
            <a:srgbClr val="FFFFFF">
              <a:alpha val="0"/>
            </a:srgbClr>
          </a:solidFill>
          <a:ln/>
        </p:spPr>
        <p:txBody>
          <a:bodyPr/>
          <a:lstStyle/>
          <a:p>
            <a:endParaRPr lang="en-PK"/>
          </a:p>
        </p:txBody>
      </p:sp>
      <p:sp>
        <p:nvSpPr>
          <p:cNvPr id="5" name="Shape 2">
            <a:hlinkClick r:id="rId4" action="ppaction://hlinksldjump" tooltip="Approve Proposal"/>
          </p:cNvPr>
          <p:cNvSpPr/>
          <p:nvPr/>
        </p:nvSpPr>
        <p:spPr>
          <a:xfrm>
            <a:off x="3551253" y="1330877"/>
            <a:ext cx="897170" cy="274135"/>
          </a:xfrm>
          <a:prstGeom prst="ellipse">
            <a:avLst/>
          </a:prstGeom>
          <a:solidFill>
            <a:srgbClr val="FFFFFF">
              <a:alpha val="0"/>
            </a:srgbClr>
          </a:solidFill>
          <a:ln/>
        </p:spPr>
        <p:txBody>
          <a:bodyPr/>
          <a:lstStyle/>
          <a:p>
            <a:endParaRPr lang="en-PK"/>
          </a:p>
        </p:txBody>
      </p:sp>
      <p:sp>
        <p:nvSpPr>
          <p:cNvPr id="6" name="Shape 3">
            <a:hlinkClick r:id="rId4" action="ppaction://hlinksldjump" tooltip="Request Changes"/>
          </p:cNvPr>
          <p:cNvSpPr/>
          <p:nvPr/>
        </p:nvSpPr>
        <p:spPr>
          <a:xfrm>
            <a:off x="5013309" y="1330877"/>
            <a:ext cx="897170" cy="274135"/>
          </a:xfrm>
          <a:prstGeom prst="ellipse">
            <a:avLst/>
          </a:prstGeom>
          <a:solidFill>
            <a:srgbClr val="FFFFFF">
              <a:alpha val="0"/>
            </a:srgbClr>
          </a:solidFill>
          <a:ln/>
        </p:spPr>
        <p:txBody>
          <a:bodyPr/>
          <a:lstStyle/>
          <a:p>
            <a:endParaRPr lang="en-PK"/>
          </a:p>
        </p:txBody>
      </p:sp>
      <p:sp>
        <p:nvSpPr>
          <p:cNvPr id="7" name="Shape 4">
            <a:hlinkClick r:id="rId5" action="ppaction://hlinksldjump" tooltip="Upload RFP"/>
          </p:cNvPr>
          <p:cNvSpPr/>
          <p:nvPr/>
        </p:nvSpPr>
        <p:spPr>
          <a:xfrm>
            <a:off x="3551253" y="2078519"/>
            <a:ext cx="897170" cy="274135"/>
          </a:xfrm>
          <a:prstGeom prst="ellipse">
            <a:avLst/>
          </a:prstGeom>
          <a:solidFill>
            <a:srgbClr val="FFFFFF">
              <a:alpha val="0"/>
            </a:srgbClr>
          </a:solidFill>
          <a:ln/>
        </p:spPr>
        <p:txBody>
          <a:bodyPr/>
          <a:lstStyle/>
          <a:p>
            <a:endParaRPr lang="en-PK"/>
          </a:p>
        </p:txBody>
      </p:sp>
      <p:sp>
        <p:nvSpPr>
          <p:cNvPr id="8" name="Shape 5">
            <a:hlinkClick r:id="rId5" action="ppaction://hlinksldjump" tooltip="Classify Sections"/>
          </p:cNvPr>
          <p:cNvSpPr/>
          <p:nvPr/>
        </p:nvSpPr>
        <p:spPr>
          <a:xfrm>
            <a:off x="5013309" y="1629933"/>
            <a:ext cx="897170" cy="274135"/>
          </a:xfrm>
          <a:prstGeom prst="ellipse">
            <a:avLst/>
          </a:prstGeom>
          <a:solidFill>
            <a:srgbClr val="FFFFFF">
              <a:alpha val="0"/>
            </a:srgbClr>
          </a:solidFill>
          <a:ln/>
        </p:spPr>
        <p:txBody>
          <a:bodyPr/>
          <a:lstStyle/>
          <a:p>
            <a:endParaRPr lang="en-PK"/>
          </a:p>
        </p:txBody>
      </p:sp>
      <p:sp>
        <p:nvSpPr>
          <p:cNvPr id="9" name="Shape 6">
            <a:hlinkClick r:id="rId5" action="ppaction://hlinksldjump" tooltip="Extract Requirements"/>
          </p:cNvPr>
          <p:cNvSpPr/>
          <p:nvPr/>
        </p:nvSpPr>
        <p:spPr>
          <a:xfrm>
            <a:off x="5013309" y="1928990"/>
            <a:ext cx="897170" cy="274135"/>
          </a:xfrm>
          <a:prstGeom prst="ellipse">
            <a:avLst/>
          </a:prstGeom>
          <a:solidFill>
            <a:srgbClr val="FFFFFF">
              <a:alpha val="0"/>
            </a:srgbClr>
          </a:solidFill>
          <a:ln/>
        </p:spPr>
        <p:txBody>
          <a:bodyPr/>
          <a:lstStyle/>
          <a:p>
            <a:endParaRPr lang="en-PK"/>
          </a:p>
        </p:txBody>
      </p:sp>
      <p:sp>
        <p:nvSpPr>
          <p:cNvPr id="10" name="Shape 7">
            <a:hlinkClick r:id="rId5" action="ppaction://hlinksldjump" tooltip="Extract Specifications"/>
          </p:cNvPr>
          <p:cNvSpPr/>
          <p:nvPr/>
        </p:nvSpPr>
        <p:spPr>
          <a:xfrm>
            <a:off x="5013309" y="2228047"/>
            <a:ext cx="897170" cy="274135"/>
          </a:xfrm>
          <a:prstGeom prst="ellipse">
            <a:avLst/>
          </a:prstGeom>
          <a:solidFill>
            <a:srgbClr val="FFFFFF">
              <a:alpha val="0"/>
            </a:srgbClr>
          </a:solidFill>
          <a:ln/>
        </p:spPr>
        <p:txBody>
          <a:bodyPr/>
          <a:lstStyle/>
          <a:p>
            <a:endParaRPr lang="en-PK"/>
          </a:p>
        </p:txBody>
      </p:sp>
      <p:sp>
        <p:nvSpPr>
          <p:cNvPr id="11" name="Shape 8">
            <a:hlinkClick r:id="rId5" action="ppaction://hlinksldjump" tooltip="Extract Closing Date"/>
          </p:cNvPr>
          <p:cNvSpPr/>
          <p:nvPr/>
        </p:nvSpPr>
        <p:spPr>
          <a:xfrm>
            <a:off x="5013309" y="2527104"/>
            <a:ext cx="897170" cy="274135"/>
          </a:xfrm>
          <a:prstGeom prst="ellipse">
            <a:avLst/>
          </a:prstGeom>
          <a:solidFill>
            <a:srgbClr val="FFFFFF">
              <a:alpha val="0"/>
            </a:srgbClr>
          </a:solidFill>
          <a:ln/>
        </p:spPr>
        <p:txBody>
          <a:bodyPr/>
          <a:lstStyle/>
          <a:p>
            <a:endParaRPr lang="en-PK"/>
          </a:p>
        </p:txBody>
      </p:sp>
      <p:sp>
        <p:nvSpPr>
          <p:cNvPr id="12" name="Shape 9">
            <a:hlinkClick r:id="rId5" action="ppaction://hlinksldjump" tooltip="Manage Checklist"/>
          </p:cNvPr>
          <p:cNvSpPr/>
          <p:nvPr/>
        </p:nvSpPr>
        <p:spPr>
          <a:xfrm>
            <a:off x="3551253" y="2826161"/>
            <a:ext cx="897170" cy="274135"/>
          </a:xfrm>
          <a:prstGeom prst="ellipse">
            <a:avLst/>
          </a:prstGeom>
          <a:solidFill>
            <a:srgbClr val="FFFFFF">
              <a:alpha val="0"/>
            </a:srgbClr>
          </a:solidFill>
          <a:ln/>
        </p:spPr>
        <p:txBody>
          <a:bodyPr/>
          <a:lstStyle/>
          <a:p>
            <a:endParaRPr lang="en-PK"/>
          </a:p>
        </p:txBody>
      </p:sp>
      <p:sp>
        <p:nvSpPr>
          <p:cNvPr id="13" name="Shape 10">
            <a:hlinkClick r:id="rId5" action="ppaction://hlinksldjump" tooltip="Extract Checklist Items"/>
          </p:cNvPr>
          <p:cNvSpPr/>
          <p:nvPr/>
        </p:nvSpPr>
        <p:spPr>
          <a:xfrm>
            <a:off x="5013309" y="2826161"/>
            <a:ext cx="897170" cy="274135"/>
          </a:xfrm>
          <a:prstGeom prst="ellipse">
            <a:avLst/>
          </a:prstGeom>
          <a:solidFill>
            <a:srgbClr val="FFFFFF">
              <a:alpha val="0"/>
            </a:srgbClr>
          </a:solidFill>
          <a:ln/>
        </p:spPr>
        <p:txBody>
          <a:bodyPr/>
          <a:lstStyle/>
          <a:p>
            <a:endParaRPr lang="en-PK"/>
          </a:p>
        </p:txBody>
      </p:sp>
      <p:sp>
        <p:nvSpPr>
          <p:cNvPr id="14" name="Shape 11">
            <a:hlinkClick r:id="rId6" action="ppaction://hlinksldjump" tooltip="Generate Compliance Matrix"/>
          </p:cNvPr>
          <p:cNvSpPr/>
          <p:nvPr/>
        </p:nvSpPr>
        <p:spPr>
          <a:xfrm>
            <a:off x="3551253" y="3573803"/>
            <a:ext cx="897170" cy="274135"/>
          </a:xfrm>
          <a:prstGeom prst="ellipse">
            <a:avLst/>
          </a:prstGeom>
          <a:solidFill>
            <a:srgbClr val="FFFFFF">
              <a:alpha val="0"/>
            </a:srgbClr>
          </a:solidFill>
          <a:ln/>
        </p:spPr>
        <p:txBody>
          <a:bodyPr/>
          <a:lstStyle/>
          <a:p>
            <a:endParaRPr lang="en-PK"/>
          </a:p>
        </p:txBody>
      </p:sp>
      <p:sp>
        <p:nvSpPr>
          <p:cNvPr id="15" name="Shape 12">
            <a:hlinkClick r:id="rId6" action="ppaction://hlinksldjump" tooltip="Retrieve Specifications"/>
          </p:cNvPr>
          <p:cNvSpPr/>
          <p:nvPr/>
        </p:nvSpPr>
        <p:spPr>
          <a:xfrm>
            <a:off x="5013309" y="3125217"/>
            <a:ext cx="897170" cy="274135"/>
          </a:xfrm>
          <a:prstGeom prst="ellipse">
            <a:avLst/>
          </a:prstGeom>
          <a:solidFill>
            <a:srgbClr val="FFFFFF">
              <a:alpha val="0"/>
            </a:srgbClr>
          </a:solidFill>
          <a:ln/>
        </p:spPr>
        <p:txBody>
          <a:bodyPr/>
          <a:lstStyle/>
          <a:p>
            <a:endParaRPr lang="en-PK"/>
          </a:p>
        </p:txBody>
      </p:sp>
      <p:sp>
        <p:nvSpPr>
          <p:cNvPr id="16" name="Shape 13">
            <a:hlinkClick r:id="rId6" action="ppaction://hlinksldjump" tooltip="Rate Compliance"/>
          </p:cNvPr>
          <p:cNvSpPr/>
          <p:nvPr/>
        </p:nvSpPr>
        <p:spPr>
          <a:xfrm>
            <a:off x="5013309" y="3424274"/>
            <a:ext cx="897170" cy="274135"/>
          </a:xfrm>
          <a:prstGeom prst="ellipse">
            <a:avLst/>
          </a:prstGeom>
          <a:solidFill>
            <a:srgbClr val="FFFFFF">
              <a:alpha val="0"/>
            </a:srgbClr>
          </a:solidFill>
          <a:ln/>
        </p:spPr>
        <p:txBody>
          <a:bodyPr/>
          <a:lstStyle/>
          <a:p>
            <a:endParaRPr lang="en-PK"/>
          </a:p>
        </p:txBody>
      </p:sp>
      <p:sp>
        <p:nvSpPr>
          <p:cNvPr id="17" name="Shape 14">
            <a:hlinkClick r:id="rId6" action="ppaction://hlinksldjump" tooltip="Calculate Score"/>
          </p:cNvPr>
          <p:cNvSpPr/>
          <p:nvPr/>
        </p:nvSpPr>
        <p:spPr>
          <a:xfrm>
            <a:off x="5013309" y="3723331"/>
            <a:ext cx="897170" cy="274135"/>
          </a:xfrm>
          <a:prstGeom prst="ellipse">
            <a:avLst/>
          </a:prstGeom>
          <a:solidFill>
            <a:srgbClr val="FFFFFF">
              <a:alpha val="0"/>
            </a:srgbClr>
          </a:solidFill>
          <a:ln/>
        </p:spPr>
        <p:txBody>
          <a:bodyPr/>
          <a:lstStyle/>
          <a:p>
            <a:endParaRPr lang="en-PK"/>
          </a:p>
        </p:txBody>
      </p:sp>
      <p:sp>
        <p:nvSpPr>
          <p:cNvPr id="18" name="Shape 15">
            <a:hlinkClick r:id="rId6" action="ppaction://hlinksldjump" tooltip="Override Rating"/>
          </p:cNvPr>
          <p:cNvSpPr/>
          <p:nvPr/>
        </p:nvSpPr>
        <p:spPr>
          <a:xfrm>
            <a:off x="5013309" y="4022388"/>
            <a:ext cx="897170" cy="274135"/>
          </a:xfrm>
          <a:prstGeom prst="ellipse">
            <a:avLst/>
          </a:prstGeom>
          <a:solidFill>
            <a:srgbClr val="FFFFFF">
              <a:alpha val="0"/>
            </a:srgbClr>
          </a:solidFill>
          <a:ln/>
        </p:spPr>
        <p:txBody>
          <a:bodyPr/>
          <a:lstStyle/>
          <a:p>
            <a:endParaRPr lang="en-PK"/>
          </a:p>
        </p:txBody>
      </p:sp>
      <p:sp>
        <p:nvSpPr>
          <p:cNvPr id="19" name="Shape 16">
            <a:hlinkClick r:id="rId6" action="ppaction://hlinksldjump" tooltip="Generate Proposal"/>
          </p:cNvPr>
          <p:cNvSpPr/>
          <p:nvPr/>
        </p:nvSpPr>
        <p:spPr>
          <a:xfrm>
            <a:off x="3551253" y="4620501"/>
            <a:ext cx="897170" cy="274135"/>
          </a:xfrm>
          <a:prstGeom prst="ellipse">
            <a:avLst/>
          </a:prstGeom>
          <a:solidFill>
            <a:srgbClr val="FFFFFF">
              <a:alpha val="0"/>
            </a:srgbClr>
          </a:solidFill>
          <a:ln/>
        </p:spPr>
        <p:txBody>
          <a:bodyPr/>
          <a:lstStyle/>
          <a:p>
            <a:endParaRPr lang="en-PK"/>
          </a:p>
        </p:txBody>
      </p:sp>
      <p:sp>
        <p:nvSpPr>
          <p:cNvPr id="20" name="Shape 17">
            <a:hlinkClick r:id="rId6" action="ppaction://hlinksldjump" tooltip="Retrieve Past Content"/>
          </p:cNvPr>
          <p:cNvSpPr/>
          <p:nvPr/>
        </p:nvSpPr>
        <p:spPr>
          <a:xfrm>
            <a:off x="5013309" y="4321445"/>
            <a:ext cx="897170" cy="274135"/>
          </a:xfrm>
          <a:prstGeom prst="ellipse">
            <a:avLst/>
          </a:prstGeom>
          <a:solidFill>
            <a:srgbClr val="FFFFFF">
              <a:alpha val="0"/>
            </a:srgbClr>
          </a:solidFill>
          <a:ln/>
        </p:spPr>
        <p:txBody>
          <a:bodyPr/>
          <a:lstStyle/>
          <a:p>
            <a:endParaRPr lang="en-PK"/>
          </a:p>
        </p:txBody>
      </p:sp>
      <p:sp>
        <p:nvSpPr>
          <p:cNvPr id="21" name="Shape 18">
            <a:hlinkClick r:id="rId6" action="ppaction://hlinksldjump" tooltip="Generate Sections"/>
          </p:cNvPr>
          <p:cNvSpPr/>
          <p:nvPr/>
        </p:nvSpPr>
        <p:spPr>
          <a:xfrm>
            <a:off x="5013309" y="4620501"/>
            <a:ext cx="897170" cy="274135"/>
          </a:xfrm>
          <a:prstGeom prst="ellipse">
            <a:avLst/>
          </a:prstGeom>
          <a:solidFill>
            <a:srgbClr val="FFFFFF">
              <a:alpha val="0"/>
            </a:srgbClr>
          </a:solidFill>
          <a:ln/>
        </p:spPr>
        <p:txBody>
          <a:bodyPr/>
          <a:lstStyle/>
          <a:p>
            <a:endParaRPr lang="en-PK"/>
          </a:p>
        </p:txBody>
      </p:sp>
      <p:sp>
        <p:nvSpPr>
          <p:cNvPr id="22" name="Shape 19">
            <a:hlinkClick r:id="rId6" action="ppaction://hlinksldjump" tooltip="Link Requirements"/>
          </p:cNvPr>
          <p:cNvSpPr/>
          <p:nvPr/>
        </p:nvSpPr>
        <p:spPr>
          <a:xfrm>
            <a:off x="5013309" y="4919558"/>
            <a:ext cx="897170" cy="274135"/>
          </a:xfrm>
          <a:prstGeom prst="ellipse">
            <a:avLst/>
          </a:prstGeom>
          <a:solidFill>
            <a:srgbClr val="FFFFFF">
              <a:alpha val="0"/>
            </a:srgbClr>
          </a:solidFill>
          <a:ln/>
        </p:spPr>
        <p:txBody>
          <a:bodyPr/>
          <a:lstStyle/>
          <a:p>
            <a:endParaRPr lang="en-PK"/>
          </a:p>
        </p:txBody>
      </p:sp>
      <p:sp>
        <p:nvSpPr>
          <p:cNvPr id="23" name="Shape 20">
            <a:hlinkClick r:id="rId7" action="ppaction://hlinksldjump" tooltip="Generate Responsibility Matrix"/>
          </p:cNvPr>
          <p:cNvSpPr/>
          <p:nvPr/>
        </p:nvSpPr>
        <p:spPr>
          <a:xfrm>
            <a:off x="6217843" y="2228047"/>
            <a:ext cx="897170" cy="274135"/>
          </a:xfrm>
          <a:prstGeom prst="ellipse">
            <a:avLst/>
          </a:prstGeom>
          <a:solidFill>
            <a:srgbClr val="FFFFFF">
              <a:alpha val="0"/>
            </a:srgbClr>
          </a:solidFill>
          <a:ln/>
        </p:spPr>
        <p:txBody>
          <a:bodyPr/>
          <a:lstStyle/>
          <a:p>
            <a:endParaRPr lang="en-PK"/>
          </a:p>
        </p:txBody>
      </p:sp>
      <p:sp>
        <p:nvSpPr>
          <p:cNvPr id="24" name="Shape 21">
            <a:hlinkClick r:id="rId5" action="ppaction://hlinksldjump" tooltip="Upload Past Proposal"/>
          </p:cNvPr>
          <p:cNvSpPr/>
          <p:nvPr/>
        </p:nvSpPr>
        <p:spPr>
          <a:xfrm>
            <a:off x="6217843" y="2527104"/>
            <a:ext cx="897170" cy="274135"/>
          </a:xfrm>
          <a:prstGeom prst="ellipse">
            <a:avLst/>
          </a:prstGeom>
          <a:solidFill>
            <a:srgbClr val="FFFFFF">
              <a:alpha val="0"/>
            </a:srgbClr>
          </a:solidFill>
          <a:ln/>
        </p:spPr>
        <p:txBody>
          <a:bodyPr/>
          <a:lstStyle/>
          <a:p>
            <a:endParaRPr lang="en-PK"/>
          </a:p>
        </p:txBody>
      </p:sp>
      <p:sp>
        <p:nvSpPr>
          <p:cNvPr id="25" name="Shape 22">
            <a:hlinkClick r:id="rId5" action="ppaction://hlinksldjump" tooltip="Track Evaluation Score"/>
          </p:cNvPr>
          <p:cNvSpPr/>
          <p:nvPr/>
        </p:nvSpPr>
        <p:spPr>
          <a:xfrm>
            <a:off x="6217843" y="3125217"/>
            <a:ext cx="897170" cy="274135"/>
          </a:xfrm>
          <a:prstGeom prst="ellipse">
            <a:avLst/>
          </a:prstGeom>
          <a:solidFill>
            <a:srgbClr val="FFFFFF">
              <a:alpha val="0"/>
            </a:srgbClr>
          </a:solidFill>
          <a:ln/>
        </p:spPr>
        <p:txBody>
          <a:bodyPr/>
          <a:lstStyle/>
          <a:p>
            <a:endParaRPr lang="en-PK"/>
          </a:p>
        </p:txBody>
      </p:sp>
      <p:sp>
        <p:nvSpPr>
          <p:cNvPr id="26" name="Shape 23">
            <a:hlinkClick r:id="rId5" action="ppaction://hlinksldjump" tooltip="Extract Scoring Criteria"/>
          </p:cNvPr>
          <p:cNvSpPr/>
          <p:nvPr/>
        </p:nvSpPr>
        <p:spPr>
          <a:xfrm>
            <a:off x="7679899" y="3125217"/>
            <a:ext cx="897170" cy="274135"/>
          </a:xfrm>
          <a:prstGeom prst="ellipse">
            <a:avLst/>
          </a:prstGeom>
          <a:solidFill>
            <a:srgbClr val="FFFFFF">
              <a:alpha val="0"/>
            </a:srgbClr>
          </a:solidFill>
          <a:ln/>
        </p:spPr>
        <p:txBody>
          <a:bodyPr/>
          <a:lstStyle/>
          <a:p>
            <a:endParaRPr lang="en-PK"/>
          </a:p>
        </p:txBody>
      </p:sp>
      <p:sp>
        <p:nvSpPr>
          <p:cNvPr id="27" name="Shape 24">
            <a:hlinkClick r:id="rId7" action="ppaction://hlinksldjump" tooltip="Generate BOQ"/>
          </p:cNvPr>
          <p:cNvSpPr/>
          <p:nvPr/>
        </p:nvSpPr>
        <p:spPr>
          <a:xfrm>
            <a:off x="6217843" y="3573803"/>
            <a:ext cx="897170" cy="274135"/>
          </a:xfrm>
          <a:prstGeom prst="ellipse">
            <a:avLst/>
          </a:prstGeom>
          <a:solidFill>
            <a:srgbClr val="FFFFFF">
              <a:alpha val="0"/>
            </a:srgbClr>
          </a:solidFill>
          <a:ln/>
        </p:spPr>
        <p:txBody>
          <a:bodyPr/>
          <a:lstStyle/>
          <a:p>
            <a:endParaRPr lang="en-PK"/>
          </a:p>
        </p:txBody>
      </p:sp>
      <p:sp>
        <p:nvSpPr>
          <p:cNvPr id="28" name="Shape 25">
            <a:hlinkClick r:id="rId7" action="ppaction://hlinksldjump" tooltip="Import Equipment"/>
          </p:cNvPr>
          <p:cNvSpPr/>
          <p:nvPr/>
        </p:nvSpPr>
        <p:spPr>
          <a:xfrm>
            <a:off x="7679899" y="3424274"/>
            <a:ext cx="897170" cy="274135"/>
          </a:xfrm>
          <a:prstGeom prst="ellipse">
            <a:avLst/>
          </a:prstGeom>
          <a:solidFill>
            <a:srgbClr val="FFFFFF">
              <a:alpha val="0"/>
            </a:srgbClr>
          </a:solidFill>
          <a:ln/>
        </p:spPr>
        <p:txBody>
          <a:bodyPr/>
          <a:lstStyle/>
          <a:p>
            <a:endParaRPr lang="en-PK"/>
          </a:p>
        </p:txBody>
      </p:sp>
      <p:sp>
        <p:nvSpPr>
          <p:cNvPr id="29" name="Shape 26">
            <a:hlinkClick r:id="rId7" action="ppaction://hlinksldjump" tooltip="Apply BOQ Template"/>
          </p:cNvPr>
          <p:cNvSpPr/>
          <p:nvPr/>
        </p:nvSpPr>
        <p:spPr>
          <a:xfrm>
            <a:off x="7679899" y="3723331"/>
            <a:ext cx="897170" cy="274135"/>
          </a:xfrm>
          <a:prstGeom prst="ellipse">
            <a:avLst/>
          </a:prstGeom>
          <a:solidFill>
            <a:srgbClr val="FFFFFF">
              <a:alpha val="0"/>
            </a:srgbClr>
          </a:solidFill>
          <a:ln/>
        </p:spPr>
        <p:txBody>
          <a:bodyPr/>
          <a:lstStyle/>
          <a:p>
            <a:endParaRPr lang="en-PK"/>
          </a:p>
        </p:txBody>
      </p:sp>
      <p:sp>
        <p:nvSpPr>
          <p:cNvPr id="30" name="Shape 27">
            <a:hlinkClick r:id="rId7" action="ppaction://hlinksldjump" tooltip="Generate HLD Diagram"/>
          </p:cNvPr>
          <p:cNvSpPr/>
          <p:nvPr/>
        </p:nvSpPr>
        <p:spPr>
          <a:xfrm>
            <a:off x="6217843" y="4171916"/>
            <a:ext cx="897170" cy="274135"/>
          </a:xfrm>
          <a:prstGeom prst="ellipse">
            <a:avLst/>
          </a:prstGeom>
          <a:solidFill>
            <a:srgbClr val="FFFFFF">
              <a:alpha val="0"/>
            </a:srgbClr>
          </a:solidFill>
          <a:ln/>
        </p:spPr>
        <p:txBody>
          <a:bodyPr/>
          <a:lstStyle/>
          <a:p>
            <a:endParaRPr lang="en-PK"/>
          </a:p>
        </p:txBody>
      </p:sp>
      <p:sp>
        <p:nvSpPr>
          <p:cNvPr id="31" name="Shape 28">
            <a:hlinkClick r:id="rId7" action="ppaction://hlinksldjump" tooltip="Render Topology"/>
          </p:cNvPr>
          <p:cNvSpPr/>
          <p:nvPr/>
        </p:nvSpPr>
        <p:spPr>
          <a:xfrm>
            <a:off x="7679899" y="4022388"/>
            <a:ext cx="897170" cy="274135"/>
          </a:xfrm>
          <a:prstGeom prst="ellipse">
            <a:avLst/>
          </a:prstGeom>
          <a:solidFill>
            <a:srgbClr val="FFFFFF">
              <a:alpha val="0"/>
            </a:srgbClr>
          </a:solidFill>
          <a:ln/>
        </p:spPr>
        <p:txBody>
          <a:bodyPr/>
          <a:lstStyle/>
          <a:p>
            <a:endParaRPr lang="en-PK"/>
          </a:p>
        </p:txBody>
      </p:sp>
      <p:sp>
        <p:nvSpPr>
          <p:cNvPr id="32" name="Shape 29">
            <a:hlinkClick r:id="rId7" action="ppaction://hlinksldjump" tooltip="Describe Connectivity"/>
          </p:cNvPr>
          <p:cNvSpPr/>
          <p:nvPr/>
        </p:nvSpPr>
        <p:spPr>
          <a:xfrm>
            <a:off x="7679899" y="4321445"/>
            <a:ext cx="897170" cy="274135"/>
          </a:xfrm>
          <a:prstGeom prst="ellipse">
            <a:avLst/>
          </a:prstGeom>
          <a:solidFill>
            <a:srgbClr val="FFFFFF">
              <a:alpha val="0"/>
            </a:srgbClr>
          </a:solidFill>
          <a:ln/>
        </p:spPr>
        <p:txBody>
          <a:bodyPr/>
          <a:lstStyle/>
          <a:p>
            <a:endParaRPr lang="en-PK"/>
          </a:p>
        </p:txBody>
      </p:sp>
      <p:sp>
        <p:nvSpPr>
          <p:cNvPr id="33" name="Shape 30">
            <a:hlinkClick r:id="rId7" action="ppaction://hlinksldjump" tooltip="Build Submission Package"/>
          </p:cNvPr>
          <p:cNvSpPr/>
          <p:nvPr/>
        </p:nvSpPr>
        <p:spPr>
          <a:xfrm>
            <a:off x="6217843" y="4770030"/>
            <a:ext cx="897170" cy="274135"/>
          </a:xfrm>
          <a:prstGeom prst="ellipse">
            <a:avLst/>
          </a:prstGeom>
          <a:solidFill>
            <a:srgbClr val="FFFFFF">
              <a:alpha val="0"/>
            </a:srgbClr>
          </a:solidFill>
          <a:ln/>
        </p:spPr>
        <p:txBody>
          <a:bodyPr/>
          <a:lstStyle/>
          <a:p>
            <a:endParaRPr lang="en-PK"/>
          </a:p>
        </p:txBody>
      </p:sp>
      <p:sp>
        <p:nvSpPr>
          <p:cNvPr id="34" name="Shape 31">
            <a:hlinkClick r:id="rId7" action="ppaction://hlinksldjump" tooltip="Match Files"/>
          </p:cNvPr>
          <p:cNvSpPr/>
          <p:nvPr/>
        </p:nvSpPr>
        <p:spPr>
          <a:xfrm>
            <a:off x="7679899" y="4620501"/>
            <a:ext cx="897170" cy="274135"/>
          </a:xfrm>
          <a:prstGeom prst="ellipse">
            <a:avLst/>
          </a:prstGeom>
          <a:solidFill>
            <a:srgbClr val="FFFFFF">
              <a:alpha val="0"/>
            </a:srgbClr>
          </a:solidFill>
          <a:ln/>
        </p:spPr>
        <p:txBody>
          <a:bodyPr/>
          <a:lstStyle/>
          <a:p>
            <a:endParaRPr lang="en-PK"/>
          </a:p>
        </p:txBody>
      </p:sp>
      <p:sp>
        <p:nvSpPr>
          <p:cNvPr id="35" name="Shape 32">
            <a:hlinkClick r:id="rId7" action="ppaction://hlinksldjump" tooltip="Check Readiness"/>
          </p:cNvPr>
          <p:cNvSpPr/>
          <p:nvPr/>
        </p:nvSpPr>
        <p:spPr>
          <a:xfrm>
            <a:off x="7679899" y="4919558"/>
            <a:ext cx="897170" cy="274135"/>
          </a:xfrm>
          <a:prstGeom prst="ellipse">
            <a:avLst/>
          </a:prstGeom>
          <a:solidFill>
            <a:srgbClr val="FFFFFF">
              <a:alpha val="0"/>
            </a:srgbClr>
          </a:solidFill>
          <a:ln/>
        </p:spPr>
        <p:txBody>
          <a:bodyPr/>
          <a:lstStyle/>
          <a:p>
            <a:endParaRPr lang="en-PK"/>
          </a:p>
        </p:txBody>
      </p:sp>
      <p:sp>
        <p:nvSpPr>
          <p:cNvPr id="36" name="Shape 33">
            <a:hlinkClick r:id="rId7" action="ppaction://hlinksldjump" tooltip="Search Project Vault"/>
          </p:cNvPr>
          <p:cNvSpPr/>
          <p:nvPr/>
        </p:nvSpPr>
        <p:spPr>
          <a:xfrm>
            <a:off x="6217843" y="5218615"/>
            <a:ext cx="897170" cy="274135"/>
          </a:xfrm>
          <a:prstGeom prst="ellipse">
            <a:avLst/>
          </a:prstGeom>
          <a:solidFill>
            <a:srgbClr val="FFFFFF">
              <a:alpha val="0"/>
            </a:srgbClr>
          </a:solidFill>
          <a:ln/>
        </p:spPr>
        <p:txBody>
          <a:bodyPr/>
          <a:lstStyle/>
          <a:p>
            <a:endParaRPr lang="en-PK"/>
          </a:p>
        </p:txBody>
      </p:sp>
      <p:sp>
        <p:nvSpPr>
          <p:cNvPr id="37" name="Shape 34">
            <a:hlinkClick r:id="rId8" action="ppaction://hlinksldjump" tooltip="Manage Accounts"/>
          </p:cNvPr>
          <p:cNvSpPr/>
          <p:nvPr/>
        </p:nvSpPr>
        <p:spPr>
          <a:xfrm>
            <a:off x="7679899" y="1330877"/>
            <a:ext cx="897170" cy="274135"/>
          </a:xfrm>
          <a:prstGeom prst="ellipse">
            <a:avLst/>
          </a:prstGeom>
          <a:solidFill>
            <a:srgbClr val="FFFFFF">
              <a:alpha val="0"/>
            </a:srgbClr>
          </a:solidFill>
          <a:ln/>
        </p:spPr>
        <p:txBody>
          <a:bodyPr/>
          <a:lstStyle/>
          <a:p>
            <a:endParaRPr lang="en-PK"/>
          </a:p>
        </p:txBody>
      </p:sp>
      <p:sp>
        <p:nvSpPr>
          <p:cNvPr id="38" name="Shape 35">
            <a:hlinkClick r:id="rId8" action="ppaction://hlinksldjump" tooltip="Manage Templates"/>
          </p:cNvPr>
          <p:cNvSpPr/>
          <p:nvPr/>
        </p:nvSpPr>
        <p:spPr>
          <a:xfrm>
            <a:off x="7679899" y="1629933"/>
            <a:ext cx="897170" cy="274135"/>
          </a:xfrm>
          <a:prstGeom prst="ellipse">
            <a:avLst/>
          </a:prstGeom>
          <a:solidFill>
            <a:srgbClr val="FFFFFF">
              <a:alpha val="0"/>
            </a:srgbClr>
          </a:solidFill>
          <a:ln/>
        </p:spPr>
        <p:txBody>
          <a:bodyPr/>
          <a:lstStyle/>
          <a:p>
            <a:endParaRPr lang="en-PK"/>
          </a:p>
        </p:txBody>
      </p:sp>
      <p:sp>
        <p:nvSpPr>
          <p:cNvPr id="39" name="Shape 36">
            <a:hlinkClick r:id="rId8" action="ppaction://hlinksldjump" tooltip="Manage Knowledge Base"/>
          </p:cNvPr>
          <p:cNvSpPr/>
          <p:nvPr/>
        </p:nvSpPr>
        <p:spPr>
          <a:xfrm>
            <a:off x="7679899" y="1928990"/>
            <a:ext cx="897170" cy="274135"/>
          </a:xfrm>
          <a:prstGeom prst="ellipse">
            <a:avLst/>
          </a:prstGeom>
          <a:solidFill>
            <a:srgbClr val="FFFFFF">
              <a:alpha val="0"/>
            </a:srgbClr>
          </a:solidFill>
          <a:ln/>
        </p:spPr>
        <p:txBody>
          <a:bodyPr/>
          <a:lstStyle/>
          <a:p>
            <a:endParaRPr lang="en-PK"/>
          </a:p>
        </p:txBody>
      </p:sp>
      <p:sp>
        <p:nvSpPr>
          <p:cNvPr id="40" name="Shape 37">
            <a:hlinkClick r:id="rId8" action="ppaction://hlinksldjump" tooltip="View Audit Log"/>
          </p:cNvPr>
          <p:cNvSpPr/>
          <p:nvPr/>
        </p:nvSpPr>
        <p:spPr>
          <a:xfrm>
            <a:off x="7679899" y="2228047"/>
            <a:ext cx="897170" cy="274135"/>
          </a:xfrm>
          <a:prstGeom prst="ellipse">
            <a:avLst/>
          </a:prstGeom>
          <a:solidFill>
            <a:srgbClr val="FFFFFF">
              <a:alpha val="0"/>
            </a:srgbClr>
          </a:solidFill>
          <a:ln/>
        </p:spPr>
        <p:txBody>
          <a:bodyPr/>
          <a:lstStyle/>
          <a:p>
            <a:endParaRPr lang="en-PK"/>
          </a:p>
        </p:txBody>
      </p:sp>
      <p:sp>
        <p:nvSpPr>
          <p:cNvPr id="41" name="Shape 38">
            <a:hlinkClick r:id="rId8" action="ppaction://hlinksldjump" tooltip="View Analytics"/>
          </p:cNvPr>
          <p:cNvSpPr/>
          <p:nvPr/>
        </p:nvSpPr>
        <p:spPr>
          <a:xfrm>
            <a:off x="7679899" y="2527104"/>
            <a:ext cx="897170" cy="274135"/>
          </a:xfrm>
          <a:prstGeom prst="ellipse">
            <a:avLst/>
          </a:prstGeom>
          <a:solidFill>
            <a:srgbClr val="FFFFFF">
              <a:alpha val="0"/>
            </a:srgbClr>
          </a:solidFill>
          <a:ln/>
        </p:spPr>
        <p:txBody>
          <a:bodyPr/>
          <a:lstStyle/>
          <a:p>
            <a:endParaRPr lang="en-PK"/>
          </a:p>
        </p:txBody>
      </p:sp>
      <p:sp>
        <p:nvSpPr>
          <p:cNvPr id="42" name="Shape 39">
            <a:hlinkClick r:id="rId8" action="ppaction://hlinksldjump" tooltip="Manage Organisations"/>
          </p:cNvPr>
          <p:cNvSpPr/>
          <p:nvPr/>
        </p:nvSpPr>
        <p:spPr>
          <a:xfrm>
            <a:off x="7679899" y="1031820"/>
            <a:ext cx="897170" cy="274135"/>
          </a:xfrm>
          <a:prstGeom prst="ellipse">
            <a:avLst/>
          </a:prstGeom>
          <a:solidFill>
            <a:srgbClr val="FFFFFF">
              <a:alpha val="0"/>
            </a:srgbClr>
          </a:solidFill>
          <a:ln/>
        </p:spPr>
        <p:txBody>
          <a:bodyPr/>
          <a:lstStyle/>
          <a:p>
            <a:endParaRPr lang="en-PK"/>
          </a:p>
        </p:txBody>
      </p:sp>
      <p:sp>
        <p:nvSpPr>
          <p:cNvPr id="43" name="Shape 40">
            <a:hlinkClick r:id="rId6" action="ppaction://hlinksldjump" tooltip="Manage Tasks"/>
          </p:cNvPr>
          <p:cNvSpPr/>
          <p:nvPr/>
        </p:nvSpPr>
        <p:spPr>
          <a:xfrm>
            <a:off x="7679899" y="2826161"/>
            <a:ext cx="897170" cy="274135"/>
          </a:xfrm>
          <a:prstGeom prst="ellipse">
            <a:avLst/>
          </a:prstGeom>
          <a:solidFill>
            <a:srgbClr val="FFFFFF">
              <a:alpha val="0"/>
            </a:srgbClr>
          </a:solidFill>
          <a:ln/>
        </p:spPr>
        <p:txBody>
          <a:bodyPr/>
          <a:lstStyle/>
          <a:p>
            <a:endParaRPr lang="en-PK"/>
          </a:p>
        </p:txBody>
      </p:sp>
      <p:sp>
        <p:nvSpPr>
          <p:cNvPr id="44" name="Text 41"/>
          <p:cNvSpPr txBox="1"/>
          <p:nvPr/>
        </p:nvSpPr>
        <p:spPr>
          <a:xfrm>
            <a:off x="365760" y="320040"/>
            <a:ext cx="1737360" cy="274320"/>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USE CASES</a:t>
            </a:r>
            <a:endParaRPr lang="en-US" sz="1100" dirty="0"/>
          </a:p>
        </p:txBody>
      </p:sp>
      <p:sp>
        <p:nvSpPr>
          <p:cNvPr id="45" name="Text 42"/>
          <p:cNvSpPr txBox="1"/>
          <p:nvPr/>
        </p:nvSpPr>
        <p:spPr>
          <a:xfrm>
            <a:off x="365760" y="594360"/>
            <a:ext cx="1737360" cy="914400"/>
          </a:xfrm>
          <a:prstGeom prst="rect">
            <a:avLst/>
          </a:prstGeom>
          <a:noFill/>
          <a:ln/>
        </p:spPr>
        <p:txBody>
          <a:bodyPr wrap="square" lIns="0" tIns="0" rIns="0" bIns="0" rtlCol="0" anchor="t"/>
          <a:lstStyle/>
          <a:p>
            <a:pPr marL="0" indent="0">
              <a:buNone/>
            </a:pPr>
            <a:r>
              <a:rPr lang="en-US" sz="2200" b="1" dirty="0">
                <a:solidFill>
                  <a:srgbClr val="2B0B5E"/>
                </a:solidFill>
                <a:latin typeface="Calibri" pitchFamily="34" charset="0"/>
                <a:ea typeface="Calibri" pitchFamily="34" charset="-122"/>
                <a:cs typeface="Calibri" pitchFamily="34" charset="-120"/>
              </a:rPr>
              <a:t>Use Case Diagram</a:t>
            </a:r>
            <a:endParaRPr lang="en-US" sz="2200" dirty="0"/>
          </a:p>
        </p:txBody>
      </p:sp>
      <p:sp>
        <p:nvSpPr>
          <p:cNvPr id="46" name="Text 43"/>
          <p:cNvSpPr txBox="1"/>
          <p:nvPr/>
        </p:nvSpPr>
        <p:spPr>
          <a:xfrm>
            <a:off x="365760" y="1508760"/>
            <a:ext cx="1737360" cy="274320"/>
          </a:xfrm>
          <a:prstGeom prst="rect">
            <a:avLst/>
          </a:prstGeom>
          <a:noFill/>
          <a:ln/>
        </p:spPr>
        <p:txBody>
          <a:bodyPr wrap="square" lIns="0" tIns="0" rIns="0" bIns="0" rtlCol="0" anchor="t"/>
          <a:lstStyle/>
          <a:p>
            <a:pPr marL="0" indent="0">
              <a:buNone/>
            </a:pPr>
            <a:r>
              <a:rPr lang="en-US" sz="1200" dirty="0">
                <a:solidFill>
                  <a:srgbClr val="5E5E6B"/>
                </a:solidFill>
                <a:latin typeface="Calibri" pitchFamily="34" charset="0"/>
                <a:ea typeface="Calibri" pitchFamily="34" charset="-122"/>
                <a:cs typeface="Calibri" pitchFamily="34" charset="-120"/>
              </a:rPr>
              <a:t>Figure 2.1</a:t>
            </a:r>
            <a:endParaRPr lang="en-US" sz="1200" dirty="0"/>
          </a:p>
        </p:txBody>
      </p:sp>
      <p:sp>
        <p:nvSpPr>
          <p:cNvPr id="47" name="Text 44"/>
          <p:cNvSpPr txBox="1"/>
          <p:nvPr/>
        </p:nvSpPr>
        <p:spPr>
          <a:xfrm>
            <a:off x="365760" y="2194560"/>
            <a:ext cx="1645920" cy="1828800"/>
          </a:xfrm>
          <a:prstGeom prst="rect">
            <a:avLst/>
          </a:prstGeom>
          <a:noFill/>
          <a:ln/>
        </p:spPr>
        <p:txBody>
          <a:bodyPr wrap="square" lIns="0" tIns="0" rIns="0" bIns="0" rtlCol="0" anchor="t"/>
          <a:lstStyle/>
          <a:p>
            <a:pPr marL="0" indent="0">
              <a:buNone/>
            </a:pPr>
            <a:r>
              <a:rPr lang="en-US" sz="2600" b="1" dirty="0">
                <a:solidFill>
                  <a:srgbClr val="4B1FA0"/>
                </a:solidFill>
                <a:latin typeface="Calibri" pitchFamily="34" charset="0"/>
                <a:ea typeface="Calibri" pitchFamily="34" charset="-122"/>
                <a:cs typeface="Calibri" pitchFamily="34" charset="-120"/>
              </a:rPr>
              <a:t>6</a:t>
            </a:r>
            <a:endParaRPr lang="en-US" sz="2600" dirty="0"/>
          </a:p>
          <a:p>
            <a:pPr marL="0" indent="0">
              <a:buNone/>
            </a:pPr>
            <a:r>
              <a:rPr lang="en-US" sz="1200" dirty="0">
                <a:solidFill>
                  <a:srgbClr val="5E5E6B"/>
                </a:solidFill>
                <a:latin typeface="Calibri" pitchFamily="34" charset="0"/>
                <a:ea typeface="Calibri" pitchFamily="34" charset="-122"/>
                <a:cs typeface="Calibri" pitchFamily="34" charset="-120"/>
              </a:rPr>
              <a:t>actors</a:t>
            </a:r>
            <a:endParaRPr lang="en-US" sz="2600" dirty="0"/>
          </a:p>
          <a:p>
            <a:pPr marL="0" indent="0">
              <a:buNone/>
            </a:pPr>
            <a:r>
              <a:rPr lang="en-US" sz="2600" b="1" dirty="0">
                <a:solidFill>
                  <a:srgbClr val="4B1FA0"/>
                </a:solidFill>
                <a:latin typeface="Calibri" pitchFamily="34" charset="0"/>
                <a:ea typeface="Calibri" pitchFamily="34" charset="-122"/>
                <a:cs typeface="Calibri" pitchFamily="34" charset="-120"/>
              </a:rPr>
              <a:t>41</a:t>
            </a:r>
            <a:endParaRPr lang="en-US" sz="2600" dirty="0"/>
          </a:p>
          <a:p>
            <a:pPr marL="0" indent="0">
              <a:buNone/>
            </a:pPr>
            <a:r>
              <a:rPr lang="en-US" sz="1200" dirty="0">
                <a:solidFill>
                  <a:srgbClr val="5E5E6B"/>
                </a:solidFill>
                <a:latin typeface="Calibri" pitchFamily="34" charset="0"/>
                <a:ea typeface="Calibri" pitchFamily="34" charset="-122"/>
                <a:cs typeface="Calibri" pitchFamily="34" charset="-120"/>
              </a:rPr>
              <a:t>use cases</a:t>
            </a:r>
            <a:endParaRPr lang="en-US" sz="2600" dirty="0"/>
          </a:p>
        </p:txBody>
      </p:sp>
      <p:sp>
        <p:nvSpPr>
          <p:cNvPr id="48" name="Text 45"/>
          <p:cNvSpPr txBox="1"/>
          <p:nvPr/>
        </p:nvSpPr>
        <p:spPr>
          <a:xfrm>
            <a:off x="10649114" y="2222253"/>
            <a:ext cx="1737360" cy="1188720"/>
          </a:xfrm>
          <a:prstGeom prst="rect">
            <a:avLst/>
          </a:prstGeom>
          <a:noFill/>
          <a:ln/>
        </p:spPr>
        <p:txBody>
          <a:bodyPr wrap="square" lIns="0" tIns="0" rIns="0" bIns="0" rtlCol="0" anchor="t"/>
          <a:lstStyle/>
          <a:p>
            <a:pPr marL="0" indent="0">
              <a:buNone/>
            </a:pPr>
            <a:r>
              <a:rPr lang="en-US" sz="1300" b="1" dirty="0">
                <a:solidFill>
                  <a:srgbClr val="2B0B5E"/>
                </a:solidFill>
                <a:latin typeface="Calibri" pitchFamily="34" charset="0"/>
                <a:ea typeface="Calibri" pitchFamily="34" charset="-122"/>
                <a:cs typeface="Calibri" pitchFamily="34" charset="-120"/>
              </a:rPr>
              <a:t>21 </a:t>
            </a:r>
            <a:r>
              <a:rPr lang="en-US" sz="1300" dirty="0">
                <a:solidFill>
                  <a:srgbClr val="5E5E6B"/>
                </a:solidFill>
                <a:latin typeface="Calibri" pitchFamily="34" charset="0"/>
                <a:ea typeface="Calibri" pitchFamily="34" charset="-122"/>
                <a:cs typeface="Calibri" pitchFamily="34" charset="-120"/>
              </a:rPr>
              <a:t>base</a:t>
            </a:r>
            <a:endParaRPr lang="en-US" sz="1300" dirty="0"/>
          </a:p>
          <a:p>
            <a:pPr marL="0" indent="0">
              <a:buNone/>
            </a:pPr>
            <a:r>
              <a:rPr lang="en-US" sz="1300" b="1" dirty="0">
                <a:solidFill>
                  <a:srgbClr val="2B0B5E"/>
                </a:solidFill>
                <a:latin typeface="Calibri" pitchFamily="34" charset="0"/>
                <a:ea typeface="Calibri" pitchFamily="34" charset="-122"/>
                <a:cs typeface="Calibri" pitchFamily="34" charset="-120"/>
              </a:rPr>
              <a:t>18 </a:t>
            </a:r>
            <a:r>
              <a:rPr lang="en-US" sz="1300" dirty="0">
                <a:solidFill>
                  <a:srgbClr val="5E5E6B"/>
                </a:solidFill>
                <a:latin typeface="Calibri" pitchFamily="34" charset="0"/>
                <a:ea typeface="Calibri" pitchFamily="34" charset="-122"/>
                <a:cs typeface="Calibri" pitchFamily="34" charset="-120"/>
              </a:rPr>
              <a:t>«include»</a:t>
            </a:r>
            <a:endParaRPr lang="en-US" sz="1300" dirty="0"/>
          </a:p>
          <a:p>
            <a:pPr marL="0" indent="0">
              <a:buNone/>
            </a:pPr>
            <a:r>
              <a:rPr lang="en-US" sz="1300" b="1" dirty="0">
                <a:solidFill>
                  <a:srgbClr val="2B0B5E"/>
                </a:solidFill>
                <a:latin typeface="Calibri" pitchFamily="34" charset="0"/>
                <a:ea typeface="Calibri" pitchFamily="34" charset="-122"/>
                <a:cs typeface="Calibri" pitchFamily="34" charset="-120"/>
              </a:rPr>
              <a:t>2 </a:t>
            </a:r>
            <a:r>
              <a:rPr lang="en-US" sz="1300" dirty="0">
                <a:solidFill>
                  <a:srgbClr val="5E5E6B"/>
                </a:solidFill>
                <a:latin typeface="Calibri" pitchFamily="34" charset="0"/>
                <a:ea typeface="Calibri" pitchFamily="34" charset="-122"/>
                <a:cs typeface="Calibri" pitchFamily="34" charset="-120"/>
              </a:rPr>
              <a:t>«extend»</a:t>
            </a:r>
            <a:endParaRPr lang="en-US" sz="1300" dirty="0"/>
          </a:p>
        </p:txBody>
      </p:sp>
      <p:sp>
        <p:nvSpPr>
          <p:cNvPr id="49" name="Text 46"/>
          <p:cNvSpPr txBox="1"/>
          <p:nvPr/>
        </p:nvSpPr>
        <p:spPr>
          <a:xfrm>
            <a:off x="365760" y="6400800"/>
            <a:ext cx="18288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22</a:t>
            </a:r>
            <a:endParaRPr lang="en-US" sz="1000" dirty="0"/>
          </a:p>
        </p:txBody>
      </p:sp>
      <p:sp>
        <p:nvSpPr>
          <p:cNvPr id="50" name="Text 47">
            <a:hlinkClick r:id="rId9" action="ppaction://hlinksldjump" tooltip="Contents"/>
          </p:cNvPr>
          <p:cNvSpPr/>
          <p:nvPr/>
        </p:nvSpPr>
        <p:spPr>
          <a:xfrm>
            <a:off x="10195560" y="6355080"/>
            <a:ext cx="15544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9"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51" name="Text 48">
            <a:hlinkClick r:id="rId10" action="ppaction://hlinksldjump" tooltip="Actors"/>
          </p:cNvPr>
          <p:cNvSpPr/>
          <p:nvPr/>
        </p:nvSpPr>
        <p:spPr>
          <a:xfrm>
            <a:off x="10195560" y="5943600"/>
            <a:ext cx="1554480" cy="310896"/>
          </a:xfrm>
          <a:prstGeom prst="roundRect">
            <a:avLst>
              <a:gd name="adj" fmla="val 23529"/>
            </a:avLst>
          </a:prstGeom>
          <a:solidFill>
            <a:srgbClr val="4B1FA0"/>
          </a:solidFill>
          <a:ln w="12700">
            <a:solidFill>
              <a:srgbClr val="4B1FA0"/>
            </a:solidFill>
          </a:ln>
        </p:spPr>
        <p:txBody>
          <a:bodyPr wrap="square" lIns="0" tIns="0" rIns="0" bIns="0" rtlCol="0" anchor="ctr"/>
          <a:lstStyle/>
          <a:p>
            <a:pPr marL="0" indent="0" algn="ctr">
              <a:buNone/>
            </a:pPr>
            <a:r>
              <a:rPr lang="en-US" sz="1100" b="1" u="none" dirty="0">
                <a:solidFill>
                  <a:srgbClr val="FFFFFF"/>
                </a:solidFill>
                <a:latin typeface="Calibri" pitchFamily="34" charset="0"/>
                <a:ea typeface="Calibri" pitchFamily="34" charset="-122"/>
                <a:cs typeface="Calibri" pitchFamily="34" charset="-120"/>
                <a:hlinkClick r:id="rId10" action="ppaction://hlinksldjump" tooltip="Actors">
                  <a:extLst>
                    <a:ext uri="{A12FA001-AC4F-418D-AE19-62706E023703}">
                      <ahyp:hlinkClr xmlns:ahyp="http://schemas.microsoft.com/office/drawing/2018/hyperlinkcolor" val="tx"/>
                    </a:ext>
                  </a:extLst>
                </a:hlinkClick>
              </a:rPr>
              <a:t>Actors →</a:t>
            </a:r>
            <a:endParaRPr lang="en-US" sz="1100" dirty="0"/>
          </a:p>
        </p:txBody>
      </p:sp>
      <p:sp>
        <p:nvSpPr>
          <p:cNvPr id="52" name="Text 49">
            <a:hlinkClick r:id="" action="ppaction://noaction"/>
          </p:cNvPr>
          <p:cNvSpPr/>
          <p:nvPr/>
        </p:nvSpPr>
        <p:spPr>
          <a:xfrm>
            <a:off x="10195560" y="5532120"/>
            <a:ext cx="15544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USE CASES · FIGURE 2.1</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Actors and Their Use Cases</a:t>
            </a:r>
            <a:endParaRPr lang="en-US" sz="28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23</a:t>
            </a:r>
            <a:endParaRPr lang="en-US" sz="1000" dirty="0"/>
          </a:p>
        </p:txBody>
      </p:sp>
      <p:sp>
        <p:nvSpPr>
          <p:cNvPr id="5" name="Shape 3"/>
          <p:cNvSpPr/>
          <p:nvPr/>
        </p:nvSpPr>
        <p:spPr>
          <a:xfrm>
            <a:off x="457200" y="1234440"/>
            <a:ext cx="5577840" cy="4709160"/>
          </a:xfrm>
          <a:prstGeom prst="roundRect">
            <a:avLst>
              <a:gd name="adj" fmla="val 1942"/>
            </a:avLst>
          </a:prstGeom>
          <a:solidFill>
            <a:srgbClr val="2B0B5E"/>
          </a:solidFill>
          <a:ln w="12700">
            <a:solidFill>
              <a:srgbClr val="E6E5EC"/>
            </a:solidFill>
            <a:prstDash val="solid"/>
          </a:ln>
        </p:spPr>
        <p:txBody>
          <a:bodyPr/>
          <a:lstStyle/>
          <a:p>
            <a:endParaRPr lang="en-PK"/>
          </a:p>
        </p:txBody>
      </p:sp>
      <p:sp>
        <p:nvSpPr>
          <p:cNvPr id="6" name="Text 4"/>
          <p:cNvSpPr txBox="1"/>
          <p:nvPr/>
        </p:nvSpPr>
        <p:spPr>
          <a:xfrm>
            <a:off x="640080" y="1344168"/>
            <a:ext cx="521208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Presales Engineer</a:t>
            </a:r>
            <a:r>
              <a:rPr lang="en-US" sz="1100" dirty="0">
                <a:solidFill>
                  <a:srgbClr val="C9B6F2"/>
                </a:solidFill>
                <a:latin typeface="Calibri" pitchFamily="34" charset="0"/>
                <a:ea typeface="Calibri" pitchFamily="34" charset="-122"/>
                <a:cs typeface="Calibri" pitchFamily="34" charset="-120"/>
              </a:rPr>
              <a:t>   main user · 13 use cases</a:t>
            </a:r>
            <a:endParaRPr lang="en-US" sz="1600" dirty="0"/>
          </a:p>
        </p:txBody>
      </p:sp>
      <p:sp>
        <p:nvSpPr>
          <p:cNvPr id="7" name="Text 5"/>
          <p:cNvSpPr txBox="1"/>
          <p:nvPr/>
        </p:nvSpPr>
        <p:spPr>
          <a:xfrm>
            <a:off x="640080" y="1764792"/>
            <a:ext cx="5120640" cy="40690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E4DAF8"/>
                </a:solidFill>
                <a:latin typeface="Calibri" pitchFamily="34" charset="0"/>
                <a:ea typeface="Calibri" pitchFamily="34" charset="-122"/>
                <a:cs typeface="Calibri" pitchFamily="34" charset="-120"/>
              </a:rPr>
              <a:t>Upload RFP (+4 «include»)</a:t>
            </a:r>
            <a:endParaRPr lang="en-US" sz="1500" dirty="0"/>
          </a:p>
          <a:p>
            <a:pPr marL="177800" indent="-177800">
              <a:spcAft>
                <a:spcPts val="500"/>
              </a:spcAft>
              <a:buSzPct val="100000"/>
              <a:buChar char="•"/>
            </a:pPr>
            <a:r>
              <a:rPr lang="en-US" sz="1500" dirty="0">
                <a:solidFill>
                  <a:srgbClr val="E4DAF8"/>
                </a:solidFill>
                <a:latin typeface="Calibri" pitchFamily="34" charset="0"/>
                <a:ea typeface="Calibri" pitchFamily="34" charset="-122"/>
                <a:cs typeface="Calibri" pitchFamily="34" charset="-120"/>
              </a:rPr>
              <a:t>Manage Checklist (+1)</a:t>
            </a:r>
            <a:endParaRPr lang="en-US" sz="1500" dirty="0"/>
          </a:p>
          <a:p>
            <a:pPr marL="177800" indent="-177800">
              <a:spcAft>
                <a:spcPts val="500"/>
              </a:spcAft>
              <a:buSzPct val="100000"/>
              <a:buChar char="•"/>
            </a:pPr>
            <a:r>
              <a:rPr lang="en-US" sz="1500" dirty="0">
                <a:solidFill>
                  <a:srgbClr val="E4DAF8"/>
                </a:solidFill>
                <a:latin typeface="Calibri" pitchFamily="34" charset="0"/>
                <a:ea typeface="Calibri" pitchFamily="34" charset="-122"/>
                <a:cs typeface="Calibri" pitchFamily="34" charset="-120"/>
              </a:rPr>
              <a:t>Track Evaluation Score (+1)</a:t>
            </a:r>
            <a:endParaRPr lang="en-US" sz="1500" dirty="0"/>
          </a:p>
          <a:p>
            <a:pPr marL="177800" indent="-177800">
              <a:spcAft>
                <a:spcPts val="500"/>
              </a:spcAft>
              <a:buSzPct val="100000"/>
              <a:buChar char="•"/>
            </a:pPr>
            <a:r>
              <a:rPr lang="en-US" sz="1500" dirty="0">
                <a:solidFill>
                  <a:srgbClr val="E4DAF8"/>
                </a:solidFill>
                <a:latin typeface="Calibri" pitchFamily="34" charset="0"/>
                <a:ea typeface="Calibri" pitchFamily="34" charset="-122"/>
                <a:cs typeface="Calibri" pitchFamily="34" charset="-120"/>
              </a:rPr>
              <a:t>Generate Compliance Matrix (+3, +1 «extend»)</a:t>
            </a:r>
            <a:endParaRPr lang="en-US" sz="1500" dirty="0"/>
          </a:p>
          <a:p>
            <a:pPr marL="177800" indent="-177800">
              <a:spcAft>
                <a:spcPts val="500"/>
              </a:spcAft>
              <a:buSzPct val="100000"/>
              <a:buChar char="•"/>
            </a:pPr>
            <a:r>
              <a:rPr lang="en-US" sz="1500" dirty="0">
                <a:solidFill>
                  <a:srgbClr val="E4DAF8"/>
                </a:solidFill>
                <a:latin typeface="Calibri" pitchFamily="34" charset="0"/>
                <a:ea typeface="Calibri" pitchFamily="34" charset="-122"/>
                <a:cs typeface="Calibri" pitchFamily="34" charset="-120"/>
              </a:rPr>
              <a:t>Generate Proposal (+3)</a:t>
            </a:r>
            <a:endParaRPr lang="en-US" sz="1500" dirty="0"/>
          </a:p>
          <a:p>
            <a:pPr marL="177800" indent="-177800">
              <a:spcAft>
                <a:spcPts val="500"/>
              </a:spcAft>
              <a:buSzPct val="100000"/>
              <a:buChar char="•"/>
            </a:pPr>
            <a:r>
              <a:rPr lang="en-US" sz="1500" dirty="0">
                <a:solidFill>
                  <a:srgbClr val="E4DAF8"/>
                </a:solidFill>
                <a:latin typeface="Calibri" pitchFamily="34" charset="0"/>
                <a:ea typeface="Calibri" pitchFamily="34" charset="-122"/>
                <a:cs typeface="Calibri" pitchFamily="34" charset="-120"/>
              </a:rPr>
              <a:t>Generate BOQ (+2)</a:t>
            </a:r>
            <a:endParaRPr lang="en-US" sz="1500" dirty="0"/>
          </a:p>
          <a:p>
            <a:pPr marL="177800" indent="-177800">
              <a:spcAft>
                <a:spcPts val="500"/>
              </a:spcAft>
              <a:buSzPct val="100000"/>
              <a:buChar char="•"/>
            </a:pPr>
            <a:r>
              <a:rPr lang="en-US" sz="1500" dirty="0">
                <a:solidFill>
                  <a:srgbClr val="E4DAF8"/>
                </a:solidFill>
                <a:latin typeface="Calibri" pitchFamily="34" charset="0"/>
                <a:ea typeface="Calibri" pitchFamily="34" charset="-122"/>
                <a:cs typeface="Calibri" pitchFamily="34" charset="-120"/>
              </a:rPr>
              <a:t>Generate HLD Diagram (+2)</a:t>
            </a:r>
            <a:endParaRPr lang="en-US" sz="1500" dirty="0"/>
          </a:p>
          <a:p>
            <a:pPr marL="177800" indent="-177800">
              <a:spcAft>
                <a:spcPts val="500"/>
              </a:spcAft>
              <a:buSzPct val="100000"/>
              <a:buChar char="•"/>
            </a:pPr>
            <a:r>
              <a:rPr lang="en-US" sz="1500" dirty="0">
                <a:solidFill>
                  <a:srgbClr val="E4DAF8"/>
                </a:solidFill>
                <a:latin typeface="Calibri" pitchFamily="34" charset="0"/>
                <a:ea typeface="Calibri" pitchFamily="34" charset="-122"/>
                <a:cs typeface="Calibri" pitchFamily="34" charset="-120"/>
              </a:rPr>
              <a:t>Generate Responsibility Matrix</a:t>
            </a:r>
            <a:endParaRPr lang="en-US" sz="1500" dirty="0"/>
          </a:p>
          <a:p>
            <a:pPr marL="177800" indent="-177800">
              <a:spcAft>
                <a:spcPts val="500"/>
              </a:spcAft>
              <a:buSzPct val="100000"/>
              <a:buChar char="•"/>
            </a:pPr>
            <a:r>
              <a:rPr lang="en-US" sz="1500" dirty="0">
                <a:solidFill>
                  <a:srgbClr val="E4DAF8"/>
                </a:solidFill>
                <a:latin typeface="Calibri" pitchFamily="34" charset="0"/>
                <a:ea typeface="Calibri" pitchFamily="34" charset="-122"/>
                <a:cs typeface="Calibri" pitchFamily="34" charset="-120"/>
              </a:rPr>
              <a:t>Build Submission Package (+2)</a:t>
            </a:r>
            <a:endParaRPr lang="en-US" sz="1500" dirty="0"/>
          </a:p>
          <a:p>
            <a:pPr marL="177800" indent="-177800">
              <a:spcAft>
                <a:spcPts val="500"/>
              </a:spcAft>
              <a:buSzPct val="100000"/>
              <a:buChar char="•"/>
            </a:pPr>
            <a:r>
              <a:rPr lang="en-US" sz="1500" dirty="0">
                <a:solidFill>
                  <a:srgbClr val="E4DAF8"/>
                </a:solidFill>
                <a:latin typeface="Calibri" pitchFamily="34" charset="0"/>
                <a:ea typeface="Calibri" pitchFamily="34" charset="-122"/>
                <a:cs typeface="Calibri" pitchFamily="34" charset="-120"/>
              </a:rPr>
              <a:t>Upload Past Proposal</a:t>
            </a:r>
            <a:endParaRPr lang="en-US" sz="1500" dirty="0"/>
          </a:p>
          <a:p>
            <a:pPr marL="177800" indent="-177800">
              <a:spcAft>
                <a:spcPts val="500"/>
              </a:spcAft>
              <a:buSzPct val="100000"/>
              <a:buChar char="•"/>
            </a:pPr>
            <a:r>
              <a:rPr lang="en-US" sz="1500" dirty="0">
                <a:solidFill>
                  <a:srgbClr val="E4DAF8"/>
                </a:solidFill>
                <a:latin typeface="Calibri" pitchFamily="34" charset="0"/>
                <a:ea typeface="Calibri" pitchFamily="34" charset="-122"/>
                <a:cs typeface="Calibri" pitchFamily="34" charset="-120"/>
              </a:rPr>
              <a:t>Search Project Vault</a:t>
            </a:r>
            <a:endParaRPr lang="en-US" sz="1500" dirty="0"/>
          </a:p>
          <a:p>
            <a:pPr marL="177800" indent="-177800">
              <a:spcAft>
                <a:spcPts val="500"/>
              </a:spcAft>
              <a:buSzPct val="100000"/>
              <a:buChar char="•"/>
            </a:pPr>
            <a:r>
              <a:rPr lang="en-US" sz="1500" dirty="0">
                <a:solidFill>
                  <a:srgbClr val="E4DAF8"/>
                </a:solidFill>
                <a:latin typeface="Calibri" pitchFamily="34" charset="0"/>
                <a:ea typeface="Calibri" pitchFamily="34" charset="-122"/>
                <a:cs typeface="Calibri" pitchFamily="34" charset="-120"/>
              </a:rPr>
              <a:t>Manage Tasks</a:t>
            </a:r>
            <a:endParaRPr lang="en-US" sz="1500" dirty="0"/>
          </a:p>
          <a:p>
            <a:pPr marL="177800" indent="-177800">
              <a:spcAft>
                <a:spcPts val="500"/>
              </a:spcAft>
              <a:buSzPct val="100000"/>
              <a:buChar char="•"/>
            </a:pPr>
            <a:r>
              <a:rPr lang="en-US" sz="1500" dirty="0">
                <a:solidFill>
                  <a:srgbClr val="E4DAF8"/>
                </a:solidFill>
                <a:latin typeface="Calibri" pitchFamily="34" charset="0"/>
                <a:ea typeface="Calibri" pitchFamily="34" charset="-122"/>
                <a:cs typeface="Calibri" pitchFamily="34" charset="-120"/>
              </a:rPr>
              <a:t>Approve Proposal (as a peer reviewer)</a:t>
            </a:r>
            <a:endParaRPr lang="en-US" sz="1500" dirty="0"/>
          </a:p>
        </p:txBody>
      </p:sp>
      <p:sp>
        <p:nvSpPr>
          <p:cNvPr id="8" name="Shape 6">
            <a:hlinkClick r:id="rId3" action="ppaction://hlinksldjump" tooltip="Open Presales Engineer use cases"/>
          </p:cNvPr>
          <p:cNvSpPr/>
          <p:nvPr/>
        </p:nvSpPr>
        <p:spPr>
          <a:xfrm>
            <a:off x="457200" y="1234440"/>
            <a:ext cx="5577840" cy="4709160"/>
          </a:xfrm>
          <a:prstGeom prst="rect">
            <a:avLst/>
          </a:prstGeom>
          <a:solidFill>
            <a:srgbClr val="FFFFFF">
              <a:alpha val="0"/>
            </a:srgbClr>
          </a:solidFill>
          <a:ln/>
        </p:spPr>
        <p:txBody>
          <a:bodyPr/>
          <a:lstStyle/>
          <a:p>
            <a:endParaRPr lang="en-PK"/>
          </a:p>
        </p:txBody>
      </p:sp>
      <p:sp>
        <p:nvSpPr>
          <p:cNvPr id="9" name="Shape 7"/>
          <p:cNvSpPr/>
          <p:nvPr/>
        </p:nvSpPr>
        <p:spPr>
          <a:xfrm>
            <a:off x="6199632" y="1234440"/>
            <a:ext cx="5532120" cy="1783080"/>
          </a:xfrm>
          <a:prstGeom prst="roundRect">
            <a:avLst>
              <a:gd name="adj" fmla="val 5128"/>
            </a:avLst>
          </a:prstGeom>
          <a:solidFill>
            <a:srgbClr val="FFFFFF"/>
          </a:solidFill>
          <a:ln w="12700">
            <a:solidFill>
              <a:srgbClr val="E6E5EC"/>
            </a:solidFill>
            <a:prstDash val="solid"/>
          </a:ln>
        </p:spPr>
        <p:txBody>
          <a:bodyPr/>
          <a:lstStyle/>
          <a:p>
            <a:endParaRPr lang="en-PK"/>
          </a:p>
        </p:txBody>
      </p:sp>
      <p:sp>
        <p:nvSpPr>
          <p:cNvPr id="10" name="Text 8"/>
          <p:cNvSpPr txBox="1"/>
          <p:nvPr/>
        </p:nvSpPr>
        <p:spPr>
          <a:xfrm>
            <a:off x="6382512" y="1344168"/>
            <a:ext cx="5166360" cy="365760"/>
          </a:xfrm>
          <a:prstGeom prst="rect">
            <a:avLst/>
          </a:prstGeom>
          <a:noFill/>
          <a:ln/>
        </p:spPr>
        <p:txBody>
          <a:bodyPr wrap="square" lIns="0" tIns="0" rIns="0" bIns="0" rtlCol="0" anchor="t"/>
          <a:lstStyle/>
          <a:p>
            <a:pPr marL="0" indent="0">
              <a:buNone/>
            </a:pPr>
            <a:r>
              <a:rPr lang="en-US" sz="1600" b="1" dirty="0">
                <a:solidFill>
                  <a:srgbClr val="2B0B5E"/>
                </a:solidFill>
                <a:latin typeface="Calibri" pitchFamily="34" charset="0"/>
                <a:ea typeface="Calibri" pitchFamily="34" charset="-122"/>
                <a:cs typeface="Calibri" pitchFamily="34" charset="-120"/>
              </a:rPr>
              <a:t>Org Admin</a:t>
            </a:r>
            <a:r>
              <a:rPr lang="en-US" sz="1100" dirty="0">
                <a:solidFill>
                  <a:srgbClr val="4B1FA0"/>
                </a:solidFill>
                <a:latin typeface="Calibri" pitchFamily="34" charset="0"/>
                <a:ea typeface="Calibri" pitchFamily="34" charset="-122"/>
                <a:cs typeface="Calibri" pitchFamily="34" charset="-120"/>
              </a:rPr>
              <a:t>   company manager</a:t>
            </a:r>
            <a:endParaRPr lang="en-US" sz="1600" dirty="0"/>
          </a:p>
        </p:txBody>
      </p:sp>
      <p:sp>
        <p:nvSpPr>
          <p:cNvPr id="11" name="Text 9"/>
          <p:cNvSpPr txBox="1"/>
          <p:nvPr/>
        </p:nvSpPr>
        <p:spPr>
          <a:xfrm>
            <a:off x="6382512" y="1764792"/>
            <a:ext cx="2491740" cy="114300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A1A22"/>
                </a:solidFill>
                <a:latin typeface="Calibri" pitchFamily="34" charset="0"/>
                <a:ea typeface="Calibri" pitchFamily="34" charset="-122"/>
                <a:cs typeface="Calibri" pitchFamily="34" charset="-120"/>
              </a:rPr>
              <a:t>Manage Accounts</a:t>
            </a:r>
            <a:endParaRPr lang="en-US" sz="1350" dirty="0"/>
          </a:p>
          <a:p>
            <a:pPr marL="177800" indent="-177800">
              <a:spcAft>
                <a:spcPts val="500"/>
              </a:spcAft>
              <a:buSzPct val="100000"/>
              <a:buChar char="•"/>
            </a:pPr>
            <a:r>
              <a:rPr lang="en-US" sz="1350" dirty="0">
                <a:solidFill>
                  <a:srgbClr val="1A1A22"/>
                </a:solidFill>
                <a:latin typeface="Calibri" pitchFamily="34" charset="0"/>
                <a:ea typeface="Calibri" pitchFamily="34" charset="-122"/>
                <a:cs typeface="Calibri" pitchFamily="34" charset="-120"/>
              </a:rPr>
              <a:t>Manage Templates</a:t>
            </a:r>
            <a:endParaRPr lang="en-US" sz="1350" dirty="0"/>
          </a:p>
          <a:p>
            <a:pPr marL="177800" indent="-177800">
              <a:spcAft>
                <a:spcPts val="500"/>
              </a:spcAft>
              <a:buSzPct val="100000"/>
              <a:buChar char="•"/>
            </a:pPr>
            <a:r>
              <a:rPr lang="en-US" sz="1350" dirty="0">
                <a:solidFill>
                  <a:srgbClr val="1A1A22"/>
                </a:solidFill>
                <a:latin typeface="Calibri" pitchFamily="34" charset="0"/>
                <a:ea typeface="Calibri" pitchFamily="34" charset="-122"/>
                <a:cs typeface="Calibri" pitchFamily="34" charset="-120"/>
              </a:rPr>
              <a:t>Manage Knowledge Base</a:t>
            </a:r>
            <a:endParaRPr lang="en-US" sz="1350" dirty="0"/>
          </a:p>
          <a:p>
            <a:pPr marL="177800" indent="-177800">
              <a:spcAft>
                <a:spcPts val="500"/>
              </a:spcAft>
              <a:buSzPct val="100000"/>
              <a:buChar char="•"/>
            </a:pPr>
            <a:r>
              <a:rPr lang="en-US" sz="1350" dirty="0">
                <a:solidFill>
                  <a:srgbClr val="1A1A22"/>
                </a:solidFill>
                <a:latin typeface="Calibri" pitchFamily="34" charset="0"/>
                <a:ea typeface="Calibri" pitchFamily="34" charset="-122"/>
                <a:cs typeface="Calibri" pitchFamily="34" charset="-120"/>
              </a:rPr>
              <a:t>View Audit Log</a:t>
            </a:r>
            <a:endParaRPr lang="en-US" sz="1350" dirty="0"/>
          </a:p>
        </p:txBody>
      </p:sp>
      <p:sp>
        <p:nvSpPr>
          <p:cNvPr id="12" name="Text 10"/>
          <p:cNvSpPr txBox="1"/>
          <p:nvPr/>
        </p:nvSpPr>
        <p:spPr>
          <a:xfrm>
            <a:off x="8965692" y="1764792"/>
            <a:ext cx="2491740" cy="114300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A1A22"/>
                </a:solidFill>
                <a:latin typeface="Calibri" pitchFamily="34" charset="0"/>
                <a:ea typeface="Calibri" pitchFamily="34" charset="-122"/>
                <a:cs typeface="Calibri" pitchFamily="34" charset="-120"/>
              </a:rPr>
              <a:t>View Analytics</a:t>
            </a:r>
            <a:endParaRPr lang="en-US" sz="1350" dirty="0"/>
          </a:p>
          <a:p>
            <a:pPr marL="177800" indent="-177800">
              <a:spcAft>
                <a:spcPts val="500"/>
              </a:spcAft>
              <a:buSzPct val="100000"/>
              <a:buChar char="•"/>
            </a:pPr>
            <a:r>
              <a:rPr lang="en-US" sz="1350" dirty="0">
                <a:solidFill>
                  <a:srgbClr val="1A1A22"/>
                </a:solidFill>
                <a:latin typeface="Calibri" pitchFamily="34" charset="0"/>
                <a:ea typeface="Calibri" pitchFamily="34" charset="-122"/>
                <a:cs typeface="Calibri" pitchFamily="34" charset="-120"/>
              </a:rPr>
              <a:t>Manage Tasks</a:t>
            </a:r>
            <a:endParaRPr lang="en-US" sz="1350" dirty="0"/>
          </a:p>
          <a:p>
            <a:pPr marL="177800" indent="-177800">
              <a:spcAft>
                <a:spcPts val="500"/>
              </a:spcAft>
              <a:buSzPct val="100000"/>
              <a:buChar char="•"/>
            </a:pPr>
            <a:r>
              <a:rPr lang="en-US" sz="1350" dirty="0">
                <a:solidFill>
                  <a:srgbClr val="1A1A22"/>
                </a:solidFill>
                <a:latin typeface="Calibri" pitchFamily="34" charset="0"/>
                <a:ea typeface="Calibri" pitchFamily="34" charset="-122"/>
                <a:cs typeface="Calibri" pitchFamily="34" charset="-120"/>
              </a:rPr>
              <a:t>Search Project Vault</a:t>
            </a:r>
            <a:endParaRPr lang="en-US" sz="1350" dirty="0"/>
          </a:p>
        </p:txBody>
      </p:sp>
      <p:sp>
        <p:nvSpPr>
          <p:cNvPr id="13" name="Shape 11">
            <a:hlinkClick r:id="rId4" action="ppaction://hlinksldjump" tooltip="Open Org Admin use cases"/>
          </p:cNvPr>
          <p:cNvSpPr/>
          <p:nvPr/>
        </p:nvSpPr>
        <p:spPr>
          <a:xfrm>
            <a:off x="6199632" y="1234440"/>
            <a:ext cx="5532120" cy="1783080"/>
          </a:xfrm>
          <a:prstGeom prst="rect">
            <a:avLst/>
          </a:prstGeom>
          <a:solidFill>
            <a:srgbClr val="FFFFFF">
              <a:alpha val="0"/>
            </a:srgbClr>
          </a:solidFill>
          <a:ln/>
        </p:spPr>
        <p:txBody>
          <a:bodyPr/>
          <a:lstStyle/>
          <a:p>
            <a:endParaRPr lang="en-PK"/>
          </a:p>
        </p:txBody>
      </p:sp>
      <p:sp>
        <p:nvSpPr>
          <p:cNvPr id="14" name="Shape 12"/>
          <p:cNvSpPr/>
          <p:nvPr/>
        </p:nvSpPr>
        <p:spPr>
          <a:xfrm>
            <a:off x="6199632" y="3127248"/>
            <a:ext cx="2706624" cy="1353312"/>
          </a:xfrm>
          <a:prstGeom prst="roundRect">
            <a:avLst>
              <a:gd name="adj" fmla="val 6757"/>
            </a:avLst>
          </a:prstGeom>
          <a:solidFill>
            <a:srgbClr val="FFFFFF"/>
          </a:solidFill>
          <a:ln w="12700">
            <a:solidFill>
              <a:srgbClr val="E6E5EC"/>
            </a:solidFill>
            <a:prstDash val="solid"/>
          </a:ln>
        </p:spPr>
        <p:txBody>
          <a:bodyPr/>
          <a:lstStyle/>
          <a:p>
            <a:endParaRPr lang="en-PK"/>
          </a:p>
        </p:txBody>
      </p:sp>
      <p:sp>
        <p:nvSpPr>
          <p:cNvPr id="15" name="Text 13"/>
          <p:cNvSpPr txBox="1"/>
          <p:nvPr/>
        </p:nvSpPr>
        <p:spPr>
          <a:xfrm>
            <a:off x="6382512" y="3236976"/>
            <a:ext cx="2340864" cy="365760"/>
          </a:xfrm>
          <a:prstGeom prst="rect">
            <a:avLst/>
          </a:prstGeom>
          <a:noFill/>
          <a:ln/>
        </p:spPr>
        <p:txBody>
          <a:bodyPr wrap="square" lIns="0" tIns="0" rIns="0" bIns="0" rtlCol="0" anchor="t"/>
          <a:lstStyle/>
          <a:p>
            <a:pPr marL="0" indent="0">
              <a:buNone/>
            </a:pPr>
            <a:r>
              <a:rPr lang="en-US" sz="1600" b="1" dirty="0">
                <a:solidFill>
                  <a:srgbClr val="2B0B5E"/>
                </a:solidFill>
                <a:latin typeface="Calibri" pitchFamily="34" charset="0"/>
                <a:ea typeface="Calibri" pitchFamily="34" charset="-122"/>
                <a:cs typeface="Calibri" pitchFamily="34" charset="-120"/>
              </a:rPr>
              <a:t>Reviewer</a:t>
            </a:r>
            <a:endParaRPr lang="en-US" sz="1600" dirty="0"/>
          </a:p>
        </p:txBody>
      </p:sp>
      <p:sp>
        <p:nvSpPr>
          <p:cNvPr id="16" name="Text 14"/>
          <p:cNvSpPr txBox="1"/>
          <p:nvPr/>
        </p:nvSpPr>
        <p:spPr>
          <a:xfrm>
            <a:off x="6382512" y="3657600"/>
            <a:ext cx="2249424" cy="713232"/>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A1A22"/>
                </a:solidFill>
                <a:latin typeface="Calibri" pitchFamily="34" charset="0"/>
                <a:ea typeface="Calibri" pitchFamily="34" charset="-122"/>
                <a:cs typeface="Calibri" pitchFamily="34" charset="-120"/>
              </a:rPr>
              <a:t>Approve Proposal</a:t>
            </a:r>
            <a:endParaRPr lang="en-US" sz="1350" dirty="0"/>
          </a:p>
          <a:p>
            <a:pPr marL="177800" indent="-177800">
              <a:spcAft>
                <a:spcPts val="500"/>
              </a:spcAft>
              <a:buSzPct val="100000"/>
              <a:buChar char="•"/>
            </a:pPr>
            <a:r>
              <a:rPr lang="en-US" sz="1350" dirty="0">
                <a:solidFill>
                  <a:srgbClr val="1A1A22"/>
                </a:solidFill>
                <a:latin typeface="Calibri" pitchFamily="34" charset="0"/>
                <a:ea typeface="Calibri" pitchFamily="34" charset="-122"/>
                <a:cs typeface="Calibri" pitchFamily="34" charset="-120"/>
              </a:rPr>
              <a:t>Request Changes «extend»</a:t>
            </a:r>
            <a:endParaRPr lang="en-US" sz="1350" dirty="0"/>
          </a:p>
        </p:txBody>
      </p:sp>
      <p:sp>
        <p:nvSpPr>
          <p:cNvPr id="17" name="Shape 15">
            <a:hlinkClick r:id="rId5" action="ppaction://hlinksldjump" tooltip="Open Reviewer use cases"/>
          </p:cNvPr>
          <p:cNvSpPr/>
          <p:nvPr/>
        </p:nvSpPr>
        <p:spPr>
          <a:xfrm>
            <a:off x="6199632" y="3127248"/>
            <a:ext cx="2706624" cy="1353312"/>
          </a:xfrm>
          <a:prstGeom prst="rect">
            <a:avLst/>
          </a:prstGeom>
          <a:solidFill>
            <a:srgbClr val="FFFFFF">
              <a:alpha val="0"/>
            </a:srgbClr>
          </a:solidFill>
          <a:ln/>
        </p:spPr>
        <p:txBody>
          <a:bodyPr/>
          <a:lstStyle/>
          <a:p>
            <a:endParaRPr lang="en-PK"/>
          </a:p>
        </p:txBody>
      </p:sp>
      <p:sp>
        <p:nvSpPr>
          <p:cNvPr id="18" name="Shape 16"/>
          <p:cNvSpPr/>
          <p:nvPr/>
        </p:nvSpPr>
        <p:spPr>
          <a:xfrm>
            <a:off x="9025128" y="3127248"/>
            <a:ext cx="2706624" cy="1353312"/>
          </a:xfrm>
          <a:prstGeom prst="roundRect">
            <a:avLst>
              <a:gd name="adj" fmla="val 6757"/>
            </a:avLst>
          </a:prstGeom>
          <a:solidFill>
            <a:srgbClr val="FFFFFF"/>
          </a:solidFill>
          <a:ln w="12700">
            <a:solidFill>
              <a:srgbClr val="E6E5EC"/>
            </a:solidFill>
            <a:prstDash val="solid"/>
          </a:ln>
        </p:spPr>
        <p:txBody>
          <a:bodyPr/>
          <a:lstStyle/>
          <a:p>
            <a:endParaRPr lang="en-PK"/>
          </a:p>
        </p:txBody>
      </p:sp>
      <p:sp>
        <p:nvSpPr>
          <p:cNvPr id="19" name="Text 17"/>
          <p:cNvSpPr txBox="1"/>
          <p:nvPr/>
        </p:nvSpPr>
        <p:spPr>
          <a:xfrm>
            <a:off x="9208008" y="3236976"/>
            <a:ext cx="2340864" cy="365760"/>
          </a:xfrm>
          <a:prstGeom prst="rect">
            <a:avLst/>
          </a:prstGeom>
          <a:noFill/>
          <a:ln/>
        </p:spPr>
        <p:txBody>
          <a:bodyPr wrap="square" lIns="0" tIns="0" rIns="0" bIns="0" rtlCol="0" anchor="t"/>
          <a:lstStyle/>
          <a:p>
            <a:pPr marL="0" indent="0">
              <a:buNone/>
            </a:pPr>
            <a:r>
              <a:rPr lang="en-US" sz="1600" b="1" dirty="0">
                <a:solidFill>
                  <a:srgbClr val="2B0B5E"/>
                </a:solidFill>
                <a:latin typeface="Calibri" pitchFamily="34" charset="0"/>
                <a:ea typeface="Calibri" pitchFamily="34" charset="-122"/>
                <a:cs typeface="Calibri" pitchFamily="34" charset="-120"/>
              </a:rPr>
              <a:t>Super Admin</a:t>
            </a:r>
            <a:r>
              <a:rPr lang="en-US" sz="1100" dirty="0">
                <a:solidFill>
                  <a:srgbClr val="4B1FA0"/>
                </a:solidFill>
                <a:latin typeface="Calibri" pitchFamily="34" charset="0"/>
                <a:ea typeface="Calibri" pitchFamily="34" charset="-122"/>
                <a:cs typeface="Calibri" pitchFamily="34" charset="-120"/>
              </a:rPr>
              <a:t>   platform</a:t>
            </a:r>
            <a:endParaRPr lang="en-US" sz="1600" dirty="0"/>
          </a:p>
        </p:txBody>
      </p:sp>
      <p:sp>
        <p:nvSpPr>
          <p:cNvPr id="20" name="Text 18"/>
          <p:cNvSpPr txBox="1"/>
          <p:nvPr/>
        </p:nvSpPr>
        <p:spPr>
          <a:xfrm>
            <a:off x="9208008" y="3657600"/>
            <a:ext cx="2249424" cy="713232"/>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A1A22"/>
                </a:solidFill>
                <a:latin typeface="Calibri" pitchFamily="34" charset="0"/>
                <a:ea typeface="Calibri" pitchFamily="34" charset="-122"/>
                <a:cs typeface="Calibri" pitchFamily="34" charset="-120"/>
              </a:rPr>
              <a:t>Manage Organisations</a:t>
            </a:r>
            <a:endParaRPr lang="en-US" sz="1350" dirty="0"/>
          </a:p>
        </p:txBody>
      </p:sp>
      <p:sp>
        <p:nvSpPr>
          <p:cNvPr id="21" name="Shape 19">
            <a:hlinkClick r:id="rId4" action="ppaction://hlinksldjump" tooltip="Open Super Admin use cases"/>
          </p:cNvPr>
          <p:cNvSpPr/>
          <p:nvPr/>
        </p:nvSpPr>
        <p:spPr>
          <a:xfrm>
            <a:off x="9025128" y="3127248"/>
            <a:ext cx="2706624" cy="1353312"/>
          </a:xfrm>
          <a:prstGeom prst="rect">
            <a:avLst/>
          </a:prstGeom>
          <a:solidFill>
            <a:srgbClr val="FFFFFF">
              <a:alpha val="0"/>
            </a:srgbClr>
          </a:solidFill>
          <a:ln/>
        </p:spPr>
        <p:txBody>
          <a:bodyPr/>
          <a:lstStyle/>
          <a:p>
            <a:endParaRPr lang="en-PK"/>
          </a:p>
        </p:txBody>
      </p:sp>
      <p:sp>
        <p:nvSpPr>
          <p:cNvPr id="22" name="Shape 20"/>
          <p:cNvSpPr/>
          <p:nvPr/>
        </p:nvSpPr>
        <p:spPr>
          <a:xfrm>
            <a:off x="6199632" y="4590288"/>
            <a:ext cx="2706624" cy="1353312"/>
          </a:xfrm>
          <a:prstGeom prst="roundRect">
            <a:avLst>
              <a:gd name="adj" fmla="val 6757"/>
            </a:avLst>
          </a:prstGeom>
          <a:solidFill>
            <a:srgbClr val="FFFFFF"/>
          </a:solidFill>
          <a:ln w="12700">
            <a:solidFill>
              <a:srgbClr val="E6E5EC"/>
            </a:solidFill>
            <a:prstDash val="solid"/>
          </a:ln>
        </p:spPr>
        <p:txBody>
          <a:bodyPr/>
          <a:lstStyle/>
          <a:p>
            <a:endParaRPr lang="en-PK"/>
          </a:p>
        </p:txBody>
      </p:sp>
      <p:sp>
        <p:nvSpPr>
          <p:cNvPr id="23" name="Text 21"/>
          <p:cNvSpPr txBox="1"/>
          <p:nvPr/>
        </p:nvSpPr>
        <p:spPr>
          <a:xfrm>
            <a:off x="6382512" y="4700016"/>
            <a:ext cx="2340864" cy="365760"/>
          </a:xfrm>
          <a:prstGeom prst="rect">
            <a:avLst/>
          </a:prstGeom>
          <a:noFill/>
          <a:ln/>
        </p:spPr>
        <p:txBody>
          <a:bodyPr wrap="square" lIns="0" tIns="0" rIns="0" bIns="0" rtlCol="0" anchor="t"/>
          <a:lstStyle/>
          <a:p>
            <a:pPr marL="0" indent="0">
              <a:buNone/>
            </a:pPr>
            <a:r>
              <a:rPr lang="en-US" sz="1600" b="1" dirty="0">
                <a:solidFill>
                  <a:srgbClr val="2B0B5E"/>
                </a:solidFill>
                <a:latin typeface="Calibri" pitchFamily="34" charset="0"/>
                <a:ea typeface="Calibri" pitchFamily="34" charset="-122"/>
                <a:cs typeface="Calibri" pitchFamily="34" charset="-120"/>
              </a:rPr>
              <a:t>Read-only User</a:t>
            </a:r>
            <a:endParaRPr lang="en-US" sz="1600" dirty="0"/>
          </a:p>
        </p:txBody>
      </p:sp>
      <p:sp>
        <p:nvSpPr>
          <p:cNvPr id="24" name="Text 22"/>
          <p:cNvSpPr txBox="1"/>
          <p:nvPr/>
        </p:nvSpPr>
        <p:spPr>
          <a:xfrm>
            <a:off x="6382512" y="5120640"/>
            <a:ext cx="2249424" cy="713232"/>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A1A22"/>
                </a:solidFill>
                <a:latin typeface="Calibri" pitchFamily="34" charset="0"/>
                <a:ea typeface="Calibri" pitchFamily="34" charset="-122"/>
                <a:cs typeface="Calibri" pitchFamily="34" charset="-120"/>
              </a:rPr>
              <a:t>Search Project Vault</a:t>
            </a:r>
            <a:endParaRPr lang="en-US" sz="1350" dirty="0"/>
          </a:p>
        </p:txBody>
      </p:sp>
      <p:sp>
        <p:nvSpPr>
          <p:cNvPr id="25" name="Shape 23">
            <a:hlinkClick r:id="rId4" action="ppaction://hlinksldjump" tooltip="Open Read-only User use cases"/>
          </p:cNvPr>
          <p:cNvSpPr/>
          <p:nvPr/>
        </p:nvSpPr>
        <p:spPr>
          <a:xfrm>
            <a:off x="6199632" y="4590288"/>
            <a:ext cx="2706624" cy="1353312"/>
          </a:xfrm>
          <a:prstGeom prst="rect">
            <a:avLst/>
          </a:prstGeom>
          <a:solidFill>
            <a:srgbClr val="FFFFFF">
              <a:alpha val="0"/>
            </a:srgbClr>
          </a:solidFill>
          <a:ln/>
        </p:spPr>
        <p:txBody>
          <a:bodyPr/>
          <a:lstStyle/>
          <a:p>
            <a:endParaRPr lang="en-PK"/>
          </a:p>
        </p:txBody>
      </p:sp>
      <p:sp>
        <p:nvSpPr>
          <p:cNvPr id="26" name="Shape 24"/>
          <p:cNvSpPr/>
          <p:nvPr/>
        </p:nvSpPr>
        <p:spPr>
          <a:xfrm>
            <a:off x="9025128" y="4590288"/>
            <a:ext cx="2706624" cy="1353312"/>
          </a:xfrm>
          <a:prstGeom prst="roundRect">
            <a:avLst>
              <a:gd name="adj" fmla="val 6757"/>
            </a:avLst>
          </a:prstGeom>
          <a:solidFill>
            <a:srgbClr val="FFFFFF"/>
          </a:solidFill>
          <a:ln w="12700">
            <a:solidFill>
              <a:srgbClr val="E6E5EC"/>
            </a:solidFill>
            <a:prstDash val="solid"/>
          </a:ln>
        </p:spPr>
        <p:txBody>
          <a:bodyPr/>
          <a:lstStyle/>
          <a:p>
            <a:endParaRPr lang="en-PK"/>
          </a:p>
        </p:txBody>
      </p:sp>
      <p:sp>
        <p:nvSpPr>
          <p:cNvPr id="27" name="Text 25"/>
          <p:cNvSpPr txBox="1"/>
          <p:nvPr/>
        </p:nvSpPr>
        <p:spPr>
          <a:xfrm>
            <a:off x="9208008" y="4700016"/>
            <a:ext cx="2340864" cy="365760"/>
          </a:xfrm>
          <a:prstGeom prst="rect">
            <a:avLst/>
          </a:prstGeom>
          <a:noFill/>
          <a:ln/>
        </p:spPr>
        <p:txBody>
          <a:bodyPr wrap="square" lIns="0" tIns="0" rIns="0" bIns="0" rtlCol="0" anchor="t"/>
          <a:lstStyle/>
          <a:p>
            <a:pPr marL="0" indent="0">
              <a:buNone/>
            </a:pPr>
            <a:r>
              <a:rPr lang="en-US" sz="1600" b="1" dirty="0">
                <a:solidFill>
                  <a:srgbClr val="2B0B5E"/>
                </a:solidFill>
                <a:latin typeface="Calibri" pitchFamily="34" charset="0"/>
                <a:ea typeface="Calibri" pitchFamily="34" charset="-122"/>
                <a:cs typeface="Calibri" pitchFamily="34" charset="-120"/>
              </a:rPr>
              <a:t>Registered User</a:t>
            </a:r>
            <a:r>
              <a:rPr lang="en-US" sz="1100" dirty="0">
                <a:solidFill>
                  <a:srgbClr val="4B1FA0"/>
                </a:solidFill>
                <a:latin typeface="Calibri" pitchFamily="34" charset="0"/>
                <a:ea typeface="Calibri" pitchFamily="34" charset="-122"/>
                <a:cs typeface="Calibri" pitchFamily="34" charset="-120"/>
              </a:rPr>
              <a:t>   all 5 roles</a:t>
            </a:r>
            <a:endParaRPr lang="en-US" sz="1600" dirty="0"/>
          </a:p>
        </p:txBody>
      </p:sp>
      <p:sp>
        <p:nvSpPr>
          <p:cNvPr id="28" name="Text 26"/>
          <p:cNvSpPr txBox="1"/>
          <p:nvPr/>
        </p:nvSpPr>
        <p:spPr>
          <a:xfrm>
            <a:off x="9208008" y="5120640"/>
            <a:ext cx="2249424" cy="713232"/>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A1A22"/>
                </a:solidFill>
                <a:latin typeface="Calibri" pitchFamily="34" charset="0"/>
                <a:ea typeface="Calibri" pitchFamily="34" charset="-122"/>
                <a:cs typeface="Calibri" pitchFamily="34" charset="-120"/>
              </a:rPr>
              <a:t>User Authentication</a:t>
            </a:r>
            <a:endParaRPr lang="en-US" sz="1350" dirty="0"/>
          </a:p>
          <a:p>
            <a:pPr marL="177800" indent="-177800">
              <a:spcAft>
                <a:spcPts val="500"/>
              </a:spcAft>
              <a:buSzPct val="100000"/>
              <a:buChar char="•"/>
            </a:pPr>
            <a:r>
              <a:rPr lang="en-US" sz="1350" dirty="0">
                <a:solidFill>
                  <a:srgbClr val="1A1A22"/>
                </a:solidFill>
                <a:latin typeface="Calibri" pitchFamily="34" charset="0"/>
                <a:ea typeface="Calibri" pitchFamily="34" charset="-122"/>
                <a:cs typeface="Calibri" pitchFamily="34" charset="-120"/>
              </a:rPr>
              <a:t>Receive Notifications</a:t>
            </a:r>
            <a:endParaRPr lang="en-US" sz="1350" dirty="0"/>
          </a:p>
        </p:txBody>
      </p:sp>
      <p:sp>
        <p:nvSpPr>
          <p:cNvPr id="29" name="Shape 27">
            <a:hlinkClick r:id="rId5" action="ppaction://hlinksldjump" tooltip="Open Registered User use cases"/>
          </p:cNvPr>
          <p:cNvSpPr/>
          <p:nvPr/>
        </p:nvSpPr>
        <p:spPr>
          <a:xfrm>
            <a:off x="9025128" y="4590288"/>
            <a:ext cx="2706624" cy="1353312"/>
          </a:xfrm>
          <a:prstGeom prst="rect">
            <a:avLst/>
          </a:prstGeom>
          <a:solidFill>
            <a:srgbClr val="FFFFFF">
              <a:alpha val="0"/>
            </a:srgbClr>
          </a:solidFill>
          <a:ln/>
        </p:spPr>
        <p:txBody>
          <a:bodyPr/>
          <a:lstStyle/>
          <a:p>
            <a:endParaRPr lang="en-PK"/>
          </a:p>
        </p:txBody>
      </p:sp>
      <p:sp>
        <p:nvSpPr>
          <p:cNvPr id="30" name="Text 28"/>
          <p:cNvSpPr txBox="1"/>
          <p:nvPr/>
        </p:nvSpPr>
        <p:spPr>
          <a:xfrm>
            <a:off x="457200" y="6035040"/>
            <a:ext cx="8686800" cy="274320"/>
          </a:xfrm>
          <a:prstGeom prst="rect">
            <a:avLst/>
          </a:prstGeom>
          <a:noFill/>
          <a:ln/>
        </p:spPr>
        <p:txBody>
          <a:bodyPr wrap="square" lIns="0" tIns="0" rIns="0" bIns="0" rtlCol="0" anchor="t"/>
          <a:lstStyle/>
          <a:p>
            <a:pPr marL="0" indent="0">
              <a:buNone/>
            </a:pPr>
            <a:r>
              <a:rPr lang="en-US" sz="1150" i="1" dirty="0">
                <a:solidFill>
                  <a:srgbClr val="5E5E6B"/>
                </a:solidFill>
                <a:latin typeface="Calibri" pitchFamily="34" charset="0"/>
                <a:ea typeface="Calibri" pitchFamily="34" charset="-122"/>
                <a:cs typeface="Calibri" pitchFamily="34" charset="-120"/>
              </a:rPr>
              <a:t>Generalisation: every role is a Registered User; a Presales Engineer is also a Reviewer.</a:t>
            </a:r>
            <a:endParaRPr lang="en-US" sz="1150" dirty="0"/>
          </a:p>
        </p:txBody>
      </p:sp>
      <p:sp>
        <p:nvSpPr>
          <p:cNvPr id="31" name="Text 29">
            <a:hlinkClick r:id="" action="ppaction://noaction"/>
          </p:cNvPr>
          <p:cNvSpPr/>
          <p:nvPr/>
        </p:nvSpPr>
        <p:spPr>
          <a:xfrm>
            <a:off x="768827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32" name="Text 30">
            <a:hlinkClick r:id="rId6" action="ppaction://hlinksldjump" tooltip="Contents"/>
          </p:cNvPr>
          <p:cNvSpPr/>
          <p:nvPr/>
        </p:nvSpPr>
        <p:spPr>
          <a:xfrm>
            <a:off x="8666683"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33" name="Text 31">
            <a:hlinkClick r:id="rId7" action="ppaction://hlinksldjump" tooltip="Diagram"/>
          </p:cNvPr>
          <p:cNvSpPr/>
          <p:nvPr/>
        </p:nvSpPr>
        <p:spPr>
          <a:xfrm>
            <a:off x="9727387" y="6355080"/>
            <a:ext cx="102870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Diagram">
                  <a:extLst>
                    <a:ext uri="{A12FA001-AC4F-418D-AE19-62706E023703}">
                      <ahyp:hlinkClr xmlns:ahyp="http://schemas.microsoft.com/office/drawing/2018/hyperlinkcolor" val="tx"/>
                    </a:ext>
                  </a:extLst>
                </a:hlinkClick>
              </a:rPr>
              <a:t>← Diagram</a:t>
            </a:r>
            <a:endParaRPr lang="en-US" sz="1100" dirty="0"/>
          </a:p>
        </p:txBody>
      </p:sp>
      <p:sp>
        <p:nvSpPr>
          <p:cNvPr id="34" name="Text 32">
            <a:hlinkClick r:id="rId3"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3"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USE CASES BY ACTOR · FIGURE 2.1, TABLE 2.2</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Actor: Presales Engineer  (1 of 3)</a:t>
            </a:r>
            <a:endParaRPr lang="en-US" sz="28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24</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3749040"/>
        </p:xfrm>
        <a:graphic>
          <a:graphicData uri="http://schemas.openxmlformats.org/drawingml/2006/table">
            <a:tbl>
              <a:tblPr/>
              <a:tblGrid>
                <a:gridCol w="25146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719072">
                  <a:extLst>
                    <a:ext uri="{9D8B030D-6E8A-4147-A177-3AD203B41FA5}">
                      <a16:colId xmlns:a16="http://schemas.microsoft.com/office/drawing/2014/main" val="20004"/>
                    </a:ext>
                  </a:extLst>
                </a:gridCol>
              </a:tblGrid>
              <a:tr h="0">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USE CASE</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WHAT IT DOES</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FUNCTIONAL REQS</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SCREENS</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extLst>
                  <a:ext uri="{0D108BD9-81ED-4DB2-BD59-A6C34878D82A}">
                    <a16:rowId xmlns:a16="http://schemas.microsoft.com/office/drawing/2014/main" val="10000"/>
                  </a:ext>
                </a:extLst>
              </a:tr>
              <a:tr h="0">
                <a:tc gridSpan="5">
                  <a:txBody>
                    <a:bodyPr/>
                    <a:lstStyle/>
                    <a:p>
                      <a:pPr marL="0" indent="0">
                        <a:buNone/>
                      </a:pPr>
                      <a:r>
                        <a:rPr lang="en-US" sz="1250" b="1" kern="0" spc="100" dirty="0">
                          <a:solidFill>
                            <a:srgbClr val="FFFFFF"/>
                          </a:solidFill>
                          <a:latin typeface="Calibri" pitchFamily="34" charset="0"/>
                          <a:ea typeface="Calibri" pitchFamily="34" charset="-122"/>
                          <a:cs typeface="Calibri" pitchFamily="34" charset="-120"/>
                        </a:rPr>
                        <a:t>PRESALES ENGINEER</a:t>
                      </a:r>
                      <a:r>
                        <a:rPr lang="en-US" sz="1250" dirty="0">
                          <a:solidFill>
                            <a:srgbClr val="C9B6F2"/>
                          </a:solidFill>
                          <a:latin typeface="Calibri" pitchFamily="34" charset="0"/>
                          <a:ea typeface="Calibri" pitchFamily="34" charset="-122"/>
                          <a:cs typeface="Calibri" pitchFamily="34" charset="-120"/>
                        </a:rPr>
                        <a:t>   main user · prepares the whole bid</a:t>
                      </a:r>
                      <a:endParaRPr lang="en-US" sz="12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4B1FA0"/>
                    </a:solidFill>
                  </a:tcPr>
                </a:tc>
                <a:tc hMerge="1">
                  <a:txBody>
                    <a:bodyPr/>
                    <a:lstStyle/>
                    <a:p>
                      <a:endParaRPr lang="en-PK"/>
                    </a:p>
                  </a:txBody>
                  <a:tcPr/>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10001"/>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3" action="ppaction://hlinksldjump" tooltip="Module 1">
                            <a:extLst>
                              <a:ext uri="{A12FA001-AC4F-418D-AE19-62706E023703}">
                                <ahyp:hlinkClr xmlns:ahyp="http://schemas.microsoft.com/office/drawing/2018/hyperlinkcolor" val="tx"/>
                              </a:ext>
                            </a:extLst>
                          </a:hlinkClick>
                        </a:rPr>
                        <a:t>Upload RFP</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Upload a PDF or Word RFP and start parsing it</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FR-1.1–1.2, 1.5–1.7</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W-06, W-10</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3" action="ppaction://hlinksldjump" tooltip="Module 1">
                            <a:extLst>
                              <a:ext uri="{A12FA001-AC4F-418D-AE19-62706E023703}">
                                <ahyp:hlinkClr xmlns:ahyp="http://schemas.microsoft.com/office/drawing/2018/hyperlinkcolor" val="tx"/>
                              </a:ext>
                            </a:extLst>
                          </a:hlinkClick>
                        </a:rPr>
                        <a:t>↳ Classify Sections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Sort every section into 5 types; the engineer can relabel</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FR-1.3, 1.8</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W-06, W-07</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3"/>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3" action="ppaction://hlinksldjump" tooltip="Module 1">
                            <a:extLst>
                              <a:ext uri="{A12FA001-AC4F-418D-AE19-62706E023703}">
                                <ahyp:hlinkClr xmlns:ahyp="http://schemas.microsoft.com/office/drawing/2018/hyperlinkcolor" val="tx"/>
                              </a:ext>
                            </a:extLst>
                          </a:hlinkClick>
                        </a:rPr>
                        <a:t>↳ Extract Requirements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Give each requirement an ID in the requirement registry</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FR-1.10–1.11</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W-06, W-09</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4"/>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3" action="ppaction://hlinksldjump" tooltip="Module 1">
                            <a:extLst>
                              <a:ext uri="{A12FA001-AC4F-418D-AE19-62706E023703}">
                                <ahyp:hlinkClr xmlns:ahyp="http://schemas.microsoft.com/office/drawing/2018/hyperlinkcolor" val="tx"/>
                              </a:ext>
                            </a:extLst>
                          </a:hlinkClick>
                        </a:rPr>
                        <a:t>↳ Extract Specifications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Pull out equipment, quantities and specification values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FR-1.4</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W-06</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5"/>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3" action="ppaction://hlinksldjump" tooltip="Module 1">
                            <a:extLst>
                              <a:ext uri="{A12FA001-AC4F-418D-AE19-62706E023703}">
                                <ahyp:hlinkClr xmlns:ahyp="http://schemas.microsoft.com/office/drawing/2018/hyperlinkcolor" val="tx"/>
                              </a:ext>
                            </a:extLst>
                          </a:hlinkClick>
                        </a:rPr>
                        <a:t>↳ Extract Closing Date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Find the bid deadline, or ask the engineer to enter it</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FR-1.9</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W-06, W-08</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6"/>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3" action="ppaction://hlinksldjump" tooltip="Module 2">
                            <a:extLst>
                              <a:ext uri="{A12FA001-AC4F-418D-AE19-62706E023703}">
                                <ahyp:hlinkClr xmlns:ahyp="http://schemas.microsoft.com/office/drawing/2018/hyperlinkcolor" val="tx"/>
                              </a:ext>
                            </a:extLst>
                          </a:hlinkClick>
                        </a:rPr>
                        <a:t>Manage Checklist</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Tick documents as collected and attach their files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FR-2.4–2.7, 18.4</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W-11, W-12, M-06–M-08</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3" action="ppaction://hlinksldjump" tooltip="Module 2">
                            <a:extLst>
                              <a:ext uri="{A12FA001-AC4F-418D-AE19-62706E023703}">
                                <ahyp:hlinkClr xmlns:ahyp="http://schemas.microsoft.com/office/drawing/2018/hyperlinkcolor" val="tx"/>
                              </a:ext>
                            </a:extLst>
                          </a:hlinkClick>
                        </a:rPr>
                        <a:t>↳ Extract Checklist Items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List every required document as mandatory or optional</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FR-2.1–2.3</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W-11</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8"/>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3" action="ppaction://hlinksldjump" tooltip="Module 4">
                            <a:extLst>
                              <a:ext uri="{A12FA001-AC4F-418D-AE19-62706E023703}">
                                <ahyp:hlinkClr xmlns:ahyp="http://schemas.microsoft.com/office/drawing/2018/hyperlinkcolor" val="tx"/>
                              </a:ext>
                            </a:extLst>
                          </a:hlinkClick>
                        </a:rPr>
                        <a:t>Track Evaluation Score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Show marks, thresholds and the live running score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FR-4.2–4.4, 4.6</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W-16</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3" action="ppaction://hlinksldjump" tooltip="Module 4">
                            <a:extLst>
                              <a:ext uri="{A12FA001-AC4F-418D-AE19-62706E023703}">
                                <ahyp:hlinkClr xmlns:ahyp="http://schemas.microsoft.com/office/drawing/2018/hyperlinkcolor" val="tx"/>
                              </a:ext>
                            </a:extLst>
                          </a:hlinkClick>
                        </a:rPr>
                        <a:t>↳ Extract Scoring Criteria</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Read the scoring table from the RFP</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FR-4.1</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W-16</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10"/>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4" action="ppaction://hlinksldjump" tooltip="Module 11">
                            <a:extLst>
                              <a:ext uri="{A12FA001-AC4F-418D-AE19-62706E023703}">
                                <ahyp:hlinkClr xmlns:ahyp="http://schemas.microsoft.com/office/drawing/2018/hyperlinkcolor" val="tx"/>
                              </a:ext>
                            </a:extLst>
                          </a:hlinkClick>
                        </a:rPr>
                        <a:t>Upload Past Proposal</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Add an old proposal to the knowledge 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FR-11.4</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W-31</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6" name="Text 3">
            <a:hlinkClick r:id="" action="ppaction://noaction"/>
          </p:cNvPr>
          <p:cNvSpPr/>
          <p:nvPr/>
        </p:nvSpPr>
        <p:spPr>
          <a:xfrm>
            <a:off x="68653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7" name="Text 4">
            <a:hlinkClick r:id="rId5" action="ppaction://hlinksldjump" tooltip="Contents"/>
          </p:cNvPr>
          <p:cNvSpPr/>
          <p:nvPr/>
        </p:nvSpPr>
        <p:spPr>
          <a:xfrm>
            <a:off x="7843723"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8" name="Text 5">
            <a:hlinkClick r:id="rId6" action="ppaction://hlinksldjump" tooltip="Actors"/>
          </p:cNvPr>
          <p:cNvSpPr/>
          <p:nvPr/>
        </p:nvSpPr>
        <p:spPr>
          <a:xfrm>
            <a:off x="8904427"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Actors">
                  <a:extLst>
                    <a:ext uri="{A12FA001-AC4F-418D-AE19-62706E023703}">
                      <ahyp:hlinkClr xmlns:ahyp="http://schemas.microsoft.com/office/drawing/2018/hyperlinkcolor" val="tx"/>
                    </a:ext>
                  </a:extLst>
                </a:hlinkClick>
              </a:rPr>
              <a:t>Actors</a:t>
            </a:r>
            <a:endParaRPr lang="en-US" sz="1100" dirty="0"/>
          </a:p>
        </p:txBody>
      </p:sp>
      <p:sp>
        <p:nvSpPr>
          <p:cNvPr id="9" name="Text 6">
            <a:hlinkClick r:id="rId7" action="ppaction://hlinksldjump" tooltip="Diagram"/>
          </p:cNvPr>
          <p:cNvSpPr/>
          <p:nvPr/>
        </p:nvSpPr>
        <p:spPr>
          <a:xfrm>
            <a:off x="9882835" y="6355080"/>
            <a:ext cx="873252"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Diagram">
                  <a:extLst>
                    <a:ext uri="{A12FA001-AC4F-418D-AE19-62706E023703}">
                      <ahyp:hlinkClr xmlns:ahyp="http://schemas.microsoft.com/office/drawing/2018/hyperlinkcolor" val="tx"/>
                    </a:ext>
                  </a:extLst>
                </a:hlinkClick>
              </a:rPr>
              <a:t>Diagram</a:t>
            </a:r>
            <a:endParaRPr lang="en-US" sz="1100" dirty="0"/>
          </a:p>
        </p:txBody>
      </p:sp>
      <p:sp>
        <p:nvSpPr>
          <p:cNvPr id="10" name="Text 7">
            <a:hlinkClick r:id="rId8"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8"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USE CASES BY ACTOR · FIGURE 2.1, TABLE 2.2</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Actor: Presales Engineer  (2 of 3)</a:t>
            </a:r>
            <a:endParaRPr lang="en-US" sz="28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25</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3947160"/>
        </p:xfrm>
        <a:graphic>
          <a:graphicData uri="http://schemas.openxmlformats.org/drawingml/2006/table">
            <a:tbl>
              <a:tblPr/>
              <a:tblGrid>
                <a:gridCol w="25146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719072">
                  <a:extLst>
                    <a:ext uri="{9D8B030D-6E8A-4147-A177-3AD203B41FA5}">
                      <a16:colId xmlns:a16="http://schemas.microsoft.com/office/drawing/2014/main" val="20004"/>
                    </a:ext>
                  </a:extLst>
                </a:gridCol>
              </a:tblGrid>
              <a:tr h="0">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USE CASE</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WHAT IT DOES</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FUNCTIONAL REQS</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SCREENS</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extLst>
                  <a:ext uri="{0D108BD9-81ED-4DB2-BD59-A6C34878D82A}">
                    <a16:rowId xmlns:a16="http://schemas.microsoft.com/office/drawing/2014/main" val="10000"/>
                  </a:ext>
                </a:extLst>
              </a:tr>
              <a:tr h="0">
                <a:tc gridSpan="5">
                  <a:txBody>
                    <a:bodyPr/>
                    <a:lstStyle/>
                    <a:p>
                      <a:pPr marL="0" indent="0">
                        <a:buNone/>
                      </a:pPr>
                      <a:r>
                        <a:rPr lang="en-US" sz="1250" b="1" kern="0" spc="100" dirty="0">
                          <a:solidFill>
                            <a:srgbClr val="FFFFFF"/>
                          </a:solidFill>
                          <a:latin typeface="Calibri" pitchFamily="34" charset="0"/>
                          <a:ea typeface="Calibri" pitchFamily="34" charset="-122"/>
                          <a:cs typeface="Calibri" pitchFamily="34" charset="-120"/>
                        </a:rPr>
                        <a:t>PRESALES ENGINEER</a:t>
                      </a:r>
                      <a:r>
                        <a:rPr lang="en-US" sz="1250" dirty="0">
                          <a:solidFill>
                            <a:srgbClr val="C9B6F2"/>
                          </a:solidFill>
                          <a:latin typeface="Calibri" pitchFamily="34" charset="0"/>
                          <a:ea typeface="Calibri" pitchFamily="34" charset="-122"/>
                          <a:cs typeface="Calibri" pitchFamily="34" charset="-120"/>
                        </a:rPr>
                        <a:t>   compliance, proposal and tasks</a:t>
                      </a:r>
                      <a:endParaRPr lang="en-US" sz="12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4B1FA0"/>
                    </a:solidFill>
                  </a:tcPr>
                </a:tc>
                <a:tc hMerge="1">
                  <a:txBody>
                    <a:bodyPr/>
                    <a:lstStyle/>
                    <a:p>
                      <a:endParaRPr lang="en-PK"/>
                    </a:p>
                  </a:txBody>
                  <a:tcPr/>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10001"/>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3" action="ppaction://hlinksldjump" tooltip="Module 3">
                            <a:extLst>
                              <a:ext uri="{A12FA001-AC4F-418D-AE19-62706E023703}">
                                <ahyp:hlinkClr xmlns:ahyp="http://schemas.microsoft.com/office/drawing/2018/hyperlinkcolor" val="tx"/>
                              </a:ext>
                            </a:extLst>
                          </a:hlinkClick>
                        </a:rPr>
                        <a:t>Generate Compliance Matrix</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Enter the proposed models and get the FC / PC / NC matrix</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FR-3.1, 3.5, 3.7–3.8</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W-14</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3" action="ppaction://hlinksldjump" tooltip="Module 3">
                            <a:extLst>
                              <a:ext uri="{A12FA001-AC4F-418D-AE19-62706E023703}">
                                <ahyp:hlinkClr xmlns:ahyp="http://schemas.microsoft.com/office/drawing/2018/hyperlinkcolor" val="tx"/>
                              </a:ext>
                            </a:extLst>
                          </a:hlinkClick>
                        </a:rPr>
                        <a:t>↳ Retrieve Specifications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Get each model’s specifications, confirmed by the engineer</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FR-3.2</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W-13</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3"/>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3" action="ppaction://hlinksldjump" tooltip="Module 3">
                            <a:extLst>
                              <a:ext uri="{A12FA001-AC4F-418D-AE19-62706E023703}">
                                <ahyp:hlinkClr xmlns:ahyp="http://schemas.microsoft.com/office/drawing/2018/hyperlinkcolor" val="tx"/>
                              </a:ext>
                            </a:extLst>
                          </a:hlinkClick>
                        </a:rPr>
                        <a:t>↳ Rate Compliance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Rule engine and evidence matching rate each requirement</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FR-3.3, 3.9–3.10</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W-14</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4"/>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3" action="ppaction://hlinksldjump" tooltip="Module 3">
                            <a:extLst>
                              <a:ext uri="{A12FA001-AC4F-418D-AE19-62706E023703}">
                                <ahyp:hlinkClr xmlns:ahyp="http://schemas.microsoft.com/office/drawing/2018/hyperlinkcolor" val="tx"/>
                              </a:ext>
                            </a:extLst>
                          </a:hlinkClick>
                        </a:rPr>
                        <a:t>↳ Calculate Score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Work out the compliance percentage for each model</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FR-3.4</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W-14</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5"/>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3" action="ppaction://hlinksldjump" tooltip="Module 3">
                            <a:extLst>
                              <a:ext uri="{A12FA001-AC4F-418D-AE19-62706E023703}">
                                <ahyp:hlinkClr xmlns:ahyp="http://schemas.microsoft.com/office/drawing/2018/hyperlinkcolor" val="tx"/>
                              </a:ext>
                            </a:extLst>
                          </a:hlinkClick>
                        </a:rPr>
                        <a:t>↳ Override Rating</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C67A0A"/>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Only when the engineer disagrees: change a rating with a reason (optional)</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FR-3.6</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W-14, W-15</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6"/>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4" action="ppaction://hlinksldjump" tooltip="Module 6">
                            <a:extLst>
                              <a:ext uri="{A12FA001-AC4F-418D-AE19-62706E023703}">
                                <ahyp:hlinkClr xmlns:ahyp="http://schemas.microsoft.com/office/drawing/2018/hyperlinkcolor" val="tx"/>
                              </a:ext>
                            </a:extLst>
                          </a:hlinkClick>
                        </a:rPr>
                        <a:t>Generate Proposal</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Create, edit and export the technical proposal</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FR-6.6–6.7, 6.9–6.10</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W-19, W-20, W-21</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4" action="ppaction://hlinksldjump" tooltip="Module 6">
                            <a:extLst>
                              <a:ext uri="{A12FA001-AC4F-418D-AE19-62706E023703}">
                                <ahyp:hlinkClr xmlns:ahyp="http://schemas.microsoft.com/office/drawing/2018/hyperlinkcolor" val="tx"/>
                              </a:ext>
                            </a:extLst>
                          </a:hlinkClick>
                        </a:rPr>
                        <a:t>↳ Retrieve Past Content</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Find the most relevant approved past content (RAG)</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FR-6.1–6.4, 11.3</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W-19, W-32</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8"/>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4" action="ppaction://hlinksldjump" tooltip="Module 6">
                            <a:extLst>
                              <a:ext uri="{A12FA001-AC4F-418D-AE19-62706E023703}">
                                <ahyp:hlinkClr xmlns:ahyp="http://schemas.microsoft.com/office/drawing/2018/hyperlinkcolor" val="tx"/>
                              </a:ext>
                            </a:extLst>
                          </a:hlinkClick>
                        </a:rPr>
                        <a:t>↳ Generate Sections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Write the four proposal sections with GPT-4o-mini</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FR-6.5</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W-19</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9"/>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4" action="ppaction://hlinksldjump" tooltip="Module 6">
                            <a:extLst>
                              <a:ext uri="{A12FA001-AC4F-418D-AE19-62706E023703}">
                                <ahyp:hlinkClr xmlns:ahyp="http://schemas.microsoft.com/office/drawing/2018/hyperlinkcolor" val="tx"/>
                              </a:ext>
                            </a:extLst>
                          </a:hlinkClick>
                        </a:rPr>
                        <a:t>↳ Link Requirements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Link sections to requirement IDs and list uncovered ones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FR-6.11–6.12</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W-20</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10"/>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5" action="ppaction://hlinksldjump" tooltip="Module 17">
                            <a:extLst>
                              <a:ext uri="{A12FA001-AC4F-418D-AE19-62706E023703}">
                                <ahyp:hlinkClr xmlns:ahyp="http://schemas.microsoft.com/office/drawing/2018/hyperlinkcolor" val="tx"/>
                              </a:ext>
                            </a:extLst>
                          </a:hlinkClick>
                        </a:rPr>
                        <a:t>Manage Tasks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Tasks created from the closing date; assign and track them</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FR-17.1–17.3, 17.5, 18.5</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W-05, W-44, W-45, M-09, M-10</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6" name="Text 3">
            <a:hlinkClick r:id="" action="ppaction://noaction"/>
          </p:cNvPr>
          <p:cNvSpPr/>
          <p:nvPr/>
        </p:nvSpPr>
        <p:spPr>
          <a:xfrm>
            <a:off x="68653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7" name="Text 4">
            <a:hlinkClick r:id="rId6" action="ppaction://hlinksldjump" tooltip="Contents"/>
          </p:cNvPr>
          <p:cNvSpPr/>
          <p:nvPr/>
        </p:nvSpPr>
        <p:spPr>
          <a:xfrm>
            <a:off x="7843723"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8" name="Text 5">
            <a:hlinkClick r:id="rId7" action="ppaction://hlinksldjump" tooltip="Actors"/>
          </p:cNvPr>
          <p:cNvSpPr/>
          <p:nvPr/>
        </p:nvSpPr>
        <p:spPr>
          <a:xfrm>
            <a:off x="8904427"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Actors">
                  <a:extLst>
                    <a:ext uri="{A12FA001-AC4F-418D-AE19-62706E023703}">
                      <ahyp:hlinkClr xmlns:ahyp="http://schemas.microsoft.com/office/drawing/2018/hyperlinkcolor" val="tx"/>
                    </a:ext>
                  </a:extLst>
                </a:hlinkClick>
              </a:rPr>
              <a:t>Actors</a:t>
            </a:r>
            <a:endParaRPr lang="en-US" sz="1100" dirty="0"/>
          </a:p>
        </p:txBody>
      </p:sp>
      <p:sp>
        <p:nvSpPr>
          <p:cNvPr id="9" name="Text 6">
            <a:hlinkClick r:id="rId8" action="ppaction://hlinksldjump" tooltip="Diagram"/>
          </p:cNvPr>
          <p:cNvSpPr/>
          <p:nvPr/>
        </p:nvSpPr>
        <p:spPr>
          <a:xfrm>
            <a:off x="9882835" y="6355080"/>
            <a:ext cx="873252"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8" action="ppaction://hlinksldjump" tooltip="Diagram">
                  <a:extLst>
                    <a:ext uri="{A12FA001-AC4F-418D-AE19-62706E023703}">
                      <ahyp:hlinkClr xmlns:ahyp="http://schemas.microsoft.com/office/drawing/2018/hyperlinkcolor" val="tx"/>
                    </a:ext>
                  </a:extLst>
                </a:hlinkClick>
              </a:rPr>
              <a:t>Diagram</a:t>
            </a:r>
            <a:endParaRPr lang="en-US" sz="1100" dirty="0"/>
          </a:p>
        </p:txBody>
      </p:sp>
      <p:sp>
        <p:nvSpPr>
          <p:cNvPr id="10" name="Text 7">
            <a:hlinkClick r:id="rId9"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9"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USE CASES BY ACTOR · FIGURE 2.1, TABLE 2.2</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Actor: Presales Engineer  (3 of 3)</a:t>
            </a:r>
            <a:endParaRPr lang="en-US" sz="28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26</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4048760"/>
        </p:xfrm>
        <a:graphic>
          <a:graphicData uri="http://schemas.openxmlformats.org/drawingml/2006/table">
            <a:tbl>
              <a:tblPr/>
              <a:tblGrid>
                <a:gridCol w="25146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719072">
                  <a:extLst>
                    <a:ext uri="{9D8B030D-6E8A-4147-A177-3AD203B41FA5}">
                      <a16:colId xmlns:a16="http://schemas.microsoft.com/office/drawing/2014/main" val="20004"/>
                    </a:ext>
                  </a:extLst>
                </a:gridCol>
              </a:tblGrid>
              <a:tr h="0">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USE CASE</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WHAT IT DOES</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FUNCTIONAL REQS</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SCREENS</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extLst>
                  <a:ext uri="{0D108BD9-81ED-4DB2-BD59-A6C34878D82A}">
                    <a16:rowId xmlns:a16="http://schemas.microsoft.com/office/drawing/2014/main" val="10000"/>
                  </a:ext>
                </a:extLst>
              </a:tr>
              <a:tr h="0">
                <a:tc gridSpan="5">
                  <a:txBody>
                    <a:bodyPr/>
                    <a:lstStyle/>
                    <a:p>
                      <a:pPr marL="0" indent="0">
                        <a:buNone/>
                      </a:pPr>
                      <a:r>
                        <a:rPr lang="en-US" sz="1250" b="1" kern="0" spc="100" dirty="0">
                          <a:solidFill>
                            <a:srgbClr val="FFFFFF"/>
                          </a:solidFill>
                          <a:latin typeface="Calibri" pitchFamily="34" charset="0"/>
                          <a:ea typeface="Calibri" pitchFamily="34" charset="-122"/>
                          <a:cs typeface="Calibri" pitchFamily="34" charset="-120"/>
                        </a:rPr>
                        <a:t>PRESALES ENGINEER</a:t>
                      </a:r>
                      <a:r>
                        <a:rPr lang="en-US" sz="1250" dirty="0">
                          <a:solidFill>
                            <a:srgbClr val="C9B6F2"/>
                          </a:solidFill>
                          <a:latin typeface="Calibri" pitchFamily="34" charset="0"/>
                          <a:ea typeface="Calibri" pitchFamily="34" charset="-122"/>
                          <a:cs typeface="Calibri" pitchFamily="34" charset="-120"/>
                        </a:rPr>
                        <a:t>   bid deliverables and package</a:t>
                      </a:r>
                      <a:endParaRPr lang="en-US" sz="12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4B1FA0"/>
                    </a:solidFill>
                  </a:tcPr>
                </a:tc>
                <a:tc hMerge="1">
                  <a:txBody>
                    <a:bodyPr/>
                    <a:lstStyle/>
                    <a:p>
                      <a:endParaRPr lang="en-PK"/>
                    </a:p>
                  </a:txBody>
                  <a:tcPr/>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10001"/>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3" action="ppaction://hlinksldjump" tooltip="Module 7">
                            <a:extLst>
                              <a:ext uri="{A12FA001-AC4F-418D-AE19-62706E023703}">
                                <ahyp:hlinkClr xmlns:ahyp="http://schemas.microsoft.com/office/drawing/2018/hyperlinkcolor" val="tx"/>
                              </a:ext>
                            </a:extLst>
                          </a:hlinkClick>
                        </a:rPr>
                        <a:t>Generate BOQ</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Edit and export the client’s Bill of Quantities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FR-7.3–7.5</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W-23</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3" action="ppaction://hlinksldjump" tooltip="Module 7">
                            <a:extLst>
                              <a:ext uri="{A12FA001-AC4F-418D-AE19-62706E023703}">
                                <ahyp:hlinkClr xmlns:ahyp="http://schemas.microsoft.com/office/drawing/2018/hyperlinkcolor" val="tx"/>
                              </a:ext>
                            </a:extLst>
                          </a:hlinkClick>
                        </a:rPr>
                        <a:t>↳ Import Equipment</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Bring the proposed models in from the compliance matrix</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FR-7.2</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W-23</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3"/>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3" action="ppaction://hlinksldjump" tooltip="Module 7">
                            <a:extLst>
                              <a:ext uri="{A12FA001-AC4F-418D-AE19-62706E023703}">
                                <ahyp:hlinkClr xmlns:ahyp="http://schemas.microsoft.com/office/drawing/2018/hyperlinkcolor" val="tx"/>
                              </a:ext>
                            </a:extLst>
                          </a:hlinkClick>
                        </a:rPr>
                        <a:t>↳ Apply BOQ Template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Use the right client template (PTCL, Zong and others)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FR-7.1</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W-23, W-39</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4"/>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3" action="ppaction://hlinksldjump" tooltip="Module 5">
                            <a:extLst>
                              <a:ext uri="{A12FA001-AC4F-418D-AE19-62706E023703}">
                                <ahyp:hlinkClr xmlns:ahyp="http://schemas.microsoft.com/office/drawing/2018/hyperlinkcolor" val="tx"/>
                              </a:ext>
                            </a:extLst>
                          </a:hlinkClick>
                        </a:rPr>
                        <a:t>Generate HLD Diagram</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Enter the network devices and export the diagram</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FR-5.1–5.2, 5.5–5.6</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W-17, W-18</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3" action="ppaction://hlinksldjump" tooltip="Module 5">
                            <a:extLst>
                              <a:ext uri="{A12FA001-AC4F-418D-AE19-62706E023703}">
                                <ahyp:hlinkClr xmlns:ahyp="http://schemas.microsoft.com/office/drawing/2018/hyperlinkcolor" val="tx"/>
                              </a:ext>
                            </a:extLst>
                          </a:hlinkClick>
                        </a:rPr>
                        <a:t>↳ Render Topology</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Draw the network diagram with standard icons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FR-5.3–5.4</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W-18</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6"/>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3" action="ppaction://hlinksldjump" tooltip="Module 5">
                            <a:extLst>
                              <a:ext uri="{A12FA001-AC4F-418D-AE19-62706E023703}">
                                <ahyp:hlinkClr xmlns:ahyp="http://schemas.microsoft.com/office/drawing/2018/hyperlinkcolor" val="tx"/>
                              </a:ext>
                            </a:extLst>
                          </a:hlinkClick>
                        </a:rPr>
                        <a:t>↳ Describe Connectivity</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Write a short description of how the network connects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FR-5.7</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W-18</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7"/>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3" action="ppaction://hlinksldjump" tooltip="Module 8">
                            <a:extLst>
                              <a:ext uri="{A12FA001-AC4F-418D-AE19-62706E023703}">
                                <ahyp:hlinkClr xmlns:ahyp="http://schemas.microsoft.com/office/drawing/2018/hyperlinkcolor" val="tx"/>
                              </a:ext>
                            </a:extLst>
                          </a:hlinkClick>
                        </a:rPr>
                        <a:t>Generate Responsibility Matrix</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Assign who is responsible for each task, then export</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FR-8.1–8.4</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W-24</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4" action="ppaction://hlinksldjump" tooltip="Module 10">
                            <a:extLst>
                              <a:ext uri="{A12FA001-AC4F-418D-AE19-62706E023703}">
                                <ahyp:hlinkClr xmlns:ahyp="http://schemas.microsoft.com/office/drawing/2018/hyperlinkcolor" val="tx"/>
                              </a:ext>
                            </a:extLst>
                          </a:hlinkClick>
                        </a:rPr>
                        <a:t>Build Submission Package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Upload the final files and build the ZIP package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FR-10.1, 10.4–10.6</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W-28, W-29</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4" action="ppaction://hlinksldjump" tooltip="Module 10">
                            <a:extLst>
                              <a:ext uri="{A12FA001-AC4F-418D-AE19-62706E023703}">
                                <ahyp:hlinkClr xmlns:ahyp="http://schemas.microsoft.com/office/drawing/2018/hyperlinkcolor" val="tx"/>
                              </a:ext>
                            </a:extLst>
                          </a:hlinkClick>
                        </a:rPr>
                        <a:t>↳ Match Files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Match each uploaded file to its checklist item</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FR-10.2</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W-28</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10"/>
                  </a:ext>
                </a:extLst>
              </a:tr>
              <a:tr h="0">
                <a:tc>
                  <a:txBody>
                    <a:bodyPr/>
                    <a:lstStyle/>
                    <a:p>
                      <a:pPr marL="0" indent="0">
                        <a:buNone/>
                      </a:pPr>
                      <a:r>
                        <a:rPr lang="en-US" sz="1300" b="1" u="sng" dirty="0">
                          <a:solidFill>
                            <a:srgbClr val="4B1FA0"/>
                          </a:solidFill>
                          <a:latin typeface="Calibri" pitchFamily="34" charset="0"/>
                          <a:ea typeface="Calibri" pitchFamily="34" charset="-122"/>
                          <a:cs typeface="Calibri" pitchFamily="34" charset="-120"/>
                          <a:hlinkClick r:id="rId4" action="ppaction://hlinksldjump" tooltip="Module 10">
                            <a:extLst>
                              <a:ext uri="{A12FA001-AC4F-418D-AE19-62706E023703}">
                                <ahyp:hlinkClr xmlns:ahyp="http://schemas.microsoft.com/office/drawing/2018/hyperlinkcolor" val="tx"/>
                              </a:ext>
                            </a:extLst>
                          </a:hlinkClick>
                        </a:rPr>
                        <a:t>↳ Check Readiness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b="1" dirty="0">
                          <a:solidFill>
                            <a:srgbClr val="4B1FA0"/>
                          </a:solidFill>
                          <a:latin typeface="Calibri" pitchFamily="34" charset="0"/>
                          <a:ea typeface="Calibri" pitchFamily="34" charset="-122"/>
                          <a:cs typeface="Calibri" pitchFamily="34" charset="-120"/>
                        </a:rPr>
                        <a:t>«include»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List blockers and warnings; no ZIP while a blocker is open</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FR-10.3, 10.7</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W-28</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11"/>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4" action="ppaction://hlinksldjump" tooltip="Module 9">
                            <a:extLst>
                              <a:ext uri="{A12FA001-AC4F-418D-AE19-62706E023703}">
                                <ahyp:hlinkClr xmlns:ahyp="http://schemas.microsoft.com/office/drawing/2018/hyperlinkcolor" val="tx"/>
                              </a:ext>
                            </a:extLst>
                          </a:hlinkClick>
                        </a:rPr>
                        <a:t>Search Project Vault</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Search, browse and trace past projects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FR-9.1–9.7, 18.7</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W-05, W-25, W-26, W-27, W-47, M-13</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6" name="Text 3">
            <a:hlinkClick r:id="" action="ppaction://noaction"/>
          </p:cNvPr>
          <p:cNvSpPr/>
          <p:nvPr/>
        </p:nvSpPr>
        <p:spPr>
          <a:xfrm>
            <a:off x="68653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7" name="Text 4">
            <a:hlinkClick r:id="rId5" action="ppaction://hlinksldjump" tooltip="Contents"/>
          </p:cNvPr>
          <p:cNvSpPr/>
          <p:nvPr/>
        </p:nvSpPr>
        <p:spPr>
          <a:xfrm>
            <a:off x="7843723"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8" name="Text 5">
            <a:hlinkClick r:id="rId6" action="ppaction://hlinksldjump" tooltip="Actors"/>
          </p:cNvPr>
          <p:cNvSpPr/>
          <p:nvPr/>
        </p:nvSpPr>
        <p:spPr>
          <a:xfrm>
            <a:off x="8904427"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Actors">
                  <a:extLst>
                    <a:ext uri="{A12FA001-AC4F-418D-AE19-62706E023703}">
                      <ahyp:hlinkClr xmlns:ahyp="http://schemas.microsoft.com/office/drawing/2018/hyperlinkcolor" val="tx"/>
                    </a:ext>
                  </a:extLst>
                </a:hlinkClick>
              </a:rPr>
              <a:t>Actors</a:t>
            </a:r>
            <a:endParaRPr lang="en-US" sz="1100" dirty="0"/>
          </a:p>
        </p:txBody>
      </p:sp>
      <p:sp>
        <p:nvSpPr>
          <p:cNvPr id="9" name="Text 6">
            <a:hlinkClick r:id="rId7" action="ppaction://hlinksldjump" tooltip="Diagram"/>
          </p:cNvPr>
          <p:cNvSpPr/>
          <p:nvPr/>
        </p:nvSpPr>
        <p:spPr>
          <a:xfrm>
            <a:off x="9882835" y="6355080"/>
            <a:ext cx="873252"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Diagram">
                  <a:extLst>
                    <a:ext uri="{A12FA001-AC4F-418D-AE19-62706E023703}">
                      <ahyp:hlinkClr xmlns:ahyp="http://schemas.microsoft.com/office/drawing/2018/hyperlinkcolor" val="tx"/>
                    </a:ext>
                  </a:extLst>
                </a:hlinkClick>
              </a:rPr>
              <a:t>Diagram</a:t>
            </a:r>
            <a:endParaRPr lang="en-US" sz="1100" dirty="0"/>
          </a:p>
        </p:txBody>
      </p:sp>
      <p:sp>
        <p:nvSpPr>
          <p:cNvPr id="10" name="Text 7">
            <a:hlinkClick r:id="rId8"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8"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USE CASES BY ACTOR · FIGURE 2.1, TABLE 2.2</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Actors: Reviewer and Registered User</a:t>
            </a:r>
            <a:endParaRPr lang="en-US" sz="28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27</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3314700"/>
        </p:xfrm>
        <a:graphic>
          <a:graphicData uri="http://schemas.openxmlformats.org/drawingml/2006/table">
            <a:tbl>
              <a:tblPr/>
              <a:tblGrid>
                <a:gridCol w="25146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719072">
                  <a:extLst>
                    <a:ext uri="{9D8B030D-6E8A-4147-A177-3AD203B41FA5}">
                      <a16:colId xmlns:a16="http://schemas.microsoft.com/office/drawing/2014/main" val="20004"/>
                    </a:ext>
                  </a:extLst>
                </a:gridCol>
              </a:tblGrid>
              <a:tr h="0">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USE CASE</a:t>
                      </a:r>
                      <a:endParaRPr lang="en-US" sz="105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WHAT IT DOES</a:t>
                      </a:r>
                      <a:endParaRPr lang="en-US" sz="105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FUNCTIONAL REQS</a:t>
                      </a:r>
                      <a:endParaRPr lang="en-US" sz="105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SCREENS</a:t>
                      </a:r>
                      <a:endParaRPr lang="en-US" sz="105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extLst>
                  <a:ext uri="{0D108BD9-81ED-4DB2-BD59-A6C34878D82A}">
                    <a16:rowId xmlns:a16="http://schemas.microsoft.com/office/drawing/2014/main" val="10000"/>
                  </a:ext>
                </a:extLst>
              </a:tr>
              <a:tr h="0">
                <a:tc gridSpan="5">
                  <a:txBody>
                    <a:bodyPr/>
                    <a:lstStyle/>
                    <a:p>
                      <a:pPr marL="0" indent="0">
                        <a:buNone/>
                      </a:pPr>
                      <a:r>
                        <a:rPr lang="en-US" sz="1250" b="1" kern="0" spc="100" dirty="0">
                          <a:solidFill>
                            <a:srgbClr val="FFFFFF"/>
                          </a:solidFill>
                          <a:latin typeface="Calibri" pitchFamily="34" charset="0"/>
                          <a:ea typeface="Calibri" pitchFamily="34" charset="-122"/>
                          <a:cs typeface="Calibri" pitchFamily="34" charset="-120"/>
                        </a:rPr>
                        <a:t>REVIEWER</a:t>
                      </a:r>
                      <a:r>
                        <a:rPr lang="en-US" sz="1250" dirty="0">
                          <a:solidFill>
                            <a:srgbClr val="C9B6F2"/>
                          </a:solidFill>
                          <a:latin typeface="Calibri" pitchFamily="34" charset="0"/>
                          <a:ea typeface="Calibri" pitchFamily="34" charset="-122"/>
                          <a:cs typeface="Calibri" pitchFamily="34" charset="-120"/>
                        </a:rPr>
                        <a:t>   a Presales Engineer can also review another engineer’s section</a:t>
                      </a:r>
                      <a:endParaRPr lang="en-US" sz="125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4B1FA0"/>
                    </a:solidFill>
                  </a:tcPr>
                </a:tc>
                <a:tc hMerge="1">
                  <a:txBody>
                    <a:bodyPr/>
                    <a:lstStyle/>
                    <a:p>
                      <a:endParaRPr lang="en-PK"/>
                    </a:p>
                  </a:txBody>
                  <a:tcPr/>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10001"/>
                  </a:ext>
                </a:extLst>
              </a:tr>
              <a:tr h="0">
                <a:tc>
                  <a:txBody>
                    <a:bodyPr/>
                    <a:lstStyle/>
                    <a:p>
                      <a:pPr marL="0" indent="0">
                        <a:buNone/>
                      </a:pPr>
                      <a:r>
                        <a:rPr lang="en-US" sz="1400" b="1" u="sng" dirty="0">
                          <a:solidFill>
                            <a:srgbClr val="2B0B5E"/>
                          </a:solidFill>
                          <a:latin typeface="Calibri" pitchFamily="34" charset="0"/>
                          <a:ea typeface="Calibri" pitchFamily="34" charset="-122"/>
                          <a:cs typeface="Calibri" pitchFamily="34" charset="-120"/>
                          <a:hlinkClick r:id="rId3" action="ppaction://hlinksldjump" tooltip="Module 6">
                            <a:extLst>
                              <a:ext uri="{A12FA001-AC4F-418D-AE19-62706E023703}">
                                <ahyp:hlinkClr xmlns:ahyp="http://schemas.microsoft.com/office/drawing/2018/hyperlinkcolor" val="tx"/>
                              </a:ext>
                            </a:extLst>
                          </a:hlinkClick>
                        </a:rPr>
                        <a:t>Approve Proposal</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400" b="1" dirty="0">
                          <a:solidFill>
                            <a:srgbClr val="2B0B5E"/>
                          </a:solidFill>
                          <a:latin typeface="Calibri" pitchFamily="34" charset="0"/>
                          <a:ea typeface="Calibri" pitchFamily="34" charset="-122"/>
                          <a:cs typeface="Calibri" pitchFamily="34" charset="-120"/>
                        </a:rPr>
                        <a:t>Base</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400" dirty="0">
                          <a:solidFill>
                            <a:srgbClr val="1A1A22"/>
                          </a:solidFill>
                          <a:latin typeface="Calibri" pitchFamily="34" charset="0"/>
                          <a:ea typeface="Calibri" pitchFamily="34" charset="-122"/>
                          <a:cs typeface="Calibri" pitchFamily="34" charset="-120"/>
                        </a:rPr>
                        <a:t>Approve each section; nobody can approve their own</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400" dirty="0">
                          <a:solidFill>
                            <a:srgbClr val="1A1A22"/>
                          </a:solidFill>
                          <a:latin typeface="Calibri" pitchFamily="34" charset="0"/>
                          <a:ea typeface="Calibri" pitchFamily="34" charset="-122"/>
                          <a:cs typeface="Calibri" pitchFamily="34" charset="-120"/>
                        </a:rPr>
                        <a:t>FR-6.8, 13.3, 18.3, 18.8</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400" dirty="0">
                          <a:solidFill>
                            <a:srgbClr val="1A1A22"/>
                          </a:solidFill>
                          <a:latin typeface="Calibri" pitchFamily="34" charset="0"/>
                          <a:ea typeface="Calibri" pitchFamily="34" charset="-122"/>
                          <a:cs typeface="Calibri" pitchFamily="34" charset="-120"/>
                        </a:rPr>
                        <a:t>W-20, W-22, M-02, M-03, M-05, M-14</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400" b="1" u="sng" dirty="0">
                          <a:solidFill>
                            <a:srgbClr val="4B1FA0"/>
                          </a:solidFill>
                          <a:latin typeface="Calibri" pitchFamily="34" charset="0"/>
                          <a:ea typeface="Calibri" pitchFamily="34" charset="-122"/>
                          <a:cs typeface="Calibri" pitchFamily="34" charset="-120"/>
                          <a:hlinkClick r:id="rId3" action="ppaction://hlinksldjump" tooltip="Module 6">
                            <a:extLst>
                              <a:ext uri="{A12FA001-AC4F-418D-AE19-62706E023703}">
                                <ahyp:hlinkClr xmlns:ahyp="http://schemas.microsoft.com/office/drawing/2018/hyperlinkcolor" val="tx"/>
                              </a:ext>
                            </a:extLst>
                          </a:hlinkClick>
                        </a:rPr>
                        <a:t>↳ Request Changes</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400" b="1" dirty="0">
                          <a:solidFill>
                            <a:srgbClr val="C67A0A"/>
                          </a:solidFill>
                          <a:latin typeface="Calibri" pitchFamily="34" charset="0"/>
                          <a:ea typeface="Calibri" pitchFamily="34" charset="-122"/>
                          <a:cs typeface="Calibri" pitchFamily="34" charset="-120"/>
                        </a:rPr>
                        <a:t>«extend»</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400" dirty="0">
                          <a:solidFill>
                            <a:srgbClr val="1A1A22"/>
                          </a:solidFill>
                          <a:latin typeface="Calibri" pitchFamily="34" charset="0"/>
                          <a:ea typeface="Calibri" pitchFamily="34" charset="-122"/>
                          <a:cs typeface="Calibri" pitchFamily="34" charset="-120"/>
                        </a:rPr>
                        <a:t>Only when a section needs revision: send it back with a comment (optional)</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400" dirty="0">
                          <a:solidFill>
                            <a:srgbClr val="1A1A22"/>
                          </a:solidFill>
                          <a:latin typeface="Calibri" pitchFamily="34" charset="0"/>
                          <a:ea typeface="Calibri" pitchFamily="34" charset="-122"/>
                          <a:cs typeface="Calibri" pitchFamily="34" charset="-120"/>
                        </a:rPr>
                        <a:t>FR-6.8, 18.3</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tc>
                  <a:txBody>
                    <a:bodyPr/>
                    <a:lstStyle/>
                    <a:p>
                      <a:pPr marL="0" indent="0">
                        <a:buNone/>
                      </a:pPr>
                      <a:r>
                        <a:rPr lang="en-US" sz="1400" dirty="0">
                          <a:solidFill>
                            <a:srgbClr val="1A1A22"/>
                          </a:solidFill>
                          <a:latin typeface="Calibri" pitchFamily="34" charset="0"/>
                          <a:ea typeface="Calibri" pitchFamily="34" charset="-122"/>
                          <a:cs typeface="Calibri" pitchFamily="34" charset="-120"/>
                        </a:rPr>
                        <a:t>W-20, M-04</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4F0FB"/>
                    </a:solidFill>
                  </a:tcPr>
                </a:tc>
                <a:extLst>
                  <a:ext uri="{0D108BD9-81ED-4DB2-BD59-A6C34878D82A}">
                    <a16:rowId xmlns:a16="http://schemas.microsoft.com/office/drawing/2014/main" val="10003"/>
                  </a:ext>
                </a:extLst>
              </a:tr>
              <a:tr h="0">
                <a:tc gridSpan="5">
                  <a:txBody>
                    <a:bodyPr/>
                    <a:lstStyle/>
                    <a:p>
                      <a:pPr marL="0" indent="0">
                        <a:buNone/>
                      </a:pPr>
                      <a:r>
                        <a:rPr lang="en-US" sz="1250" b="1" kern="0" spc="100" dirty="0">
                          <a:solidFill>
                            <a:srgbClr val="FFFFFF"/>
                          </a:solidFill>
                          <a:latin typeface="Calibri" pitchFamily="34" charset="0"/>
                          <a:ea typeface="Calibri" pitchFamily="34" charset="-122"/>
                          <a:cs typeface="Calibri" pitchFamily="34" charset="-120"/>
                        </a:rPr>
                        <a:t>REGISTERED USER</a:t>
                      </a:r>
                      <a:r>
                        <a:rPr lang="en-US" sz="1250" dirty="0">
                          <a:solidFill>
                            <a:srgbClr val="C9B6F2"/>
                          </a:solidFill>
                          <a:latin typeface="Calibri" pitchFamily="34" charset="0"/>
                          <a:ea typeface="Calibri" pitchFamily="34" charset="-122"/>
                          <a:cs typeface="Calibri" pitchFamily="34" charset="-120"/>
                        </a:rPr>
                        <a:t>   every one of the five roles</a:t>
                      </a:r>
                      <a:endParaRPr lang="en-US" sz="125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4B1FA0"/>
                    </a:solidFill>
                  </a:tcPr>
                </a:tc>
                <a:tc hMerge="1">
                  <a:txBody>
                    <a:bodyPr/>
                    <a:lstStyle/>
                    <a:p>
                      <a:endParaRPr lang="en-PK"/>
                    </a:p>
                  </a:txBody>
                  <a:tcPr/>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10004"/>
                  </a:ext>
                </a:extLst>
              </a:tr>
              <a:tr h="0">
                <a:tc>
                  <a:txBody>
                    <a:bodyPr/>
                    <a:lstStyle/>
                    <a:p>
                      <a:pPr marL="0" indent="0">
                        <a:buNone/>
                      </a:pPr>
                      <a:r>
                        <a:rPr lang="en-US" sz="1400" b="1" u="sng" dirty="0">
                          <a:solidFill>
                            <a:srgbClr val="2B0B5E"/>
                          </a:solidFill>
                          <a:latin typeface="Calibri" pitchFamily="34" charset="0"/>
                          <a:ea typeface="Calibri" pitchFamily="34" charset="-122"/>
                          <a:cs typeface="Calibri" pitchFamily="34" charset="-120"/>
                          <a:hlinkClick r:id="rId4" action="ppaction://hlinksldjump" tooltip="Module 13">
                            <a:extLst>
                              <a:ext uri="{A12FA001-AC4F-418D-AE19-62706E023703}">
                                <ahyp:hlinkClr xmlns:ahyp="http://schemas.microsoft.com/office/drawing/2018/hyperlinkcolor" val="tx"/>
                              </a:ext>
                            </a:extLst>
                          </a:hlinkClick>
                        </a:rPr>
                        <a:t>User Authentication</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400" b="1" dirty="0">
                          <a:solidFill>
                            <a:srgbClr val="2B0B5E"/>
                          </a:solidFill>
                          <a:latin typeface="Calibri" pitchFamily="34" charset="0"/>
                          <a:ea typeface="Calibri" pitchFamily="34" charset="-122"/>
                          <a:cs typeface="Calibri" pitchFamily="34" charset="-120"/>
                        </a:rPr>
                        <a:t>Base</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400" dirty="0">
                          <a:solidFill>
                            <a:srgbClr val="1A1A22"/>
                          </a:solidFill>
                          <a:latin typeface="Calibri" pitchFamily="34" charset="0"/>
                          <a:ea typeface="Calibri" pitchFamily="34" charset="-122"/>
                          <a:cs typeface="Calibri" pitchFamily="34" charset="-120"/>
                        </a:rPr>
                        <a:t>Log in, keep a secure session and reset a password, on web and mobile</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400" dirty="0">
                          <a:solidFill>
                            <a:srgbClr val="1A1A22"/>
                          </a:solidFill>
                          <a:latin typeface="Calibri" pitchFamily="34" charset="0"/>
                          <a:ea typeface="Calibri" pitchFamily="34" charset="-122"/>
                          <a:cs typeface="Calibri" pitchFamily="34" charset="-120"/>
                        </a:rPr>
                        <a:t>FR-13.1, 13.4, 13.6, 18.1–18.2</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400" dirty="0">
                          <a:solidFill>
                            <a:srgbClr val="1A1A22"/>
                          </a:solidFill>
                          <a:latin typeface="Calibri" pitchFamily="34" charset="0"/>
                          <a:ea typeface="Calibri" pitchFamily="34" charset="-122"/>
                          <a:cs typeface="Calibri" pitchFamily="34" charset="-120"/>
                        </a:rPr>
                        <a:t>W-01–W-04, M-01, M-02</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400" b="1" u="sng" dirty="0">
                          <a:solidFill>
                            <a:srgbClr val="2B0B5E"/>
                          </a:solidFill>
                          <a:latin typeface="Calibri" pitchFamily="34" charset="0"/>
                          <a:ea typeface="Calibri" pitchFamily="34" charset="-122"/>
                          <a:cs typeface="Calibri" pitchFamily="34" charset="-120"/>
                          <a:hlinkClick r:id="rId5" action="ppaction://hlinksldjump" tooltip="Module 4">
                            <a:extLst>
                              <a:ext uri="{A12FA001-AC4F-418D-AE19-62706E023703}">
                                <ahyp:hlinkClr xmlns:ahyp="http://schemas.microsoft.com/office/drawing/2018/hyperlinkcolor" val="tx"/>
                              </a:ext>
                            </a:extLst>
                          </a:hlinkClick>
                        </a:rPr>
                        <a:t>Receive Notifications</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400" b="1" dirty="0">
                          <a:solidFill>
                            <a:srgbClr val="2B0B5E"/>
                          </a:solidFill>
                          <a:latin typeface="Calibri" pitchFamily="34" charset="0"/>
                          <a:ea typeface="Calibri" pitchFamily="34" charset="-122"/>
                          <a:cs typeface="Calibri" pitchFamily="34" charset="-120"/>
                        </a:rPr>
                        <a:t>Base</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400" dirty="0">
                          <a:solidFill>
                            <a:srgbClr val="1A1A22"/>
                          </a:solidFill>
                          <a:latin typeface="Calibri" pitchFamily="34" charset="0"/>
                          <a:ea typeface="Calibri" pitchFamily="34" charset="-122"/>
                          <a:cs typeface="Calibri" pitchFamily="34" charset="-120"/>
                        </a:rPr>
                        <a:t>Get deadline, approval, NC and low-score alerts</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400" dirty="0">
                          <a:solidFill>
                            <a:srgbClr val="1A1A22"/>
                          </a:solidFill>
                          <a:latin typeface="Calibri" pitchFamily="34" charset="0"/>
                          <a:ea typeface="Calibri" pitchFamily="34" charset="-122"/>
                          <a:cs typeface="Calibri" pitchFamily="34" charset="-120"/>
                        </a:rPr>
                        <a:t>FR-4.5, 17.4, 18.6</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400" dirty="0">
                          <a:solidFill>
                            <a:srgbClr val="1A1A22"/>
                          </a:solidFill>
                          <a:latin typeface="Calibri" pitchFamily="34" charset="0"/>
                          <a:ea typeface="Calibri" pitchFamily="34" charset="-122"/>
                          <a:cs typeface="Calibri" pitchFamily="34" charset="-120"/>
                        </a:rPr>
                        <a:t>W-16, W-46, M-11, M-12</a:t>
                      </a:r>
                      <a:endParaRPr lang="en-US" sz="1400" dirty="0">
                        <a:latin typeface="Calibri" charset="0"/>
                        <a:ea typeface="Calibri" charset="0"/>
                        <a:cs typeface="Calibri" charset="0"/>
                      </a:endParaRPr>
                    </a:p>
                  </a:txBody>
                  <a:tcPr marL="101600" marR="101600" marT="76200" marB="762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3">
            <a:hlinkClick r:id="" action="ppaction://noaction"/>
          </p:cNvPr>
          <p:cNvSpPr/>
          <p:nvPr/>
        </p:nvSpPr>
        <p:spPr>
          <a:xfrm>
            <a:off x="68653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7" name="Text 4">
            <a:hlinkClick r:id="rId6" action="ppaction://hlinksldjump" tooltip="Contents"/>
          </p:cNvPr>
          <p:cNvSpPr/>
          <p:nvPr/>
        </p:nvSpPr>
        <p:spPr>
          <a:xfrm>
            <a:off x="7843723"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8" name="Text 5">
            <a:hlinkClick r:id="rId7" action="ppaction://hlinksldjump" tooltip="Actors"/>
          </p:cNvPr>
          <p:cNvSpPr/>
          <p:nvPr/>
        </p:nvSpPr>
        <p:spPr>
          <a:xfrm>
            <a:off x="8904427"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Actors">
                  <a:extLst>
                    <a:ext uri="{A12FA001-AC4F-418D-AE19-62706E023703}">
                      <ahyp:hlinkClr xmlns:ahyp="http://schemas.microsoft.com/office/drawing/2018/hyperlinkcolor" val="tx"/>
                    </a:ext>
                  </a:extLst>
                </a:hlinkClick>
              </a:rPr>
              <a:t>Actors</a:t>
            </a:r>
            <a:endParaRPr lang="en-US" sz="1100" dirty="0"/>
          </a:p>
        </p:txBody>
      </p:sp>
      <p:sp>
        <p:nvSpPr>
          <p:cNvPr id="9" name="Text 6">
            <a:hlinkClick r:id="rId8" action="ppaction://hlinksldjump" tooltip="Diagram"/>
          </p:cNvPr>
          <p:cNvSpPr/>
          <p:nvPr/>
        </p:nvSpPr>
        <p:spPr>
          <a:xfrm>
            <a:off x="9882835" y="6355080"/>
            <a:ext cx="873252"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8" action="ppaction://hlinksldjump" tooltip="Diagram">
                  <a:extLst>
                    <a:ext uri="{A12FA001-AC4F-418D-AE19-62706E023703}">
                      <ahyp:hlinkClr xmlns:ahyp="http://schemas.microsoft.com/office/drawing/2018/hyperlinkcolor" val="tx"/>
                    </a:ext>
                  </a:extLst>
                </a:hlinkClick>
              </a:rPr>
              <a:t>Diagram</a:t>
            </a:r>
            <a:endParaRPr lang="en-US" sz="1100" dirty="0"/>
          </a:p>
        </p:txBody>
      </p:sp>
      <p:sp>
        <p:nvSpPr>
          <p:cNvPr id="10" name="Text 7">
            <a:hlinkClick r:id="rId9"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9"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USE CASES BY ACTOR · FIGURE 2.1, TABLE 2.2</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Actors: Org Admin, Super Admin and Read-only User</a:t>
            </a:r>
            <a:endParaRPr lang="en-US" sz="28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28</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4627880"/>
        </p:xfrm>
        <a:graphic>
          <a:graphicData uri="http://schemas.openxmlformats.org/drawingml/2006/table">
            <a:tbl>
              <a:tblPr/>
              <a:tblGrid>
                <a:gridCol w="25146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719072">
                  <a:extLst>
                    <a:ext uri="{9D8B030D-6E8A-4147-A177-3AD203B41FA5}">
                      <a16:colId xmlns:a16="http://schemas.microsoft.com/office/drawing/2014/main" val="20004"/>
                    </a:ext>
                  </a:extLst>
                </a:gridCol>
              </a:tblGrid>
              <a:tr h="0">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USE CASE</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WHAT IT DOES</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FUNCTIONAL REQS</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tc>
                  <a:txBody>
                    <a:bodyPr/>
                    <a:lstStyle/>
                    <a:p>
                      <a:pPr marL="0" indent="0">
                        <a:buNone/>
                      </a:pPr>
                      <a:r>
                        <a:rPr lang="en-US" sz="1050" b="1" kern="0" spc="100" dirty="0">
                          <a:solidFill>
                            <a:srgbClr val="FFFFFF"/>
                          </a:solidFill>
                          <a:latin typeface="Calibri" pitchFamily="34" charset="0"/>
                          <a:ea typeface="Calibri" pitchFamily="34" charset="-122"/>
                          <a:cs typeface="Calibri" pitchFamily="34" charset="-120"/>
                        </a:rPr>
                        <a:t>SCREENS</a:t>
                      </a:r>
                      <a:endParaRPr lang="en-US" sz="10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2B0B5E"/>
                    </a:solidFill>
                  </a:tcPr>
                </a:tc>
                <a:extLst>
                  <a:ext uri="{0D108BD9-81ED-4DB2-BD59-A6C34878D82A}">
                    <a16:rowId xmlns:a16="http://schemas.microsoft.com/office/drawing/2014/main" val="10000"/>
                  </a:ext>
                </a:extLst>
              </a:tr>
              <a:tr h="0">
                <a:tc gridSpan="5">
                  <a:txBody>
                    <a:bodyPr/>
                    <a:lstStyle/>
                    <a:p>
                      <a:pPr marL="0" indent="0">
                        <a:buNone/>
                      </a:pPr>
                      <a:r>
                        <a:rPr lang="en-US" sz="1250" b="1" kern="0" spc="100" dirty="0">
                          <a:solidFill>
                            <a:srgbClr val="FFFFFF"/>
                          </a:solidFill>
                          <a:latin typeface="Calibri" pitchFamily="34" charset="0"/>
                          <a:ea typeface="Calibri" pitchFamily="34" charset="-122"/>
                          <a:cs typeface="Calibri" pitchFamily="34" charset="-120"/>
                        </a:rPr>
                        <a:t>ORG ADMIN</a:t>
                      </a:r>
                      <a:r>
                        <a:rPr lang="en-US" sz="1250" dirty="0">
                          <a:solidFill>
                            <a:srgbClr val="C9B6F2"/>
                          </a:solidFill>
                          <a:latin typeface="Calibri" pitchFamily="34" charset="0"/>
                          <a:ea typeface="Calibri" pitchFamily="34" charset="-122"/>
                          <a:cs typeface="Calibri" pitchFamily="34" charset="-120"/>
                        </a:rPr>
                        <a:t>   manages one company</a:t>
                      </a:r>
                      <a:endParaRPr lang="en-US" sz="12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4B1FA0"/>
                    </a:solidFill>
                  </a:tcPr>
                </a:tc>
                <a:tc hMerge="1">
                  <a:txBody>
                    <a:bodyPr/>
                    <a:lstStyle/>
                    <a:p>
                      <a:endParaRPr lang="en-PK"/>
                    </a:p>
                  </a:txBody>
                  <a:tcPr/>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10001"/>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3" action="ppaction://hlinksldjump" tooltip="Module 13">
                            <a:extLst>
                              <a:ext uri="{A12FA001-AC4F-418D-AE19-62706E023703}">
                                <ahyp:hlinkClr xmlns:ahyp="http://schemas.microsoft.com/office/drawing/2018/hyperlinkcolor" val="tx"/>
                              </a:ext>
                            </a:extLst>
                          </a:hlinkClick>
                        </a:rPr>
                        <a:t>Manage Accounts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Invite users, give them a role and deactivate accounts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FR-13.1–13.2, 13.5</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W-04, W-36, W-37, W-38</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4" action="ppaction://hlinksldjump" tooltip="Module 8">
                            <a:extLst>
                              <a:ext uri="{A12FA001-AC4F-418D-AE19-62706E023703}">
                                <ahyp:hlinkClr xmlns:ahyp="http://schemas.microsoft.com/office/drawing/2018/hyperlinkcolor" val="tx"/>
                              </a:ext>
                            </a:extLst>
                          </a:hlinkClick>
                        </a:rPr>
                        <a:t>Manage Templates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Keep BOQ and responsibility templates up to date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FR-8.5, 14.1–14.3</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W-39, W-40</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5" action="ppaction://hlinksldjump" tooltip="Module 11">
                            <a:extLst>
                              <a:ext uri="{A12FA001-AC4F-418D-AE19-62706E023703}">
                                <ahyp:hlinkClr xmlns:ahyp="http://schemas.microsoft.com/office/drawing/2018/hyperlinkcolor" val="tx"/>
                              </a:ext>
                            </a:extLst>
                          </a:hlinkClick>
                        </a:rPr>
                        <a:t>Manage Knowledge 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Re-tag or delete documents and check coverage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FR-11.1–11.2, 11.5–11.6</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W-30, W-32, W-33</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3" action="ppaction://hlinksldjump" tooltip="Module 15">
                            <a:extLst>
                              <a:ext uri="{A12FA001-AC4F-418D-AE19-62706E023703}">
                                <ahyp:hlinkClr xmlns:ahyp="http://schemas.microsoft.com/office/drawing/2018/hyperlinkcolor" val="tx"/>
                              </a:ext>
                            </a:extLst>
                          </a:hlinkClick>
                        </a:rPr>
                        <a:t>View Audit Log</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Filter and export the record of every important action</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FR-15.1–15.6</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W-41, W-42</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3" action="ppaction://hlinksldjump" tooltip="Module 16">
                            <a:extLst>
                              <a:ext uri="{A12FA001-AC4F-418D-AE19-62706E023703}">
                                <ahyp:hlinkClr xmlns:ahyp="http://schemas.microsoft.com/office/drawing/2018/hyperlinkcolor" val="tx"/>
                              </a:ext>
                            </a:extLst>
                          </a:hlinkClick>
                        </a:rPr>
                        <a:t>View Analytics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See turnaround time, client mix and top NC items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FR-16.1–16.4</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W-43</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6" action="ppaction://hlinksldjump" tooltip="Module 17">
                            <a:extLst>
                              <a:ext uri="{A12FA001-AC4F-418D-AE19-62706E023703}">
                                <ahyp:hlinkClr xmlns:ahyp="http://schemas.microsoft.com/office/drawing/2018/hyperlinkcolor" val="tx"/>
                              </a:ext>
                            </a:extLst>
                          </a:hlinkClick>
                        </a:rPr>
                        <a:t>Manage Tasks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5E5E6B"/>
                          </a:solidFill>
                          <a:latin typeface="Calibri" pitchFamily="34" charset="0"/>
                          <a:ea typeface="Calibri" pitchFamily="34" charset="-122"/>
                          <a:cs typeface="Calibri" pitchFamily="34" charset="-120"/>
                        </a:rPr>
                        <a:t>Shared</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Tasks created from the closing date; assign and track them</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FR-17.1–17.3, 17.5, 18.5</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W-05, W-44, W-45, M-09, M-10</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5" action="ppaction://hlinksldjump" tooltip="Module 9">
                            <a:extLst>
                              <a:ext uri="{A12FA001-AC4F-418D-AE19-62706E023703}">
                                <ahyp:hlinkClr xmlns:ahyp="http://schemas.microsoft.com/office/drawing/2018/hyperlinkcolor" val="tx"/>
                              </a:ext>
                            </a:extLst>
                          </a:hlinkClick>
                        </a:rPr>
                        <a:t>Search Project Vault</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5E5E6B"/>
                          </a:solidFill>
                          <a:latin typeface="Calibri" pitchFamily="34" charset="0"/>
                          <a:ea typeface="Calibri" pitchFamily="34" charset="-122"/>
                          <a:cs typeface="Calibri" pitchFamily="34" charset="-120"/>
                        </a:rPr>
                        <a:t>Shared</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Search, browse and trace past projects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FR-9.1–9.7, 18.7</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W-05, W-25, W-26, W-27, W-47, M-13</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0">
                <a:tc gridSpan="5">
                  <a:txBody>
                    <a:bodyPr/>
                    <a:lstStyle/>
                    <a:p>
                      <a:pPr marL="0" indent="0">
                        <a:buNone/>
                      </a:pPr>
                      <a:r>
                        <a:rPr lang="en-US" sz="1250" b="1" kern="0" spc="100" dirty="0">
                          <a:solidFill>
                            <a:srgbClr val="FFFFFF"/>
                          </a:solidFill>
                          <a:latin typeface="Calibri" pitchFamily="34" charset="0"/>
                          <a:ea typeface="Calibri" pitchFamily="34" charset="-122"/>
                          <a:cs typeface="Calibri" pitchFamily="34" charset="-120"/>
                        </a:rPr>
                        <a:t>SUPER ADMIN</a:t>
                      </a:r>
                      <a:r>
                        <a:rPr lang="en-US" sz="1250" dirty="0">
                          <a:solidFill>
                            <a:srgbClr val="C9B6F2"/>
                          </a:solidFill>
                          <a:latin typeface="Calibri" pitchFamily="34" charset="0"/>
                          <a:ea typeface="Calibri" pitchFamily="34" charset="-122"/>
                          <a:cs typeface="Calibri" pitchFamily="34" charset="-120"/>
                        </a:rPr>
                        <a:t>   runs the platform</a:t>
                      </a:r>
                      <a:endParaRPr lang="en-US" sz="12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4B1FA0"/>
                    </a:solidFill>
                  </a:tcPr>
                </a:tc>
                <a:tc hMerge="1">
                  <a:txBody>
                    <a:bodyPr/>
                    <a:lstStyle/>
                    <a:p>
                      <a:endParaRPr lang="en-PK"/>
                    </a:p>
                  </a:txBody>
                  <a:tcPr/>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10009"/>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5" action="ppaction://hlinksldjump" tooltip="Module 12">
                            <a:extLst>
                              <a:ext uri="{A12FA001-AC4F-418D-AE19-62706E023703}">
                                <ahyp:hlinkClr xmlns:ahyp="http://schemas.microsoft.com/office/drawing/2018/hyperlinkcolor" val="tx"/>
                              </a:ext>
                            </a:extLst>
                          </a:hlinkClick>
                        </a:rPr>
                        <a:t>Manage Organisations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2B0B5E"/>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Create company workspaces on the platform</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FR-12.1–12.3</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W-34, W-35</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0">
                <a:tc gridSpan="5">
                  <a:txBody>
                    <a:bodyPr/>
                    <a:lstStyle/>
                    <a:p>
                      <a:pPr marL="0" indent="0">
                        <a:buNone/>
                      </a:pPr>
                      <a:r>
                        <a:rPr lang="en-US" sz="1250" b="1" kern="0" spc="100" dirty="0">
                          <a:solidFill>
                            <a:srgbClr val="FFFFFF"/>
                          </a:solidFill>
                          <a:latin typeface="Calibri" pitchFamily="34" charset="0"/>
                          <a:ea typeface="Calibri" pitchFamily="34" charset="-122"/>
                          <a:cs typeface="Calibri" pitchFamily="34" charset="-120"/>
                        </a:rPr>
                        <a:t>READ-ONLY USER</a:t>
                      </a:r>
                      <a:r>
                        <a:rPr lang="en-US" sz="1250" dirty="0">
                          <a:solidFill>
                            <a:srgbClr val="C9B6F2"/>
                          </a:solidFill>
                          <a:latin typeface="Calibri" pitchFamily="34" charset="0"/>
                          <a:ea typeface="Calibri" pitchFamily="34" charset="-122"/>
                          <a:cs typeface="Calibri" pitchFamily="34" charset="-120"/>
                        </a:rPr>
                        <a:t>   views past work</a:t>
                      </a:r>
                      <a:endParaRPr lang="en-US" sz="125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4B1FA0"/>
                    </a:solidFill>
                  </a:tcPr>
                </a:tc>
                <a:tc hMerge="1">
                  <a:txBody>
                    <a:bodyPr/>
                    <a:lstStyle/>
                    <a:p>
                      <a:endParaRPr lang="en-PK"/>
                    </a:p>
                  </a:txBody>
                  <a:tcPr/>
                </a:tc>
                <a:tc hMerge="1">
                  <a:txBody>
                    <a:bodyPr/>
                    <a:lstStyle/>
                    <a:p>
                      <a:endParaRPr lang="en-PK"/>
                    </a:p>
                  </a:txBody>
                  <a:tcPr/>
                </a:tc>
                <a:tc hMerge="1">
                  <a:txBody>
                    <a:bodyPr/>
                    <a:lstStyle/>
                    <a:p>
                      <a:endParaRPr lang="en-PK"/>
                    </a:p>
                  </a:txBody>
                  <a:tcPr/>
                </a:tc>
                <a:tc hMerge="1">
                  <a:txBody>
                    <a:bodyPr/>
                    <a:lstStyle/>
                    <a:p>
                      <a:endParaRPr lang="en-PK"/>
                    </a:p>
                  </a:txBody>
                  <a:tcPr/>
                </a:tc>
                <a:extLst>
                  <a:ext uri="{0D108BD9-81ED-4DB2-BD59-A6C34878D82A}">
                    <a16:rowId xmlns:a16="http://schemas.microsoft.com/office/drawing/2014/main" val="10011"/>
                  </a:ext>
                </a:extLst>
              </a:tr>
              <a:tr h="0">
                <a:tc>
                  <a:txBody>
                    <a:bodyPr/>
                    <a:lstStyle/>
                    <a:p>
                      <a:pPr marL="0" indent="0">
                        <a:buNone/>
                      </a:pPr>
                      <a:r>
                        <a:rPr lang="en-US" sz="1300" b="1" u="sng" dirty="0">
                          <a:solidFill>
                            <a:srgbClr val="2B0B5E"/>
                          </a:solidFill>
                          <a:latin typeface="Calibri" pitchFamily="34" charset="0"/>
                          <a:ea typeface="Calibri" pitchFamily="34" charset="-122"/>
                          <a:cs typeface="Calibri" pitchFamily="34" charset="-120"/>
                          <a:hlinkClick r:id="rId5" action="ppaction://hlinksldjump" tooltip="Module 9">
                            <a:extLst>
                              <a:ext uri="{A12FA001-AC4F-418D-AE19-62706E023703}">
                                <ahyp:hlinkClr xmlns:ahyp="http://schemas.microsoft.com/office/drawing/2018/hyperlinkcolor" val="tx"/>
                              </a:ext>
                            </a:extLst>
                          </a:hlinkClick>
                        </a:rPr>
                        <a:t>Search Project Vault</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b="1" dirty="0">
                          <a:solidFill>
                            <a:srgbClr val="5E5E6B"/>
                          </a:solidFill>
                          <a:latin typeface="Calibri" pitchFamily="34" charset="0"/>
                          <a:ea typeface="Calibri" pitchFamily="34" charset="-122"/>
                          <a:cs typeface="Calibri" pitchFamily="34" charset="-120"/>
                        </a:rPr>
                        <a:t>Shared</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Search, browse and trace past projects</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FR-9.1–9.7, 18.7</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tc>
                  <a:txBody>
                    <a:bodyPr/>
                    <a:lstStyle/>
                    <a:p>
                      <a:pPr marL="0" indent="0">
                        <a:buNone/>
                      </a:pPr>
                      <a:r>
                        <a:rPr lang="en-US" sz="1300" dirty="0">
                          <a:solidFill>
                            <a:srgbClr val="1A1A22"/>
                          </a:solidFill>
                          <a:latin typeface="Calibri" pitchFamily="34" charset="0"/>
                          <a:ea typeface="Calibri" pitchFamily="34" charset="-122"/>
                          <a:cs typeface="Calibri" pitchFamily="34" charset="-120"/>
                        </a:rPr>
                        <a:t>W-05, W-25, W-26, W-27, W-47, M-13</a:t>
                      </a:r>
                      <a:endParaRPr lang="en-US" sz="1300" dirty="0">
                        <a:latin typeface="Calibri" charset="0"/>
                        <a:ea typeface="Calibri" charset="0"/>
                        <a:cs typeface="Calibri" charset="0"/>
                      </a:endParaRPr>
                    </a:p>
                  </a:txBody>
                  <a:tcPr marL="88900" marR="88900" marT="50800" marB="50800" anchor="ctr">
                    <a:lnL w="9525" cap="flat" cmpd="sng" algn="ctr">
                      <a:solidFill>
                        <a:srgbClr val="E6E5EC"/>
                      </a:solidFill>
                      <a:prstDash val="solid"/>
                      <a:round/>
                      <a:headEnd type="none" w="med" len="med"/>
                      <a:tailEnd type="none" w="med" len="med"/>
                    </a:lnL>
                    <a:lnR w="9525" cap="flat" cmpd="sng" algn="ctr">
                      <a:solidFill>
                        <a:srgbClr val="E6E5EC"/>
                      </a:solidFill>
                      <a:prstDash val="solid"/>
                      <a:round/>
                      <a:headEnd type="none" w="med" len="med"/>
                      <a:tailEnd type="none" w="med" len="med"/>
                    </a:lnR>
                    <a:lnT w="9525" cap="flat" cmpd="sng" algn="ctr">
                      <a:solidFill>
                        <a:srgbClr val="E6E5EC"/>
                      </a:solidFill>
                      <a:prstDash val="solid"/>
                      <a:round/>
                      <a:headEnd type="none" w="med" len="med"/>
                      <a:tailEnd type="none" w="med" len="med"/>
                    </a:lnT>
                    <a:lnB w="9525" cap="flat" cmpd="sng" algn="ctr">
                      <a:solidFill>
                        <a:srgbClr val="E6E5EC"/>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6" name="Text 3">
            <a:hlinkClick r:id="" action="ppaction://noaction"/>
          </p:cNvPr>
          <p:cNvSpPr/>
          <p:nvPr/>
        </p:nvSpPr>
        <p:spPr>
          <a:xfrm>
            <a:off x="68653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7" name="Text 4">
            <a:hlinkClick r:id="rId7" action="ppaction://hlinksldjump" tooltip="Contents"/>
          </p:cNvPr>
          <p:cNvSpPr/>
          <p:nvPr/>
        </p:nvSpPr>
        <p:spPr>
          <a:xfrm>
            <a:off x="7843723"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8" name="Text 5">
            <a:hlinkClick r:id="rId8" action="ppaction://hlinksldjump" tooltip="Actors"/>
          </p:cNvPr>
          <p:cNvSpPr/>
          <p:nvPr/>
        </p:nvSpPr>
        <p:spPr>
          <a:xfrm>
            <a:off x="8904427"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8" action="ppaction://hlinksldjump" tooltip="Actors">
                  <a:extLst>
                    <a:ext uri="{A12FA001-AC4F-418D-AE19-62706E023703}">
                      <ahyp:hlinkClr xmlns:ahyp="http://schemas.microsoft.com/office/drawing/2018/hyperlinkcolor" val="tx"/>
                    </a:ext>
                  </a:extLst>
                </a:hlinkClick>
              </a:rPr>
              <a:t>Actors</a:t>
            </a:r>
            <a:endParaRPr lang="en-US" sz="1100" dirty="0"/>
          </a:p>
        </p:txBody>
      </p:sp>
      <p:sp>
        <p:nvSpPr>
          <p:cNvPr id="9" name="Text 6">
            <a:hlinkClick r:id="rId9" action="ppaction://hlinksldjump" tooltip="Diagram"/>
          </p:cNvPr>
          <p:cNvSpPr/>
          <p:nvPr/>
        </p:nvSpPr>
        <p:spPr>
          <a:xfrm>
            <a:off x="9882835" y="6355080"/>
            <a:ext cx="873252"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9" action="ppaction://hlinksldjump" tooltip="Diagram">
                  <a:extLst>
                    <a:ext uri="{A12FA001-AC4F-418D-AE19-62706E023703}">
                      <ahyp:hlinkClr xmlns:ahyp="http://schemas.microsoft.com/office/drawing/2018/hyperlinkcolor" val="tx"/>
                    </a:ext>
                  </a:extLst>
                </a:hlinkClick>
              </a:rPr>
              <a:t>Diagram</a:t>
            </a:r>
            <a:endParaRPr lang="en-US" sz="1100" dirty="0"/>
          </a:p>
        </p:txBody>
      </p:sp>
      <p:sp>
        <p:nvSpPr>
          <p:cNvPr id="10" name="Text 7">
            <a:hlinkClick r:id="rId10"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10"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MOCKUPS · </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Key Mockups</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r>
              <a:rPr lang="en-US" sz="1100" b="1" dirty="0">
                <a:solidFill>
                  <a:srgbClr val="5E5E6B"/>
                </a:solidFill>
                <a:latin typeface="Calibri" pitchFamily="34" charset="0"/>
                <a:ea typeface="Calibri" pitchFamily="34" charset="-122"/>
                <a:cs typeface="Calibri" pitchFamily="34" charset="-120"/>
              </a:rPr>
              <a:t>13 of 61 screens</a:t>
            </a: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29</a:t>
            </a:r>
            <a:endParaRPr lang="en-US" sz="1000" dirty="0"/>
          </a:p>
        </p:txBody>
      </p:sp>
      <p:sp>
        <p:nvSpPr>
          <p:cNvPr id="6" name="Shape 4"/>
          <p:cNvSpPr/>
          <p:nvPr/>
        </p:nvSpPr>
        <p:spPr>
          <a:xfrm>
            <a:off x="457200" y="1234440"/>
            <a:ext cx="2130552" cy="1572768"/>
          </a:xfrm>
          <a:prstGeom prst="roundRect">
            <a:avLst>
              <a:gd name="adj" fmla="val 3488"/>
            </a:avLst>
          </a:prstGeom>
          <a:solidFill>
            <a:srgbClr val="FFFFFF"/>
          </a:solidFill>
          <a:ln w="12700">
            <a:solidFill>
              <a:srgbClr val="E6E5EC"/>
            </a:solidFill>
            <a:prstDash val="solid"/>
          </a:ln>
        </p:spPr>
        <p:txBody>
          <a:bodyPr/>
          <a:lstStyle/>
          <a:p>
            <a:endParaRPr lang="en-PK"/>
          </a:p>
        </p:txBody>
      </p:sp>
      <p:sp>
        <p:nvSpPr>
          <p:cNvPr id="7" name="Shape 5"/>
          <p:cNvSpPr/>
          <p:nvPr/>
        </p:nvSpPr>
        <p:spPr>
          <a:xfrm>
            <a:off x="530352" y="1307592"/>
            <a:ext cx="1984248" cy="960120"/>
          </a:xfrm>
          <a:prstGeom prst="rect">
            <a:avLst/>
          </a:prstGeom>
          <a:solidFill>
            <a:srgbClr val="ECEBF2"/>
          </a:solidFill>
          <a:ln/>
        </p:spPr>
        <p:txBody>
          <a:bodyPr/>
          <a:lstStyle/>
          <a:p>
            <a:endParaRPr lang="en-PK"/>
          </a:p>
        </p:txBody>
      </p:sp>
      <p:pic>
        <p:nvPicPr>
          <p:cNvPr id="8" name="Image 0" descr="Projects Dashboard"/>
          <p:cNvPicPr>
            <a:picLocks noChangeAspect="1"/>
          </p:cNvPicPr>
          <p:nvPr/>
        </p:nvPicPr>
        <p:blipFill>
          <a:blip r:embed="rId3"/>
          <a:stretch>
            <a:fillRect/>
          </a:stretch>
        </p:blipFill>
        <p:spPr>
          <a:xfrm>
            <a:off x="802386" y="1307592"/>
            <a:ext cx="1440180" cy="960120"/>
          </a:xfrm>
          <a:prstGeom prst="rect">
            <a:avLst/>
          </a:prstGeom>
        </p:spPr>
      </p:pic>
      <p:sp>
        <p:nvSpPr>
          <p:cNvPr id="9" name="Text 6"/>
          <p:cNvSpPr txBox="1"/>
          <p:nvPr/>
        </p:nvSpPr>
        <p:spPr>
          <a:xfrm>
            <a:off x="548640" y="2304288"/>
            <a:ext cx="1947672" cy="457200"/>
          </a:xfrm>
          <a:prstGeom prst="rect">
            <a:avLst/>
          </a:prstGeom>
          <a:noFill/>
          <a:ln/>
        </p:spPr>
        <p:txBody>
          <a:bodyPr wrap="square" lIns="0" tIns="0" rIns="0" bIns="0" rtlCol="0" anchor="t"/>
          <a:lstStyle/>
          <a:p>
            <a:pPr marL="0" indent="0">
              <a:buNone/>
            </a:pPr>
            <a:r>
              <a:rPr lang="en-US" sz="1050" b="1" dirty="0">
                <a:solidFill>
                  <a:srgbClr val="4B1FA0"/>
                </a:solidFill>
                <a:latin typeface="Calibri" pitchFamily="34" charset="0"/>
                <a:ea typeface="Calibri" pitchFamily="34" charset="-122"/>
                <a:cs typeface="Calibri" pitchFamily="34" charset="-120"/>
              </a:rPr>
              <a:t>W-05  </a:t>
            </a:r>
            <a:r>
              <a:rPr lang="en-US" sz="1050" b="1" dirty="0">
                <a:solidFill>
                  <a:srgbClr val="2B0B5E"/>
                </a:solidFill>
                <a:latin typeface="Calibri" pitchFamily="34" charset="0"/>
                <a:ea typeface="Calibri" pitchFamily="34" charset="-122"/>
                <a:cs typeface="Calibri" pitchFamily="34" charset="-120"/>
              </a:rPr>
              <a:t>Projects Dashboard</a:t>
            </a:r>
            <a:endParaRPr lang="en-US" sz="1050" dirty="0"/>
          </a:p>
        </p:txBody>
      </p:sp>
      <p:sp>
        <p:nvSpPr>
          <p:cNvPr id="10" name="Shape 7">
            <a:hlinkClick r:id="rId4" action="ppaction://hlinksldjump" tooltip="Open Projects Dashboard"/>
          </p:cNvPr>
          <p:cNvSpPr/>
          <p:nvPr/>
        </p:nvSpPr>
        <p:spPr>
          <a:xfrm>
            <a:off x="457200" y="1234440"/>
            <a:ext cx="2130552" cy="1572768"/>
          </a:xfrm>
          <a:prstGeom prst="rect">
            <a:avLst/>
          </a:prstGeom>
          <a:solidFill>
            <a:srgbClr val="FFFFFF">
              <a:alpha val="0"/>
            </a:srgbClr>
          </a:solidFill>
          <a:ln/>
        </p:spPr>
        <p:txBody>
          <a:bodyPr/>
          <a:lstStyle/>
          <a:p>
            <a:endParaRPr lang="en-PK"/>
          </a:p>
        </p:txBody>
      </p:sp>
      <p:sp>
        <p:nvSpPr>
          <p:cNvPr id="11" name="Shape 8"/>
          <p:cNvSpPr/>
          <p:nvPr/>
        </p:nvSpPr>
        <p:spPr>
          <a:xfrm>
            <a:off x="2743200" y="1234440"/>
            <a:ext cx="2130552" cy="1572768"/>
          </a:xfrm>
          <a:prstGeom prst="roundRect">
            <a:avLst>
              <a:gd name="adj" fmla="val 3488"/>
            </a:avLst>
          </a:prstGeom>
          <a:solidFill>
            <a:srgbClr val="FFFFFF"/>
          </a:solidFill>
          <a:ln w="12700">
            <a:solidFill>
              <a:srgbClr val="E6E5EC"/>
            </a:solidFill>
            <a:prstDash val="solid"/>
          </a:ln>
        </p:spPr>
        <p:txBody>
          <a:bodyPr/>
          <a:lstStyle/>
          <a:p>
            <a:endParaRPr lang="en-PK"/>
          </a:p>
        </p:txBody>
      </p:sp>
      <p:sp>
        <p:nvSpPr>
          <p:cNvPr id="12" name="Shape 9"/>
          <p:cNvSpPr/>
          <p:nvPr/>
        </p:nvSpPr>
        <p:spPr>
          <a:xfrm>
            <a:off x="2816352" y="1307592"/>
            <a:ext cx="1984248" cy="960120"/>
          </a:xfrm>
          <a:prstGeom prst="rect">
            <a:avLst/>
          </a:prstGeom>
          <a:solidFill>
            <a:srgbClr val="ECEBF2"/>
          </a:solidFill>
          <a:ln/>
        </p:spPr>
        <p:txBody>
          <a:bodyPr/>
          <a:lstStyle/>
          <a:p>
            <a:endParaRPr lang="en-PK"/>
          </a:p>
        </p:txBody>
      </p:sp>
      <p:pic>
        <p:nvPicPr>
          <p:cNvPr id="13" name="Image 1" descr="RFP Upload &amp; Parsing"/>
          <p:cNvPicPr>
            <a:picLocks noChangeAspect="1"/>
          </p:cNvPicPr>
          <p:nvPr/>
        </p:nvPicPr>
        <p:blipFill>
          <a:blip r:embed="rId5"/>
          <a:stretch>
            <a:fillRect/>
          </a:stretch>
        </p:blipFill>
        <p:spPr>
          <a:xfrm>
            <a:off x="3088386" y="1307592"/>
            <a:ext cx="1440180" cy="960120"/>
          </a:xfrm>
          <a:prstGeom prst="rect">
            <a:avLst/>
          </a:prstGeom>
        </p:spPr>
      </p:pic>
      <p:sp>
        <p:nvSpPr>
          <p:cNvPr id="14" name="Text 10"/>
          <p:cNvSpPr txBox="1"/>
          <p:nvPr/>
        </p:nvSpPr>
        <p:spPr>
          <a:xfrm>
            <a:off x="2834640" y="2304288"/>
            <a:ext cx="1947672" cy="457200"/>
          </a:xfrm>
          <a:prstGeom prst="rect">
            <a:avLst/>
          </a:prstGeom>
          <a:noFill/>
          <a:ln/>
        </p:spPr>
        <p:txBody>
          <a:bodyPr wrap="square" lIns="0" tIns="0" rIns="0" bIns="0" rtlCol="0" anchor="t"/>
          <a:lstStyle/>
          <a:p>
            <a:pPr marL="0" indent="0">
              <a:buNone/>
            </a:pPr>
            <a:r>
              <a:rPr lang="en-US" sz="1050" b="1" dirty="0">
                <a:solidFill>
                  <a:srgbClr val="4B1FA0"/>
                </a:solidFill>
                <a:latin typeface="Calibri" pitchFamily="34" charset="0"/>
                <a:ea typeface="Calibri" pitchFamily="34" charset="-122"/>
                <a:cs typeface="Calibri" pitchFamily="34" charset="-120"/>
              </a:rPr>
              <a:t>W-06  </a:t>
            </a:r>
            <a:r>
              <a:rPr lang="en-US" sz="1050" b="1" dirty="0">
                <a:solidFill>
                  <a:srgbClr val="2B0B5E"/>
                </a:solidFill>
                <a:latin typeface="Calibri" pitchFamily="34" charset="0"/>
                <a:ea typeface="Calibri" pitchFamily="34" charset="-122"/>
                <a:cs typeface="Calibri" pitchFamily="34" charset="-120"/>
              </a:rPr>
              <a:t>RFP Upload &amp; Parsing</a:t>
            </a:r>
            <a:endParaRPr lang="en-US" sz="1050" dirty="0"/>
          </a:p>
        </p:txBody>
      </p:sp>
      <p:sp>
        <p:nvSpPr>
          <p:cNvPr id="15" name="Shape 11">
            <a:hlinkClick r:id="rId6" action="ppaction://hlinksldjump" tooltip="Open RFP Upload &amp; Parsing"/>
          </p:cNvPr>
          <p:cNvSpPr/>
          <p:nvPr/>
        </p:nvSpPr>
        <p:spPr>
          <a:xfrm>
            <a:off x="2743200" y="1234440"/>
            <a:ext cx="2130552" cy="1572768"/>
          </a:xfrm>
          <a:prstGeom prst="rect">
            <a:avLst/>
          </a:prstGeom>
          <a:solidFill>
            <a:srgbClr val="FFFFFF">
              <a:alpha val="0"/>
            </a:srgbClr>
          </a:solidFill>
          <a:ln/>
        </p:spPr>
        <p:txBody>
          <a:bodyPr/>
          <a:lstStyle/>
          <a:p>
            <a:endParaRPr lang="en-PK"/>
          </a:p>
        </p:txBody>
      </p:sp>
      <p:sp>
        <p:nvSpPr>
          <p:cNvPr id="16" name="Shape 12"/>
          <p:cNvSpPr/>
          <p:nvPr/>
        </p:nvSpPr>
        <p:spPr>
          <a:xfrm>
            <a:off x="5029200" y="1234440"/>
            <a:ext cx="2130552" cy="1572768"/>
          </a:xfrm>
          <a:prstGeom prst="roundRect">
            <a:avLst>
              <a:gd name="adj" fmla="val 3488"/>
            </a:avLst>
          </a:prstGeom>
          <a:solidFill>
            <a:srgbClr val="FFFFFF"/>
          </a:solidFill>
          <a:ln w="12700">
            <a:solidFill>
              <a:srgbClr val="E6E5EC"/>
            </a:solidFill>
            <a:prstDash val="solid"/>
          </a:ln>
        </p:spPr>
        <p:txBody>
          <a:bodyPr/>
          <a:lstStyle/>
          <a:p>
            <a:endParaRPr lang="en-PK"/>
          </a:p>
        </p:txBody>
      </p:sp>
      <p:sp>
        <p:nvSpPr>
          <p:cNvPr id="17" name="Shape 13"/>
          <p:cNvSpPr/>
          <p:nvPr/>
        </p:nvSpPr>
        <p:spPr>
          <a:xfrm>
            <a:off x="5102352" y="1307592"/>
            <a:ext cx="1984248" cy="960120"/>
          </a:xfrm>
          <a:prstGeom prst="rect">
            <a:avLst/>
          </a:prstGeom>
          <a:solidFill>
            <a:srgbClr val="ECEBF2"/>
          </a:solidFill>
          <a:ln/>
        </p:spPr>
        <p:txBody>
          <a:bodyPr/>
          <a:lstStyle/>
          <a:p>
            <a:endParaRPr lang="en-PK"/>
          </a:p>
        </p:txBody>
      </p:sp>
      <p:pic>
        <p:nvPicPr>
          <p:cNvPr id="18" name="Image 2" descr="Requirement Registry"/>
          <p:cNvPicPr>
            <a:picLocks noChangeAspect="1"/>
          </p:cNvPicPr>
          <p:nvPr/>
        </p:nvPicPr>
        <p:blipFill>
          <a:blip r:embed="rId7"/>
          <a:stretch>
            <a:fillRect/>
          </a:stretch>
        </p:blipFill>
        <p:spPr>
          <a:xfrm>
            <a:off x="5374386" y="1307592"/>
            <a:ext cx="1440180" cy="960120"/>
          </a:xfrm>
          <a:prstGeom prst="rect">
            <a:avLst/>
          </a:prstGeom>
        </p:spPr>
      </p:pic>
      <p:sp>
        <p:nvSpPr>
          <p:cNvPr id="19" name="Text 14"/>
          <p:cNvSpPr txBox="1"/>
          <p:nvPr/>
        </p:nvSpPr>
        <p:spPr>
          <a:xfrm>
            <a:off x="5120640" y="2304288"/>
            <a:ext cx="1947672" cy="457200"/>
          </a:xfrm>
          <a:prstGeom prst="rect">
            <a:avLst/>
          </a:prstGeom>
          <a:noFill/>
          <a:ln/>
        </p:spPr>
        <p:txBody>
          <a:bodyPr wrap="square" lIns="0" tIns="0" rIns="0" bIns="0" rtlCol="0" anchor="t"/>
          <a:lstStyle/>
          <a:p>
            <a:pPr marL="0" indent="0">
              <a:buNone/>
            </a:pPr>
            <a:r>
              <a:rPr lang="en-US" sz="1050" b="1" dirty="0">
                <a:solidFill>
                  <a:srgbClr val="4B1FA0"/>
                </a:solidFill>
                <a:latin typeface="Calibri" pitchFamily="34" charset="0"/>
                <a:ea typeface="Calibri" pitchFamily="34" charset="-122"/>
                <a:cs typeface="Calibri" pitchFamily="34" charset="-120"/>
              </a:rPr>
              <a:t>W-09  </a:t>
            </a:r>
            <a:r>
              <a:rPr lang="en-US" sz="1050" b="1" dirty="0">
                <a:solidFill>
                  <a:srgbClr val="2B0B5E"/>
                </a:solidFill>
                <a:latin typeface="Calibri" pitchFamily="34" charset="0"/>
                <a:ea typeface="Calibri" pitchFamily="34" charset="-122"/>
                <a:cs typeface="Calibri" pitchFamily="34" charset="-120"/>
              </a:rPr>
              <a:t>Requirement Registry</a:t>
            </a:r>
            <a:endParaRPr lang="en-US" sz="1050" dirty="0"/>
          </a:p>
        </p:txBody>
      </p:sp>
      <p:sp>
        <p:nvSpPr>
          <p:cNvPr id="20" name="Shape 15">
            <a:hlinkClick r:id="rId8" action="ppaction://hlinksldjump" tooltip="Open Requirement Registry"/>
          </p:cNvPr>
          <p:cNvSpPr/>
          <p:nvPr/>
        </p:nvSpPr>
        <p:spPr>
          <a:xfrm>
            <a:off x="5029200" y="1234440"/>
            <a:ext cx="2130552" cy="1572768"/>
          </a:xfrm>
          <a:prstGeom prst="rect">
            <a:avLst/>
          </a:prstGeom>
          <a:solidFill>
            <a:srgbClr val="FFFFFF">
              <a:alpha val="0"/>
            </a:srgbClr>
          </a:solidFill>
          <a:ln/>
        </p:spPr>
        <p:txBody>
          <a:bodyPr/>
          <a:lstStyle/>
          <a:p>
            <a:endParaRPr lang="en-PK"/>
          </a:p>
        </p:txBody>
      </p:sp>
      <p:sp>
        <p:nvSpPr>
          <p:cNvPr id="21" name="Shape 16"/>
          <p:cNvSpPr/>
          <p:nvPr/>
        </p:nvSpPr>
        <p:spPr>
          <a:xfrm>
            <a:off x="7315200" y="1234440"/>
            <a:ext cx="2130552" cy="1572768"/>
          </a:xfrm>
          <a:prstGeom prst="roundRect">
            <a:avLst>
              <a:gd name="adj" fmla="val 3488"/>
            </a:avLst>
          </a:prstGeom>
          <a:solidFill>
            <a:srgbClr val="FFFFFF"/>
          </a:solidFill>
          <a:ln w="12700">
            <a:solidFill>
              <a:srgbClr val="E6E5EC"/>
            </a:solidFill>
            <a:prstDash val="solid"/>
          </a:ln>
        </p:spPr>
        <p:txBody>
          <a:bodyPr/>
          <a:lstStyle/>
          <a:p>
            <a:endParaRPr lang="en-PK"/>
          </a:p>
        </p:txBody>
      </p:sp>
      <p:sp>
        <p:nvSpPr>
          <p:cNvPr id="22" name="Shape 17"/>
          <p:cNvSpPr/>
          <p:nvPr/>
        </p:nvSpPr>
        <p:spPr>
          <a:xfrm>
            <a:off x="7388352" y="1307592"/>
            <a:ext cx="1984248" cy="960120"/>
          </a:xfrm>
          <a:prstGeom prst="rect">
            <a:avLst/>
          </a:prstGeom>
          <a:solidFill>
            <a:srgbClr val="ECEBF2"/>
          </a:solidFill>
          <a:ln/>
        </p:spPr>
        <p:txBody>
          <a:bodyPr/>
          <a:lstStyle/>
          <a:p>
            <a:endParaRPr lang="en-PK"/>
          </a:p>
        </p:txBody>
      </p:sp>
      <p:pic>
        <p:nvPicPr>
          <p:cNvPr id="23" name="Image 3" descr="Submission Checklist"/>
          <p:cNvPicPr>
            <a:picLocks noChangeAspect="1"/>
          </p:cNvPicPr>
          <p:nvPr/>
        </p:nvPicPr>
        <p:blipFill>
          <a:blip r:embed="rId9"/>
          <a:stretch>
            <a:fillRect/>
          </a:stretch>
        </p:blipFill>
        <p:spPr>
          <a:xfrm>
            <a:off x="7660386" y="1307592"/>
            <a:ext cx="1440180" cy="960120"/>
          </a:xfrm>
          <a:prstGeom prst="rect">
            <a:avLst/>
          </a:prstGeom>
        </p:spPr>
      </p:pic>
      <p:sp>
        <p:nvSpPr>
          <p:cNvPr id="24" name="Text 18"/>
          <p:cNvSpPr txBox="1"/>
          <p:nvPr/>
        </p:nvSpPr>
        <p:spPr>
          <a:xfrm>
            <a:off x="7406640" y="2304288"/>
            <a:ext cx="1947672" cy="457200"/>
          </a:xfrm>
          <a:prstGeom prst="rect">
            <a:avLst/>
          </a:prstGeom>
          <a:noFill/>
          <a:ln/>
        </p:spPr>
        <p:txBody>
          <a:bodyPr wrap="square" lIns="0" tIns="0" rIns="0" bIns="0" rtlCol="0" anchor="t"/>
          <a:lstStyle/>
          <a:p>
            <a:pPr marL="0" indent="0">
              <a:buNone/>
            </a:pPr>
            <a:r>
              <a:rPr lang="en-US" sz="1050" b="1" dirty="0">
                <a:solidFill>
                  <a:srgbClr val="4B1FA0"/>
                </a:solidFill>
                <a:latin typeface="Calibri" pitchFamily="34" charset="0"/>
                <a:ea typeface="Calibri" pitchFamily="34" charset="-122"/>
                <a:cs typeface="Calibri" pitchFamily="34" charset="-120"/>
              </a:rPr>
              <a:t>W-11  </a:t>
            </a:r>
            <a:r>
              <a:rPr lang="en-US" sz="1050" b="1" dirty="0">
                <a:solidFill>
                  <a:srgbClr val="2B0B5E"/>
                </a:solidFill>
                <a:latin typeface="Calibri" pitchFamily="34" charset="0"/>
                <a:ea typeface="Calibri" pitchFamily="34" charset="-122"/>
                <a:cs typeface="Calibri" pitchFamily="34" charset="-120"/>
              </a:rPr>
              <a:t>Submission Checklist</a:t>
            </a:r>
            <a:endParaRPr lang="en-US" sz="1050" dirty="0"/>
          </a:p>
        </p:txBody>
      </p:sp>
      <p:sp>
        <p:nvSpPr>
          <p:cNvPr id="25" name="Shape 19">
            <a:hlinkClick r:id="rId10" action="ppaction://hlinksldjump" tooltip="Open Submission Checklist"/>
          </p:cNvPr>
          <p:cNvSpPr/>
          <p:nvPr/>
        </p:nvSpPr>
        <p:spPr>
          <a:xfrm>
            <a:off x="7315200" y="1234440"/>
            <a:ext cx="2130552" cy="1572768"/>
          </a:xfrm>
          <a:prstGeom prst="rect">
            <a:avLst/>
          </a:prstGeom>
          <a:solidFill>
            <a:srgbClr val="FFFFFF">
              <a:alpha val="0"/>
            </a:srgbClr>
          </a:solidFill>
          <a:ln/>
        </p:spPr>
        <p:txBody>
          <a:bodyPr/>
          <a:lstStyle/>
          <a:p>
            <a:endParaRPr lang="en-PK"/>
          </a:p>
        </p:txBody>
      </p:sp>
      <p:sp>
        <p:nvSpPr>
          <p:cNvPr id="26" name="Shape 20"/>
          <p:cNvSpPr/>
          <p:nvPr/>
        </p:nvSpPr>
        <p:spPr>
          <a:xfrm>
            <a:off x="9601200" y="1234440"/>
            <a:ext cx="2130552" cy="1572768"/>
          </a:xfrm>
          <a:prstGeom prst="roundRect">
            <a:avLst>
              <a:gd name="adj" fmla="val 3488"/>
            </a:avLst>
          </a:prstGeom>
          <a:solidFill>
            <a:srgbClr val="FFFFFF"/>
          </a:solidFill>
          <a:ln w="12700">
            <a:solidFill>
              <a:srgbClr val="E6E5EC"/>
            </a:solidFill>
            <a:prstDash val="solid"/>
          </a:ln>
        </p:spPr>
        <p:txBody>
          <a:bodyPr/>
          <a:lstStyle/>
          <a:p>
            <a:endParaRPr lang="en-PK"/>
          </a:p>
        </p:txBody>
      </p:sp>
      <p:sp>
        <p:nvSpPr>
          <p:cNvPr id="27" name="Shape 21"/>
          <p:cNvSpPr/>
          <p:nvPr/>
        </p:nvSpPr>
        <p:spPr>
          <a:xfrm>
            <a:off x="9674352" y="1307592"/>
            <a:ext cx="1984248" cy="960120"/>
          </a:xfrm>
          <a:prstGeom prst="rect">
            <a:avLst/>
          </a:prstGeom>
          <a:solidFill>
            <a:srgbClr val="ECEBF2"/>
          </a:solidFill>
          <a:ln/>
        </p:spPr>
        <p:txBody>
          <a:bodyPr/>
          <a:lstStyle/>
          <a:p>
            <a:endParaRPr lang="en-PK"/>
          </a:p>
        </p:txBody>
      </p:sp>
      <p:pic>
        <p:nvPicPr>
          <p:cNvPr id="28" name="Image 4" descr="Compliance Matrix"/>
          <p:cNvPicPr>
            <a:picLocks noChangeAspect="1"/>
          </p:cNvPicPr>
          <p:nvPr/>
        </p:nvPicPr>
        <p:blipFill>
          <a:blip r:embed="rId11"/>
          <a:stretch>
            <a:fillRect/>
          </a:stretch>
        </p:blipFill>
        <p:spPr>
          <a:xfrm>
            <a:off x="9946386" y="1307592"/>
            <a:ext cx="1440180" cy="960120"/>
          </a:xfrm>
          <a:prstGeom prst="rect">
            <a:avLst/>
          </a:prstGeom>
        </p:spPr>
      </p:pic>
      <p:sp>
        <p:nvSpPr>
          <p:cNvPr id="29" name="Text 22"/>
          <p:cNvSpPr txBox="1"/>
          <p:nvPr/>
        </p:nvSpPr>
        <p:spPr>
          <a:xfrm>
            <a:off x="9692640" y="2304288"/>
            <a:ext cx="1947672" cy="457200"/>
          </a:xfrm>
          <a:prstGeom prst="rect">
            <a:avLst/>
          </a:prstGeom>
          <a:noFill/>
          <a:ln/>
        </p:spPr>
        <p:txBody>
          <a:bodyPr wrap="square" lIns="0" tIns="0" rIns="0" bIns="0" rtlCol="0" anchor="t"/>
          <a:lstStyle/>
          <a:p>
            <a:pPr marL="0" indent="0">
              <a:buNone/>
            </a:pPr>
            <a:r>
              <a:rPr lang="en-US" sz="1050" b="1" dirty="0">
                <a:solidFill>
                  <a:srgbClr val="4B1FA0"/>
                </a:solidFill>
                <a:latin typeface="Calibri" pitchFamily="34" charset="0"/>
                <a:ea typeface="Calibri" pitchFamily="34" charset="-122"/>
                <a:cs typeface="Calibri" pitchFamily="34" charset="-120"/>
              </a:rPr>
              <a:t>W-14  </a:t>
            </a:r>
            <a:r>
              <a:rPr lang="en-US" sz="1050" b="1" dirty="0">
                <a:solidFill>
                  <a:srgbClr val="2B0B5E"/>
                </a:solidFill>
                <a:latin typeface="Calibri" pitchFamily="34" charset="0"/>
                <a:ea typeface="Calibri" pitchFamily="34" charset="-122"/>
                <a:cs typeface="Calibri" pitchFamily="34" charset="-120"/>
              </a:rPr>
              <a:t>Compliance Matrix</a:t>
            </a:r>
            <a:endParaRPr lang="en-US" sz="1050" dirty="0"/>
          </a:p>
        </p:txBody>
      </p:sp>
      <p:sp>
        <p:nvSpPr>
          <p:cNvPr id="30" name="Shape 23">
            <a:hlinkClick r:id="rId12" action="ppaction://hlinksldjump" tooltip="Open Compliance Matrix"/>
          </p:cNvPr>
          <p:cNvSpPr/>
          <p:nvPr/>
        </p:nvSpPr>
        <p:spPr>
          <a:xfrm>
            <a:off x="9601200" y="1234440"/>
            <a:ext cx="2130552" cy="1572768"/>
          </a:xfrm>
          <a:prstGeom prst="rect">
            <a:avLst/>
          </a:prstGeom>
          <a:solidFill>
            <a:srgbClr val="FFFFFF">
              <a:alpha val="0"/>
            </a:srgbClr>
          </a:solidFill>
          <a:ln/>
        </p:spPr>
        <p:txBody>
          <a:bodyPr/>
          <a:lstStyle/>
          <a:p>
            <a:endParaRPr lang="en-PK"/>
          </a:p>
        </p:txBody>
      </p:sp>
      <p:sp>
        <p:nvSpPr>
          <p:cNvPr id="31" name="Shape 24"/>
          <p:cNvSpPr/>
          <p:nvPr/>
        </p:nvSpPr>
        <p:spPr>
          <a:xfrm>
            <a:off x="457200" y="2926080"/>
            <a:ext cx="2130552" cy="1572768"/>
          </a:xfrm>
          <a:prstGeom prst="roundRect">
            <a:avLst>
              <a:gd name="adj" fmla="val 3488"/>
            </a:avLst>
          </a:prstGeom>
          <a:solidFill>
            <a:srgbClr val="FFFFFF"/>
          </a:solidFill>
          <a:ln w="12700">
            <a:solidFill>
              <a:srgbClr val="E6E5EC"/>
            </a:solidFill>
            <a:prstDash val="solid"/>
          </a:ln>
        </p:spPr>
        <p:txBody>
          <a:bodyPr/>
          <a:lstStyle/>
          <a:p>
            <a:endParaRPr lang="en-PK"/>
          </a:p>
        </p:txBody>
      </p:sp>
      <p:sp>
        <p:nvSpPr>
          <p:cNvPr id="32" name="Shape 25"/>
          <p:cNvSpPr/>
          <p:nvPr/>
        </p:nvSpPr>
        <p:spPr>
          <a:xfrm>
            <a:off x="530352" y="2999232"/>
            <a:ext cx="1984248" cy="960120"/>
          </a:xfrm>
          <a:prstGeom prst="rect">
            <a:avLst/>
          </a:prstGeom>
          <a:solidFill>
            <a:srgbClr val="ECEBF2"/>
          </a:solidFill>
          <a:ln/>
        </p:spPr>
        <p:txBody>
          <a:bodyPr/>
          <a:lstStyle/>
          <a:p>
            <a:endParaRPr lang="en-PK"/>
          </a:p>
        </p:txBody>
      </p:sp>
      <p:pic>
        <p:nvPicPr>
          <p:cNvPr id="33" name="Image 5" descr="Technical Evaluation Criteria Analyser"/>
          <p:cNvPicPr>
            <a:picLocks noChangeAspect="1"/>
          </p:cNvPicPr>
          <p:nvPr/>
        </p:nvPicPr>
        <p:blipFill>
          <a:blip r:embed="rId13"/>
          <a:stretch>
            <a:fillRect/>
          </a:stretch>
        </p:blipFill>
        <p:spPr>
          <a:xfrm>
            <a:off x="802386" y="2999232"/>
            <a:ext cx="1440180" cy="960120"/>
          </a:xfrm>
          <a:prstGeom prst="rect">
            <a:avLst/>
          </a:prstGeom>
        </p:spPr>
      </p:pic>
      <p:sp>
        <p:nvSpPr>
          <p:cNvPr id="34" name="Text 26"/>
          <p:cNvSpPr txBox="1"/>
          <p:nvPr/>
        </p:nvSpPr>
        <p:spPr>
          <a:xfrm>
            <a:off x="548640" y="3995928"/>
            <a:ext cx="1947672" cy="457200"/>
          </a:xfrm>
          <a:prstGeom prst="rect">
            <a:avLst/>
          </a:prstGeom>
          <a:noFill/>
          <a:ln/>
        </p:spPr>
        <p:txBody>
          <a:bodyPr wrap="square" lIns="0" tIns="0" rIns="0" bIns="0" rtlCol="0" anchor="t"/>
          <a:lstStyle/>
          <a:p>
            <a:pPr marL="0" indent="0">
              <a:buNone/>
            </a:pPr>
            <a:r>
              <a:rPr lang="en-US" sz="1050" b="1" dirty="0">
                <a:solidFill>
                  <a:srgbClr val="4B1FA0"/>
                </a:solidFill>
                <a:latin typeface="Calibri" pitchFamily="34" charset="0"/>
                <a:ea typeface="Calibri" pitchFamily="34" charset="-122"/>
                <a:cs typeface="Calibri" pitchFamily="34" charset="-120"/>
              </a:rPr>
              <a:t>W-16  </a:t>
            </a:r>
            <a:r>
              <a:rPr lang="en-US" sz="1050" b="1" dirty="0">
                <a:solidFill>
                  <a:srgbClr val="2B0B5E"/>
                </a:solidFill>
                <a:latin typeface="Calibri" pitchFamily="34" charset="0"/>
                <a:ea typeface="Calibri" pitchFamily="34" charset="-122"/>
                <a:cs typeface="Calibri" pitchFamily="34" charset="-120"/>
              </a:rPr>
              <a:t>Technical Evaluation Criteria Analyser</a:t>
            </a:r>
            <a:endParaRPr lang="en-US" sz="1050" dirty="0"/>
          </a:p>
        </p:txBody>
      </p:sp>
      <p:sp>
        <p:nvSpPr>
          <p:cNvPr id="35" name="Shape 27">
            <a:hlinkClick r:id="rId14" action="ppaction://hlinksldjump" tooltip="Open Technical Evaluation Criteria Analyser"/>
          </p:cNvPr>
          <p:cNvSpPr/>
          <p:nvPr/>
        </p:nvSpPr>
        <p:spPr>
          <a:xfrm>
            <a:off x="457200" y="2926080"/>
            <a:ext cx="2130552" cy="1572768"/>
          </a:xfrm>
          <a:prstGeom prst="rect">
            <a:avLst/>
          </a:prstGeom>
          <a:solidFill>
            <a:srgbClr val="FFFFFF">
              <a:alpha val="0"/>
            </a:srgbClr>
          </a:solidFill>
          <a:ln/>
        </p:spPr>
        <p:txBody>
          <a:bodyPr/>
          <a:lstStyle/>
          <a:p>
            <a:endParaRPr lang="en-PK"/>
          </a:p>
        </p:txBody>
      </p:sp>
      <p:sp>
        <p:nvSpPr>
          <p:cNvPr id="36" name="Shape 28"/>
          <p:cNvSpPr/>
          <p:nvPr/>
        </p:nvSpPr>
        <p:spPr>
          <a:xfrm>
            <a:off x="2743200" y="2926080"/>
            <a:ext cx="2130552" cy="1572768"/>
          </a:xfrm>
          <a:prstGeom prst="roundRect">
            <a:avLst>
              <a:gd name="adj" fmla="val 3488"/>
            </a:avLst>
          </a:prstGeom>
          <a:solidFill>
            <a:srgbClr val="FFFFFF"/>
          </a:solidFill>
          <a:ln w="12700">
            <a:solidFill>
              <a:srgbClr val="E6E5EC"/>
            </a:solidFill>
            <a:prstDash val="solid"/>
          </a:ln>
        </p:spPr>
        <p:txBody>
          <a:bodyPr/>
          <a:lstStyle/>
          <a:p>
            <a:endParaRPr lang="en-PK"/>
          </a:p>
        </p:txBody>
      </p:sp>
      <p:sp>
        <p:nvSpPr>
          <p:cNvPr id="37" name="Shape 29"/>
          <p:cNvSpPr/>
          <p:nvPr/>
        </p:nvSpPr>
        <p:spPr>
          <a:xfrm>
            <a:off x="2816352" y="2999232"/>
            <a:ext cx="1984248" cy="960120"/>
          </a:xfrm>
          <a:prstGeom prst="rect">
            <a:avLst/>
          </a:prstGeom>
          <a:solidFill>
            <a:srgbClr val="ECEBF2"/>
          </a:solidFill>
          <a:ln/>
        </p:spPr>
        <p:txBody>
          <a:bodyPr/>
          <a:lstStyle/>
          <a:p>
            <a:endParaRPr lang="en-PK"/>
          </a:p>
        </p:txBody>
      </p:sp>
      <p:pic>
        <p:nvPicPr>
          <p:cNvPr id="38" name="Image 6" descr="HLD Diagram &amp; Connectivity Description"/>
          <p:cNvPicPr>
            <a:picLocks noChangeAspect="1"/>
          </p:cNvPicPr>
          <p:nvPr/>
        </p:nvPicPr>
        <p:blipFill>
          <a:blip r:embed="rId15"/>
          <a:stretch>
            <a:fillRect/>
          </a:stretch>
        </p:blipFill>
        <p:spPr>
          <a:xfrm>
            <a:off x="3040380" y="2999232"/>
            <a:ext cx="1536192" cy="960120"/>
          </a:xfrm>
          <a:prstGeom prst="rect">
            <a:avLst/>
          </a:prstGeom>
        </p:spPr>
      </p:pic>
      <p:sp>
        <p:nvSpPr>
          <p:cNvPr id="39" name="Text 30"/>
          <p:cNvSpPr txBox="1"/>
          <p:nvPr/>
        </p:nvSpPr>
        <p:spPr>
          <a:xfrm>
            <a:off x="2834640" y="3995928"/>
            <a:ext cx="1947672" cy="457200"/>
          </a:xfrm>
          <a:prstGeom prst="rect">
            <a:avLst/>
          </a:prstGeom>
          <a:noFill/>
          <a:ln/>
        </p:spPr>
        <p:txBody>
          <a:bodyPr wrap="square" lIns="0" tIns="0" rIns="0" bIns="0" rtlCol="0" anchor="t"/>
          <a:lstStyle/>
          <a:p>
            <a:pPr marL="0" indent="0">
              <a:buNone/>
            </a:pPr>
            <a:r>
              <a:rPr lang="en-US" sz="1050" b="1" dirty="0">
                <a:solidFill>
                  <a:srgbClr val="4B1FA0"/>
                </a:solidFill>
                <a:latin typeface="Calibri" pitchFamily="34" charset="0"/>
                <a:ea typeface="Calibri" pitchFamily="34" charset="-122"/>
                <a:cs typeface="Calibri" pitchFamily="34" charset="-120"/>
              </a:rPr>
              <a:t>W-18  </a:t>
            </a:r>
            <a:r>
              <a:rPr lang="en-US" sz="1050" b="1" dirty="0">
                <a:solidFill>
                  <a:srgbClr val="2B0B5E"/>
                </a:solidFill>
                <a:latin typeface="Calibri" pitchFamily="34" charset="0"/>
                <a:ea typeface="Calibri" pitchFamily="34" charset="-122"/>
                <a:cs typeface="Calibri" pitchFamily="34" charset="-120"/>
              </a:rPr>
              <a:t>HLD Diagram &amp; Connectivity Description</a:t>
            </a:r>
            <a:endParaRPr lang="en-US" sz="1050" dirty="0"/>
          </a:p>
        </p:txBody>
      </p:sp>
      <p:sp>
        <p:nvSpPr>
          <p:cNvPr id="40" name="Shape 31">
            <a:hlinkClick r:id="rId16" action="ppaction://hlinksldjump" tooltip="Open HLD Diagram &amp; Connectivity Description"/>
          </p:cNvPr>
          <p:cNvSpPr/>
          <p:nvPr/>
        </p:nvSpPr>
        <p:spPr>
          <a:xfrm>
            <a:off x="2743200" y="2926080"/>
            <a:ext cx="2130552" cy="1572768"/>
          </a:xfrm>
          <a:prstGeom prst="rect">
            <a:avLst/>
          </a:prstGeom>
          <a:solidFill>
            <a:srgbClr val="FFFFFF">
              <a:alpha val="0"/>
            </a:srgbClr>
          </a:solidFill>
          <a:ln/>
        </p:spPr>
        <p:txBody>
          <a:bodyPr/>
          <a:lstStyle/>
          <a:p>
            <a:endParaRPr lang="en-PK"/>
          </a:p>
        </p:txBody>
      </p:sp>
      <p:sp>
        <p:nvSpPr>
          <p:cNvPr id="41" name="Shape 32"/>
          <p:cNvSpPr/>
          <p:nvPr/>
        </p:nvSpPr>
        <p:spPr>
          <a:xfrm>
            <a:off x="5029200" y="2926080"/>
            <a:ext cx="2130552" cy="1572768"/>
          </a:xfrm>
          <a:prstGeom prst="roundRect">
            <a:avLst>
              <a:gd name="adj" fmla="val 3488"/>
            </a:avLst>
          </a:prstGeom>
          <a:solidFill>
            <a:srgbClr val="FFFFFF"/>
          </a:solidFill>
          <a:ln w="12700">
            <a:solidFill>
              <a:srgbClr val="E6E5EC"/>
            </a:solidFill>
            <a:prstDash val="solid"/>
          </a:ln>
        </p:spPr>
        <p:txBody>
          <a:bodyPr/>
          <a:lstStyle/>
          <a:p>
            <a:endParaRPr lang="en-PK"/>
          </a:p>
        </p:txBody>
      </p:sp>
      <p:sp>
        <p:nvSpPr>
          <p:cNvPr id="42" name="Shape 33"/>
          <p:cNvSpPr/>
          <p:nvPr/>
        </p:nvSpPr>
        <p:spPr>
          <a:xfrm>
            <a:off x="5102352" y="2999232"/>
            <a:ext cx="1984248" cy="960120"/>
          </a:xfrm>
          <a:prstGeom prst="rect">
            <a:avLst/>
          </a:prstGeom>
          <a:solidFill>
            <a:srgbClr val="ECEBF2"/>
          </a:solidFill>
          <a:ln/>
        </p:spPr>
        <p:txBody>
          <a:bodyPr/>
          <a:lstStyle/>
          <a:p>
            <a:endParaRPr lang="en-PK"/>
          </a:p>
        </p:txBody>
      </p:sp>
      <p:pic>
        <p:nvPicPr>
          <p:cNvPr id="43" name="Image 7" descr="Proposal Review Editor"/>
          <p:cNvPicPr>
            <a:picLocks noChangeAspect="1"/>
          </p:cNvPicPr>
          <p:nvPr/>
        </p:nvPicPr>
        <p:blipFill>
          <a:blip r:embed="rId17"/>
          <a:stretch>
            <a:fillRect/>
          </a:stretch>
        </p:blipFill>
        <p:spPr>
          <a:xfrm>
            <a:off x="5326380" y="2999232"/>
            <a:ext cx="1536192" cy="960120"/>
          </a:xfrm>
          <a:prstGeom prst="rect">
            <a:avLst/>
          </a:prstGeom>
        </p:spPr>
      </p:pic>
      <p:sp>
        <p:nvSpPr>
          <p:cNvPr id="44" name="Text 34"/>
          <p:cNvSpPr txBox="1"/>
          <p:nvPr/>
        </p:nvSpPr>
        <p:spPr>
          <a:xfrm>
            <a:off x="5120640" y="3995928"/>
            <a:ext cx="1947672" cy="457200"/>
          </a:xfrm>
          <a:prstGeom prst="rect">
            <a:avLst/>
          </a:prstGeom>
          <a:noFill/>
          <a:ln/>
        </p:spPr>
        <p:txBody>
          <a:bodyPr wrap="square" lIns="0" tIns="0" rIns="0" bIns="0" rtlCol="0" anchor="t"/>
          <a:lstStyle/>
          <a:p>
            <a:pPr marL="0" indent="0">
              <a:buNone/>
            </a:pPr>
            <a:r>
              <a:rPr lang="en-US" sz="1050" b="1" dirty="0">
                <a:solidFill>
                  <a:srgbClr val="4B1FA0"/>
                </a:solidFill>
                <a:latin typeface="Calibri" pitchFamily="34" charset="0"/>
                <a:ea typeface="Calibri" pitchFamily="34" charset="-122"/>
                <a:cs typeface="Calibri" pitchFamily="34" charset="-120"/>
              </a:rPr>
              <a:t>W-20  </a:t>
            </a:r>
            <a:r>
              <a:rPr lang="en-US" sz="1050" b="1" dirty="0">
                <a:solidFill>
                  <a:srgbClr val="2B0B5E"/>
                </a:solidFill>
                <a:latin typeface="Calibri" pitchFamily="34" charset="0"/>
                <a:ea typeface="Calibri" pitchFamily="34" charset="-122"/>
                <a:cs typeface="Calibri" pitchFamily="34" charset="-120"/>
              </a:rPr>
              <a:t>Proposal Review Editor</a:t>
            </a:r>
            <a:endParaRPr lang="en-US" sz="1050" dirty="0"/>
          </a:p>
        </p:txBody>
      </p:sp>
      <p:sp>
        <p:nvSpPr>
          <p:cNvPr id="45" name="Shape 35">
            <a:hlinkClick r:id="rId18" action="ppaction://hlinksldjump" tooltip="Open Proposal Review Editor"/>
          </p:cNvPr>
          <p:cNvSpPr/>
          <p:nvPr/>
        </p:nvSpPr>
        <p:spPr>
          <a:xfrm>
            <a:off x="5029200" y="2926080"/>
            <a:ext cx="2130552" cy="1572768"/>
          </a:xfrm>
          <a:prstGeom prst="rect">
            <a:avLst/>
          </a:prstGeom>
          <a:solidFill>
            <a:srgbClr val="FFFFFF">
              <a:alpha val="0"/>
            </a:srgbClr>
          </a:solidFill>
          <a:ln/>
        </p:spPr>
        <p:txBody>
          <a:bodyPr/>
          <a:lstStyle/>
          <a:p>
            <a:endParaRPr lang="en-PK"/>
          </a:p>
        </p:txBody>
      </p:sp>
      <p:sp>
        <p:nvSpPr>
          <p:cNvPr id="46" name="Shape 36"/>
          <p:cNvSpPr/>
          <p:nvPr/>
        </p:nvSpPr>
        <p:spPr>
          <a:xfrm>
            <a:off x="7315200" y="2926080"/>
            <a:ext cx="2130552" cy="1572768"/>
          </a:xfrm>
          <a:prstGeom prst="roundRect">
            <a:avLst>
              <a:gd name="adj" fmla="val 3488"/>
            </a:avLst>
          </a:prstGeom>
          <a:solidFill>
            <a:srgbClr val="FFFFFF"/>
          </a:solidFill>
          <a:ln w="12700">
            <a:solidFill>
              <a:srgbClr val="E6E5EC"/>
            </a:solidFill>
            <a:prstDash val="solid"/>
          </a:ln>
        </p:spPr>
        <p:txBody>
          <a:bodyPr/>
          <a:lstStyle/>
          <a:p>
            <a:endParaRPr lang="en-PK"/>
          </a:p>
        </p:txBody>
      </p:sp>
      <p:sp>
        <p:nvSpPr>
          <p:cNvPr id="47" name="Shape 37"/>
          <p:cNvSpPr/>
          <p:nvPr/>
        </p:nvSpPr>
        <p:spPr>
          <a:xfrm>
            <a:off x="7388352" y="2999232"/>
            <a:ext cx="1984248" cy="960120"/>
          </a:xfrm>
          <a:prstGeom prst="rect">
            <a:avLst/>
          </a:prstGeom>
          <a:solidFill>
            <a:srgbClr val="ECEBF2"/>
          </a:solidFill>
          <a:ln/>
        </p:spPr>
        <p:txBody>
          <a:bodyPr/>
          <a:lstStyle/>
          <a:p>
            <a:endParaRPr lang="en-PK"/>
          </a:p>
        </p:txBody>
      </p:sp>
      <p:pic>
        <p:nvPicPr>
          <p:cNvPr id="48" name="Image 8" descr="BOQ Editor"/>
          <p:cNvPicPr>
            <a:picLocks noChangeAspect="1"/>
          </p:cNvPicPr>
          <p:nvPr/>
        </p:nvPicPr>
        <p:blipFill>
          <a:blip r:embed="rId19"/>
          <a:stretch>
            <a:fillRect/>
          </a:stretch>
        </p:blipFill>
        <p:spPr>
          <a:xfrm>
            <a:off x="7612380" y="2999232"/>
            <a:ext cx="1536192" cy="960120"/>
          </a:xfrm>
          <a:prstGeom prst="rect">
            <a:avLst/>
          </a:prstGeom>
        </p:spPr>
      </p:pic>
      <p:sp>
        <p:nvSpPr>
          <p:cNvPr id="49" name="Text 38"/>
          <p:cNvSpPr txBox="1"/>
          <p:nvPr/>
        </p:nvSpPr>
        <p:spPr>
          <a:xfrm>
            <a:off x="7406640" y="3995928"/>
            <a:ext cx="1947672" cy="457200"/>
          </a:xfrm>
          <a:prstGeom prst="rect">
            <a:avLst/>
          </a:prstGeom>
          <a:noFill/>
          <a:ln/>
        </p:spPr>
        <p:txBody>
          <a:bodyPr wrap="square" lIns="0" tIns="0" rIns="0" bIns="0" rtlCol="0" anchor="t"/>
          <a:lstStyle/>
          <a:p>
            <a:pPr marL="0" indent="0">
              <a:buNone/>
            </a:pPr>
            <a:r>
              <a:rPr lang="en-US" sz="1050" b="1" dirty="0">
                <a:solidFill>
                  <a:srgbClr val="4B1FA0"/>
                </a:solidFill>
                <a:latin typeface="Calibri" pitchFamily="34" charset="0"/>
                <a:ea typeface="Calibri" pitchFamily="34" charset="-122"/>
                <a:cs typeface="Calibri" pitchFamily="34" charset="-120"/>
              </a:rPr>
              <a:t>W-23  </a:t>
            </a:r>
            <a:r>
              <a:rPr lang="en-US" sz="1050" b="1" dirty="0">
                <a:solidFill>
                  <a:srgbClr val="2B0B5E"/>
                </a:solidFill>
                <a:latin typeface="Calibri" pitchFamily="34" charset="0"/>
                <a:ea typeface="Calibri" pitchFamily="34" charset="-122"/>
                <a:cs typeface="Calibri" pitchFamily="34" charset="-120"/>
              </a:rPr>
              <a:t>BOQ Editor</a:t>
            </a:r>
            <a:endParaRPr lang="en-US" sz="1050" dirty="0"/>
          </a:p>
        </p:txBody>
      </p:sp>
      <p:sp>
        <p:nvSpPr>
          <p:cNvPr id="50" name="Shape 39">
            <a:hlinkClick r:id="rId20" action="ppaction://hlinksldjump" tooltip="Open BOQ Editor"/>
          </p:cNvPr>
          <p:cNvSpPr/>
          <p:nvPr/>
        </p:nvSpPr>
        <p:spPr>
          <a:xfrm>
            <a:off x="7315200" y="2926080"/>
            <a:ext cx="2130552" cy="1572768"/>
          </a:xfrm>
          <a:prstGeom prst="rect">
            <a:avLst/>
          </a:prstGeom>
          <a:solidFill>
            <a:srgbClr val="FFFFFF">
              <a:alpha val="0"/>
            </a:srgbClr>
          </a:solidFill>
          <a:ln/>
        </p:spPr>
        <p:txBody>
          <a:bodyPr/>
          <a:lstStyle/>
          <a:p>
            <a:endParaRPr lang="en-PK"/>
          </a:p>
        </p:txBody>
      </p:sp>
      <p:sp>
        <p:nvSpPr>
          <p:cNvPr id="51" name="Shape 40"/>
          <p:cNvSpPr/>
          <p:nvPr/>
        </p:nvSpPr>
        <p:spPr>
          <a:xfrm>
            <a:off x="9601200" y="2926080"/>
            <a:ext cx="2130552" cy="1572768"/>
          </a:xfrm>
          <a:prstGeom prst="roundRect">
            <a:avLst>
              <a:gd name="adj" fmla="val 3488"/>
            </a:avLst>
          </a:prstGeom>
          <a:solidFill>
            <a:srgbClr val="FFFFFF"/>
          </a:solidFill>
          <a:ln w="12700">
            <a:solidFill>
              <a:srgbClr val="E6E5EC"/>
            </a:solidFill>
            <a:prstDash val="solid"/>
          </a:ln>
        </p:spPr>
        <p:txBody>
          <a:bodyPr/>
          <a:lstStyle/>
          <a:p>
            <a:endParaRPr lang="en-PK"/>
          </a:p>
        </p:txBody>
      </p:sp>
      <p:sp>
        <p:nvSpPr>
          <p:cNvPr id="52" name="Shape 41"/>
          <p:cNvSpPr/>
          <p:nvPr/>
        </p:nvSpPr>
        <p:spPr>
          <a:xfrm>
            <a:off x="9674352" y="2999232"/>
            <a:ext cx="1984248" cy="960120"/>
          </a:xfrm>
          <a:prstGeom prst="rect">
            <a:avLst/>
          </a:prstGeom>
          <a:solidFill>
            <a:srgbClr val="ECEBF2"/>
          </a:solidFill>
          <a:ln/>
        </p:spPr>
        <p:txBody>
          <a:bodyPr/>
          <a:lstStyle/>
          <a:p>
            <a:endParaRPr lang="en-PK"/>
          </a:p>
        </p:txBody>
      </p:sp>
      <p:pic>
        <p:nvPicPr>
          <p:cNvPr id="53" name="Image 9" descr="Requirement Traceability View"/>
          <p:cNvPicPr>
            <a:picLocks noChangeAspect="1"/>
          </p:cNvPicPr>
          <p:nvPr/>
        </p:nvPicPr>
        <p:blipFill>
          <a:blip r:embed="rId21"/>
          <a:stretch>
            <a:fillRect/>
          </a:stretch>
        </p:blipFill>
        <p:spPr>
          <a:xfrm>
            <a:off x="9946386" y="2999232"/>
            <a:ext cx="1440180" cy="960120"/>
          </a:xfrm>
          <a:prstGeom prst="rect">
            <a:avLst/>
          </a:prstGeom>
        </p:spPr>
      </p:pic>
      <p:sp>
        <p:nvSpPr>
          <p:cNvPr id="54" name="Text 42"/>
          <p:cNvSpPr txBox="1"/>
          <p:nvPr/>
        </p:nvSpPr>
        <p:spPr>
          <a:xfrm>
            <a:off x="9692640" y="3995928"/>
            <a:ext cx="1947672" cy="457200"/>
          </a:xfrm>
          <a:prstGeom prst="rect">
            <a:avLst/>
          </a:prstGeom>
          <a:noFill/>
          <a:ln/>
        </p:spPr>
        <p:txBody>
          <a:bodyPr wrap="square" lIns="0" tIns="0" rIns="0" bIns="0" rtlCol="0" anchor="t"/>
          <a:lstStyle/>
          <a:p>
            <a:pPr marL="0" indent="0">
              <a:buNone/>
            </a:pPr>
            <a:r>
              <a:rPr lang="en-US" sz="1050" b="1" dirty="0">
                <a:solidFill>
                  <a:srgbClr val="4B1FA0"/>
                </a:solidFill>
                <a:latin typeface="Calibri" pitchFamily="34" charset="0"/>
                <a:ea typeface="Calibri" pitchFamily="34" charset="-122"/>
                <a:cs typeface="Calibri" pitchFamily="34" charset="-120"/>
              </a:rPr>
              <a:t>W-27  </a:t>
            </a:r>
            <a:r>
              <a:rPr lang="en-US" sz="1050" b="1" dirty="0">
                <a:solidFill>
                  <a:srgbClr val="2B0B5E"/>
                </a:solidFill>
                <a:latin typeface="Calibri" pitchFamily="34" charset="0"/>
                <a:ea typeface="Calibri" pitchFamily="34" charset="-122"/>
                <a:cs typeface="Calibri" pitchFamily="34" charset="-120"/>
              </a:rPr>
              <a:t>Requirement Traceability View</a:t>
            </a:r>
            <a:endParaRPr lang="en-US" sz="1050" dirty="0"/>
          </a:p>
        </p:txBody>
      </p:sp>
      <p:sp>
        <p:nvSpPr>
          <p:cNvPr id="55" name="Shape 43">
            <a:hlinkClick r:id="rId22" action="ppaction://hlinksldjump" tooltip="Open Requirement Traceability View"/>
          </p:cNvPr>
          <p:cNvSpPr/>
          <p:nvPr/>
        </p:nvSpPr>
        <p:spPr>
          <a:xfrm>
            <a:off x="9601200" y="2926080"/>
            <a:ext cx="2130552" cy="1572768"/>
          </a:xfrm>
          <a:prstGeom prst="rect">
            <a:avLst/>
          </a:prstGeom>
          <a:solidFill>
            <a:srgbClr val="FFFFFF">
              <a:alpha val="0"/>
            </a:srgbClr>
          </a:solidFill>
          <a:ln/>
        </p:spPr>
        <p:txBody>
          <a:bodyPr/>
          <a:lstStyle/>
          <a:p>
            <a:endParaRPr lang="en-PK"/>
          </a:p>
        </p:txBody>
      </p:sp>
      <p:sp>
        <p:nvSpPr>
          <p:cNvPr id="56" name="Shape 44"/>
          <p:cNvSpPr/>
          <p:nvPr/>
        </p:nvSpPr>
        <p:spPr>
          <a:xfrm>
            <a:off x="457200" y="4617720"/>
            <a:ext cx="2130552" cy="1572768"/>
          </a:xfrm>
          <a:prstGeom prst="roundRect">
            <a:avLst>
              <a:gd name="adj" fmla="val 3488"/>
            </a:avLst>
          </a:prstGeom>
          <a:solidFill>
            <a:srgbClr val="FFFFFF"/>
          </a:solidFill>
          <a:ln w="12700">
            <a:solidFill>
              <a:srgbClr val="E6E5EC"/>
            </a:solidFill>
            <a:prstDash val="solid"/>
          </a:ln>
        </p:spPr>
        <p:txBody>
          <a:bodyPr/>
          <a:lstStyle/>
          <a:p>
            <a:endParaRPr lang="en-PK"/>
          </a:p>
        </p:txBody>
      </p:sp>
      <p:sp>
        <p:nvSpPr>
          <p:cNvPr id="57" name="Shape 45"/>
          <p:cNvSpPr/>
          <p:nvPr/>
        </p:nvSpPr>
        <p:spPr>
          <a:xfrm>
            <a:off x="530352" y="4690872"/>
            <a:ext cx="1984248" cy="960120"/>
          </a:xfrm>
          <a:prstGeom prst="rect">
            <a:avLst/>
          </a:prstGeom>
          <a:solidFill>
            <a:srgbClr val="ECEBF2"/>
          </a:solidFill>
          <a:ln/>
        </p:spPr>
        <p:txBody>
          <a:bodyPr/>
          <a:lstStyle/>
          <a:p>
            <a:endParaRPr lang="en-PK"/>
          </a:p>
        </p:txBody>
      </p:sp>
      <p:pic>
        <p:nvPicPr>
          <p:cNvPr id="58" name="Image 10" descr="Submission Package Builder"/>
          <p:cNvPicPr>
            <a:picLocks noChangeAspect="1"/>
          </p:cNvPicPr>
          <p:nvPr/>
        </p:nvPicPr>
        <p:blipFill>
          <a:blip r:embed="rId23"/>
          <a:stretch>
            <a:fillRect/>
          </a:stretch>
        </p:blipFill>
        <p:spPr>
          <a:xfrm>
            <a:off x="802386" y="4690872"/>
            <a:ext cx="1440180" cy="960120"/>
          </a:xfrm>
          <a:prstGeom prst="rect">
            <a:avLst/>
          </a:prstGeom>
        </p:spPr>
      </p:pic>
      <p:sp>
        <p:nvSpPr>
          <p:cNvPr id="59" name="Text 46"/>
          <p:cNvSpPr txBox="1"/>
          <p:nvPr/>
        </p:nvSpPr>
        <p:spPr>
          <a:xfrm>
            <a:off x="548640" y="5687568"/>
            <a:ext cx="1947672" cy="457200"/>
          </a:xfrm>
          <a:prstGeom prst="rect">
            <a:avLst/>
          </a:prstGeom>
          <a:noFill/>
          <a:ln/>
        </p:spPr>
        <p:txBody>
          <a:bodyPr wrap="square" lIns="0" tIns="0" rIns="0" bIns="0" rtlCol="0" anchor="t"/>
          <a:lstStyle/>
          <a:p>
            <a:pPr marL="0" indent="0">
              <a:buNone/>
            </a:pPr>
            <a:r>
              <a:rPr lang="en-US" sz="1050" b="1" dirty="0">
                <a:solidFill>
                  <a:srgbClr val="4B1FA0"/>
                </a:solidFill>
                <a:latin typeface="Calibri" pitchFamily="34" charset="0"/>
                <a:ea typeface="Calibri" pitchFamily="34" charset="-122"/>
                <a:cs typeface="Calibri" pitchFamily="34" charset="-120"/>
              </a:rPr>
              <a:t>W-28  </a:t>
            </a:r>
            <a:r>
              <a:rPr lang="en-US" sz="1050" b="1" dirty="0">
                <a:solidFill>
                  <a:srgbClr val="2B0B5E"/>
                </a:solidFill>
                <a:latin typeface="Calibri" pitchFamily="34" charset="0"/>
                <a:ea typeface="Calibri" pitchFamily="34" charset="-122"/>
                <a:cs typeface="Calibri" pitchFamily="34" charset="-120"/>
              </a:rPr>
              <a:t>Submission Package Builder</a:t>
            </a:r>
            <a:endParaRPr lang="en-US" sz="1050" dirty="0"/>
          </a:p>
        </p:txBody>
      </p:sp>
      <p:sp>
        <p:nvSpPr>
          <p:cNvPr id="60" name="Shape 47">
            <a:hlinkClick r:id="rId24" action="ppaction://hlinksldjump" tooltip="Open Submission Package Builder"/>
          </p:cNvPr>
          <p:cNvSpPr/>
          <p:nvPr/>
        </p:nvSpPr>
        <p:spPr>
          <a:xfrm>
            <a:off x="457200" y="4617720"/>
            <a:ext cx="2130552" cy="1572768"/>
          </a:xfrm>
          <a:prstGeom prst="rect">
            <a:avLst/>
          </a:prstGeom>
          <a:solidFill>
            <a:srgbClr val="FFFFFF">
              <a:alpha val="0"/>
            </a:srgbClr>
          </a:solidFill>
          <a:ln/>
        </p:spPr>
        <p:txBody>
          <a:bodyPr/>
          <a:lstStyle/>
          <a:p>
            <a:endParaRPr lang="en-PK"/>
          </a:p>
        </p:txBody>
      </p:sp>
      <p:sp>
        <p:nvSpPr>
          <p:cNvPr id="61" name="Shape 48"/>
          <p:cNvSpPr/>
          <p:nvPr/>
        </p:nvSpPr>
        <p:spPr>
          <a:xfrm>
            <a:off x="2743200" y="4617720"/>
            <a:ext cx="2130552" cy="1572768"/>
          </a:xfrm>
          <a:prstGeom prst="roundRect">
            <a:avLst>
              <a:gd name="adj" fmla="val 3488"/>
            </a:avLst>
          </a:prstGeom>
          <a:solidFill>
            <a:srgbClr val="FFFFFF"/>
          </a:solidFill>
          <a:ln w="12700">
            <a:solidFill>
              <a:srgbClr val="E6E5EC"/>
            </a:solidFill>
            <a:prstDash val="solid"/>
          </a:ln>
        </p:spPr>
        <p:txBody>
          <a:bodyPr/>
          <a:lstStyle/>
          <a:p>
            <a:endParaRPr lang="en-PK"/>
          </a:p>
        </p:txBody>
      </p:sp>
      <p:sp>
        <p:nvSpPr>
          <p:cNvPr id="62" name="Shape 49"/>
          <p:cNvSpPr/>
          <p:nvPr/>
        </p:nvSpPr>
        <p:spPr>
          <a:xfrm>
            <a:off x="2816352" y="4690872"/>
            <a:ext cx="1984248" cy="960120"/>
          </a:xfrm>
          <a:prstGeom prst="rect">
            <a:avLst/>
          </a:prstGeom>
          <a:solidFill>
            <a:srgbClr val="ECEBF2"/>
          </a:solidFill>
          <a:ln/>
        </p:spPr>
        <p:txBody>
          <a:bodyPr/>
          <a:lstStyle/>
          <a:p>
            <a:endParaRPr lang="en-PK"/>
          </a:p>
        </p:txBody>
      </p:sp>
      <p:pic>
        <p:nvPicPr>
          <p:cNvPr id="63" name="Image 11" descr="Audit Log"/>
          <p:cNvPicPr>
            <a:picLocks noChangeAspect="1"/>
          </p:cNvPicPr>
          <p:nvPr/>
        </p:nvPicPr>
        <p:blipFill>
          <a:blip r:embed="rId25"/>
          <a:stretch>
            <a:fillRect/>
          </a:stretch>
        </p:blipFill>
        <p:spPr>
          <a:xfrm>
            <a:off x="3088386" y="4690872"/>
            <a:ext cx="1440180" cy="960120"/>
          </a:xfrm>
          <a:prstGeom prst="rect">
            <a:avLst/>
          </a:prstGeom>
        </p:spPr>
      </p:pic>
      <p:sp>
        <p:nvSpPr>
          <p:cNvPr id="64" name="Text 50"/>
          <p:cNvSpPr txBox="1"/>
          <p:nvPr/>
        </p:nvSpPr>
        <p:spPr>
          <a:xfrm>
            <a:off x="2834640" y="5687568"/>
            <a:ext cx="1947672" cy="457200"/>
          </a:xfrm>
          <a:prstGeom prst="rect">
            <a:avLst/>
          </a:prstGeom>
          <a:noFill/>
          <a:ln/>
        </p:spPr>
        <p:txBody>
          <a:bodyPr wrap="square" lIns="0" tIns="0" rIns="0" bIns="0" rtlCol="0" anchor="t"/>
          <a:lstStyle/>
          <a:p>
            <a:pPr marL="0" indent="0">
              <a:buNone/>
            </a:pPr>
            <a:r>
              <a:rPr lang="en-US" sz="1050" b="1" dirty="0">
                <a:solidFill>
                  <a:srgbClr val="4B1FA0"/>
                </a:solidFill>
                <a:latin typeface="Calibri" pitchFamily="34" charset="0"/>
                <a:ea typeface="Calibri" pitchFamily="34" charset="-122"/>
                <a:cs typeface="Calibri" pitchFamily="34" charset="-120"/>
              </a:rPr>
              <a:t>W-41  </a:t>
            </a:r>
            <a:r>
              <a:rPr lang="en-US" sz="1050" b="1" dirty="0">
                <a:solidFill>
                  <a:srgbClr val="2B0B5E"/>
                </a:solidFill>
                <a:latin typeface="Calibri" pitchFamily="34" charset="0"/>
                <a:ea typeface="Calibri" pitchFamily="34" charset="-122"/>
                <a:cs typeface="Calibri" pitchFamily="34" charset="-120"/>
              </a:rPr>
              <a:t>Audit Log</a:t>
            </a:r>
            <a:endParaRPr lang="en-US" sz="1050" dirty="0"/>
          </a:p>
        </p:txBody>
      </p:sp>
      <p:sp>
        <p:nvSpPr>
          <p:cNvPr id="65" name="Shape 51">
            <a:hlinkClick r:id="rId26" action="ppaction://hlinksldjump" tooltip="Open Audit Log"/>
          </p:cNvPr>
          <p:cNvSpPr/>
          <p:nvPr/>
        </p:nvSpPr>
        <p:spPr>
          <a:xfrm>
            <a:off x="2743200" y="4617720"/>
            <a:ext cx="2130552" cy="1572768"/>
          </a:xfrm>
          <a:prstGeom prst="rect">
            <a:avLst/>
          </a:prstGeom>
          <a:solidFill>
            <a:srgbClr val="FFFFFF">
              <a:alpha val="0"/>
            </a:srgbClr>
          </a:solidFill>
          <a:ln/>
        </p:spPr>
        <p:txBody>
          <a:bodyPr/>
          <a:lstStyle/>
          <a:p>
            <a:endParaRPr lang="en-PK"/>
          </a:p>
        </p:txBody>
      </p:sp>
      <p:sp>
        <p:nvSpPr>
          <p:cNvPr id="66" name="Shape 52"/>
          <p:cNvSpPr/>
          <p:nvPr/>
        </p:nvSpPr>
        <p:spPr>
          <a:xfrm>
            <a:off x="5029200" y="4617720"/>
            <a:ext cx="2130552" cy="1572768"/>
          </a:xfrm>
          <a:prstGeom prst="roundRect">
            <a:avLst>
              <a:gd name="adj" fmla="val 3488"/>
            </a:avLst>
          </a:prstGeom>
          <a:solidFill>
            <a:srgbClr val="FFFFFF"/>
          </a:solidFill>
          <a:ln w="12700">
            <a:solidFill>
              <a:srgbClr val="E6E5EC"/>
            </a:solidFill>
            <a:prstDash val="solid"/>
          </a:ln>
        </p:spPr>
        <p:txBody>
          <a:bodyPr/>
          <a:lstStyle/>
          <a:p>
            <a:endParaRPr lang="en-PK"/>
          </a:p>
        </p:txBody>
      </p:sp>
      <p:sp>
        <p:nvSpPr>
          <p:cNvPr id="67" name="Shape 53"/>
          <p:cNvSpPr/>
          <p:nvPr/>
        </p:nvSpPr>
        <p:spPr>
          <a:xfrm>
            <a:off x="5102352" y="4690872"/>
            <a:ext cx="1984248" cy="960120"/>
          </a:xfrm>
          <a:prstGeom prst="rect">
            <a:avLst/>
          </a:prstGeom>
          <a:solidFill>
            <a:srgbClr val="ECEBF2"/>
          </a:solidFill>
          <a:ln/>
        </p:spPr>
        <p:txBody>
          <a:bodyPr/>
          <a:lstStyle/>
          <a:p>
            <a:endParaRPr lang="en-PK"/>
          </a:p>
        </p:txBody>
      </p:sp>
      <p:pic>
        <p:nvPicPr>
          <p:cNvPr id="68" name="Image 12" descr="Mobile approvals and capture"/>
          <p:cNvPicPr>
            <a:picLocks noChangeAspect="1"/>
          </p:cNvPicPr>
          <p:nvPr/>
        </p:nvPicPr>
        <p:blipFill>
          <a:blip r:embed="rId27"/>
          <a:stretch>
            <a:fillRect/>
          </a:stretch>
        </p:blipFill>
        <p:spPr>
          <a:xfrm>
            <a:off x="5878449" y="4690872"/>
            <a:ext cx="432054" cy="960120"/>
          </a:xfrm>
          <a:prstGeom prst="rect">
            <a:avLst/>
          </a:prstGeom>
        </p:spPr>
      </p:pic>
      <p:sp>
        <p:nvSpPr>
          <p:cNvPr id="69" name="Text 54"/>
          <p:cNvSpPr txBox="1"/>
          <p:nvPr/>
        </p:nvSpPr>
        <p:spPr>
          <a:xfrm>
            <a:off x="5120640" y="5687568"/>
            <a:ext cx="1947672" cy="457200"/>
          </a:xfrm>
          <a:prstGeom prst="rect">
            <a:avLst/>
          </a:prstGeom>
          <a:noFill/>
          <a:ln/>
        </p:spPr>
        <p:txBody>
          <a:bodyPr wrap="square" lIns="0" tIns="0" rIns="0" bIns="0" rtlCol="0" anchor="t"/>
          <a:lstStyle/>
          <a:p>
            <a:pPr marL="0" indent="0">
              <a:buNone/>
            </a:pPr>
            <a:r>
              <a:rPr lang="en-US" sz="1050" b="1" dirty="0">
                <a:solidFill>
                  <a:srgbClr val="4B1FA0"/>
                </a:solidFill>
                <a:latin typeface="Calibri" pitchFamily="34" charset="0"/>
                <a:ea typeface="Calibri" pitchFamily="34" charset="-122"/>
                <a:cs typeface="Calibri" pitchFamily="34" charset="-120"/>
              </a:rPr>
              <a:t>M-03 · M-07  </a:t>
            </a:r>
            <a:r>
              <a:rPr lang="en-US" sz="1050" b="1" dirty="0">
                <a:solidFill>
                  <a:srgbClr val="2B0B5E"/>
                </a:solidFill>
                <a:latin typeface="Calibri" pitchFamily="34" charset="0"/>
                <a:ea typeface="Calibri" pitchFamily="34" charset="-122"/>
                <a:cs typeface="Calibri" pitchFamily="34" charset="-120"/>
              </a:rPr>
              <a:t>Mobile approvals and capture</a:t>
            </a:r>
            <a:endParaRPr lang="en-US" sz="1050" dirty="0"/>
          </a:p>
        </p:txBody>
      </p:sp>
      <p:sp>
        <p:nvSpPr>
          <p:cNvPr id="70" name="Shape 55">
            <a:hlinkClick r:id="rId28" action="ppaction://hlinksldjump" tooltip="Open Mobile approvals and capture"/>
          </p:cNvPr>
          <p:cNvSpPr/>
          <p:nvPr/>
        </p:nvSpPr>
        <p:spPr>
          <a:xfrm>
            <a:off x="5029200" y="4617720"/>
            <a:ext cx="2130552" cy="1572768"/>
          </a:xfrm>
          <a:prstGeom prst="rect">
            <a:avLst/>
          </a:prstGeom>
          <a:solidFill>
            <a:srgbClr val="FFFFFF">
              <a:alpha val="0"/>
            </a:srgbClr>
          </a:solidFill>
          <a:ln/>
        </p:spPr>
        <p:txBody>
          <a:bodyPr/>
          <a:lstStyle/>
          <a:p>
            <a:endParaRPr lang="en-PK"/>
          </a:p>
        </p:txBody>
      </p:sp>
      <p:sp>
        <p:nvSpPr>
          <p:cNvPr id="71" name="Text 56">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72" name="Text 57">
            <a:hlinkClick r:id="rId29"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29"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73" name="Text 58">
            <a:hlinkClick r:id="rId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47120" cy="502920"/>
          </a:xfrm>
          <a:prstGeom prst="rect">
            <a:avLst/>
          </a:prstGeom>
          <a:noFill/>
          <a:ln/>
        </p:spPr>
        <p:txBody>
          <a:bodyPr wrap="square" lIns="0" tIns="0" rIns="0" bIns="0" rtlCol="0" anchor="t"/>
          <a:lstStyle/>
          <a:p>
            <a:pPr marL="0" indent="0">
              <a:buNone/>
            </a:pPr>
            <a:r>
              <a:rPr lang="en-US" sz="2600" b="1" dirty="0">
                <a:solidFill>
                  <a:srgbClr val="4B1FA0"/>
                </a:solidFill>
                <a:latin typeface="Calibri" pitchFamily="34" charset="0"/>
                <a:ea typeface="Calibri" pitchFamily="34" charset="-122"/>
                <a:cs typeface="Calibri" pitchFamily="34" charset="-120"/>
              </a:rPr>
              <a:t>W-05 – </a:t>
            </a:r>
            <a:r>
              <a:rPr lang="en-US" sz="2600" b="1" dirty="0">
                <a:solidFill>
                  <a:srgbClr val="2B0B5E"/>
                </a:solidFill>
                <a:latin typeface="Calibri" pitchFamily="34" charset="0"/>
                <a:ea typeface="Calibri" pitchFamily="34" charset="-122"/>
                <a:cs typeface="Calibri" pitchFamily="34" charset="-120"/>
              </a:rPr>
              <a:t>Projects Dashboard</a:t>
            </a:r>
            <a:endParaRPr lang="en-US" sz="2600" dirty="0"/>
          </a:p>
        </p:txBody>
      </p:sp>
      <p:sp>
        <p:nvSpPr>
          <p:cNvPr id="3" name="Text 1"/>
          <p:cNvSpPr txBox="1"/>
          <p:nvPr/>
        </p:nvSpPr>
        <p:spPr>
          <a:xfrm>
            <a:off x="457200" y="777240"/>
            <a:ext cx="11247120" cy="384048"/>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The engineer’s home screen: bid status cards, the bid that needs attention, tasks and alerts.</a:t>
            </a:r>
            <a:endParaRPr lang="en-US" sz="13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30</a:t>
            </a:r>
            <a:endParaRPr lang="en-US" sz="1000" dirty="0"/>
          </a:p>
        </p:txBody>
      </p:sp>
      <p:sp>
        <p:nvSpPr>
          <p:cNvPr id="5" name="Shape 3"/>
          <p:cNvSpPr/>
          <p:nvPr/>
        </p:nvSpPr>
        <p:spPr>
          <a:xfrm>
            <a:off x="429768" y="1271016"/>
            <a:ext cx="6145484" cy="4398264"/>
          </a:xfrm>
          <a:prstGeom prst="rect">
            <a:avLst/>
          </a:prstGeom>
          <a:solidFill>
            <a:srgbClr val="FFFFFF"/>
          </a:solidFill>
          <a:ln w="12700">
            <a:solidFill>
              <a:srgbClr val="E6E5EC"/>
            </a:solidFill>
            <a:prstDash val="solid"/>
          </a:ln>
        </p:spPr>
        <p:txBody>
          <a:bodyPr/>
          <a:lstStyle/>
          <a:p>
            <a:endParaRPr lang="en-PK"/>
          </a:p>
        </p:txBody>
      </p:sp>
      <p:pic>
        <p:nvPicPr>
          <p:cNvPr id="6" name="Image 0" descr="Projects Dashboard mockup"/>
          <p:cNvPicPr>
            <a:picLocks noChangeAspect="1"/>
          </p:cNvPicPr>
          <p:nvPr/>
        </p:nvPicPr>
        <p:blipFill>
          <a:blip r:embed="rId3"/>
          <a:stretch>
            <a:fillRect/>
          </a:stretch>
        </p:blipFill>
        <p:spPr>
          <a:xfrm>
            <a:off x="457200" y="1298448"/>
            <a:ext cx="6090620" cy="4343400"/>
          </a:xfrm>
          <a:prstGeom prst="rect">
            <a:avLst/>
          </a:prstGeom>
        </p:spPr>
      </p:pic>
      <p:sp>
        <p:nvSpPr>
          <p:cNvPr id="7" name="Shape 4"/>
          <p:cNvSpPr/>
          <p:nvPr/>
        </p:nvSpPr>
        <p:spPr>
          <a:xfrm>
            <a:off x="4158098" y="2681592"/>
            <a:ext cx="958004" cy="86707"/>
          </a:xfrm>
          <a:prstGeom prst="rect">
            <a:avLst/>
          </a:prstGeom>
          <a:solidFill>
            <a:srgbClr val="E5484D">
              <a:alpha val="12000"/>
            </a:srgbClr>
          </a:solidFill>
          <a:ln w="22225">
            <a:solidFill>
              <a:srgbClr val="E5484D"/>
            </a:solidFill>
            <a:prstDash val="solid"/>
          </a:ln>
        </p:spPr>
        <p:txBody>
          <a:bodyPr/>
          <a:lstStyle/>
          <a:p>
            <a:endParaRPr lang="en-PK"/>
          </a:p>
        </p:txBody>
      </p:sp>
      <p:sp>
        <p:nvSpPr>
          <p:cNvPr id="8" name="Text 5"/>
          <p:cNvSpPr/>
          <p:nvPr/>
        </p:nvSpPr>
        <p:spPr>
          <a:xfrm>
            <a:off x="3883778" y="2601502"/>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Shape 6"/>
          <p:cNvSpPr/>
          <p:nvPr/>
        </p:nvSpPr>
        <p:spPr>
          <a:xfrm>
            <a:off x="4974410" y="5355755"/>
            <a:ext cx="1353471" cy="129598"/>
          </a:xfrm>
          <a:prstGeom prst="rect">
            <a:avLst/>
          </a:prstGeom>
          <a:solidFill>
            <a:srgbClr val="E5484D">
              <a:alpha val="12000"/>
            </a:srgbClr>
          </a:solidFill>
          <a:ln w="22225">
            <a:solidFill>
              <a:srgbClr val="E5484D"/>
            </a:solidFill>
            <a:prstDash val="solid"/>
          </a:ln>
        </p:spPr>
        <p:txBody>
          <a:bodyPr/>
          <a:lstStyle/>
          <a:p>
            <a:endParaRPr lang="en-PK"/>
          </a:p>
        </p:txBody>
      </p:sp>
      <p:sp>
        <p:nvSpPr>
          <p:cNvPr id="10" name="Text 7"/>
          <p:cNvSpPr/>
          <p:nvPr/>
        </p:nvSpPr>
        <p:spPr>
          <a:xfrm>
            <a:off x="4700090" y="5297110"/>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Text 8"/>
          <p:cNvSpPr txBox="1"/>
          <p:nvPr/>
        </p:nvSpPr>
        <p:spPr>
          <a:xfrm>
            <a:off x="457200" y="5760720"/>
            <a:ext cx="6720840" cy="457200"/>
          </a:xfrm>
          <a:prstGeom prst="rect">
            <a:avLst/>
          </a:prstGeom>
          <a:solidFill>
            <a:srgbClr val="FFFFFF"/>
          </a:solidFill>
          <a:ln w="9525">
            <a:solidFill>
              <a:srgbClr val="E6E5EC"/>
            </a:solidFill>
          </a:ln>
        </p:spPr>
        <p:txBody>
          <a:bodyPr wrap="square" lIns="50800" tIns="127000" rIns="127000" bIns="5080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Use case: </a:t>
            </a:r>
            <a:r>
              <a:rPr lang="en-US" sz="1050" dirty="0">
                <a:solidFill>
                  <a:srgbClr val="1A1A22"/>
                </a:solidFill>
                <a:latin typeface="Calibri" pitchFamily="34" charset="0"/>
                <a:ea typeface="Calibri" pitchFamily="34" charset="-122"/>
                <a:cs typeface="Calibri" pitchFamily="34" charset="-120"/>
              </a:rPr>
              <a:t>Search Project Vault · Manage Tasks   </a:t>
            </a:r>
            <a:r>
              <a:rPr lang="en-US" sz="1050" dirty="0">
                <a:solidFill>
                  <a:srgbClr val="C9B6F2"/>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rule from the SRS  </a:t>
            </a:r>
            <a:r>
              <a:rPr lang="en-US" sz="1050" dirty="0">
                <a:solidFill>
                  <a:srgbClr val="BDBDC8"/>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condition stated in the FR</a:t>
            </a:r>
            <a:endParaRPr lang="en-US" sz="1050" dirty="0"/>
          </a:p>
        </p:txBody>
      </p:sp>
      <p:sp>
        <p:nvSpPr>
          <p:cNvPr id="12" name="Text 9"/>
          <p:cNvSpPr txBox="1"/>
          <p:nvPr/>
        </p:nvSpPr>
        <p:spPr>
          <a:xfrm>
            <a:off x="7717536" y="1298448"/>
            <a:ext cx="2331720"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FUNCTIONAL REQUIREMENT</a:t>
            </a:r>
            <a:endParaRPr lang="en-US" sz="1000" dirty="0"/>
          </a:p>
        </p:txBody>
      </p:sp>
      <p:sp>
        <p:nvSpPr>
          <p:cNvPr id="13" name="Text 10"/>
          <p:cNvSpPr txBox="1"/>
          <p:nvPr/>
        </p:nvSpPr>
        <p:spPr>
          <a:xfrm>
            <a:off x="10140696" y="1298448"/>
            <a:ext cx="1593799"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BUSINESS RULE</a:t>
            </a:r>
            <a:endParaRPr lang="en-US" sz="1000" dirty="0"/>
          </a:p>
        </p:txBody>
      </p:sp>
      <p:sp>
        <p:nvSpPr>
          <p:cNvPr id="14" name="Text 11"/>
          <p:cNvSpPr/>
          <p:nvPr/>
        </p:nvSpPr>
        <p:spPr>
          <a:xfrm>
            <a:off x="7406640" y="164592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5" name="Shape 12"/>
          <p:cNvSpPr/>
          <p:nvPr/>
        </p:nvSpPr>
        <p:spPr>
          <a:xfrm>
            <a:off x="7717536" y="1591056"/>
            <a:ext cx="2331720" cy="960120"/>
          </a:xfrm>
          <a:prstGeom prst="roundRect">
            <a:avLst>
              <a:gd name="adj" fmla="val 5714"/>
            </a:avLst>
          </a:prstGeom>
          <a:solidFill>
            <a:srgbClr val="FFFFFF"/>
          </a:solidFill>
          <a:ln w="12700">
            <a:solidFill>
              <a:srgbClr val="E6E5EC"/>
            </a:solidFill>
            <a:prstDash val="solid"/>
          </a:ln>
        </p:spPr>
        <p:txBody>
          <a:bodyPr/>
          <a:lstStyle/>
          <a:p>
            <a:endParaRPr lang="en-PK"/>
          </a:p>
        </p:txBody>
      </p:sp>
      <p:sp>
        <p:nvSpPr>
          <p:cNvPr id="16" name="Shape 13"/>
          <p:cNvSpPr/>
          <p:nvPr/>
        </p:nvSpPr>
        <p:spPr>
          <a:xfrm>
            <a:off x="7717536" y="1591056"/>
            <a:ext cx="54864" cy="960120"/>
          </a:xfrm>
          <a:prstGeom prst="rect">
            <a:avLst/>
          </a:prstGeom>
          <a:solidFill>
            <a:srgbClr val="4B1FA0"/>
          </a:solidFill>
          <a:ln/>
        </p:spPr>
        <p:txBody>
          <a:bodyPr/>
          <a:lstStyle/>
          <a:p>
            <a:endParaRPr lang="en-PK"/>
          </a:p>
        </p:txBody>
      </p:sp>
      <p:sp>
        <p:nvSpPr>
          <p:cNvPr id="17" name="Text 14"/>
          <p:cNvSpPr txBox="1"/>
          <p:nvPr/>
        </p:nvSpPr>
        <p:spPr>
          <a:xfrm>
            <a:off x="7845552" y="1591056"/>
            <a:ext cx="2148840" cy="960120"/>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FR-9.6</a:t>
            </a:r>
            <a:r>
              <a:rPr lang="en-US" sz="1050" b="1" dirty="0">
                <a:solidFill>
                  <a:srgbClr val="2B0B5E"/>
                </a:solidFill>
                <a:latin typeface="Calibri" pitchFamily="34" charset="0"/>
                <a:ea typeface="Calibri" pitchFamily="34" charset="-122"/>
                <a:cs typeface="Calibri" pitchFamily="34" charset="-120"/>
              </a:rPr>
              <a:t> · Project Status</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Active, submitted, won or lost</a:t>
            </a:r>
            <a:endParaRPr lang="en-US" sz="1050" dirty="0"/>
          </a:p>
        </p:txBody>
      </p:sp>
      <p:sp>
        <p:nvSpPr>
          <p:cNvPr id="18" name="Shape 15"/>
          <p:cNvSpPr/>
          <p:nvPr/>
        </p:nvSpPr>
        <p:spPr>
          <a:xfrm>
            <a:off x="10140696" y="1591056"/>
            <a:ext cx="1593799" cy="960120"/>
          </a:xfrm>
          <a:prstGeom prst="roundRect">
            <a:avLst>
              <a:gd name="adj" fmla="val 5714"/>
            </a:avLst>
          </a:prstGeom>
          <a:solidFill>
            <a:srgbClr val="ECECF1"/>
          </a:solidFill>
          <a:ln/>
        </p:spPr>
        <p:txBody>
          <a:bodyPr/>
          <a:lstStyle/>
          <a:p>
            <a:endParaRPr lang="en-PK"/>
          </a:p>
        </p:txBody>
      </p:sp>
      <p:sp>
        <p:nvSpPr>
          <p:cNvPr id="19" name="Text 16"/>
          <p:cNvSpPr txBox="1"/>
          <p:nvPr/>
        </p:nvSpPr>
        <p:spPr>
          <a:xfrm>
            <a:off x="10232136" y="1591056"/>
            <a:ext cx="1429207" cy="960120"/>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Only four values: active, submitted, won, lost. Set by the engineer.</a:t>
            </a:r>
            <a:endParaRPr lang="en-US" sz="1000" dirty="0"/>
          </a:p>
        </p:txBody>
      </p:sp>
      <p:sp>
        <p:nvSpPr>
          <p:cNvPr id="20" name="Text 17"/>
          <p:cNvSpPr/>
          <p:nvPr/>
        </p:nvSpPr>
        <p:spPr>
          <a:xfrm>
            <a:off x="7406640" y="269748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1" name="Shape 18"/>
          <p:cNvSpPr/>
          <p:nvPr/>
        </p:nvSpPr>
        <p:spPr>
          <a:xfrm>
            <a:off x="7717536" y="2642616"/>
            <a:ext cx="2331720" cy="960120"/>
          </a:xfrm>
          <a:prstGeom prst="roundRect">
            <a:avLst>
              <a:gd name="adj" fmla="val 5714"/>
            </a:avLst>
          </a:prstGeom>
          <a:solidFill>
            <a:srgbClr val="FFFFFF"/>
          </a:solidFill>
          <a:ln w="12700">
            <a:solidFill>
              <a:srgbClr val="E6E5EC"/>
            </a:solidFill>
            <a:prstDash val="solid"/>
          </a:ln>
        </p:spPr>
        <p:txBody>
          <a:bodyPr/>
          <a:lstStyle/>
          <a:p>
            <a:endParaRPr lang="en-PK"/>
          </a:p>
        </p:txBody>
      </p:sp>
      <p:sp>
        <p:nvSpPr>
          <p:cNvPr id="22" name="Shape 19"/>
          <p:cNvSpPr/>
          <p:nvPr/>
        </p:nvSpPr>
        <p:spPr>
          <a:xfrm>
            <a:off x="7717536" y="2642616"/>
            <a:ext cx="54864" cy="960120"/>
          </a:xfrm>
          <a:prstGeom prst="rect">
            <a:avLst/>
          </a:prstGeom>
          <a:solidFill>
            <a:srgbClr val="4B1FA0"/>
          </a:solidFill>
          <a:ln/>
        </p:spPr>
        <p:txBody>
          <a:bodyPr/>
          <a:lstStyle/>
          <a:p>
            <a:endParaRPr lang="en-PK"/>
          </a:p>
        </p:txBody>
      </p:sp>
      <p:sp>
        <p:nvSpPr>
          <p:cNvPr id="23" name="Text 20"/>
          <p:cNvSpPr txBox="1"/>
          <p:nvPr/>
        </p:nvSpPr>
        <p:spPr>
          <a:xfrm>
            <a:off x="7845552" y="2642616"/>
            <a:ext cx="2148840" cy="960120"/>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FR-17.3</a:t>
            </a:r>
            <a:r>
              <a:rPr lang="en-US" sz="1050" b="1" dirty="0">
                <a:solidFill>
                  <a:srgbClr val="2B0B5E"/>
                </a:solidFill>
                <a:latin typeface="Calibri" pitchFamily="34" charset="0"/>
                <a:ea typeface="Calibri" pitchFamily="34" charset="-122"/>
                <a:cs typeface="Calibri" pitchFamily="34" charset="-120"/>
              </a:rPr>
              <a:t> · Task Views</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Tasks per project and per engineer; overdue in red</a:t>
            </a:r>
            <a:endParaRPr lang="en-US" sz="1050" dirty="0"/>
          </a:p>
        </p:txBody>
      </p:sp>
      <p:sp>
        <p:nvSpPr>
          <p:cNvPr id="24" name="Shape 21"/>
          <p:cNvSpPr/>
          <p:nvPr/>
        </p:nvSpPr>
        <p:spPr>
          <a:xfrm>
            <a:off x="10140696" y="2642616"/>
            <a:ext cx="1593799" cy="960120"/>
          </a:xfrm>
          <a:prstGeom prst="roundRect">
            <a:avLst>
              <a:gd name="adj" fmla="val 5714"/>
            </a:avLst>
          </a:prstGeom>
          <a:solidFill>
            <a:srgbClr val="ECECF1"/>
          </a:solidFill>
          <a:ln/>
        </p:spPr>
        <p:txBody>
          <a:bodyPr/>
          <a:lstStyle/>
          <a:p>
            <a:endParaRPr lang="en-PK"/>
          </a:p>
        </p:txBody>
      </p:sp>
      <p:sp>
        <p:nvSpPr>
          <p:cNvPr id="25" name="Text 22"/>
          <p:cNvSpPr txBox="1"/>
          <p:nvPr/>
        </p:nvSpPr>
        <p:spPr>
          <a:xfrm>
            <a:off x="10232136" y="2642616"/>
            <a:ext cx="1429207" cy="960120"/>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Overdue tasks are highlighted in red.</a:t>
            </a:r>
            <a:endParaRPr lang="en-US" sz="1000" dirty="0"/>
          </a:p>
        </p:txBody>
      </p:sp>
      <p:sp>
        <p:nvSpPr>
          <p:cNvPr id="26" name="Text 23">
            <a:hlinkClick r:id="" action="ppaction://noaction"/>
          </p:cNvPr>
          <p:cNvSpPr/>
          <p:nvPr/>
        </p:nvSpPr>
        <p:spPr>
          <a:xfrm>
            <a:off x="6787591"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27" name="Text 24">
            <a:hlinkClick r:id="rId4" action="ppaction://hlinksldjump" tooltip="Contents"/>
          </p:cNvPr>
          <p:cNvSpPr/>
          <p:nvPr/>
        </p:nvSpPr>
        <p:spPr>
          <a:xfrm>
            <a:off x="7765999"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28" name="Text 25">
            <a:hlinkClick r:id="rId5" action="ppaction://hlinksldjump" tooltip="Module"/>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Module">
                  <a:extLst>
                    <a:ext uri="{A12FA001-AC4F-418D-AE19-62706E023703}">
                      <ahyp:hlinkClr xmlns:ahyp="http://schemas.microsoft.com/office/drawing/2018/hyperlinkcolor" val="tx"/>
                    </a:ext>
                  </a:extLst>
                </a:hlinkClick>
              </a:rPr>
              <a:t>Module</a:t>
            </a:r>
            <a:endParaRPr lang="en-US" sz="1100" dirty="0"/>
          </a:p>
        </p:txBody>
      </p:sp>
      <p:sp>
        <p:nvSpPr>
          <p:cNvPr id="29" name="Text 26">
            <a:hlinkClick r:id="rId6" action="ppaction://hlinksldjump" tooltip="Use case"/>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Use case">
                  <a:extLst>
                    <a:ext uri="{A12FA001-AC4F-418D-AE19-62706E023703}">
                      <ahyp:hlinkClr xmlns:ahyp="http://schemas.microsoft.com/office/drawing/2018/hyperlinkcolor" val="tx"/>
                    </a:ext>
                  </a:extLst>
                </a:hlinkClick>
              </a:rPr>
              <a:t>Use case</a:t>
            </a:r>
            <a:endParaRPr lang="en-US" sz="1100" dirty="0"/>
          </a:p>
        </p:txBody>
      </p:sp>
      <p:sp>
        <p:nvSpPr>
          <p:cNvPr id="30" name="Text 27">
            <a:hlinkClick r:id="rId7"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47120" cy="502920"/>
          </a:xfrm>
          <a:prstGeom prst="rect">
            <a:avLst/>
          </a:prstGeom>
          <a:noFill/>
          <a:ln/>
        </p:spPr>
        <p:txBody>
          <a:bodyPr wrap="square" lIns="0" tIns="0" rIns="0" bIns="0" rtlCol="0" anchor="t"/>
          <a:lstStyle/>
          <a:p>
            <a:pPr marL="0" indent="0">
              <a:buNone/>
            </a:pPr>
            <a:r>
              <a:rPr lang="en-US" sz="2600" b="1" dirty="0">
                <a:solidFill>
                  <a:srgbClr val="4B1FA0"/>
                </a:solidFill>
                <a:latin typeface="Calibri" pitchFamily="34" charset="0"/>
                <a:ea typeface="Calibri" pitchFamily="34" charset="-122"/>
                <a:cs typeface="Calibri" pitchFamily="34" charset="-120"/>
              </a:rPr>
              <a:t>W-06 – </a:t>
            </a:r>
            <a:r>
              <a:rPr lang="en-US" sz="2600" b="1" dirty="0">
                <a:solidFill>
                  <a:srgbClr val="2B0B5E"/>
                </a:solidFill>
                <a:latin typeface="Calibri" pitchFamily="34" charset="0"/>
                <a:ea typeface="Calibri" pitchFamily="34" charset="-122"/>
                <a:cs typeface="Calibri" pitchFamily="34" charset="-120"/>
              </a:rPr>
              <a:t>RFP Upload &amp; Parsing  (1/2)</a:t>
            </a:r>
            <a:endParaRPr lang="en-US" sz="2600" dirty="0"/>
          </a:p>
        </p:txBody>
      </p:sp>
      <p:sp>
        <p:nvSpPr>
          <p:cNvPr id="3" name="Text 1"/>
          <p:cNvSpPr txBox="1"/>
          <p:nvPr/>
        </p:nvSpPr>
        <p:spPr>
          <a:xfrm>
            <a:off x="457200" y="777240"/>
            <a:ext cx="11247120" cy="384048"/>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Upload an RFP and see it split into classified sections, with scope, client format and key facts.</a:t>
            </a:r>
            <a:endParaRPr lang="en-US" sz="13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31</a:t>
            </a:r>
            <a:endParaRPr lang="en-US" sz="1000" dirty="0"/>
          </a:p>
        </p:txBody>
      </p:sp>
      <p:sp>
        <p:nvSpPr>
          <p:cNvPr id="5" name="Shape 3"/>
          <p:cNvSpPr/>
          <p:nvPr/>
        </p:nvSpPr>
        <p:spPr>
          <a:xfrm>
            <a:off x="429768" y="1271016"/>
            <a:ext cx="6019426" cy="4398264"/>
          </a:xfrm>
          <a:prstGeom prst="rect">
            <a:avLst/>
          </a:prstGeom>
          <a:solidFill>
            <a:srgbClr val="FFFFFF"/>
          </a:solidFill>
          <a:ln w="12700">
            <a:solidFill>
              <a:srgbClr val="E6E5EC"/>
            </a:solidFill>
            <a:prstDash val="solid"/>
          </a:ln>
        </p:spPr>
        <p:txBody>
          <a:bodyPr/>
          <a:lstStyle/>
          <a:p>
            <a:endParaRPr lang="en-PK"/>
          </a:p>
        </p:txBody>
      </p:sp>
      <p:pic>
        <p:nvPicPr>
          <p:cNvPr id="6" name="Image 0" descr="RFP Upload &amp; Parsing mockup"/>
          <p:cNvPicPr>
            <a:picLocks noChangeAspect="1"/>
          </p:cNvPicPr>
          <p:nvPr/>
        </p:nvPicPr>
        <p:blipFill>
          <a:blip r:embed="rId3"/>
          <a:stretch>
            <a:fillRect/>
          </a:stretch>
        </p:blipFill>
        <p:spPr>
          <a:xfrm>
            <a:off x="457200" y="1298448"/>
            <a:ext cx="5964562" cy="4343400"/>
          </a:xfrm>
          <a:prstGeom prst="rect">
            <a:avLst/>
          </a:prstGeom>
        </p:spPr>
      </p:pic>
      <p:sp>
        <p:nvSpPr>
          <p:cNvPr id="7" name="Shape 4"/>
          <p:cNvSpPr/>
          <p:nvPr/>
        </p:nvSpPr>
        <p:spPr>
          <a:xfrm>
            <a:off x="3478960" y="2395381"/>
            <a:ext cx="956556" cy="126915"/>
          </a:xfrm>
          <a:prstGeom prst="rect">
            <a:avLst/>
          </a:prstGeom>
          <a:solidFill>
            <a:srgbClr val="E5484D">
              <a:alpha val="12000"/>
            </a:srgbClr>
          </a:solidFill>
          <a:ln w="22225">
            <a:solidFill>
              <a:srgbClr val="E5484D"/>
            </a:solidFill>
            <a:prstDash val="solid"/>
          </a:ln>
        </p:spPr>
        <p:txBody>
          <a:bodyPr/>
          <a:lstStyle/>
          <a:p>
            <a:endParaRPr lang="en-PK"/>
          </a:p>
        </p:txBody>
      </p:sp>
      <p:sp>
        <p:nvSpPr>
          <p:cNvPr id="8" name="Text 5"/>
          <p:cNvSpPr/>
          <p:nvPr/>
        </p:nvSpPr>
        <p:spPr>
          <a:xfrm>
            <a:off x="3204640" y="2335395"/>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Shape 6"/>
          <p:cNvSpPr/>
          <p:nvPr/>
        </p:nvSpPr>
        <p:spPr>
          <a:xfrm>
            <a:off x="2985796" y="2714837"/>
            <a:ext cx="1025936" cy="108923"/>
          </a:xfrm>
          <a:prstGeom prst="rect">
            <a:avLst/>
          </a:prstGeom>
          <a:solidFill>
            <a:srgbClr val="E5484D">
              <a:alpha val="12000"/>
            </a:srgbClr>
          </a:solidFill>
          <a:ln w="22225">
            <a:solidFill>
              <a:srgbClr val="E5484D"/>
            </a:solidFill>
            <a:prstDash val="solid"/>
          </a:ln>
        </p:spPr>
        <p:txBody>
          <a:bodyPr/>
          <a:lstStyle/>
          <a:p>
            <a:endParaRPr lang="en-PK"/>
          </a:p>
        </p:txBody>
      </p:sp>
      <p:sp>
        <p:nvSpPr>
          <p:cNvPr id="10" name="Text 7"/>
          <p:cNvSpPr/>
          <p:nvPr/>
        </p:nvSpPr>
        <p:spPr>
          <a:xfrm>
            <a:off x="2711476" y="2645855"/>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Shape 8"/>
          <p:cNvSpPr/>
          <p:nvPr/>
        </p:nvSpPr>
        <p:spPr>
          <a:xfrm>
            <a:off x="1691533" y="3870342"/>
            <a:ext cx="616649" cy="208333"/>
          </a:xfrm>
          <a:prstGeom prst="rect">
            <a:avLst/>
          </a:prstGeom>
          <a:solidFill>
            <a:srgbClr val="E5484D">
              <a:alpha val="12000"/>
            </a:srgbClr>
          </a:solidFill>
          <a:ln w="22225">
            <a:solidFill>
              <a:srgbClr val="E5484D"/>
            </a:solidFill>
            <a:prstDash val="solid"/>
          </a:ln>
        </p:spPr>
        <p:txBody>
          <a:bodyPr/>
          <a:lstStyle/>
          <a:p>
            <a:endParaRPr lang="en-PK"/>
          </a:p>
        </p:txBody>
      </p:sp>
      <p:sp>
        <p:nvSpPr>
          <p:cNvPr id="12" name="Text 9"/>
          <p:cNvSpPr/>
          <p:nvPr/>
        </p:nvSpPr>
        <p:spPr>
          <a:xfrm>
            <a:off x="1417213" y="3851064"/>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3" name="Shape 10"/>
          <p:cNvSpPr/>
          <p:nvPr/>
        </p:nvSpPr>
        <p:spPr>
          <a:xfrm>
            <a:off x="2104380" y="4488738"/>
            <a:ext cx="2287775" cy="234026"/>
          </a:xfrm>
          <a:prstGeom prst="rect">
            <a:avLst/>
          </a:prstGeom>
          <a:solidFill>
            <a:srgbClr val="E5484D">
              <a:alpha val="12000"/>
            </a:srgbClr>
          </a:solidFill>
          <a:ln w="22225">
            <a:solidFill>
              <a:srgbClr val="E5484D"/>
            </a:solidFill>
            <a:prstDash val="solid"/>
          </a:ln>
        </p:spPr>
        <p:txBody>
          <a:bodyPr/>
          <a:lstStyle/>
          <a:p>
            <a:endParaRPr lang="en-PK"/>
          </a:p>
        </p:txBody>
      </p:sp>
      <p:sp>
        <p:nvSpPr>
          <p:cNvPr id="14" name="Text 11"/>
          <p:cNvSpPr/>
          <p:nvPr/>
        </p:nvSpPr>
        <p:spPr>
          <a:xfrm>
            <a:off x="1830060" y="4482307"/>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5" name="Shape 12"/>
          <p:cNvSpPr/>
          <p:nvPr/>
        </p:nvSpPr>
        <p:spPr>
          <a:xfrm>
            <a:off x="2799533" y="3231753"/>
            <a:ext cx="1128711" cy="576458"/>
          </a:xfrm>
          <a:prstGeom prst="rect">
            <a:avLst/>
          </a:prstGeom>
          <a:solidFill>
            <a:srgbClr val="E5484D">
              <a:alpha val="12000"/>
            </a:srgbClr>
          </a:solidFill>
          <a:ln w="22225">
            <a:solidFill>
              <a:srgbClr val="E5484D"/>
            </a:solidFill>
            <a:prstDash val="solid"/>
          </a:ln>
        </p:spPr>
        <p:txBody>
          <a:bodyPr/>
          <a:lstStyle/>
          <a:p>
            <a:endParaRPr lang="en-PK"/>
          </a:p>
        </p:txBody>
      </p:sp>
      <p:sp>
        <p:nvSpPr>
          <p:cNvPr id="16" name="Text 13"/>
          <p:cNvSpPr/>
          <p:nvPr/>
        </p:nvSpPr>
        <p:spPr>
          <a:xfrm>
            <a:off x="2525213" y="3396538"/>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7" name="Text 14"/>
          <p:cNvSpPr txBox="1"/>
          <p:nvPr/>
        </p:nvSpPr>
        <p:spPr>
          <a:xfrm>
            <a:off x="457200" y="5760720"/>
            <a:ext cx="6720840" cy="457200"/>
          </a:xfrm>
          <a:prstGeom prst="rect">
            <a:avLst/>
          </a:prstGeom>
          <a:solidFill>
            <a:srgbClr val="FFFFFF"/>
          </a:solidFill>
          <a:ln w="9525">
            <a:solidFill>
              <a:srgbClr val="E6E5EC"/>
            </a:solidFill>
          </a:ln>
        </p:spPr>
        <p:txBody>
          <a:bodyPr wrap="square" lIns="50800" tIns="127000" rIns="127000" bIns="5080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Use case: </a:t>
            </a:r>
            <a:r>
              <a:rPr lang="en-US" sz="1050" dirty="0">
                <a:solidFill>
                  <a:srgbClr val="1A1A22"/>
                </a:solidFill>
                <a:latin typeface="Calibri" pitchFamily="34" charset="0"/>
                <a:ea typeface="Calibri" pitchFamily="34" charset="-122"/>
                <a:cs typeface="Calibri" pitchFamily="34" charset="-120"/>
              </a:rPr>
              <a:t>Upload RFP (+ Classify Sections, Extract Specifications)   </a:t>
            </a:r>
            <a:r>
              <a:rPr lang="en-US" sz="1050" dirty="0">
                <a:solidFill>
                  <a:srgbClr val="C9B6F2"/>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rule from the SRS  </a:t>
            </a:r>
            <a:r>
              <a:rPr lang="en-US" sz="1050" dirty="0">
                <a:solidFill>
                  <a:srgbClr val="BDBDC8"/>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condition stated in the FR</a:t>
            </a:r>
            <a:endParaRPr lang="en-US" sz="1050" dirty="0"/>
          </a:p>
        </p:txBody>
      </p:sp>
      <p:sp>
        <p:nvSpPr>
          <p:cNvPr id="18" name="Text 15"/>
          <p:cNvSpPr txBox="1"/>
          <p:nvPr/>
        </p:nvSpPr>
        <p:spPr>
          <a:xfrm>
            <a:off x="7717536" y="1298448"/>
            <a:ext cx="2331720"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FUNCTIONAL REQUIREMENT</a:t>
            </a:r>
            <a:endParaRPr lang="en-US" sz="1000" dirty="0"/>
          </a:p>
        </p:txBody>
      </p:sp>
      <p:sp>
        <p:nvSpPr>
          <p:cNvPr id="19" name="Text 16"/>
          <p:cNvSpPr txBox="1"/>
          <p:nvPr/>
        </p:nvSpPr>
        <p:spPr>
          <a:xfrm>
            <a:off x="10140696" y="1298448"/>
            <a:ext cx="1593799"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BUSINESS RULE</a:t>
            </a:r>
            <a:endParaRPr lang="en-US" sz="1000" dirty="0"/>
          </a:p>
        </p:txBody>
      </p:sp>
      <p:sp>
        <p:nvSpPr>
          <p:cNvPr id="20" name="Text 17"/>
          <p:cNvSpPr/>
          <p:nvPr/>
        </p:nvSpPr>
        <p:spPr>
          <a:xfrm>
            <a:off x="7406640" y="164592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21" name="Shape 18"/>
          <p:cNvSpPr/>
          <p:nvPr/>
        </p:nvSpPr>
        <p:spPr>
          <a:xfrm>
            <a:off x="7717536" y="1591056"/>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22" name="Shape 19"/>
          <p:cNvSpPr/>
          <p:nvPr/>
        </p:nvSpPr>
        <p:spPr>
          <a:xfrm>
            <a:off x="7717536" y="1591056"/>
            <a:ext cx="54864" cy="855878"/>
          </a:xfrm>
          <a:prstGeom prst="rect">
            <a:avLst/>
          </a:prstGeom>
          <a:solidFill>
            <a:srgbClr val="4B1FA0"/>
          </a:solidFill>
          <a:ln/>
        </p:spPr>
        <p:txBody>
          <a:bodyPr/>
          <a:lstStyle/>
          <a:p>
            <a:endParaRPr lang="en-PK"/>
          </a:p>
        </p:txBody>
      </p:sp>
      <p:sp>
        <p:nvSpPr>
          <p:cNvPr id="23" name="Text 20"/>
          <p:cNvSpPr txBox="1"/>
          <p:nvPr/>
        </p:nvSpPr>
        <p:spPr>
          <a:xfrm>
            <a:off x="7845552" y="1591056"/>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FR-1.1</a:t>
            </a:r>
            <a:r>
              <a:rPr lang="en-US" sz="1050" b="1" dirty="0">
                <a:solidFill>
                  <a:srgbClr val="2B0B5E"/>
                </a:solidFill>
                <a:latin typeface="Calibri" pitchFamily="34" charset="0"/>
                <a:ea typeface="Calibri" pitchFamily="34" charset="-122"/>
                <a:cs typeface="Calibri" pitchFamily="34" charset="-120"/>
              </a:rPr>
              <a:t> · RFP File Upload</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Accepts PDF and Word RFPs up to 50 MB</a:t>
            </a:r>
            <a:endParaRPr lang="en-US" sz="1050" dirty="0"/>
          </a:p>
        </p:txBody>
      </p:sp>
      <p:sp>
        <p:nvSpPr>
          <p:cNvPr id="24" name="Shape 21"/>
          <p:cNvSpPr/>
          <p:nvPr/>
        </p:nvSpPr>
        <p:spPr>
          <a:xfrm>
            <a:off x="10140696" y="1591056"/>
            <a:ext cx="1593799" cy="855878"/>
          </a:xfrm>
          <a:prstGeom prst="roundRect">
            <a:avLst>
              <a:gd name="adj" fmla="val 6410"/>
            </a:avLst>
          </a:prstGeom>
          <a:solidFill>
            <a:srgbClr val="EFE7FB"/>
          </a:solidFill>
          <a:ln/>
        </p:spPr>
        <p:txBody>
          <a:bodyPr/>
          <a:lstStyle/>
          <a:p>
            <a:endParaRPr lang="en-PK"/>
          </a:p>
        </p:txBody>
      </p:sp>
      <p:sp>
        <p:nvSpPr>
          <p:cNvPr id="25" name="Text 22"/>
          <p:cNvSpPr txBox="1"/>
          <p:nvPr/>
        </p:nvSpPr>
        <p:spPr>
          <a:xfrm>
            <a:off x="10232136" y="1591056"/>
            <a:ext cx="1429207" cy="855878"/>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Only PDF or DOCX; maximum 50 MB.</a:t>
            </a:r>
            <a:endParaRPr lang="en-US" sz="1000" dirty="0"/>
          </a:p>
        </p:txBody>
      </p:sp>
      <p:sp>
        <p:nvSpPr>
          <p:cNvPr id="26" name="Text 23"/>
          <p:cNvSpPr/>
          <p:nvPr/>
        </p:nvSpPr>
        <p:spPr>
          <a:xfrm>
            <a:off x="7406640" y="2593238"/>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7" name="Shape 24"/>
          <p:cNvSpPr/>
          <p:nvPr/>
        </p:nvSpPr>
        <p:spPr>
          <a:xfrm>
            <a:off x="7717536" y="2538374"/>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28" name="Shape 25"/>
          <p:cNvSpPr/>
          <p:nvPr/>
        </p:nvSpPr>
        <p:spPr>
          <a:xfrm>
            <a:off x="7717536" y="2538374"/>
            <a:ext cx="54864" cy="855878"/>
          </a:xfrm>
          <a:prstGeom prst="rect">
            <a:avLst/>
          </a:prstGeom>
          <a:solidFill>
            <a:srgbClr val="4B1FA0"/>
          </a:solidFill>
          <a:ln/>
        </p:spPr>
        <p:txBody>
          <a:bodyPr/>
          <a:lstStyle/>
          <a:p>
            <a:endParaRPr lang="en-PK"/>
          </a:p>
        </p:txBody>
      </p:sp>
      <p:sp>
        <p:nvSpPr>
          <p:cNvPr id="29" name="Text 26"/>
          <p:cNvSpPr txBox="1"/>
          <p:nvPr/>
        </p:nvSpPr>
        <p:spPr>
          <a:xfrm>
            <a:off x="7845552" y="2538374"/>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FR-1.2</a:t>
            </a:r>
            <a:r>
              <a:rPr lang="en-US" sz="1050" b="1" dirty="0">
                <a:solidFill>
                  <a:srgbClr val="2B0B5E"/>
                </a:solidFill>
                <a:latin typeface="Calibri" pitchFamily="34" charset="0"/>
                <a:ea typeface="Calibri" pitchFamily="34" charset="-122"/>
                <a:cs typeface="Calibri" pitchFamily="34" charset="-120"/>
              </a:rPr>
              <a:t> · Raw Text Extraction</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Reads the text with PyMuPDF and python-docx</a:t>
            </a:r>
            <a:endParaRPr lang="en-US" sz="1050" dirty="0"/>
          </a:p>
        </p:txBody>
      </p:sp>
      <p:sp>
        <p:nvSpPr>
          <p:cNvPr id="30" name="Shape 27"/>
          <p:cNvSpPr/>
          <p:nvPr/>
        </p:nvSpPr>
        <p:spPr>
          <a:xfrm>
            <a:off x="10140696" y="2538374"/>
            <a:ext cx="1593799" cy="855878"/>
          </a:xfrm>
          <a:prstGeom prst="roundRect">
            <a:avLst>
              <a:gd name="adj" fmla="val 6410"/>
            </a:avLst>
          </a:prstGeom>
          <a:solidFill>
            <a:srgbClr val="ECECF1"/>
          </a:solidFill>
          <a:ln/>
        </p:spPr>
        <p:txBody>
          <a:bodyPr/>
          <a:lstStyle/>
          <a:p>
            <a:endParaRPr lang="en-PK"/>
          </a:p>
        </p:txBody>
      </p:sp>
      <p:sp>
        <p:nvSpPr>
          <p:cNvPr id="31" name="Text 28"/>
          <p:cNvSpPr txBox="1"/>
          <p:nvPr/>
        </p:nvSpPr>
        <p:spPr>
          <a:xfrm>
            <a:off x="10232136" y="2538374"/>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PDF read with PyMuPDF, Word with python-docx.</a:t>
            </a:r>
            <a:endParaRPr lang="en-US" sz="1000" dirty="0"/>
          </a:p>
        </p:txBody>
      </p:sp>
      <p:sp>
        <p:nvSpPr>
          <p:cNvPr id="32" name="Text 29"/>
          <p:cNvSpPr/>
          <p:nvPr/>
        </p:nvSpPr>
        <p:spPr>
          <a:xfrm>
            <a:off x="7406640" y="3540557"/>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33" name="Shape 30"/>
          <p:cNvSpPr/>
          <p:nvPr/>
        </p:nvSpPr>
        <p:spPr>
          <a:xfrm>
            <a:off x="7717536" y="3485693"/>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34" name="Shape 31"/>
          <p:cNvSpPr/>
          <p:nvPr/>
        </p:nvSpPr>
        <p:spPr>
          <a:xfrm>
            <a:off x="7717536" y="3485693"/>
            <a:ext cx="54864" cy="855878"/>
          </a:xfrm>
          <a:prstGeom prst="rect">
            <a:avLst/>
          </a:prstGeom>
          <a:solidFill>
            <a:srgbClr val="4B1FA0"/>
          </a:solidFill>
          <a:ln/>
        </p:spPr>
        <p:txBody>
          <a:bodyPr/>
          <a:lstStyle/>
          <a:p>
            <a:endParaRPr lang="en-PK"/>
          </a:p>
        </p:txBody>
      </p:sp>
      <p:sp>
        <p:nvSpPr>
          <p:cNvPr id="35" name="Text 32"/>
          <p:cNvSpPr txBox="1"/>
          <p:nvPr/>
        </p:nvSpPr>
        <p:spPr>
          <a:xfrm>
            <a:off x="7845552" y="3485693"/>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FR-1.3</a:t>
            </a:r>
            <a:r>
              <a:rPr lang="en-US" sz="1050" b="1" dirty="0">
                <a:solidFill>
                  <a:srgbClr val="2B0B5E"/>
                </a:solidFill>
                <a:latin typeface="Calibri" pitchFamily="34" charset="0"/>
                <a:ea typeface="Calibri" pitchFamily="34" charset="-122"/>
                <a:cs typeface="Calibri" pitchFamily="34" charset="-120"/>
              </a:rPr>
              <a:t> · Section Classification</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Sorts every section into 5 types (zero-shot model)</a:t>
            </a:r>
            <a:endParaRPr lang="en-US" sz="1050" dirty="0"/>
          </a:p>
        </p:txBody>
      </p:sp>
      <p:sp>
        <p:nvSpPr>
          <p:cNvPr id="36" name="Shape 33"/>
          <p:cNvSpPr/>
          <p:nvPr/>
        </p:nvSpPr>
        <p:spPr>
          <a:xfrm>
            <a:off x="10140696" y="3485693"/>
            <a:ext cx="1593799" cy="855878"/>
          </a:xfrm>
          <a:prstGeom prst="roundRect">
            <a:avLst>
              <a:gd name="adj" fmla="val 6410"/>
            </a:avLst>
          </a:prstGeom>
          <a:solidFill>
            <a:srgbClr val="EFE7FB"/>
          </a:solidFill>
          <a:ln/>
        </p:spPr>
        <p:txBody>
          <a:bodyPr/>
          <a:lstStyle/>
          <a:p>
            <a:endParaRPr lang="en-PK"/>
          </a:p>
        </p:txBody>
      </p:sp>
      <p:sp>
        <p:nvSpPr>
          <p:cNvPr id="37" name="Text 34"/>
          <p:cNvSpPr txBox="1"/>
          <p:nvPr/>
        </p:nvSpPr>
        <p:spPr>
          <a:xfrm>
            <a:off x="10232136" y="3485693"/>
            <a:ext cx="1429207" cy="855878"/>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Exactly five fixed section categories.</a:t>
            </a:r>
            <a:endParaRPr lang="en-US" sz="1000" dirty="0"/>
          </a:p>
        </p:txBody>
      </p:sp>
      <p:sp>
        <p:nvSpPr>
          <p:cNvPr id="38" name="Text 35"/>
          <p:cNvSpPr/>
          <p:nvPr/>
        </p:nvSpPr>
        <p:spPr>
          <a:xfrm>
            <a:off x="7406640" y="4487875"/>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39" name="Shape 36"/>
          <p:cNvSpPr/>
          <p:nvPr/>
        </p:nvSpPr>
        <p:spPr>
          <a:xfrm>
            <a:off x="7717536" y="4433011"/>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40" name="Shape 37"/>
          <p:cNvSpPr/>
          <p:nvPr/>
        </p:nvSpPr>
        <p:spPr>
          <a:xfrm>
            <a:off x="7717536" y="4433011"/>
            <a:ext cx="54864" cy="855878"/>
          </a:xfrm>
          <a:prstGeom prst="rect">
            <a:avLst/>
          </a:prstGeom>
          <a:solidFill>
            <a:srgbClr val="4B1FA0"/>
          </a:solidFill>
          <a:ln/>
        </p:spPr>
        <p:txBody>
          <a:bodyPr/>
          <a:lstStyle/>
          <a:p>
            <a:endParaRPr lang="en-PK"/>
          </a:p>
        </p:txBody>
      </p:sp>
      <p:sp>
        <p:nvSpPr>
          <p:cNvPr id="41" name="Text 38"/>
          <p:cNvSpPr txBox="1"/>
          <p:nvPr/>
        </p:nvSpPr>
        <p:spPr>
          <a:xfrm>
            <a:off x="7845552" y="4433011"/>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FR-1.4</a:t>
            </a:r>
            <a:r>
              <a:rPr lang="en-US" sz="1050" b="1" dirty="0">
                <a:solidFill>
                  <a:srgbClr val="2B0B5E"/>
                </a:solidFill>
                <a:latin typeface="Calibri" pitchFamily="34" charset="0"/>
                <a:ea typeface="Calibri" pitchFamily="34" charset="-122"/>
                <a:cs typeface="Calibri" pitchFamily="34" charset="-120"/>
              </a:rPr>
              <a:t> · Entity Extraction</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Pulls out equipment, quantities, protocols and specs</a:t>
            </a:r>
            <a:endParaRPr lang="en-US" sz="1050" dirty="0"/>
          </a:p>
        </p:txBody>
      </p:sp>
      <p:sp>
        <p:nvSpPr>
          <p:cNvPr id="42" name="Shape 39"/>
          <p:cNvSpPr/>
          <p:nvPr/>
        </p:nvSpPr>
        <p:spPr>
          <a:xfrm>
            <a:off x="10140696" y="4433011"/>
            <a:ext cx="1593799" cy="855878"/>
          </a:xfrm>
          <a:prstGeom prst="roundRect">
            <a:avLst>
              <a:gd name="adj" fmla="val 6410"/>
            </a:avLst>
          </a:prstGeom>
          <a:solidFill>
            <a:srgbClr val="ECECF1"/>
          </a:solidFill>
          <a:ln/>
        </p:spPr>
        <p:txBody>
          <a:bodyPr/>
          <a:lstStyle/>
          <a:p>
            <a:endParaRPr lang="en-PK"/>
          </a:p>
        </p:txBody>
      </p:sp>
      <p:sp>
        <p:nvSpPr>
          <p:cNvPr id="43" name="Text 40"/>
          <p:cNvSpPr txBox="1"/>
          <p:nvPr/>
        </p:nvSpPr>
        <p:spPr>
          <a:xfrm>
            <a:off x="10232136" y="4433011"/>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Applied to the technical sections of the RFP.</a:t>
            </a:r>
            <a:endParaRPr lang="en-US" sz="1000" dirty="0"/>
          </a:p>
        </p:txBody>
      </p:sp>
      <p:sp>
        <p:nvSpPr>
          <p:cNvPr id="44" name="Text 41"/>
          <p:cNvSpPr/>
          <p:nvPr/>
        </p:nvSpPr>
        <p:spPr>
          <a:xfrm>
            <a:off x="7406640" y="5435194"/>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45" name="Shape 42"/>
          <p:cNvSpPr/>
          <p:nvPr/>
        </p:nvSpPr>
        <p:spPr>
          <a:xfrm>
            <a:off x="7717536" y="5380330"/>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46" name="Shape 43"/>
          <p:cNvSpPr/>
          <p:nvPr/>
        </p:nvSpPr>
        <p:spPr>
          <a:xfrm>
            <a:off x="7717536" y="5380330"/>
            <a:ext cx="54864" cy="855878"/>
          </a:xfrm>
          <a:prstGeom prst="rect">
            <a:avLst/>
          </a:prstGeom>
          <a:solidFill>
            <a:srgbClr val="4B1FA0"/>
          </a:solidFill>
          <a:ln/>
        </p:spPr>
        <p:txBody>
          <a:bodyPr/>
          <a:lstStyle/>
          <a:p>
            <a:endParaRPr lang="en-PK"/>
          </a:p>
        </p:txBody>
      </p:sp>
      <p:sp>
        <p:nvSpPr>
          <p:cNvPr id="47" name="Text 44"/>
          <p:cNvSpPr txBox="1"/>
          <p:nvPr/>
        </p:nvSpPr>
        <p:spPr>
          <a:xfrm>
            <a:off x="7845552" y="5380330"/>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FR-1.5</a:t>
            </a:r>
            <a:r>
              <a:rPr lang="en-US" sz="1050" b="1" dirty="0">
                <a:solidFill>
                  <a:srgbClr val="2B0B5E"/>
                </a:solidFill>
                <a:latin typeface="Calibri" pitchFamily="34" charset="0"/>
                <a:ea typeface="Calibri" pitchFamily="34" charset="-122"/>
                <a:cs typeface="Calibri" pitchFamily="34" charset="-120"/>
              </a:rPr>
              <a:t> · Delivery Scope Detection</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Finds the scope: supply, deploy, configure, migrate</a:t>
            </a:r>
            <a:endParaRPr lang="en-US" sz="1050" dirty="0"/>
          </a:p>
        </p:txBody>
      </p:sp>
      <p:sp>
        <p:nvSpPr>
          <p:cNvPr id="48" name="Shape 45"/>
          <p:cNvSpPr/>
          <p:nvPr/>
        </p:nvSpPr>
        <p:spPr>
          <a:xfrm>
            <a:off x="10140696" y="5380330"/>
            <a:ext cx="1593799" cy="855878"/>
          </a:xfrm>
          <a:prstGeom prst="roundRect">
            <a:avLst>
              <a:gd name="adj" fmla="val 6410"/>
            </a:avLst>
          </a:prstGeom>
          <a:solidFill>
            <a:srgbClr val="ECECF1"/>
          </a:solidFill>
          <a:ln/>
        </p:spPr>
        <p:txBody>
          <a:bodyPr/>
          <a:lstStyle/>
          <a:p>
            <a:endParaRPr lang="en-PK"/>
          </a:p>
        </p:txBody>
      </p:sp>
      <p:sp>
        <p:nvSpPr>
          <p:cNvPr id="49" name="Text 46"/>
          <p:cNvSpPr txBox="1"/>
          <p:nvPr/>
        </p:nvSpPr>
        <p:spPr>
          <a:xfrm>
            <a:off x="10232136" y="5380330"/>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Scope is one or more of: supply, deploy, configure, migrate.</a:t>
            </a:r>
            <a:endParaRPr lang="en-US" sz="1000" dirty="0"/>
          </a:p>
        </p:txBody>
      </p:sp>
      <p:sp>
        <p:nvSpPr>
          <p:cNvPr id="50" name="Text 47">
            <a:hlinkClick r:id="" action="ppaction://noaction"/>
          </p:cNvPr>
          <p:cNvSpPr/>
          <p:nvPr/>
        </p:nvSpPr>
        <p:spPr>
          <a:xfrm>
            <a:off x="6787591"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51" name="Text 48">
            <a:hlinkClick r:id="rId4" action="ppaction://hlinksldjump" tooltip="Contents"/>
          </p:cNvPr>
          <p:cNvSpPr/>
          <p:nvPr/>
        </p:nvSpPr>
        <p:spPr>
          <a:xfrm>
            <a:off x="7765999"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52" name="Text 49">
            <a:hlinkClick r:id="rId5" action="ppaction://hlinksldjump" tooltip="Module"/>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Module">
                  <a:extLst>
                    <a:ext uri="{A12FA001-AC4F-418D-AE19-62706E023703}">
                      <ahyp:hlinkClr xmlns:ahyp="http://schemas.microsoft.com/office/drawing/2018/hyperlinkcolor" val="tx"/>
                    </a:ext>
                  </a:extLst>
                </a:hlinkClick>
              </a:rPr>
              <a:t>Module</a:t>
            </a:r>
            <a:endParaRPr lang="en-US" sz="1100" dirty="0"/>
          </a:p>
        </p:txBody>
      </p:sp>
      <p:sp>
        <p:nvSpPr>
          <p:cNvPr id="53" name="Text 50">
            <a:hlinkClick r:id="rId6" action="ppaction://hlinksldjump" tooltip="Use case"/>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Use case">
                  <a:extLst>
                    <a:ext uri="{A12FA001-AC4F-418D-AE19-62706E023703}">
                      <ahyp:hlinkClr xmlns:ahyp="http://schemas.microsoft.com/office/drawing/2018/hyperlinkcolor" val="tx"/>
                    </a:ext>
                  </a:extLst>
                </a:hlinkClick>
              </a:rPr>
              <a:t>Use case</a:t>
            </a:r>
            <a:endParaRPr lang="en-US" sz="1100" dirty="0"/>
          </a:p>
        </p:txBody>
      </p:sp>
      <p:sp>
        <p:nvSpPr>
          <p:cNvPr id="54" name="Text 51">
            <a:hlinkClick r:id="rId7"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47120" cy="502920"/>
          </a:xfrm>
          <a:prstGeom prst="rect">
            <a:avLst/>
          </a:prstGeom>
          <a:noFill/>
          <a:ln/>
        </p:spPr>
        <p:txBody>
          <a:bodyPr wrap="square" lIns="0" tIns="0" rIns="0" bIns="0" rtlCol="0" anchor="t"/>
          <a:lstStyle/>
          <a:p>
            <a:pPr marL="0" indent="0">
              <a:buNone/>
            </a:pPr>
            <a:r>
              <a:rPr lang="en-US" sz="2600" b="1" dirty="0">
                <a:solidFill>
                  <a:srgbClr val="4B1FA0"/>
                </a:solidFill>
                <a:latin typeface="Calibri" pitchFamily="34" charset="0"/>
                <a:ea typeface="Calibri" pitchFamily="34" charset="-122"/>
                <a:cs typeface="Calibri" pitchFamily="34" charset="-120"/>
              </a:rPr>
              <a:t>W-06 – </a:t>
            </a:r>
            <a:r>
              <a:rPr lang="en-US" sz="2600" b="1" dirty="0">
                <a:solidFill>
                  <a:srgbClr val="2B0B5E"/>
                </a:solidFill>
                <a:latin typeface="Calibri" pitchFamily="34" charset="0"/>
                <a:ea typeface="Calibri" pitchFamily="34" charset="-122"/>
                <a:cs typeface="Calibri" pitchFamily="34" charset="-120"/>
              </a:rPr>
              <a:t>RFP Upload &amp; Parsing  (2/2)</a:t>
            </a:r>
            <a:endParaRPr lang="en-US" sz="2600" dirty="0"/>
          </a:p>
        </p:txBody>
      </p:sp>
      <p:sp>
        <p:nvSpPr>
          <p:cNvPr id="3" name="Text 1"/>
          <p:cNvSpPr txBox="1"/>
          <p:nvPr/>
        </p:nvSpPr>
        <p:spPr>
          <a:xfrm>
            <a:off x="457200" y="777240"/>
            <a:ext cx="11247120" cy="384048"/>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Upload an RFP and see it split into classified sections, with scope, client format and key facts.</a:t>
            </a:r>
            <a:endParaRPr lang="en-US" sz="13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32</a:t>
            </a:r>
            <a:endParaRPr lang="en-US" sz="1000" dirty="0"/>
          </a:p>
        </p:txBody>
      </p:sp>
      <p:sp>
        <p:nvSpPr>
          <p:cNvPr id="5" name="Shape 3"/>
          <p:cNvSpPr/>
          <p:nvPr/>
        </p:nvSpPr>
        <p:spPr>
          <a:xfrm>
            <a:off x="429768" y="1271016"/>
            <a:ext cx="6019426" cy="4398264"/>
          </a:xfrm>
          <a:prstGeom prst="rect">
            <a:avLst/>
          </a:prstGeom>
          <a:solidFill>
            <a:srgbClr val="FFFFFF"/>
          </a:solidFill>
          <a:ln w="12700">
            <a:solidFill>
              <a:srgbClr val="E6E5EC"/>
            </a:solidFill>
            <a:prstDash val="solid"/>
          </a:ln>
        </p:spPr>
        <p:txBody>
          <a:bodyPr/>
          <a:lstStyle/>
          <a:p>
            <a:endParaRPr lang="en-PK"/>
          </a:p>
        </p:txBody>
      </p:sp>
      <p:pic>
        <p:nvPicPr>
          <p:cNvPr id="6" name="Image 0" descr="RFP Upload &amp; Parsing mockup"/>
          <p:cNvPicPr>
            <a:picLocks noChangeAspect="1"/>
          </p:cNvPicPr>
          <p:nvPr/>
        </p:nvPicPr>
        <p:blipFill>
          <a:blip r:embed="rId3"/>
          <a:stretch>
            <a:fillRect/>
          </a:stretch>
        </p:blipFill>
        <p:spPr>
          <a:xfrm>
            <a:off x="457200" y="1298448"/>
            <a:ext cx="5964562" cy="4343400"/>
          </a:xfrm>
          <a:prstGeom prst="rect">
            <a:avLst/>
          </a:prstGeom>
        </p:spPr>
      </p:pic>
      <p:sp>
        <p:nvSpPr>
          <p:cNvPr id="7" name="Shape 4"/>
          <p:cNvSpPr/>
          <p:nvPr/>
        </p:nvSpPr>
        <p:spPr>
          <a:xfrm>
            <a:off x="1612834" y="3231753"/>
            <a:ext cx="1128711" cy="576458"/>
          </a:xfrm>
          <a:prstGeom prst="rect">
            <a:avLst/>
          </a:prstGeom>
          <a:solidFill>
            <a:srgbClr val="E5484D">
              <a:alpha val="12000"/>
            </a:srgbClr>
          </a:solidFill>
          <a:ln w="22225">
            <a:solidFill>
              <a:srgbClr val="E5484D"/>
            </a:solidFill>
            <a:prstDash val="solid"/>
          </a:ln>
        </p:spPr>
        <p:txBody>
          <a:bodyPr/>
          <a:lstStyle/>
          <a:p>
            <a:endParaRPr lang="en-PK"/>
          </a:p>
        </p:txBody>
      </p:sp>
      <p:sp>
        <p:nvSpPr>
          <p:cNvPr id="8" name="Text 5"/>
          <p:cNvSpPr/>
          <p:nvPr/>
        </p:nvSpPr>
        <p:spPr>
          <a:xfrm>
            <a:off x="1338514" y="3396538"/>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Shape 6"/>
          <p:cNvSpPr/>
          <p:nvPr/>
        </p:nvSpPr>
        <p:spPr>
          <a:xfrm>
            <a:off x="2847167" y="2898771"/>
            <a:ext cx="2220143" cy="96885"/>
          </a:xfrm>
          <a:prstGeom prst="rect">
            <a:avLst/>
          </a:prstGeom>
          <a:solidFill>
            <a:srgbClr val="E5484D">
              <a:alpha val="12000"/>
            </a:srgbClr>
          </a:solidFill>
          <a:ln w="22225">
            <a:solidFill>
              <a:srgbClr val="E5484D"/>
            </a:solidFill>
            <a:prstDash val="solid"/>
          </a:ln>
        </p:spPr>
        <p:txBody>
          <a:bodyPr/>
          <a:lstStyle/>
          <a:p>
            <a:endParaRPr lang="en-PK"/>
          </a:p>
        </p:txBody>
      </p:sp>
      <p:sp>
        <p:nvSpPr>
          <p:cNvPr id="10" name="Text 7"/>
          <p:cNvSpPr/>
          <p:nvPr/>
        </p:nvSpPr>
        <p:spPr>
          <a:xfrm>
            <a:off x="2572847" y="2823769"/>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Shape 8"/>
          <p:cNvSpPr/>
          <p:nvPr/>
        </p:nvSpPr>
        <p:spPr>
          <a:xfrm>
            <a:off x="1691533" y="5391707"/>
            <a:ext cx="3076901" cy="96885"/>
          </a:xfrm>
          <a:prstGeom prst="rect">
            <a:avLst/>
          </a:prstGeom>
          <a:solidFill>
            <a:srgbClr val="E5484D">
              <a:alpha val="12000"/>
            </a:srgbClr>
          </a:solidFill>
          <a:ln w="22225">
            <a:solidFill>
              <a:srgbClr val="E5484D"/>
            </a:solidFill>
            <a:prstDash val="solid"/>
          </a:ln>
        </p:spPr>
        <p:txBody>
          <a:bodyPr/>
          <a:lstStyle/>
          <a:p>
            <a:endParaRPr lang="en-PK"/>
          </a:p>
        </p:txBody>
      </p:sp>
      <p:sp>
        <p:nvSpPr>
          <p:cNvPr id="12" name="Text 9"/>
          <p:cNvSpPr/>
          <p:nvPr/>
        </p:nvSpPr>
        <p:spPr>
          <a:xfrm>
            <a:off x="1417213" y="5316705"/>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3" name="Shape 10"/>
          <p:cNvSpPr/>
          <p:nvPr/>
        </p:nvSpPr>
        <p:spPr>
          <a:xfrm>
            <a:off x="3986233" y="3231753"/>
            <a:ext cx="1128711" cy="576458"/>
          </a:xfrm>
          <a:prstGeom prst="rect">
            <a:avLst/>
          </a:prstGeom>
          <a:solidFill>
            <a:srgbClr val="E5484D">
              <a:alpha val="12000"/>
            </a:srgbClr>
          </a:solidFill>
          <a:ln w="22225">
            <a:solidFill>
              <a:srgbClr val="E5484D"/>
            </a:solidFill>
            <a:prstDash val="solid"/>
          </a:ln>
        </p:spPr>
        <p:txBody>
          <a:bodyPr/>
          <a:lstStyle/>
          <a:p>
            <a:endParaRPr lang="en-PK"/>
          </a:p>
        </p:txBody>
      </p:sp>
      <p:sp>
        <p:nvSpPr>
          <p:cNvPr id="14" name="Text 11"/>
          <p:cNvSpPr/>
          <p:nvPr/>
        </p:nvSpPr>
        <p:spPr>
          <a:xfrm>
            <a:off x="3711913" y="3396538"/>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5" name="Shape 12"/>
          <p:cNvSpPr/>
          <p:nvPr/>
        </p:nvSpPr>
        <p:spPr>
          <a:xfrm>
            <a:off x="5172932" y="3231753"/>
            <a:ext cx="1128711" cy="576458"/>
          </a:xfrm>
          <a:prstGeom prst="rect">
            <a:avLst/>
          </a:prstGeom>
          <a:solidFill>
            <a:srgbClr val="E5484D">
              <a:alpha val="12000"/>
            </a:srgbClr>
          </a:solidFill>
          <a:ln w="22225">
            <a:solidFill>
              <a:srgbClr val="E5484D"/>
            </a:solidFill>
            <a:prstDash val="solid"/>
          </a:ln>
        </p:spPr>
        <p:txBody>
          <a:bodyPr/>
          <a:lstStyle/>
          <a:p>
            <a:endParaRPr lang="en-PK"/>
          </a:p>
        </p:txBody>
      </p:sp>
      <p:sp>
        <p:nvSpPr>
          <p:cNvPr id="16" name="Text 13"/>
          <p:cNvSpPr/>
          <p:nvPr/>
        </p:nvSpPr>
        <p:spPr>
          <a:xfrm>
            <a:off x="4898612" y="3396538"/>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7" name="Text 14"/>
          <p:cNvSpPr txBox="1"/>
          <p:nvPr/>
        </p:nvSpPr>
        <p:spPr>
          <a:xfrm>
            <a:off x="457200" y="5760720"/>
            <a:ext cx="6720840" cy="457200"/>
          </a:xfrm>
          <a:prstGeom prst="rect">
            <a:avLst/>
          </a:prstGeom>
          <a:solidFill>
            <a:srgbClr val="FFFFFF"/>
          </a:solidFill>
          <a:ln w="9525">
            <a:solidFill>
              <a:srgbClr val="E6E5EC"/>
            </a:solidFill>
          </a:ln>
        </p:spPr>
        <p:txBody>
          <a:bodyPr wrap="square" lIns="50800" tIns="127000" rIns="127000" bIns="5080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Use case: </a:t>
            </a:r>
            <a:r>
              <a:rPr lang="en-US" sz="1050" dirty="0">
                <a:solidFill>
                  <a:srgbClr val="1A1A22"/>
                </a:solidFill>
                <a:latin typeface="Calibri" pitchFamily="34" charset="0"/>
                <a:ea typeface="Calibri" pitchFamily="34" charset="-122"/>
                <a:cs typeface="Calibri" pitchFamily="34" charset="-120"/>
              </a:rPr>
              <a:t>Upload RFP (+ Classify Sections, Extract Specifications)   </a:t>
            </a:r>
            <a:r>
              <a:rPr lang="en-US" sz="1050" dirty="0">
                <a:solidFill>
                  <a:srgbClr val="C9B6F2"/>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rule from the SRS  </a:t>
            </a:r>
            <a:r>
              <a:rPr lang="en-US" sz="1050" dirty="0">
                <a:solidFill>
                  <a:srgbClr val="BDBDC8"/>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condition stated in the FR</a:t>
            </a:r>
            <a:endParaRPr lang="en-US" sz="1050" dirty="0"/>
          </a:p>
        </p:txBody>
      </p:sp>
      <p:sp>
        <p:nvSpPr>
          <p:cNvPr id="18" name="Text 15"/>
          <p:cNvSpPr txBox="1"/>
          <p:nvPr/>
        </p:nvSpPr>
        <p:spPr>
          <a:xfrm>
            <a:off x="7717536" y="1298448"/>
            <a:ext cx="2331720"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FUNCTIONAL REQUIREMENT</a:t>
            </a:r>
            <a:endParaRPr lang="en-US" sz="1000" dirty="0"/>
          </a:p>
        </p:txBody>
      </p:sp>
      <p:sp>
        <p:nvSpPr>
          <p:cNvPr id="19" name="Text 16"/>
          <p:cNvSpPr txBox="1"/>
          <p:nvPr/>
        </p:nvSpPr>
        <p:spPr>
          <a:xfrm>
            <a:off x="10140696" y="1298448"/>
            <a:ext cx="1593799"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BUSINESS RULE</a:t>
            </a:r>
            <a:endParaRPr lang="en-US" sz="1000" dirty="0"/>
          </a:p>
        </p:txBody>
      </p:sp>
      <p:sp>
        <p:nvSpPr>
          <p:cNvPr id="20" name="Text 17"/>
          <p:cNvSpPr/>
          <p:nvPr/>
        </p:nvSpPr>
        <p:spPr>
          <a:xfrm>
            <a:off x="7406640" y="164592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21" name="Shape 18"/>
          <p:cNvSpPr/>
          <p:nvPr/>
        </p:nvSpPr>
        <p:spPr>
          <a:xfrm>
            <a:off x="7717536" y="1591056"/>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22" name="Shape 19"/>
          <p:cNvSpPr/>
          <p:nvPr/>
        </p:nvSpPr>
        <p:spPr>
          <a:xfrm>
            <a:off x="7717536" y="1591056"/>
            <a:ext cx="54864" cy="855878"/>
          </a:xfrm>
          <a:prstGeom prst="rect">
            <a:avLst/>
          </a:prstGeom>
          <a:solidFill>
            <a:srgbClr val="4B1FA0"/>
          </a:solidFill>
          <a:ln/>
        </p:spPr>
        <p:txBody>
          <a:bodyPr/>
          <a:lstStyle/>
          <a:p>
            <a:endParaRPr lang="en-PK"/>
          </a:p>
        </p:txBody>
      </p:sp>
      <p:sp>
        <p:nvSpPr>
          <p:cNvPr id="23" name="Text 20"/>
          <p:cNvSpPr txBox="1"/>
          <p:nvPr/>
        </p:nvSpPr>
        <p:spPr>
          <a:xfrm>
            <a:off x="7845552" y="1591056"/>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FR-1.6</a:t>
            </a:r>
            <a:r>
              <a:rPr lang="en-US" sz="1050" b="1" dirty="0">
                <a:solidFill>
                  <a:srgbClr val="2B0B5E"/>
                </a:solidFill>
                <a:latin typeface="Calibri" pitchFamily="34" charset="0"/>
                <a:ea typeface="Calibri" pitchFamily="34" charset="-122"/>
                <a:cs typeface="Calibri" pitchFamily="34" charset="-120"/>
              </a:rPr>
              <a:t> · Client Format Detection</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Detects PTCL, OGDCL, Zong, Telenor; else generic rules</a:t>
            </a:r>
            <a:endParaRPr lang="en-US" sz="1050" dirty="0"/>
          </a:p>
        </p:txBody>
      </p:sp>
      <p:sp>
        <p:nvSpPr>
          <p:cNvPr id="24" name="Shape 21"/>
          <p:cNvSpPr/>
          <p:nvPr/>
        </p:nvSpPr>
        <p:spPr>
          <a:xfrm>
            <a:off x="10140696" y="1591056"/>
            <a:ext cx="1593799" cy="855878"/>
          </a:xfrm>
          <a:prstGeom prst="roundRect">
            <a:avLst>
              <a:gd name="adj" fmla="val 6410"/>
            </a:avLst>
          </a:prstGeom>
          <a:solidFill>
            <a:srgbClr val="EFE7FB"/>
          </a:solidFill>
          <a:ln/>
        </p:spPr>
        <p:txBody>
          <a:bodyPr/>
          <a:lstStyle/>
          <a:p>
            <a:endParaRPr lang="en-PK"/>
          </a:p>
        </p:txBody>
      </p:sp>
      <p:sp>
        <p:nvSpPr>
          <p:cNvPr id="25" name="Text 22"/>
          <p:cNvSpPr txBox="1"/>
          <p:nvPr/>
        </p:nvSpPr>
        <p:spPr>
          <a:xfrm>
            <a:off x="10232136" y="1591056"/>
            <a:ext cx="1429207" cy="855878"/>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PTCL, OGDCL, Zong, Telenor only; any other client uses the generic rules.</a:t>
            </a:r>
            <a:endParaRPr lang="en-US" sz="1000" dirty="0"/>
          </a:p>
        </p:txBody>
      </p:sp>
      <p:sp>
        <p:nvSpPr>
          <p:cNvPr id="26" name="Text 23"/>
          <p:cNvSpPr/>
          <p:nvPr/>
        </p:nvSpPr>
        <p:spPr>
          <a:xfrm>
            <a:off x="7406640" y="2593238"/>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7" name="Shape 24"/>
          <p:cNvSpPr/>
          <p:nvPr/>
        </p:nvSpPr>
        <p:spPr>
          <a:xfrm>
            <a:off x="7717536" y="2538374"/>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28" name="Shape 25"/>
          <p:cNvSpPr/>
          <p:nvPr/>
        </p:nvSpPr>
        <p:spPr>
          <a:xfrm>
            <a:off x="7717536" y="2538374"/>
            <a:ext cx="54864" cy="855878"/>
          </a:xfrm>
          <a:prstGeom prst="rect">
            <a:avLst/>
          </a:prstGeom>
          <a:solidFill>
            <a:srgbClr val="4B1FA0"/>
          </a:solidFill>
          <a:ln/>
        </p:spPr>
        <p:txBody>
          <a:bodyPr/>
          <a:lstStyle/>
          <a:p>
            <a:endParaRPr lang="en-PK"/>
          </a:p>
        </p:txBody>
      </p:sp>
      <p:sp>
        <p:nvSpPr>
          <p:cNvPr id="29" name="Text 26"/>
          <p:cNvSpPr txBox="1"/>
          <p:nvPr/>
        </p:nvSpPr>
        <p:spPr>
          <a:xfrm>
            <a:off x="7845552" y="2538374"/>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FR-1.7</a:t>
            </a:r>
            <a:r>
              <a:rPr lang="en-US" sz="1050" b="1" dirty="0">
                <a:solidFill>
                  <a:srgbClr val="2B0B5E"/>
                </a:solidFill>
                <a:latin typeface="Calibri" pitchFamily="34" charset="0"/>
                <a:ea typeface="Calibri" pitchFamily="34" charset="-122"/>
                <a:cs typeface="Calibri" pitchFamily="34" charset="-120"/>
              </a:rPr>
              <a:t> · Parsing Turnaround</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Sections shown in 60 s; extraction done in 180 s</a:t>
            </a:r>
            <a:endParaRPr lang="en-US" sz="1050" dirty="0"/>
          </a:p>
        </p:txBody>
      </p:sp>
      <p:sp>
        <p:nvSpPr>
          <p:cNvPr id="30" name="Shape 27"/>
          <p:cNvSpPr/>
          <p:nvPr/>
        </p:nvSpPr>
        <p:spPr>
          <a:xfrm>
            <a:off x="10140696" y="2538374"/>
            <a:ext cx="1593799" cy="855878"/>
          </a:xfrm>
          <a:prstGeom prst="roundRect">
            <a:avLst>
              <a:gd name="adj" fmla="val 6410"/>
            </a:avLst>
          </a:prstGeom>
          <a:solidFill>
            <a:srgbClr val="EFE7FB"/>
          </a:solidFill>
          <a:ln/>
        </p:spPr>
        <p:txBody>
          <a:bodyPr/>
          <a:lstStyle/>
          <a:p>
            <a:endParaRPr lang="en-PK"/>
          </a:p>
        </p:txBody>
      </p:sp>
      <p:sp>
        <p:nvSpPr>
          <p:cNvPr id="31" name="Text 28"/>
          <p:cNvSpPr txBox="1"/>
          <p:nvPr/>
        </p:nvSpPr>
        <p:spPr>
          <a:xfrm>
            <a:off x="10232136" y="2538374"/>
            <a:ext cx="1429207" cy="855878"/>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Sections ≤ 60 s; full extraction ≤ 180 s (95th percentile).</a:t>
            </a:r>
            <a:endParaRPr lang="en-US" sz="1000" dirty="0"/>
          </a:p>
        </p:txBody>
      </p:sp>
      <p:sp>
        <p:nvSpPr>
          <p:cNvPr id="32" name="Text 29"/>
          <p:cNvSpPr/>
          <p:nvPr/>
        </p:nvSpPr>
        <p:spPr>
          <a:xfrm>
            <a:off x="7406640" y="3540557"/>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33" name="Shape 30"/>
          <p:cNvSpPr/>
          <p:nvPr/>
        </p:nvSpPr>
        <p:spPr>
          <a:xfrm>
            <a:off x="7717536" y="3485693"/>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34" name="Shape 31"/>
          <p:cNvSpPr/>
          <p:nvPr/>
        </p:nvSpPr>
        <p:spPr>
          <a:xfrm>
            <a:off x="7717536" y="3485693"/>
            <a:ext cx="54864" cy="855878"/>
          </a:xfrm>
          <a:prstGeom prst="rect">
            <a:avLst/>
          </a:prstGeom>
          <a:solidFill>
            <a:srgbClr val="4B1FA0"/>
          </a:solidFill>
          <a:ln/>
        </p:spPr>
        <p:txBody>
          <a:bodyPr/>
          <a:lstStyle/>
          <a:p>
            <a:endParaRPr lang="en-PK"/>
          </a:p>
        </p:txBody>
      </p:sp>
      <p:sp>
        <p:nvSpPr>
          <p:cNvPr id="35" name="Text 32"/>
          <p:cNvSpPr txBox="1"/>
          <p:nvPr/>
        </p:nvSpPr>
        <p:spPr>
          <a:xfrm>
            <a:off x="7845552" y="3485693"/>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FR-1.8</a:t>
            </a:r>
            <a:r>
              <a:rPr lang="en-US" sz="1050" b="1" dirty="0">
                <a:solidFill>
                  <a:srgbClr val="2B0B5E"/>
                </a:solidFill>
                <a:latin typeface="Calibri" pitchFamily="34" charset="0"/>
                <a:ea typeface="Calibri" pitchFamily="34" charset="-122"/>
                <a:cs typeface="Calibri" pitchFamily="34" charset="-120"/>
              </a:rPr>
              <a:t> · Manual Re-classification</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Engineer can fix any wrong section label</a:t>
            </a:r>
            <a:endParaRPr lang="en-US" sz="1050" dirty="0"/>
          </a:p>
        </p:txBody>
      </p:sp>
      <p:sp>
        <p:nvSpPr>
          <p:cNvPr id="36" name="Shape 33"/>
          <p:cNvSpPr/>
          <p:nvPr/>
        </p:nvSpPr>
        <p:spPr>
          <a:xfrm>
            <a:off x="10140696" y="3485693"/>
            <a:ext cx="1593799" cy="855878"/>
          </a:xfrm>
          <a:prstGeom prst="roundRect">
            <a:avLst>
              <a:gd name="adj" fmla="val 6410"/>
            </a:avLst>
          </a:prstGeom>
          <a:solidFill>
            <a:srgbClr val="ECECF1"/>
          </a:solidFill>
          <a:ln/>
        </p:spPr>
        <p:txBody>
          <a:bodyPr/>
          <a:lstStyle/>
          <a:p>
            <a:endParaRPr lang="en-PK"/>
          </a:p>
        </p:txBody>
      </p:sp>
      <p:sp>
        <p:nvSpPr>
          <p:cNvPr id="37" name="Text 34"/>
          <p:cNvSpPr txBox="1"/>
          <p:nvPr/>
        </p:nvSpPr>
        <p:spPr>
          <a:xfrm>
            <a:off x="10232136" y="3485693"/>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Any section label can be changed by the engineer.</a:t>
            </a:r>
            <a:endParaRPr lang="en-US" sz="1000" dirty="0"/>
          </a:p>
        </p:txBody>
      </p:sp>
      <p:sp>
        <p:nvSpPr>
          <p:cNvPr id="38" name="Text 35"/>
          <p:cNvSpPr/>
          <p:nvPr/>
        </p:nvSpPr>
        <p:spPr>
          <a:xfrm>
            <a:off x="7406640" y="4487875"/>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39" name="Shape 36"/>
          <p:cNvSpPr/>
          <p:nvPr/>
        </p:nvSpPr>
        <p:spPr>
          <a:xfrm>
            <a:off x="7717536" y="4433011"/>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40" name="Shape 37"/>
          <p:cNvSpPr/>
          <p:nvPr/>
        </p:nvSpPr>
        <p:spPr>
          <a:xfrm>
            <a:off x="7717536" y="4433011"/>
            <a:ext cx="54864" cy="855878"/>
          </a:xfrm>
          <a:prstGeom prst="rect">
            <a:avLst/>
          </a:prstGeom>
          <a:solidFill>
            <a:srgbClr val="4B1FA0"/>
          </a:solidFill>
          <a:ln/>
        </p:spPr>
        <p:txBody>
          <a:bodyPr/>
          <a:lstStyle/>
          <a:p>
            <a:endParaRPr lang="en-PK"/>
          </a:p>
        </p:txBody>
      </p:sp>
      <p:sp>
        <p:nvSpPr>
          <p:cNvPr id="41" name="Text 38"/>
          <p:cNvSpPr txBox="1"/>
          <p:nvPr/>
        </p:nvSpPr>
        <p:spPr>
          <a:xfrm>
            <a:off x="7845552" y="4433011"/>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FR-1.9</a:t>
            </a:r>
            <a:r>
              <a:rPr lang="en-US" sz="1050" b="1" dirty="0">
                <a:solidFill>
                  <a:srgbClr val="2B0B5E"/>
                </a:solidFill>
                <a:latin typeface="Calibri" pitchFamily="34" charset="0"/>
                <a:ea typeface="Calibri" pitchFamily="34" charset="-122"/>
                <a:cs typeface="Calibri" pitchFamily="34" charset="-120"/>
              </a:rPr>
              <a:t> · Closing Date Extraction</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Finds the bid closing date; manual entry if missing</a:t>
            </a:r>
            <a:endParaRPr lang="en-US" sz="1050" dirty="0"/>
          </a:p>
        </p:txBody>
      </p:sp>
      <p:sp>
        <p:nvSpPr>
          <p:cNvPr id="42" name="Shape 39"/>
          <p:cNvSpPr/>
          <p:nvPr/>
        </p:nvSpPr>
        <p:spPr>
          <a:xfrm>
            <a:off x="10140696" y="4433011"/>
            <a:ext cx="1593799" cy="855878"/>
          </a:xfrm>
          <a:prstGeom prst="roundRect">
            <a:avLst>
              <a:gd name="adj" fmla="val 6410"/>
            </a:avLst>
          </a:prstGeom>
          <a:solidFill>
            <a:srgbClr val="EFE7FB"/>
          </a:solidFill>
          <a:ln/>
        </p:spPr>
        <p:txBody>
          <a:bodyPr/>
          <a:lstStyle/>
          <a:p>
            <a:endParaRPr lang="en-PK"/>
          </a:p>
        </p:txBody>
      </p:sp>
      <p:sp>
        <p:nvSpPr>
          <p:cNvPr id="43" name="Text 40"/>
          <p:cNvSpPr txBox="1"/>
          <p:nvPr/>
        </p:nvSpPr>
        <p:spPr>
          <a:xfrm>
            <a:off x="10232136" y="4433011"/>
            <a:ext cx="1429207" cy="855878"/>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If not found automatically, the engineer must enter it manually.</a:t>
            </a:r>
            <a:endParaRPr lang="en-US" sz="1000" dirty="0"/>
          </a:p>
        </p:txBody>
      </p:sp>
      <p:sp>
        <p:nvSpPr>
          <p:cNvPr id="44" name="Text 41"/>
          <p:cNvSpPr/>
          <p:nvPr/>
        </p:nvSpPr>
        <p:spPr>
          <a:xfrm>
            <a:off x="7406640" y="5435194"/>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45" name="Shape 42"/>
          <p:cNvSpPr/>
          <p:nvPr/>
        </p:nvSpPr>
        <p:spPr>
          <a:xfrm>
            <a:off x="7717536" y="5380330"/>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46" name="Shape 43"/>
          <p:cNvSpPr/>
          <p:nvPr/>
        </p:nvSpPr>
        <p:spPr>
          <a:xfrm>
            <a:off x="7717536" y="5380330"/>
            <a:ext cx="54864" cy="855878"/>
          </a:xfrm>
          <a:prstGeom prst="rect">
            <a:avLst/>
          </a:prstGeom>
          <a:solidFill>
            <a:srgbClr val="4B1FA0"/>
          </a:solidFill>
          <a:ln/>
        </p:spPr>
        <p:txBody>
          <a:bodyPr/>
          <a:lstStyle/>
          <a:p>
            <a:endParaRPr lang="en-PK"/>
          </a:p>
        </p:txBody>
      </p:sp>
      <p:sp>
        <p:nvSpPr>
          <p:cNvPr id="47" name="Text 44"/>
          <p:cNvSpPr txBox="1"/>
          <p:nvPr/>
        </p:nvSpPr>
        <p:spPr>
          <a:xfrm>
            <a:off x="7845552" y="5380330"/>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FR-1.10</a:t>
            </a:r>
            <a:r>
              <a:rPr lang="en-US" sz="1050" b="1" dirty="0">
                <a:solidFill>
                  <a:srgbClr val="2B0B5E"/>
                </a:solidFill>
                <a:latin typeface="Calibri" pitchFamily="34" charset="0"/>
                <a:ea typeface="Calibri" pitchFamily="34" charset="-122"/>
                <a:cs typeface="Calibri" pitchFamily="34" charset="-120"/>
              </a:rPr>
              <a:t> · Requirement Registry</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Each requirement gets an ID; accept, edit, merge, reject</a:t>
            </a:r>
            <a:endParaRPr lang="en-US" sz="1050" dirty="0"/>
          </a:p>
        </p:txBody>
      </p:sp>
      <p:sp>
        <p:nvSpPr>
          <p:cNvPr id="48" name="Shape 45"/>
          <p:cNvSpPr/>
          <p:nvPr/>
        </p:nvSpPr>
        <p:spPr>
          <a:xfrm>
            <a:off x="10140696" y="5380330"/>
            <a:ext cx="1593799" cy="855878"/>
          </a:xfrm>
          <a:prstGeom prst="roundRect">
            <a:avLst>
              <a:gd name="adj" fmla="val 6410"/>
            </a:avLst>
          </a:prstGeom>
          <a:solidFill>
            <a:srgbClr val="ECECF1"/>
          </a:solidFill>
          <a:ln/>
        </p:spPr>
        <p:txBody>
          <a:bodyPr/>
          <a:lstStyle/>
          <a:p>
            <a:endParaRPr lang="en-PK"/>
          </a:p>
        </p:txBody>
      </p:sp>
      <p:sp>
        <p:nvSpPr>
          <p:cNvPr id="49" name="Text 46"/>
          <p:cNvSpPr txBox="1"/>
          <p:nvPr/>
        </p:nvSpPr>
        <p:spPr>
          <a:xfrm>
            <a:off x="10232136" y="5380330"/>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IDs are unique per project; the engineer decides each one: accept, edit, merge or reject.</a:t>
            </a:r>
            <a:endParaRPr lang="en-US" sz="1000" dirty="0"/>
          </a:p>
        </p:txBody>
      </p:sp>
      <p:sp>
        <p:nvSpPr>
          <p:cNvPr id="50" name="Text 47">
            <a:hlinkClick r:id="" action="ppaction://noaction"/>
          </p:cNvPr>
          <p:cNvSpPr/>
          <p:nvPr/>
        </p:nvSpPr>
        <p:spPr>
          <a:xfrm>
            <a:off x="6787591"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51" name="Text 48">
            <a:hlinkClick r:id="rId4" action="ppaction://hlinksldjump" tooltip="Contents"/>
          </p:cNvPr>
          <p:cNvSpPr/>
          <p:nvPr/>
        </p:nvSpPr>
        <p:spPr>
          <a:xfrm>
            <a:off x="7765999"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52" name="Text 49">
            <a:hlinkClick r:id="rId5" action="ppaction://hlinksldjump" tooltip="Module"/>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Module">
                  <a:extLst>
                    <a:ext uri="{A12FA001-AC4F-418D-AE19-62706E023703}">
                      <ahyp:hlinkClr xmlns:ahyp="http://schemas.microsoft.com/office/drawing/2018/hyperlinkcolor" val="tx"/>
                    </a:ext>
                  </a:extLst>
                </a:hlinkClick>
              </a:rPr>
              <a:t>Module</a:t>
            </a:r>
            <a:endParaRPr lang="en-US" sz="1100" dirty="0"/>
          </a:p>
        </p:txBody>
      </p:sp>
      <p:sp>
        <p:nvSpPr>
          <p:cNvPr id="53" name="Text 50">
            <a:hlinkClick r:id="rId6" action="ppaction://hlinksldjump" tooltip="Use case"/>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Use case">
                  <a:extLst>
                    <a:ext uri="{A12FA001-AC4F-418D-AE19-62706E023703}">
                      <ahyp:hlinkClr xmlns:ahyp="http://schemas.microsoft.com/office/drawing/2018/hyperlinkcolor" val="tx"/>
                    </a:ext>
                  </a:extLst>
                </a:hlinkClick>
              </a:rPr>
              <a:t>Use case</a:t>
            </a:r>
            <a:endParaRPr lang="en-US" sz="1100" dirty="0"/>
          </a:p>
        </p:txBody>
      </p:sp>
      <p:sp>
        <p:nvSpPr>
          <p:cNvPr id="54" name="Text 51">
            <a:hlinkClick r:id="rId7"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47120" cy="502920"/>
          </a:xfrm>
          <a:prstGeom prst="rect">
            <a:avLst/>
          </a:prstGeom>
          <a:noFill/>
          <a:ln/>
        </p:spPr>
        <p:txBody>
          <a:bodyPr wrap="square" lIns="0" tIns="0" rIns="0" bIns="0" rtlCol="0" anchor="t"/>
          <a:lstStyle/>
          <a:p>
            <a:pPr marL="0" indent="0">
              <a:buNone/>
            </a:pPr>
            <a:r>
              <a:rPr lang="en-US" sz="2600" b="1" dirty="0">
                <a:solidFill>
                  <a:srgbClr val="4B1FA0"/>
                </a:solidFill>
                <a:latin typeface="Calibri" pitchFamily="34" charset="0"/>
                <a:ea typeface="Calibri" pitchFamily="34" charset="-122"/>
                <a:cs typeface="Calibri" pitchFamily="34" charset="-120"/>
              </a:rPr>
              <a:t>W-09 – </a:t>
            </a:r>
            <a:r>
              <a:rPr lang="en-US" sz="2600" b="1" dirty="0">
                <a:solidFill>
                  <a:srgbClr val="2B0B5E"/>
                </a:solidFill>
                <a:latin typeface="Calibri" pitchFamily="34" charset="0"/>
                <a:ea typeface="Calibri" pitchFamily="34" charset="-122"/>
                <a:cs typeface="Calibri" pitchFamily="34" charset="-120"/>
              </a:rPr>
              <a:t>Requirement Registry</a:t>
            </a:r>
            <a:endParaRPr lang="en-US" sz="2600" dirty="0"/>
          </a:p>
        </p:txBody>
      </p:sp>
      <p:sp>
        <p:nvSpPr>
          <p:cNvPr id="3" name="Text 1"/>
          <p:cNvSpPr txBox="1"/>
          <p:nvPr/>
        </p:nvSpPr>
        <p:spPr>
          <a:xfrm>
            <a:off x="457200" y="777240"/>
            <a:ext cx="11247120" cy="384048"/>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Every extracted requirement gets an ID; the engineer accepts, edits, merges or rejects it.</a:t>
            </a:r>
            <a:endParaRPr lang="en-US" sz="13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33</a:t>
            </a:r>
            <a:endParaRPr lang="en-US" sz="1000" dirty="0"/>
          </a:p>
        </p:txBody>
      </p:sp>
      <p:sp>
        <p:nvSpPr>
          <p:cNvPr id="5" name="Shape 3"/>
          <p:cNvSpPr/>
          <p:nvPr/>
        </p:nvSpPr>
        <p:spPr>
          <a:xfrm>
            <a:off x="429768" y="1271016"/>
            <a:ext cx="6377027" cy="4398264"/>
          </a:xfrm>
          <a:prstGeom prst="rect">
            <a:avLst/>
          </a:prstGeom>
          <a:solidFill>
            <a:srgbClr val="FFFFFF"/>
          </a:solidFill>
          <a:ln w="12700">
            <a:solidFill>
              <a:srgbClr val="E6E5EC"/>
            </a:solidFill>
            <a:prstDash val="solid"/>
          </a:ln>
        </p:spPr>
        <p:txBody>
          <a:bodyPr/>
          <a:lstStyle/>
          <a:p>
            <a:endParaRPr lang="en-PK"/>
          </a:p>
        </p:txBody>
      </p:sp>
      <p:pic>
        <p:nvPicPr>
          <p:cNvPr id="6" name="Image 0" descr="Requirement Registry mockup"/>
          <p:cNvPicPr>
            <a:picLocks noChangeAspect="1"/>
          </p:cNvPicPr>
          <p:nvPr/>
        </p:nvPicPr>
        <p:blipFill>
          <a:blip r:embed="rId3"/>
          <a:stretch>
            <a:fillRect/>
          </a:stretch>
        </p:blipFill>
        <p:spPr>
          <a:xfrm>
            <a:off x="457200" y="1298448"/>
            <a:ext cx="6322163" cy="4343400"/>
          </a:xfrm>
          <a:prstGeom prst="rect">
            <a:avLst/>
          </a:prstGeom>
        </p:spPr>
      </p:pic>
      <p:sp>
        <p:nvSpPr>
          <p:cNvPr id="7" name="Shape 4"/>
          <p:cNvSpPr/>
          <p:nvPr/>
        </p:nvSpPr>
        <p:spPr>
          <a:xfrm>
            <a:off x="1682119" y="2083573"/>
            <a:ext cx="1196382" cy="482943"/>
          </a:xfrm>
          <a:prstGeom prst="rect">
            <a:avLst/>
          </a:prstGeom>
          <a:solidFill>
            <a:srgbClr val="E5484D">
              <a:alpha val="12000"/>
            </a:srgbClr>
          </a:solidFill>
          <a:ln w="22225">
            <a:solidFill>
              <a:srgbClr val="E5484D"/>
            </a:solidFill>
            <a:prstDash val="solid"/>
          </a:ln>
        </p:spPr>
        <p:txBody>
          <a:bodyPr/>
          <a:lstStyle/>
          <a:p>
            <a:endParaRPr lang="en-PK"/>
          </a:p>
        </p:txBody>
      </p:sp>
      <p:sp>
        <p:nvSpPr>
          <p:cNvPr id="8" name="Text 5"/>
          <p:cNvSpPr/>
          <p:nvPr/>
        </p:nvSpPr>
        <p:spPr>
          <a:xfrm>
            <a:off x="1407799" y="2201601"/>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Shape 6"/>
          <p:cNvSpPr/>
          <p:nvPr/>
        </p:nvSpPr>
        <p:spPr>
          <a:xfrm>
            <a:off x="2432876" y="5363058"/>
            <a:ext cx="972197" cy="116345"/>
          </a:xfrm>
          <a:prstGeom prst="rect">
            <a:avLst/>
          </a:prstGeom>
          <a:solidFill>
            <a:srgbClr val="E5484D">
              <a:alpha val="12000"/>
            </a:srgbClr>
          </a:solidFill>
          <a:ln w="22225">
            <a:solidFill>
              <a:srgbClr val="E5484D"/>
            </a:solidFill>
            <a:prstDash val="solid"/>
          </a:ln>
        </p:spPr>
        <p:txBody>
          <a:bodyPr/>
          <a:lstStyle/>
          <a:p>
            <a:endParaRPr lang="en-PK"/>
          </a:p>
        </p:txBody>
      </p:sp>
      <p:sp>
        <p:nvSpPr>
          <p:cNvPr id="10" name="Text 7"/>
          <p:cNvSpPr/>
          <p:nvPr/>
        </p:nvSpPr>
        <p:spPr>
          <a:xfrm>
            <a:off x="2158556" y="5297787"/>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Text 8"/>
          <p:cNvSpPr txBox="1"/>
          <p:nvPr/>
        </p:nvSpPr>
        <p:spPr>
          <a:xfrm>
            <a:off x="457200" y="5760720"/>
            <a:ext cx="6720840" cy="457200"/>
          </a:xfrm>
          <a:prstGeom prst="rect">
            <a:avLst/>
          </a:prstGeom>
          <a:solidFill>
            <a:srgbClr val="FFFFFF"/>
          </a:solidFill>
          <a:ln w="9525">
            <a:solidFill>
              <a:srgbClr val="E6E5EC"/>
            </a:solidFill>
          </a:ln>
        </p:spPr>
        <p:txBody>
          <a:bodyPr wrap="square" lIns="50800" tIns="127000" rIns="127000" bIns="5080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Use case: </a:t>
            </a:r>
            <a:r>
              <a:rPr lang="en-US" sz="1050" dirty="0">
                <a:solidFill>
                  <a:srgbClr val="1A1A22"/>
                </a:solidFill>
                <a:latin typeface="Calibri" pitchFamily="34" charset="0"/>
                <a:ea typeface="Calibri" pitchFamily="34" charset="-122"/>
                <a:cs typeface="Calibri" pitchFamily="34" charset="-120"/>
              </a:rPr>
              <a:t>Extract Requirements   </a:t>
            </a:r>
            <a:r>
              <a:rPr lang="en-US" sz="1050" dirty="0">
                <a:solidFill>
                  <a:srgbClr val="C9B6F2"/>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rule from the SRS  </a:t>
            </a:r>
            <a:r>
              <a:rPr lang="en-US" sz="1050" dirty="0">
                <a:solidFill>
                  <a:srgbClr val="BDBDC8"/>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condition stated in the FR</a:t>
            </a:r>
            <a:endParaRPr lang="en-US" sz="1050" dirty="0"/>
          </a:p>
        </p:txBody>
      </p:sp>
      <p:sp>
        <p:nvSpPr>
          <p:cNvPr id="12" name="Text 9"/>
          <p:cNvSpPr txBox="1"/>
          <p:nvPr/>
        </p:nvSpPr>
        <p:spPr>
          <a:xfrm>
            <a:off x="7717536" y="1298448"/>
            <a:ext cx="2331720"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FUNCTIONAL REQUIREMENT</a:t>
            </a:r>
            <a:endParaRPr lang="en-US" sz="1000" dirty="0"/>
          </a:p>
        </p:txBody>
      </p:sp>
      <p:sp>
        <p:nvSpPr>
          <p:cNvPr id="13" name="Text 10"/>
          <p:cNvSpPr txBox="1"/>
          <p:nvPr/>
        </p:nvSpPr>
        <p:spPr>
          <a:xfrm>
            <a:off x="10140696" y="1298448"/>
            <a:ext cx="1593799"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BUSINESS RULE</a:t>
            </a:r>
            <a:endParaRPr lang="en-US" sz="1000" dirty="0"/>
          </a:p>
        </p:txBody>
      </p:sp>
      <p:sp>
        <p:nvSpPr>
          <p:cNvPr id="14" name="Text 11"/>
          <p:cNvSpPr/>
          <p:nvPr/>
        </p:nvSpPr>
        <p:spPr>
          <a:xfrm>
            <a:off x="7406640" y="164592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5" name="Shape 12"/>
          <p:cNvSpPr/>
          <p:nvPr/>
        </p:nvSpPr>
        <p:spPr>
          <a:xfrm>
            <a:off x="7717536" y="1591056"/>
            <a:ext cx="2331720" cy="960120"/>
          </a:xfrm>
          <a:prstGeom prst="roundRect">
            <a:avLst>
              <a:gd name="adj" fmla="val 5714"/>
            </a:avLst>
          </a:prstGeom>
          <a:solidFill>
            <a:srgbClr val="FFFFFF"/>
          </a:solidFill>
          <a:ln w="12700">
            <a:solidFill>
              <a:srgbClr val="E6E5EC"/>
            </a:solidFill>
            <a:prstDash val="solid"/>
          </a:ln>
        </p:spPr>
        <p:txBody>
          <a:bodyPr/>
          <a:lstStyle/>
          <a:p>
            <a:endParaRPr lang="en-PK"/>
          </a:p>
        </p:txBody>
      </p:sp>
      <p:sp>
        <p:nvSpPr>
          <p:cNvPr id="16" name="Shape 13"/>
          <p:cNvSpPr/>
          <p:nvPr/>
        </p:nvSpPr>
        <p:spPr>
          <a:xfrm>
            <a:off x="7717536" y="1591056"/>
            <a:ext cx="54864" cy="960120"/>
          </a:xfrm>
          <a:prstGeom prst="rect">
            <a:avLst/>
          </a:prstGeom>
          <a:solidFill>
            <a:srgbClr val="4B1FA0"/>
          </a:solidFill>
          <a:ln/>
        </p:spPr>
        <p:txBody>
          <a:bodyPr/>
          <a:lstStyle/>
          <a:p>
            <a:endParaRPr lang="en-PK"/>
          </a:p>
        </p:txBody>
      </p:sp>
      <p:sp>
        <p:nvSpPr>
          <p:cNvPr id="17" name="Text 14"/>
          <p:cNvSpPr txBox="1"/>
          <p:nvPr/>
        </p:nvSpPr>
        <p:spPr>
          <a:xfrm>
            <a:off x="7845552" y="1591056"/>
            <a:ext cx="2148840" cy="960120"/>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FR-1.10</a:t>
            </a:r>
            <a:r>
              <a:rPr lang="en-US" sz="1050" b="1" dirty="0">
                <a:solidFill>
                  <a:srgbClr val="2B0B5E"/>
                </a:solidFill>
                <a:latin typeface="Calibri" pitchFamily="34" charset="0"/>
                <a:ea typeface="Calibri" pitchFamily="34" charset="-122"/>
                <a:cs typeface="Calibri" pitchFamily="34" charset="-120"/>
              </a:rPr>
              <a:t> · Requirement Registry</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Each requirement gets an ID; accept, edit, merge, reject</a:t>
            </a:r>
            <a:endParaRPr lang="en-US" sz="1050" dirty="0"/>
          </a:p>
        </p:txBody>
      </p:sp>
      <p:sp>
        <p:nvSpPr>
          <p:cNvPr id="18" name="Shape 15"/>
          <p:cNvSpPr/>
          <p:nvPr/>
        </p:nvSpPr>
        <p:spPr>
          <a:xfrm>
            <a:off x="10140696" y="1591056"/>
            <a:ext cx="1593799" cy="960120"/>
          </a:xfrm>
          <a:prstGeom prst="roundRect">
            <a:avLst>
              <a:gd name="adj" fmla="val 5714"/>
            </a:avLst>
          </a:prstGeom>
          <a:solidFill>
            <a:srgbClr val="ECECF1"/>
          </a:solidFill>
          <a:ln/>
        </p:spPr>
        <p:txBody>
          <a:bodyPr/>
          <a:lstStyle/>
          <a:p>
            <a:endParaRPr lang="en-PK"/>
          </a:p>
        </p:txBody>
      </p:sp>
      <p:sp>
        <p:nvSpPr>
          <p:cNvPr id="19" name="Text 16"/>
          <p:cNvSpPr txBox="1"/>
          <p:nvPr/>
        </p:nvSpPr>
        <p:spPr>
          <a:xfrm>
            <a:off x="10232136" y="1591056"/>
            <a:ext cx="1429207" cy="960120"/>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IDs are unique per project; the engineer decides each one: accept, edit, merge or reject.</a:t>
            </a:r>
            <a:endParaRPr lang="en-US" sz="1000" dirty="0"/>
          </a:p>
        </p:txBody>
      </p:sp>
      <p:sp>
        <p:nvSpPr>
          <p:cNvPr id="20" name="Text 17"/>
          <p:cNvSpPr/>
          <p:nvPr/>
        </p:nvSpPr>
        <p:spPr>
          <a:xfrm>
            <a:off x="7406640" y="269748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1" name="Shape 18"/>
          <p:cNvSpPr/>
          <p:nvPr/>
        </p:nvSpPr>
        <p:spPr>
          <a:xfrm>
            <a:off x="7717536" y="2642616"/>
            <a:ext cx="2331720" cy="960120"/>
          </a:xfrm>
          <a:prstGeom prst="roundRect">
            <a:avLst>
              <a:gd name="adj" fmla="val 5714"/>
            </a:avLst>
          </a:prstGeom>
          <a:solidFill>
            <a:srgbClr val="FFFFFF"/>
          </a:solidFill>
          <a:ln w="12700">
            <a:solidFill>
              <a:srgbClr val="E6E5EC"/>
            </a:solidFill>
            <a:prstDash val="solid"/>
          </a:ln>
        </p:spPr>
        <p:txBody>
          <a:bodyPr/>
          <a:lstStyle/>
          <a:p>
            <a:endParaRPr lang="en-PK"/>
          </a:p>
        </p:txBody>
      </p:sp>
      <p:sp>
        <p:nvSpPr>
          <p:cNvPr id="22" name="Shape 19"/>
          <p:cNvSpPr/>
          <p:nvPr/>
        </p:nvSpPr>
        <p:spPr>
          <a:xfrm>
            <a:off x="7717536" y="2642616"/>
            <a:ext cx="54864" cy="960120"/>
          </a:xfrm>
          <a:prstGeom prst="rect">
            <a:avLst/>
          </a:prstGeom>
          <a:solidFill>
            <a:srgbClr val="4B1FA0"/>
          </a:solidFill>
          <a:ln/>
        </p:spPr>
        <p:txBody>
          <a:bodyPr/>
          <a:lstStyle/>
          <a:p>
            <a:endParaRPr lang="en-PK"/>
          </a:p>
        </p:txBody>
      </p:sp>
      <p:sp>
        <p:nvSpPr>
          <p:cNvPr id="23" name="Text 20"/>
          <p:cNvSpPr txBox="1"/>
          <p:nvPr/>
        </p:nvSpPr>
        <p:spPr>
          <a:xfrm>
            <a:off x="7845552" y="2642616"/>
            <a:ext cx="2148840" cy="960120"/>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FR-1.11</a:t>
            </a:r>
            <a:r>
              <a:rPr lang="en-US" sz="1050" b="1" dirty="0">
                <a:solidFill>
                  <a:srgbClr val="2B0B5E"/>
                </a:solidFill>
                <a:latin typeface="Calibri" pitchFamily="34" charset="0"/>
                <a:ea typeface="Calibri" pitchFamily="34" charset="-122"/>
                <a:cs typeface="Calibri" pitchFamily="34" charset="-120"/>
              </a:rPr>
              <a:t> · Vague/Duplicate Flags</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Flags vague or duplicate requirements (optional)</a:t>
            </a:r>
            <a:endParaRPr lang="en-US" sz="1050" dirty="0"/>
          </a:p>
        </p:txBody>
      </p:sp>
      <p:sp>
        <p:nvSpPr>
          <p:cNvPr id="24" name="Shape 21"/>
          <p:cNvSpPr/>
          <p:nvPr/>
        </p:nvSpPr>
        <p:spPr>
          <a:xfrm>
            <a:off x="10140696" y="2642616"/>
            <a:ext cx="1593799" cy="960120"/>
          </a:xfrm>
          <a:prstGeom prst="roundRect">
            <a:avLst>
              <a:gd name="adj" fmla="val 5714"/>
            </a:avLst>
          </a:prstGeom>
          <a:solidFill>
            <a:srgbClr val="EFE7FB"/>
          </a:solidFill>
          <a:ln/>
        </p:spPr>
        <p:txBody>
          <a:bodyPr/>
          <a:lstStyle/>
          <a:p>
            <a:endParaRPr lang="en-PK"/>
          </a:p>
        </p:txBody>
      </p:sp>
      <p:sp>
        <p:nvSpPr>
          <p:cNvPr id="25" name="Text 22"/>
          <p:cNvSpPr txBox="1"/>
          <p:nvPr/>
        </p:nvSpPr>
        <p:spPr>
          <a:xfrm>
            <a:off x="10232136" y="2642616"/>
            <a:ext cx="1429207" cy="960120"/>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Optional feature. Flags are advice only; the engineer decides.</a:t>
            </a:r>
            <a:endParaRPr lang="en-US" sz="1000" dirty="0"/>
          </a:p>
        </p:txBody>
      </p:sp>
      <p:sp>
        <p:nvSpPr>
          <p:cNvPr id="26" name="Text 23">
            <a:hlinkClick r:id="" action="ppaction://noaction"/>
          </p:cNvPr>
          <p:cNvSpPr/>
          <p:nvPr/>
        </p:nvSpPr>
        <p:spPr>
          <a:xfrm>
            <a:off x="6787591"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27" name="Text 24">
            <a:hlinkClick r:id="rId4" action="ppaction://hlinksldjump" tooltip="Contents"/>
          </p:cNvPr>
          <p:cNvSpPr/>
          <p:nvPr/>
        </p:nvSpPr>
        <p:spPr>
          <a:xfrm>
            <a:off x="7765999"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28" name="Text 25">
            <a:hlinkClick r:id="rId5" action="ppaction://hlinksldjump" tooltip="Module"/>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Module">
                  <a:extLst>
                    <a:ext uri="{A12FA001-AC4F-418D-AE19-62706E023703}">
                      <ahyp:hlinkClr xmlns:ahyp="http://schemas.microsoft.com/office/drawing/2018/hyperlinkcolor" val="tx"/>
                    </a:ext>
                  </a:extLst>
                </a:hlinkClick>
              </a:rPr>
              <a:t>Module</a:t>
            </a:r>
            <a:endParaRPr lang="en-US" sz="1100" dirty="0"/>
          </a:p>
        </p:txBody>
      </p:sp>
      <p:sp>
        <p:nvSpPr>
          <p:cNvPr id="29" name="Text 26">
            <a:hlinkClick r:id="rId6" action="ppaction://hlinksldjump" tooltip="Use case"/>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Use case">
                  <a:extLst>
                    <a:ext uri="{A12FA001-AC4F-418D-AE19-62706E023703}">
                      <ahyp:hlinkClr xmlns:ahyp="http://schemas.microsoft.com/office/drawing/2018/hyperlinkcolor" val="tx"/>
                    </a:ext>
                  </a:extLst>
                </a:hlinkClick>
              </a:rPr>
              <a:t>Use case</a:t>
            </a:r>
            <a:endParaRPr lang="en-US" sz="1100" dirty="0"/>
          </a:p>
        </p:txBody>
      </p:sp>
      <p:sp>
        <p:nvSpPr>
          <p:cNvPr id="30" name="Text 27">
            <a:hlinkClick r:id="rId7"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47120" cy="502920"/>
          </a:xfrm>
          <a:prstGeom prst="rect">
            <a:avLst/>
          </a:prstGeom>
          <a:noFill/>
          <a:ln/>
        </p:spPr>
        <p:txBody>
          <a:bodyPr wrap="square" lIns="0" tIns="0" rIns="0" bIns="0" rtlCol="0" anchor="t"/>
          <a:lstStyle/>
          <a:p>
            <a:pPr marL="0" indent="0">
              <a:buNone/>
            </a:pPr>
            <a:r>
              <a:rPr lang="en-US" sz="2600" b="1" dirty="0">
                <a:solidFill>
                  <a:srgbClr val="4B1FA0"/>
                </a:solidFill>
                <a:latin typeface="Calibri" pitchFamily="34" charset="0"/>
                <a:ea typeface="Calibri" pitchFamily="34" charset="-122"/>
                <a:cs typeface="Calibri" pitchFamily="34" charset="-120"/>
              </a:rPr>
              <a:t>W-11 – </a:t>
            </a:r>
            <a:r>
              <a:rPr lang="en-US" sz="2600" b="1" dirty="0">
                <a:solidFill>
                  <a:srgbClr val="2B0B5E"/>
                </a:solidFill>
                <a:latin typeface="Calibri" pitchFamily="34" charset="0"/>
                <a:ea typeface="Calibri" pitchFamily="34" charset="-122"/>
                <a:cs typeface="Calibri" pitchFamily="34" charset="-120"/>
              </a:rPr>
              <a:t>Submission Checklist</a:t>
            </a:r>
            <a:endParaRPr lang="en-US" sz="2600" dirty="0"/>
          </a:p>
        </p:txBody>
      </p:sp>
      <p:sp>
        <p:nvSpPr>
          <p:cNvPr id="3" name="Text 1"/>
          <p:cNvSpPr txBox="1"/>
          <p:nvPr/>
        </p:nvSpPr>
        <p:spPr>
          <a:xfrm>
            <a:off x="457200" y="777240"/>
            <a:ext cx="11247120" cy="384048"/>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All documents the RFP asks for, marked mandatory or optional; tick an item and attach its file.</a:t>
            </a:r>
            <a:endParaRPr lang="en-US" sz="13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34</a:t>
            </a:r>
            <a:endParaRPr lang="en-US" sz="1000" dirty="0"/>
          </a:p>
        </p:txBody>
      </p:sp>
      <p:sp>
        <p:nvSpPr>
          <p:cNvPr id="5" name="Shape 3"/>
          <p:cNvSpPr/>
          <p:nvPr/>
        </p:nvSpPr>
        <p:spPr>
          <a:xfrm>
            <a:off x="429768" y="1271016"/>
            <a:ext cx="6127098" cy="4398264"/>
          </a:xfrm>
          <a:prstGeom prst="rect">
            <a:avLst/>
          </a:prstGeom>
          <a:solidFill>
            <a:srgbClr val="FFFFFF"/>
          </a:solidFill>
          <a:ln w="12700">
            <a:solidFill>
              <a:srgbClr val="E6E5EC"/>
            </a:solidFill>
            <a:prstDash val="solid"/>
          </a:ln>
        </p:spPr>
        <p:txBody>
          <a:bodyPr/>
          <a:lstStyle/>
          <a:p>
            <a:endParaRPr lang="en-PK"/>
          </a:p>
        </p:txBody>
      </p:sp>
      <p:pic>
        <p:nvPicPr>
          <p:cNvPr id="6" name="Image 0" descr="Submission Checklist mockup"/>
          <p:cNvPicPr>
            <a:picLocks noChangeAspect="1"/>
          </p:cNvPicPr>
          <p:nvPr/>
        </p:nvPicPr>
        <p:blipFill>
          <a:blip r:embed="rId3"/>
          <a:stretch>
            <a:fillRect/>
          </a:stretch>
        </p:blipFill>
        <p:spPr>
          <a:xfrm>
            <a:off x="457200" y="1298448"/>
            <a:ext cx="6072234" cy="4343400"/>
          </a:xfrm>
          <a:prstGeom prst="rect">
            <a:avLst/>
          </a:prstGeom>
        </p:spPr>
      </p:pic>
      <p:sp>
        <p:nvSpPr>
          <p:cNvPr id="7" name="Shape 4"/>
          <p:cNvSpPr/>
          <p:nvPr/>
        </p:nvSpPr>
        <p:spPr>
          <a:xfrm>
            <a:off x="1730682" y="2682095"/>
            <a:ext cx="909451" cy="129206"/>
          </a:xfrm>
          <a:prstGeom prst="rect">
            <a:avLst/>
          </a:prstGeom>
          <a:solidFill>
            <a:srgbClr val="E5484D">
              <a:alpha val="12000"/>
            </a:srgbClr>
          </a:solidFill>
          <a:ln w="22225">
            <a:solidFill>
              <a:srgbClr val="E5484D"/>
            </a:solidFill>
            <a:prstDash val="solid"/>
          </a:ln>
        </p:spPr>
        <p:txBody>
          <a:bodyPr/>
          <a:lstStyle/>
          <a:p>
            <a:endParaRPr lang="en-PK"/>
          </a:p>
        </p:txBody>
      </p:sp>
      <p:sp>
        <p:nvSpPr>
          <p:cNvPr id="8" name="Text 5"/>
          <p:cNvSpPr/>
          <p:nvPr/>
        </p:nvSpPr>
        <p:spPr>
          <a:xfrm>
            <a:off x="1456362" y="2623254"/>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Shape 6"/>
          <p:cNvSpPr/>
          <p:nvPr/>
        </p:nvSpPr>
        <p:spPr>
          <a:xfrm>
            <a:off x="3492856" y="3134350"/>
            <a:ext cx="400006" cy="111746"/>
          </a:xfrm>
          <a:prstGeom prst="rect">
            <a:avLst/>
          </a:prstGeom>
          <a:solidFill>
            <a:srgbClr val="E5484D">
              <a:alpha val="12000"/>
            </a:srgbClr>
          </a:solidFill>
          <a:ln w="22225">
            <a:solidFill>
              <a:srgbClr val="E5484D"/>
            </a:solidFill>
            <a:prstDash val="solid"/>
          </a:ln>
        </p:spPr>
        <p:txBody>
          <a:bodyPr/>
          <a:lstStyle/>
          <a:p>
            <a:endParaRPr lang="en-PK"/>
          </a:p>
        </p:txBody>
      </p:sp>
      <p:sp>
        <p:nvSpPr>
          <p:cNvPr id="10" name="Text 7"/>
          <p:cNvSpPr/>
          <p:nvPr/>
        </p:nvSpPr>
        <p:spPr>
          <a:xfrm>
            <a:off x="3218536" y="3066779"/>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Shape 8"/>
          <p:cNvSpPr/>
          <p:nvPr/>
        </p:nvSpPr>
        <p:spPr>
          <a:xfrm>
            <a:off x="4194958" y="2904533"/>
            <a:ext cx="956298" cy="189757"/>
          </a:xfrm>
          <a:prstGeom prst="rect">
            <a:avLst/>
          </a:prstGeom>
          <a:solidFill>
            <a:srgbClr val="E5484D">
              <a:alpha val="12000"/>
            </a:srgbClr>
          </a:solidFill>
          <a:ln w="22225">
            <a:solidFill>
              <a:srgbClr val="E5484D"/>
            </a:solidFill>
            <a:prstDash val="solid"/>
          </a:ln>
        </p:spPr>
        <p:txBody>
          <a:bodyPr/>
          <a:lstStyle/>
          <a:p>
            <a:endParaRPr lang="en-PK"/>
          </a:p>
        </p:txBody>
      </p:sp>
      <p:sp>
        <p:nvSpPr>
          <p:cNvPr id="12" name="Text 9"/>
          <p:cNvSpPr/>
          <p:nvPr/>
        </p:nvSpPr>
        <p:spPr>
          <a:xfrm>
            <a:off x="3920638" y="2875967"/>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3" name="Shape 10"/>
          <p:cNvSpPr/>
          <p:nvPr/>
        </p:nvSpPr>
        <p:spPr>
          <a:xfrm>
            <a:off x="6097011" y="3134350"/>
            <a:ext cx="230015" cy="96987"/>
          </a:xfrm>
          <a:prstGeom prst="rect">
            <a:avLst/>
          </a:prstGeom>
          <a:solidFill>
            <a:srgbClr val="E5484D">
              <a:alpha val="12000"/>
            </a:srgbClr>
          </a:solidFill>
          <a:ln w="22225">
            <a:solidFill>
              <a:srgbClr val="E5484D"/>
            </a:solidFill>
            <a:prstDash val="solid"/>
          </a:ln>
        </p:spPr>
        <p:txBody>
          <a:bodyPr/>
          <a:lstStyle/>
          <a:p>
            <a:endParaRPr lang="en-PK"/>
          </a:p>
        </p:txBody>
      </p:sp>
      <p:sp>
        <p:nvSpPr>
          <p:cNvPr id="14" name="Text 11"/>
          <p:cNvSpPr/>
          <p:nvPr/>
        </p:nvSpPr>
        <p:spPr>
          <a:xfrm>
            <a:off x="5822691" y="3059400"/>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5" name="Shape 12"/>
          <p:cNvSpPr/>
          <p:nvPr/>
        </p:nvSpPr>
        <p:spPr>
          <a:xfrm>
            <a:off x="1730682" y="2177196"/>
            <a:ext cx="765816" cy="129206"/>
          </a:xfrm>
          <a:prstGeom prst="rect">
            <a:avLst/>
          </a:prstGeom>
          <a:solidFill>
            <a:srgbClr val="E5484D">
              <a:alpha val="12000"/>
            </a:srgbClr>
          </a:solidFill>
          <a:ln w="22225">
            <a:solidFill>
              <a:srgbClr val="E5484D"/>
            </a:solidFill>
            <a:prstDash val="solid"/>
          </a:ln>
        </p:spPr>
        <p:txBody>
          <a:bodyPr/>
          <a:lstStyle/>
          <a:p>
            <a:endParaRPr lang="en-PK"/>
          </a:p>
        </p:txBody>
      </p:sp>
      <p:sp>
        <p:nvSpPr>
          <p:cNvPr id="16" name="Text 13"/>
          <p:cNvSpPr/>
          <p:nvPr/>
        </p:nvSpPr>
        <p:spPr>
          <a:xfrm>
            <a:off x="1456362" y="2118355"/>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7" name="Shape 14"/>
          <p:cNvSpPr/>
          <p:nvPr/>
        </p:nvSpPr>
        <p:spPr>
          <a:xfrm>
            <a:off x="1916223" y="5356619"/>
            <a:ext cx="3600513" cy="129206"/>
          </a:xfrm>
          <a:prstGeom prst="rect">
            <a:avLst/>
          </a:prstGeom>
          <a:solidFill>
            <a:srgbClr val="E5484D">
              <a:alpha val="12000"/>
            </a:srgbClr>
          </a:solidFill>
          <a:ln w="22225">
            <a:solidFill>
              <a:srgbClr val="E5484D"/>
            </a:solidFill>
            <a:prstDash val="solid"/>
          </a:ln>
        </p:spPr>
        <p:txBody>
          <a:bodyPr/>
          <a:lstStyle/>
          <a:p>
            <a:endParaRPr lang="en-PK"/>
          </a:p>
        </p:txBody>
      </p:sp>
      <p:sp>
        <p:nvSpPr>
          <p:cNvPr id="18" name="Text 15"/>
          <p:cNvSpPr/>
          <p:nvPr/>
        </p:nvSpPr>
        <p:spPr>
          <a:xfrm>
            <a:off x="1641903" y="5297778"/>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19" name="Text 16"/>
          <p:cNvSpPr txBox="1"/>
          <p:nvPr/>
        </p:nvSpPr>
        <p:spPr>
          <a:xfrm>
            <a:off x="457200" y="5760720"/>
            <a:ext cx="6720840" cy="457200"/>
          </a:xfrm>
          <a:prstGeom prst="rect">
            <a:avLst/>
          </a:prstGeom>
          <a:solidFill>
            <a:srgbClr val="FFFFFF"/>
          </a:solidFill>
          <a:ln w="9525">
            <a:solidFill>
              <a:srgbClr val="E6E5EC"/>
            </a:solidFill>
          </a:ln>
        </p:spPr>
        <p:txBody>
          <a:bodyPr wrap="square" lIns="50800" tIns="127000" rIns="127000" bIns="5080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Use case: </a:t>
            </a:r>
            <a:r>
              <a:rPr lang="en-US" sz="1050" dirty="0">
                <a:solidFill>
                  <a:srgbClr val="1A1A22"/>
                </a:solidFill>
                <a:latin typeface="Calibri" pitchFamily="34" charset="0"/>
                <a:ea typeface="Calibri" pitchFamily="34" charset="-122"/>
                <a:cs typeface="Calibri" pitchFamily="34" charset="-120"/>
              </a:rPr>
              <a:t>Manage Checklist (+ Extract Checklist Items)   </a:t>
            </a:r>
            <a:r>
              <a:rPr lang="en-US" sz="1050" dirty="0">
                <a:solidFill>
                  <a:srgbClr val="C9B6F2"/>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rule from the SRS  </a:t>
            </a:r>
            <a:r>
              <a:rPr lang="en-US" sz="1050" dirty="0">
                <a:solidFill>
                  <a:srgbClr val="BDBDC8"/>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condition stated in the FR</a:t>
            </a:r>
            <a:endParaRPr lang="en-US" sz="1050" dirty="0"/>
          </a:p>
        </p:txBody>
      </p:sp>
      <p:sp>
        <p:nvSpPr>
          <p:cNvPr id="20" name="Text 17"/>
          <p:cNvSpPr txBox="1"/>
          <p:nvPr/>
        </p:nvSpPr>
        <p:spPr>
          <a:xfrm>
            <a:off x="7717536" y="1298448"/>
            <a:ext cx="2331720"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FUNCTIONAL REQUIREMENT</a:t>
            </a:r>
            <a:endParaRPr lang="en-US" sz="1000" dirty="0"/>
          </a:p>
        </p:txBody>
      </p:sp>
      <p:sp>
        <p:nvSpPr>
          <p:cNvPr id="21" name="Text 18"/>
          <p:cNvSpPr txBox="1"/>
          <p:nvPr/>
        </p:nvSpPr>
        <p:spPr>
          <a:xfrm>
            <a:off x="10140696" y="1298448"/>
            <a:ext cx="1593799"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BUSINESS RULE</a:t>
            </a:r>
            <a:endParaRPr lang="en-US" sz="1000" dirty="0"/>
          </a:p>
        </p:txBody>
      </p:sp>
      <p:sp>
        <p:nvSpPr>
          <p:cNvPr id="22" name="Text 19"/>
          <p:cNvSpPr/>
          <p:nvPr/>
        </p:nvSpPr>
        <p:spPr>
          <a:xfrm>
            <a:off x="7406640" y="164592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23" name="Shape 20"/>
          <p:cNvSpPr/>
          <p:nvPr/>
        </p:nvSpPr>
        <p:spPr>
          <a:xfrm>
            <a:off x="7717536" y="1591056"/>
            <a:ext cx="2331720" cy="697992"/>
          </a:xfrm>
          <a:prstGeom prst="roundRect">
            <a:avLst>
              <a:gd name="adj" fmla="val 7860"/>
            </a:avLst>
          </a:prstGeom>
          <a:solidFill>
            <a:srgbClr val="FFFFFF"/>
          </a:solidFill>
          <a:ln w="12700">
            <a:solidFill>
              <a:srgbClr val="E6E5EC"/>
            </a:solidFill>
            <a:prstDash val="solid"/>
          </a:ln>
        </p:spPr>
        <p:txBody>
          <a:bodyPr/>
          <a:lstStyle/>
          <a:p>
            <a:endParaRPr lang="en-PK"/>
          </a:p>
        </p:txBody>
      </p:sp>
      <p:sp>
        <p:nvSpPr>
          <p:cNvPr id="24" name="Shape 21"/>
          <p:cNvSpPr/>
          <p:nvPr/>
        </p:nvSpPr>
        <p:spPr>
          <a:xfrm>
            <a:off x="7717536" y="1591056"/>
            <a:ext cx="54864" cy="697992"/>
          </a:xfrm>
          <a:prstGeom prst="rect">
            <a:avLst/>
          </a:prstGeom>
          <a:solidFill>
            <a:srgbClr val="4B1FA0"/>
          </a:solidFill>
          <a:ln/>
        </p:spPr>
        <p:txBody>
          <a:bodyPr/>
          <a:lstStyle/>
          <a:p>
            <a:endParaRPr lang="en-PK"/>
          </a:p>
        </p:txBody>
      </p:sp>
      <p:sp>
        <p:nvSpPr>
          <p:cNvPr id="25" name="Text 22"/>
          <p:cNvSpPr txBox="1"/>
          <p:nvPr/>
        </p:nvSpPr>
        <p:spPr>
          <a:xfrm>
            <a:off x="7845552" y="1591056"/>
            <a:ext cx="2148840" cy="697992"/>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FR-2.1</a:t>
            </a:r>
            <a:r>
              <a:rPr lang="en-US" sz="1050" b="1" dirty="0">
                <a:solidFill>
                  <a:srgbClr val="2B0B5E"/>
                </a:solidFill>
                <a:latin typeface="Calibri" pitchFamily="34" charset="0"/>
                <a:ea typeface="Calibri" pitchFamily="34" charset="-122"/>
                <a:cs typeface="Calibri" pitchFamily="34" charset="-120"/>
              </a:rPr>
              <a:t> · Checklist Item Extraction</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GPT-4o-mini lists every required submission document</a:t>
            </a:r>
            <a:endParaRPr lang="en-US" sz="1050" dirty="0"/>
          </a:p>
        </p:txBody>
      </p:sp>
      <p:sp>
        <p:nvSpPr>
          <p:cNvPr id="26" name="Shape 23"/>
          <p:cNvSpPr/>
          <p:nvPr/>
        </p:nvSpPr>
        <p:spPr>
          <a:xfrm>
            <a:off x="10140696" y="1591056"/>
            <a:ext cx="1593799" cy="697992"/>
          </a:xfrm>
          <a:prstGeom prst="roundRect">
            <a:avLst>
              <a:gd name="adj" fmla="val 7860"/>
            </a:avLst>
          </a:prstGeom>
          <a:solidFill>
            <a:srgbClr val="ECECF1"/>
          </a:solidFill>
          <a:ln/>
        </p:spPr>
        <p:txBody>
          <a:bodyPr/>
          <a:lstStyle/>
          <a:p>
            <a:endParaRPr lang="en-PK"/>
          </a:p>
        </p:txBody>
      </p:sp>
      <p:sp>
        <p:nvSpPr>
          <p:cNvPr id="27" name="Text 24"/>
          <p:cNvSpPr txBox="1"/>
          <p:nvPr/>
        </p:nvSpPr>
        <p:spPr>
          <a:xfrm>
            <a:off x="10232136" y="1591056"/>
            <a:ext cx="1429207" cy="697992"/>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Each item has a name, a mandatory flag and a team.</a:t>
            </a:r>
            <a:endParaRPr lang="en-US" sz="1000" dirty="0"/>
          </a:p>
        </p:txBody>
      </p:sp>
      <p:sp>
        <p:nvSpPr>
          <p:cNvPr id="28" name="Text 25"/>
          <p:cNvSpPr/>
          <p:nvPr/>
        </p:nvSpPr>
        <p:spPr>
          <a:xfrm>
            <a:off x="7406640" y="2435352"/>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9" name="Shape 26"/>
          <p:cNvSpPr/>
          <p:nvPr/>
        </p:nvSpPr>
        <p:spPr>
          <a:xfrm>
            <a:off x="7717536" y="2380488"/>
            <a:ext cx="2331720" cy="697992"/>
          </a:xfrm>
          <a:prstGeom prst="roundRect">
            <a:avLst>
              <a:gd name="adj" fmla="val 7860"/>
            </a:avLst>
          </a:prstGeom>
          <a:solidFill>
            <a:srgbClr val="FFFFFF"/>
          </a:solidFill>
          <a:ln w="12700">
            <a:solidFill>
              <a:srgbClr val="E6E5EC"/>
            </a:solidFill>
            <a:prstDash val="solid"/>
          </a:ln>
        </p:spPr>
        <p:txBody>
          <a:bodyPr/>
          <a:lstStyle/>
          <a:p>
            <a:endParaRPr lang="en-PK"/>
          </a:p>
        </p:txBody>
      </p:sp>
      <p:sp>
        <p:nvSpPr>
          <p:cNvPr id="30" name="Shape 27"/>
          <p:cNvSpPr/>
          <p:nvPr/>
        </p:nvSpPr>
        <p:spPr>
          <a:xfrm>
            <a:off x="7717536" y="2380488"/>
            <a:ext cx="54864" cy="697992"/>
          </a:xfrm>
          <a:prstGeom prst="rect">
            <a:avLst/>
          </a:prstGeom>
          <a:solidFill>
            <a:srgbClr val="4B1FA0"/>
          </a:solidFill>
          <a:ln/>
        </p:spPr>
        <p:txBody>
          <a:bodyPr/>
          <a:lstStyle/>
          <a:p>
            <a:endParaRPr lang="en-PK"/>
          </a:p>
        </p:txBody>
      </p:sp>
      <p:sp>
        <p:nvSpPr>
          <p:cNvPr id="31" name="Text 28"/>
          <p:cNvSpPr txBox="1"/>
          <p:nvPr/>
        </p:nvSpPr>
        <p:spPr>
          <a:xfrm>
            <a:off x="7845552" y="2380488"/>
            <a:ext cx="2148840" cy="697992"/>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FR-2.2</a:t>
            </a:r>
            <a:r>
              <a:rPr lang="en-US" sz="1050" b="1" dirty="0">
                <a:solidFill>
                  <a:srgbClr val="2B0B5E"/>
                </a:solidFill>
                <a:latin typeface="Calibri" pitchFamily="34" charset="0"/>
                <a:ea typeface="Calibri" pitchFamily="34" charset="-122"/>
                <a:cs typeface="Calibri" pitchFamily="34" charset="-120"/>
              </a:rPr>
              <a:t> · Mandatory or Optional</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shall, must, should → mandatory; may → optional</a:t>
            </a:r>
            <a:endParaRPr lang="en-US" sz="1050" dirty="0"/>
          </a:p>
        </p:txBody>
      </p:sp>
      <p:sp>
        <p:nvSpPr>
          <p:cNvPr id="32" name="Shape 29"/>
          <p:cNvSpPr/>
          <p:nvPr/>
        </p:nvSpPr>
        <p:spPr>
          <a:xfrm>
            <a:off x="10140696" y="2380488"/>
            <a:ext cx="1593799" cy="697992"/>
          </a:xfrm>
          <a:prstGeom prst="roundRect">
            <a:avLst>
              <a:gd name="adj" fmla="val 7860"/>
            </a:avLst>
          </a:prstGeom>
          <a:solidFill>
            <a:srgbClr val="EFE7FB"/>
          </a:solidFill>
          <a:ln/>
        </p:spPr>
        <p:txBody>
          <a:bodyPr/>
          <a:lstStyle/>
          <a:p>
            <a:endParaRPr lang="en-PK"/>
          </a:p>
        </p:txBody>
      </p:sp>
      <p:sp>
        <p:nvSpPr>
          <p:cNvPr id="33" name="Text 30"/>
          <p:cNvSpPr txBox="1"/>
          <p:nvPr/>
        </p:nvSpPr>
        <p:spPr>
          <a:xfrm>
            <a:off x="10232136" y="2380488"/>
            <a:ext cx="1429207" cy="697992"/>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shall / must / should → mandatory; may → optional. Engineer can change it.</a:t>
            </a:r>
            <a:endParaRPr lang="en-US" sz="1000" dirty="0"/>
          </a:p>
        </p:txBody>
      </p:sp>
      <p:sp>
        <p:nvSpPr>
          <p:cNvPr id="34" name="Text 31"/>
          <p:cNvSpPr/>
          <p:nvPr/>
        </p:nvSpPr>
        <p:spPr>
          <a:xfrm>
            <a:off x="7406640" y="3224784"/>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35" name="Shape 32"/>
          <p:cNvSpPr/>
          <p:nvPr/>
        </p:nvSpPr>
        <p:spPr>
          <a:xfrm>
            <a:off x="7717536" y="3169920"/>
            <a:ext cx="2331720" cy="697992"/>
          </a:xfrm>
          <a:prstGeom prst="roundRect">
            <a:avLst>
              <a:gd name="adj" fmla="val 7860"/>
            </a:avLst>
          </a:prstGeom>
          <a:solidFill>
            <a:srgbClr val="FFFFFF"/>
          </a:solidFill>
          <a:ln w="12700">
            <a:solidFill>
              <a:srgbClr val="E6E5EC"/>
            </a:solidFill>
            <a:prstDash val="solid"/>
          </a:ln>
        </p:spPr>
        <p:txBody>
          <a:bodyPr/>
          <a:lstStyle/>
          <a:p>
            <a:endParaRPr lang="en-PK"/>
          </a:p>
        </p:txBody>
      </p:sp>
      <p:sp>
        <p:nvSpPr>
          <p:cNvPr id="36" name="Shape 33"/>
          <p:cNvSpPr/>
          <p:nvPr/>
        </p:nvSpPr>
        <p:spPr>
          <a:xfrm>
            <a:off x="7717536" y="3169920"/>
            <a:ext cx="54864" cy="697992"/>
          </a:xfrm>
          <a:prstGeom prst="rect">
            <a:avLst/>
          </a:prstGeom>
          <a:solidFill>
            <a:srgbClr val="4B1FA0"/>
          </a:solidFill>
          <a:ln/>
        </p:spPr>
        <p:txBody>
          <a:bodyPr/>
          <a:lstStyle/>
          <a:p>
            <a:endParaRPr lang="en-PK"/>
          </a:p>
        </p:txBody>
      </p:sp>
      <p:sp>
        <p:nvSpPr>
          <p:cNvPr id="37" name="Text 34"/>
          <p:cNvSpPr txBox="1"/>
          <p:nvPr/>
        </p:nvSpPr>
        <p:spPr>
          <a:xfrm>
            <a:off x="7845552" y="3169920"/>
            <a:ext cx="2148840" cy="697992"/>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FR-2.3</a:t>
            </a:r>
            <a:r>
              <a:rPr lang="en-US" sz="1050" b="1" dirty="0">
                <a:solidFill>
                  <a:srgbClr val="2B0B5E"/>
                </a:solidFill>
                <a:latin typeface="Calibri" pitchFamily="34" charset="0"/>
                <a:ea typeface="Calibri" pitchFamily="34" charset="-122"/>
                <a:cs typeface="Calibri" pitchFamily="34" charset="-120"/>
              </a:rPr>
              <a:t> · Responsible Team</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Assigns the presales, sales or finance team</a:t>
            </a:r>
            <a:endParaRPr lang="en-US" sz="1050" dirty="0"/>
          </a:p>
        </p:txBody>
      </p:sp>
      <p:sp>
        <p:nvSpPr>
          <p:cNvPr id="38" name="Shape 35"/>
          <p:cNvSpPr/>
          <p:nvPr/>
        </p:nvSpPr>
        <p:spPr>
          <a:xfrm>
            <a:off x="10140696" y="3169920"/>
            <a:ext cx="1593799" cy="697992"/>
          </a:xfrm>
          <a:prstGeom prst="roundRect">
            <a:avLst>
              <a:gd name="adj" fmla="val 7860"/>
            </a:avLst>
          </a:prstGeom>
          <a:solidFill>
            <a:srgbClr val="ECECF1"/>
          </a:solidFill>
          <a:ln/>
        </p:spPr>
        <p:txBody>
          <a:bodyPr/>
          <a:lstStyle/>
          <a:p>
            <a:endParaRPr lang="en-PK"/>
          </a:p>
        </p:txBody>
      </p:sp>
      <p:sp>
        <p:nvSpPr>
          <p:cNvPr id="39" name="Text 36"/>
          <p:cNvSpPr txBox="1"/>
          <p:nvPr/>
        </p:nvSpPr>
        <p:spPr>
          <a:xfrm>
            <a:off x="10232136" y="3169920"/>
            <a:ext cx="1429207" cy="697992"/>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Team is presales, sales or finance.</a:t>
            </a:r>
            <a:endParaRPr lang="en-US" sz="1000" dirty="0"/>
          </a:p>
        </p:txBody>
      </p:sp>
      <p:sp>
        <p:nvSpPr>
          <p:cNvPr id="40" name="Text 37"/>
          <p:cNvSpPr/>
          <p:nvPr/>
        </p:nvSpPr>
        <p:spPr>
          <a:xfrm>
            <a:off x="7406640" y="4014216"/>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41" name="Shape 38"/>
          <p:cNvSpPr/>
          <p:nvPr/>
        </p:nvSpPr>
        <p:spPr>
          <a:xfrm>
            <a:off x="7717536" y="3959352"/>
            <a:ext cx="2331720" cy="697992"/>
          </a:xfrm>
          <a:prstGeom prst="roundRect">
            <a:avLst>
              <a:gd name="adj" fmla="val 7860"/>
            </a:avLst>
          </a:prstGeom>
          <a:solidFill>
            <a:srgbClr val="FFFFFF"/>
          </a:solidFill>
          <a:ln w="12700">
            <a:solidFill>
              <a:srgbClr val="E6E5EC"/>
            </a:solidFill>
            <a:prstDash val="solid"/>
          </a:ln>
        </p:spPr>
        <p:txBody>
          <a:bodyPr/>
          <a:lstStyle/>
          <a:p>
            <a:endParaRPr lang="en-PK"/>
          </a:p>
        </p:txBody>
      </p:sp>
      <p:sp>
        <p:nvSpPr>
          <p:cNvPr id="42" name="Shape 39"/>
          <p:cNvSpPr/>
          <p:nvPr/>
        </p:nvSpPr>
        <p:spPr>
          <a:xfrm>
            <a:off x="7717536" y="3959352"/>
            <a:ext cx="54864" cy="697992"/>
          </a:xfrm>
          <a:prstGeom prst="rect">
            <a:avLst/>
          </a:prstGeom>
          <a:solidFill>
            <a:srgbClr val="4B1FA0"/>
          </a:solidFill>
          <a:ln/>
        </p:spPr>
        <p:txBody>
          <a:bodyPr/>
          <a:lstStyle/>
          <a:p>
            <a:endParaRPr lang="en-PK"/>
          </a:p>
        </p:txBody>
      </p:sp>
      <p:sp>
        <p:nvSpPr>
          <p:cNvPr id="43" name="Text 40"/>
          <p:cNvSpPr txBox="1"/>
          <p:nvPr/>
        </p:nvSpPr>
        <p:spPr>
          <a:xfrm>
            <a:off x="7845552" y="3959352"/>
            <a:ext cx="2148840" cy="697992"/>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FR-2.4</a:t>
            </a:r>
            <a:r>
              <a:rPr lang="en-US" sz="1050" b="1" dirty="0">
                <a:solidFill>
                  <a:srgbClr val="2B0B5E"/>
                </a:solidFill>
                <a:latin typeface="Calibri" pitchFamily="34" charset="0"/>
                <a:ea typeface="Calibri" pitchFamily="34" charset="-122"/>
                <a:cs typeface="Calibri" pitchFamily="34" charset="-120"/>
              </a:rPr>
              <a:t> · Checklist Tick-Off</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Mark an item collected and attach its file</a:t>
            </a:r>
            <a:endParaRPr lang="en-US" sz="1050" dirty="0"/>
          </a:p>
        </p:txBody>
      </p:sp>
      <p:sp>
        <p:nvSpPr>
          <p:cNvPr id="44" name="Shape 41"/>
          <p:cNvSpPr/>
          <p:nvPr/>
        </p:nvSpPr>
        <p:spPr>
          <a:xfrm>
            <a:off x="10140696" y="3959352"/>
            <a:ext cx="1593799" cy="697992"/>
          </a:xfrm>
          <a:prstGeom prst="roundRect">
            <a:avLst>
              <a:gd name="adj" fmla="val 7860"/>
            </a:avLst>
          </a:prstGeom>
          <a:solidFill>
            <a:srgbClr val="ECECF1"/>
          </a:solidFill>
          <a:ln/>
        </p:spPr>
        <p:txBody>
          <a:bodyPr/>
          <a:lstStyle/>
          <a:p>
            <a:endParaRPr lang="en-PK"/>
          </a:p>
        </p:txBody>
      </p:sp>
      <p:sp>
        <p:nvSpPr>
          <p:cNvPr id="45" name="Text 42"/>
          <p:cNvSpPr txBox="1"/>
          <p:nvPr/>
        </p:nvSpPr>
        <p:spPr>
          <a:xfrm>
            <a:off x="10232136" y="3959352"/>
            <a:ext cx="1429207" cy="697992"/>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Ticking an item attaches its file.</a:t>
            </a:r>
            <a:endParaRPr lang="en-US" sz="1000" dirty="0"/>
          </a:p>
        </p:txBody>
      </p:sp>
      <p:sp>
        <p:nvSpPr>
          <p:cNvPr id="46" name="Text 43"/>
          <p:cNvSpPr/>
          <p:nvPr/>
        </p:nvSpPr>
        <p:spPr>
          <a:xfrm>
            <a:off x="7406640" y="4803648"/>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47" name="Shape 44"/>
          <p:cNvSpPr/>
          <p:nvPr/>
        </p:nvSpPr>
        <p:spPr>
          <a:xfrm>
            <a:off x="7717536" y="4748784"/>
            <a:ext cx="2331720" cy="697992"/>
          </a:xfrm>
          <a:prstGeom prst="roundRect">
            <a:avLst>
              <a:gd name="adj" fmla="val 7860"/>
            </a:avLst>
          </a:prstGeom>
          <a:solidFill>
            <a:srgbClr val="FFFFFF"/>
          </a:solidFill>
          <a:ln w="12700">
            <a:solidFill>
              <a:srgbClr val="E6E5EC"/>
            </a:solidFill>
            <a:prstDash val="solid"/>
          </a:ln>
        </p:spPr>
        <p:txBody>
          <a:bodyPr/>
          <a:lstStyle/>
          <a:p>
            <a:endParaRPr lang="en-PK"/>
          </a:p>
        </p:txBody>
      </p:sp>
      <p:sp>
        <p:nvSpPr>
          <p:cNvPr id="48" name="Shape 45"/>
          <p:cNvSpPr/>
          <p:nvPr/>
        </p:nvSpPr>
        <p:spPr>
          <a:xfrm>
            <a:off x="7717536" y="4748784"/>
            <a:ext cx="54864" cy="697992"/>
          </a:xfrm>
          <a:prstGeom prst="rect">
            <a:avLst/>
          </a:prstGeom>
          <a:solidFill>
            <a:srgbClr val="4B1FA0"/>
          </a:solidFill>
          <a:ln/>
        </p:spPr>
        <p:txBody>
          <a:bodyPr/>
          <a:lstStyle/>
          <a:p>
            <a:endParaRPr lang="en-PK"/>
          </a:p>
        </p:txBody>
      </p:sp>
      <p:sp>
        <p:nvSpPr>
          <p:cNvPr id="49" name="Text 46"/>
          <p:cNvSpPr txBox="1"/>
          <p:nvPr/>
        </p:nvSpPr>
        <p:spPr>
          <a:xfrm>
            <a:off x="7845552" y="4748784"/>
            <a:ext cx="2148840" cy="697992"/>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FR-2.5</a:t>
            </a:r>
            <a:r>
              <a:rPr lang="en-US" sz="1050" b="1" dirty="0">
                <a:solidFill>
                  <a:srgbClr val="2B0B5E"/>
                </a:solidFill>
                <a:latin typeface="Calibri" pitchFamily="34" charset="0"/>
                <a:ea typeface="Calibri" pitchFamily="34" charset="-122"/>
                <a:cs typeface="Calibri" pitchFamily="34" charset="-120"/>
              </a:rPr>
              <a:t> · Collected Counter</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Live count of collected vs outstanding items</a:t>
            </a:r>
            <a:endParaRPr lang="en-US" sz="1050" dirty="0"/>
          </a:p>
        </p:txBody>
      </p:sp>
      <p:sp>
        <p:nvSpPr>
          <p:cNvPr id="50" name="Shape 47"/>
          <p:cNvSpPr/>
          <p:nvPr/>
        </p:nvSpPr>
        <p:spPr>
          <a:xfrm>
            <a:off x="10140696" y="4748784"/>
            <a:ext cx="1593799" cy="697992"/>
          </a:xfrm>
          <a:prstGeom prst="roundRect">
            <a:avLst>
              <a:gd name="adj" fmla="val 7860"/>
            </a:avLst>
          </a:prstGeom>
          <a:solidFill>
            <a:srgbClr val="ECECF1"/>
          </a:solidFill>
          <a:ln/>
        </p:spPr>
        <p:txBody>
          <a:bodyPr/>
          <a:lstStyle/>
          <a:p>
            <a:endParaRPr lang="en-PK"/>
          </a:p>
        </p:txBody>
      </p:sp>
      <p:sp>
        <p:nvSpPr>
          <p:cNvPr id="51" name="Text 48"/>
          <p:cNvSpPr txBox="1"/>
          <p:nvPr/>
        </p:nvSpPr>
        <p:spPr>
          <a:xfrm>
            <a:off x="10232136" y="4748784"/>
            <a:ext cx="1429207" cy="697992"/>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Counter updates on every tick-off.</a:t>
            </a:r>
            <a:endParaRPr lang="en-US" sz="1000" dirty="0"/>
          </a:p>
        </p:txBody>
      </p:sp>
      <p:sp>
        <p:nvSpPr>
          <p:cNvPr id="52" name="Text 49"/>
          <p:cNvSpPr/>
          <p:nvPr/>
        </p:nvSpPr>
        <p:spPr>
          <a:xfrm>
            <a:off x="7406640" y="559308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53" name="Shape 50"/>
          <p:cNvSpPr/>
          <p:nvPr/>
        </p:nvSpPr>
        <p:spPr>
          <a:xfrm>
            <a:off x="7717536" y="5538216"/>
            <a:ext cx="2331720" cy="697992"/>
          </a:xfrm>
          <a:prstGeom prst="roundRect">
            <a:avLst>
              <a:gd name="adj" fmla="val 7860"/>
            </a:avLst>
          </a:prstGeom>
          <a:solidFill>
            <a:srgbClr val="FFFFFF"/>
          </a:solidFill>
          <a:ln w="12700">
            <a:solidFill>
              <a:srgbClr val="E6E5EC"/>
            </a:solidFill>
            <a:prstDash val="solid"/>
          </a:ln>
        </p:spPr>
        <p:txBody>
          <a:bodyPr/>
          <a:lstStyle/>
          <a:p>
            <a:endParaRPr lang="en-PK"/>
          </a:p>
        </p:txBody>
      </p:sp>
      <p:sp>
        <p:nvSpPr>
          <p:cNvPr id="54" name="Shape 51"/>
          <p:cNvSpPr/>
          <p:nvPr/>
        </p:nvSpPr>
        <p:spPr>
          <a:xfrm>
            <a:off x="7717536" y="5538216"/>
            <a:ext cx="54864" cy="697992"/>
          </a:xfrm>
          <a:prstGeom prst="rect">
            <a:avLst/>
          </a:prstGeom>
          <a:solidFill>
            <a:srgbClr val="4B1FA0"/>
          </a:solidFill>
          <a:ln/>
        </p:spPr>
        <p:txBody>
          <a:bodyPr/>
          <a:lstStyle/>
          <a:p>
            <a:endParaRPr lang="en-PK"/>
          </a:p>
        </p:txBody>
      </p:sp>
      <p:sp>
        <p:nvSpPr>
          <p:cNvPr id="55" name="Text 52"/>
          <p:cNvSpPr txBox="1"/>
          <p:nvPr/>
        </p:nvSpPr>
        <p:spPr>
          <a:xfrm>
            <a:off x="7845552" y="5538216"/>
            <a:ext cx="2148840" cy="697992"/>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FR-2.6</a:t>
            </a:r>
            <a:r>
              <a:rPr lang="en-US" sz="1050" b="1" dirty="0">
                <a:solidFill>
                  <a:srgbClr val="2B0B5E"/>
                </a:solidFill>
                <a:latin typeface="Calibri" pitchFamily="34" charset="0"/>
                <a:ea typeface="Calibri" pitchFamily="34" charset="-122"/>
                <a:cs typeface="Calibri" pitchFamily="34" charset="-120"/>
              </a:rPr>
              <a:t> · Submission Blocking</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No package while a mandatory item is missing</a:t>
            </a:r>
            <a:endParaRPr lang="en-US" sz="1050" dirty="0"/>
          </a:p>
        </p:txBody>
      </p:sp>
      <p:sp>
        <p:nvSpPr>
          <p:cNvPr id="56" name="Shape 53"/>
          <p:cNvSpPr/>
          <p:nvPr/>
        </p:nvSpPr>
        <p:spPr>
          <a:xfrm>
            <a:off x="10140696" y="5538216"/>
            <a:ext cx="1593799" cy="697992"/>
          </a:xfrm>
          <a:prstGeom prst="roundRect">
            <a:avLst>
              <a:gd name="adj" fmla="val 7860"/>
            </a:avLst>
          </a:prstGeom>
          <a:solidFill>
            <a:srgbClr val="EFE7FB"/>
          </a:solidFill>
          <a:ln/>
        </p:spPr>
        <p:txBody>
          <a:bodyPr/>
          <a:lstStyle/>
          <a:p>
            <a:endParaRPr lang="en-PK"/>
          </a:p>
        </p:txBody>
      </p:sp>
      <p:sp>
        <p:nvSpPr>
          <p:cNvPr id="57" name="Text 54"/>
          <p:cNvSpPr txBox="1"/>
          <p:nvPr/>
        </p:nvSpPr>
        <p:spPr>
          <a:xfrm>
            <a:off x="10232136" y="5538216"/>
            <a:ext cx="1429207" cy="697992"/>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Blocking is enforced on the server, not only in the UI.</a:t>
            </a:r>
            <a:endParaRPr lang="en-US" sz="1000" dirty="0"/>
          </a:p>
        </p:txBody>
      </p:sp>
      <p:sp>
        <p:nvSpPr>
          <p:cNvPr id="58" name="Text 55">
            <a:hlinkClick r:id="" action="ppaction://noaction"/>
          </p:cNvPr>
          <p:cNvSpPr/>
          <p:nvPr/>
        </p:nvSpPr>
        <p:spPr>
          <a:xfrm>
            <a:off x="6787591"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59" name="Text 56">
            <a:hlinkClick r:id="rId4" action="ppaction://hlinksldjump" tooltip="Contents"/>
          </p:cNvPr>
          <p:cNvSpPr/>
          <p:nvPr/>
        </p:nvSpPr>
        <p:spPr>
          <a:xfrm>
            <a:off x="7765999"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60" name="Text 57">
            <a:hlinkClick r:id="rId5" action="ppaction://hlinksldjump" tooltip="Module"/>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Module">
                  <a:extLst>
                    <a:ext uri="{A12FA001-AC4F-418D-AE19-62706E023703}">
                      <ahyp:hlinkClr xmlns:ahyp="http://schemas.microsoft.com/office/drawing/2018/hyperlinkcolor" val="tx"/>
                    </a:ext>
                  </a:extLst>
                </a:hlinkClick>
              </a:rPr>
              <a:t>Module</a:t>
            </a:r>
            <a:endParaRPr lang="en-US" sz="1100" dirty="0"/>
          </a:p>
        </p:txBody>
      </p:sp>
      <p:sp>
        <p:nvSpPr>
          <p:cNvPr id="61" name="Text 58">
            <a:hlinkClick r:id="rId6" action="ppaction://hlinksldjump" tooltip="Use case"/>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Use case">
                  <a:extLst>
                    <a:ext uri="{A12FA001-AC4F-418D-AE19-62706E023703}">
                      <ahyp:hlinkClr xmlns:ahyp="http://schemas.microsoft.com/office/drawing/2018/hyperlinkcolor" val="tx"/>
                    </a:ext>
                  </a:extLst>
                </a:hlinkClick>
              </a:rPr>
              <a:t>Use case</a:t>
            </a:r>
            <a:endParaRPr lang="en-US" sz="1100" dirty="0"/>
          </a:p>
        </p:txBody>
      </p:sp>
      <p:sp>
        <p:nvSpPr>
          <p:cNvPr id="62" name="Text 59">
            <a:hlinkClick r:id="rId7"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47120" cy="502920"/>
          </a:xfrm>
          <a:prstGeom prst="rect">
            <a:avLst/>
          </a:prstGeom>
          <a:noFill/>
          <a:ln/>
        </p:spPr>
        <p:txBody>
          <a:bodyPr wrap="square" lIns="0" tIns="0" rIns="0" bIns="0" rtlCol="0" anchor="t"/>
          <a:lstStyle/>
          <a:p>
            <a:pPr marL="0" indent="0">
              <a:buNone/>
            </a:pPr>
            <a:r>
              <a:rPr lang="en-US" sz="2600" b="1" dirty="0">
                <a:solidFill>
                  <a:srgbClr val="4B1FA0"/>
                </a:solidFill>
                <a:latin typeface="Calibri" pitchFamily="34" charset="0"/>
                <a:ea typeface="Calibri" pitchFamily="34" charset="-122"/>
                <a:cs typeface="Calibri" pitchFamily="34" charset="-120"/>
              </a:rPr>
              <a:t>W-14 – </a:t>
            </a:r>
            <a:r>
              <a:rPr lang="en-US" sz="2600" b="1" dirty="0">
                <a:solidFill>
                  <a:srgbClr val="2B0B5E"/>
                </a:solidFill>
                <a:latin typeface="Calibri" pitchFamily="34" charset="0"/>
                <a:ea typeface="Calibri" pitchFamily="34" charset="-122"/>
                <a:cs typeface="Calibri" pitchFamily="34" charset="-120"/>
              </a:rPr>
              <a:t>Compliance Matrix  (1/2)</a:t>
            </a:r>
            <a:endParaRPr lang="en-US" sz="2600" dirty="0"/>
          </a:p>
        </p:txBody>
      </p:sp>
      <p:sp>
        <p:nvSpPr>
          <p:cNvPr id="3" name="Text 1"/>
          <p:cNvSpPr txBox="1"/>
          <p:nvPr/>
        </p:nvSpPr>
        <p:spPr>
          <a:xfrm>
            <a:off x="457200" y="777240"/>
            <a:ext cx="11247120" cy="384048"/>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The rule engine’s results: FC, PC or NC for each requirement, with the reason and the evidence.</a:t>
            </a:r>
            <a:endParaRPr lang="en-US" sz="13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35</a:t>
            </a:r>
            <a:endParaRPr lang="en-US" sz="1000" dirty="0"/>
          </a:p>
        </p:txBody>
      </p:sp>
      <p:sp>
        <p:nvSpPr>
          <p:cNvPr id="5" name="Shape 3"/>
          <p:cNvSpPr/>
          <p:nvPr/>
        </p:nvSpPr>
        <p:spPr>
          <a:xfrm>
            <a:off x="429768" y="1271016"/>
            <a:ext cx="6775704" cy="4255389"/>
          </a:xfrm>
          <a:prstGeom prst="rect">
            <a:avLst/>
          </a:prstGeom>
          <a:solidFill>
            <a:srgbClr val="FFFFFF"/>
          </a:solidFill>
          <a:ln w="12700">
            <a:solidFill>
              <a:srgbClr val="E6E5EC"/>
            </a:solidFill>
            <a:prstDash val="solid"/>
          </a:ln>
        </p:spPr>
        <p:txBody>
          <a:bodyPr/>
          <a:lstStyle/>
          <a:p>
            <a:endParaRPr lang="en-PK"/>
          </a:p>
        </p:txBody>
      </p:sp>
      <p:pic>
        <p:nvPicPr>
          <p:cNvPr id="6" name="Image 0" descr="Compliance Matrix mockup"/>
          <p:cNvPicPr>
            <a:picLocks noChangeAspect="1"/>
          </p:cNvPicPr>
          <p:nvPr/>
        </p:nvPicPr>
        <p:blipFill>
          <a:blip r:embed="rId3"/>
          <a:stretch>
            <a:fillRect/>
          </a:stretch>
        </p:blipFill>
        <p:spPr>
          <a:xfrm>
            <a:off x="457200" y="1298448"/>
            <a:ext cx="6720840" cy="4200525"/>
          </a:xfrm>
          <a:prstGeom prst="rect">
            <a:avLst/>
          </a:prstGeom>
        </p:spPr>
      </p:pic>
      <p:sp>
        <p:nvSpPr>
          <p:cNvPr id="7" name="Shape 4"/>
          <p:cNvSpPr/>
          <p:nvPr/>
        </p:nvSpPr>
        <p:spPr>
          <a:xfrm>
            <a:off x="1866710" y="2240430"/>
            <a:ext cx="1353503" cy="143007"/>
          </a:xfrm>
          <a:prstGeom prst="rect">
            <a:avLst/>
          </a:prstGeom>
          <a:solidFill>
            <a:srgbClr val="E5484D">
              <a:alpha val="12000"/>
            </a:srgbClr>
          </a:solidFill>
          <a:ln w="22225">
            <a:solidFill>
              <a:srgbClr val="E5484D"/>
            </a:solidFill>
            <a:prstDash val="solid"/>
          </a:ln>
        </p:spPr>
        <p:txBody>
          <a:bodyPr/>
          <a:lstStyle/>
          <a:p>
            <a:endParaRPr lang="en-PK"/>
          </a:p>
        </p:txBody>
      </p:sp>
      <p:sp>
        <p:nvSpPr>
          <p:cNvPr id="8" name="Text 5"/>
          <p:cNvSpPr/>
          <p:nvPr/>
        </p:nvSpPr>
        <p:spPr>
          <a:xfrm>
            <a:off x="1592390" y="2188490"/>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Shape 6"/>
          <p:cNvSpPr/>
          <p:nvPr/>
        </p:nvSpPr>
        <p:spPr>
          <a:xfrm>
            <a:off x="3481578" y="3177016"/>
            <a:ext cx="346179" cy="202077"/>
          </a:xfrm>
          <a:prstGeom prst="rect">
            <a:avLst/>
          </a:prstGeom>
          <a:solidFill>
            <a:srgbClr val="E5484D">
              <a:alpha val="12000"/>
            </a:srgbClr>
          </a:solidFill>
          <a:ln w="22225">
            <a:solidFill>
              <a:srgbClr val="E5484D"/>
            </a:solidFill>
            <a:prstDash val="solid"/>
          </a:ln>
        </p:spPr>
        <p:txBody>
          <a:bodyPr/>
          <a:lstStyle/>
          <a:p>
            <a:endParaRPr lang="en-PK"/>
          </a:p>
        </p:txBody>
      </p:sp>
      <p:sp>
        <p:nvSpPr>
          <p:cNvPr id="10" name="Text 7"/>
          <p:cNvSpPr/>
          <p:nvPr/>
        </p:nvSpPr>
        <p:spPr>
          <a:xfrm>
            <a:off x="3207258" y="3154611"/>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Shape 8"/>
          <p:cNvSpPr/>
          <p:nvPr/>
        </p:nvSpPr>
        <p:spPr>
          <a:xfrm>
            <a:off x="3920300" y="2240430"/>
            <a:ext cx="2258803" cy="325687"/>
          </a:xfrm>
          <a:prstGeom prst="rect">
            <a:avLst/>
          </a:prstGeom>
          <a:solidFill>
            <a:srgbClr val="E5484D">
              <a:alpha val="12000"/>
            </a:srgbClr>
          </a:solidFill>
          <a:ln w="22225">
            <a:solidFill>
              <a:srgbClr val="E5484D"/>
            </a:solidFill>
            <a:prstDash val="solid"/>
          </a:ln>
        </p:spPr>
        <p:txBody>
          <a:bodyPr/>
          <a:lstStyle/>
          <a:p>
            <a:endParaRPr lang="en-PK"/>
          </a:p>
        </p:txBody>
      </p:sp>
      <p:sp>
        <p:nvSpPr>
          <p:cNvPr id="12" name="Text 9"/>
          <p:cNvSpPr/>
          <p:nvPr/>
        </p:nvSpPr>
        <p:spPr>
          <a:xfrm>
            <a:off x="3645980" y="2279830"/>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3" name="Shape 10"/>
          <p:cNvSpPr/>
          <p:nvPr/>
        </p:nvSpPr>
        <p:spPr>
          <a:xfrm>
            <a:off x="5016812" y="3697342"/>
            <a:ext cx="502094" cy="163354"/>
          </a:xfrm>
          <a:prstGeom prst="rect">
            <a:avLst/>
          </a:prstGeom>
          <a:solidFill>
            <a:srgbClr val="E5484D">
              <a:alpha val="12000"/>
            </a:srgbClr>
          </a:solidFill>
          <a:ln w="22225">
            <a:solidFill>
              <a:srgbClr val="E5484D"/>
            </a:solidFill>
            <a:prstDash val="solid"/>
          </a:ln>
        </p:spPr>
        <p:txBody>
          <a:bodyPr/>
          <a:lstStyle/>
          <a:p>
            <a:endParaRPr lang="en-PK"/>
          </a:p>
        </p:txBody>
      </p:sp>
      <p:sp>
        <p:nvSpPr>
          <p:cNvPr id="14" name="Text 11"/>
          <p:cNvSpPr/>
          <p:nvPr/>
        </p:nvSpPr>
        <p:spPr>
          <a:xfrm>
            <a:off x="4742492" y="3655574"/>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5" name="Shape 12"/>
          <p:cNvSpPr/>
          <p:nvPr/>
        </p:nvSpPr>
        <p:spPr>
          <a:xfrm>
            <a:off x="3500247" y="5088401"/>
            <a:ext cx="3435096" cy="143007"/>
          </a:xfrm>
          <a:prstGeom prst="rect">
            <a:avLst/>
          </a:prstGeom>
          <a:solidFill>
            <a:srgbClr val="E5484D">
              <a:alpha val="12000"/>
            </a:srgbClr>
          </a:solidFill>
          <a:ln w="22225">
            <a:solidFill>
              <a:srgbClr val="E5484D"/>
            </a:solidFill>
            <a:prstDash val="solid"/>
          </a:ln>
        </p:spPr>
        <p:txBody>
          <a:bodyPr/>
          <a:lstStyle/>
          <a:p>
            <a:endParaRPr lang="en-PK"/>
          </a:p>
        </p:txBody>
      </p:sp>
      <p:sp>
        <p:nvSpPr>
          <p:cNvPr id="16" name="Text 13"/>
          <p:cNvSpPr/>
          <p:nvPr/>
        </p:nvSpPr>
        <p:spPr>
          <a:xfrm>
            <a:off x="3225927" y="5036461"/>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7" name="Text 14"/>
          <p:cNvSpPr txBox="1"/>
          <p:nvPr/>
        </p:nvSpPr>
        <p:spPr>
          <a:xfrm>
            <a:off x="457200" y="5626989"/>
            <a:ext cx="6720840" cy="457200"/>
          </a:xfrm>
          <a:prstGeom prst="rect">
            <a:avLst/>
          </a:prstGeom>
          <a:solidFill>
            <a:srgbClr val="FFFFFF"/>
          </a:solidFill>
          <a:ln w="9525">
            <a:solidFill>
              <a:srgbClr val="E6E5EC"/>
            </a:solidFill>
          </a:ln>
        </p:spPr>
        <p:txBody>
          <a:bodyPr wrap="square" lIns="50800" tIns="127000" rIns="127000" bIns="5080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Use case: </a:t>
            </a:r>
            <a:r>
              <a:rPr lang="en-US" sz="1050" dirty="0">
                <a:solidFill>
                  <a:srgbClr val="1A1A22"/>
                </a:solidFill>
                <a:latin typeface="Calibri" pitchFamily="34" charset="0"/>
                <a:ea typeface="Calibri" pitchFamily="34" charset="-122"/>
                <a:cs typeface="Calibri" pitchFamily="34" charset="-120"/>
              </a:rPr>
              <a:t>Generate Compliance Matrix (+ Rate Compliance, Calculate Score)   </a:t>
            </a:r>
            <a:r>
              <a:rPr lang="en-US" sz="1050" dirty="0">
                <a:solidFill>
                  <a:srgbClr val="C9B6F2"/>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rule from the SRS  </a:t>
            </a:r>
            <a:r>
              <a:rPr lang="en-US" sz="1050" dirty="0">
                <a:solidFill>
                  <a:srgbClr val="BDBDC8"/>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condition stated in the FR</a:t>
            </a:r>
            <a:endParaRPr lang="en-US" sz="1050" dirty="0"/>
          </a:p>
        </p:txBody>
      </p:sp>
      <p:sp>
        <p:nvSpPr>
          <p:cNvPr id="18" name="Text 15"/>
          <p:cNvSpPr txBox="1"/>
          <p:nvPr/>
        </p:nvSpPr>
        <p:spPr>
          <a:xfrm>
            <a:off x="7717536" y="1298448"/>
            <a:ext cx="2331720"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FUNCTIONAL REQUIREMENT</a:t>
            </a:r>
            <a:endParaRPr lang="en-US" sz="1000" dirty="0"/>
          </a:p>
        </p:txBody>
      </p:sp>
      <p:sp>
        <p:nvSpPr>
          <p:cNvPr id="19" name="Text 16"/>
          <p:cNvSpPr txBox="1"/>
          <p:nvPr/>
        </p:nvSpPr>
        <p:spPr>
          <a:xfrm>
            <a:off x="10140696" y="1298448"/>
            <a:ext cx="1593799"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BUSINESS RULE</a:t>
            </a:r>
            <a:endParaRPr lang="en-US" sz="1000" dirty="0"/>
          </a:p>
        </p:txBody>
      </p:sp>
      <p:sp>
        <p:nvSpPr>
          <p:cNvPr id="20" name="Text 17"/>
          <p:cNvSpPr/>
          <p:nvPr/>
        </p:nvSpPr>
        <p:spPr>
          <a:xfrm>
            <a:off x="7406640" y="164592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21" name="Shape 18"/>
          <p:cNvSpPr/>
          <p:nvPr/>
        </p:nvSpPr>
        <p:spPr>
          <a:xfrm>
            <a:off x="7717536" y="1591056"/>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22" name="Shape 19"/>
          <p:cNvSpPr/>
          <p:nvPr/>
        </p:nvSpPr>
        <p:spPr>
          <a:xfrm>
            <a:off x="7717536" y="1591056"/>
            <a:ext cx="54864" cy="855878"/>
          </a:xfrm>
          <a:prstGeom prst="rect">
            <a:avLst/>
          </a:prstGeom>
          <a:solidFill>
            <a:srgbClr val="4B1FA0"/>
          </a:solidFill>
          <a:ln/>
        </p:spPr>
        <p:txBody>
          <a:bodyPr/>
          <a:lstStyle/>
          <a:p>
            <a:endParaRPr lang="en-PK"/>
          </a:p>
        </p:txBody>
      </p:sp>
      <p:sp>
        <p:nvSpPr>
          <p:cNvPr id="23" name="Text 20"/>
          <p:cNvSpPr txBox="1"/>
          <p:nvPr/>
        </p:nvSpPr>
        <p:spPr>
          <a:xfrm>
            <a:off x="7845552" y="1591056"/>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FR-3.1</a:t>
            </a:r>
            <a:r>
              <a:rPr lang="en-US" sz="1050" b="1" dirty="0">
                <a:solidFill>
                  <a:srgbClr val="2B0B5E"/>
                </a:solidFill>
                <a:latin typeface="Calibri" pitchFamily="34" charset="0"/>
                <a:ea typeface="Calibri" pitchFamily="34" charset="-122"/>
                <a:cs typeface="Calibri" pitchFamily="34" charset="-120"/>
              </a:rPr>
              <a:t> · Proposed Equipment Entry</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Engineer enters OEM vendors and model numbers</a:t>
            </a:r>
            <a:endParaRPr lang="en-US" sz="1050" dirty="0"/>
          </a:p>
        </p:txBody>
      </p:sp>
      <p:sp>
        <p:nvSpPr>
          <p:cNvPr id="24" name="Shape 21"/>
          <p:cNvSpPr/>
          <p:nvPr/>
        </p:nvSpPr>
        <p:spPr>
          <a:xfrm>
            <a:off x="10140696" y="1591056"/>
            <a:ext cx="1593799" cy="855878"/>
          </a:xfrm>
          <a:prstGeom prst="roundRect">
            <a:avLst>
              <a:gd name="adj" fmla="val 6410"/>
            </a:avLst>
          </a:prstGeom>
          <a:solidFill>
            <a:srgbClr val="ECECF1"/>
          </a:solidFill>
          <a:ln/>
        </p:spPr>
        <p:txBody>
          <a:bodyPr/>
          <a:lstStyle/>
          <a:p>
            <a:endParaRPr lang="en-PK"/>
          </a:p>
        </p:txBody>
      </p:sp>
      <p:sp>
        <p:nvSpPr>
          <p:cNvPr id="25" name="Text 22"/>
          <p:cNvSpPr txBox="1"/>
          <p:nvPr/>
        </p:nvSpPr>
        <p:spPr>
          <a:xfrm>
            <a:off x="10232136" y="1591056"/>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Entered per equipment category found in Module 1.</a:t>
            </a:r>
            <a:endParaRPr lang="en-US" sz="1000" dirty="0"/>
          </a:p>
        </p:txBody>
      </p:sp>
      <p:sp>
        <p:nvSpPr>
          <p:cNvPr id="26" name="Text 23"/>
          <p:cNvSpPr/>
          <p:nvPr/>
        </p:nvSpPr>
        <p:spPr>
          <a:xfrm>
            <a:off x="7406640" y="2593238"/>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7" name="Shape 24"/>
          <p:cNvSpPr/>
          <p:nvPr/>
        </p:nvSpPr>
        <p:spPr>
          <a:xfrm>
            <a:off x="7717536" y="2538374"/>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28" name="Shape 25"/>
          <p:cNvSpPr/>
          <p:nvPr/>
        </p:nvSpPr>
        <p:spPr>
          <a:xfrm>
            <a:off x="7717536" y="2538374"/>
            <a:ext cx="54864" cy="855878"/>
          </a:xfrm>
          <a:prstGeom prst="rect">
            <a:avLst/>
          </a:prstGeom>
          <a:solidFill>
            <a:srgbClr val="4B1FA0"/>
          </a:solidFill>
          <a:ln/>
        </p:spPr>
        <p:txBody>
          <a:bodyPr/>
          <a:lstStyle/>
          <a:p>
            <a:endParaRPr lang="en-PK"/>
          </a:p>
        </p:txBody>
      </p:sp>
      <p:sp>
        <p:nvSpPr>
          <p:cNvPr id="29" name="Text 26"/>
          <p:cNvSpPr txBox="1"/>
          <p:nvPr/>
        </p:nvSpPr>
        <p:spPr>
          <a:xfrm>
            <a:off x="7845552" y="2538374"/>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FR-3.3</a:t>
            </a:r>
            <a:r>
              <a:rPr lang="en-US" sz="1050" b="1" dirty="0">
                <a:solidFill>
                  <a:srgbClr val="2B0B5E"/>
                </a:solidFill>
                <a:latin typeface="Calibri" pitchFamily="34" charset="0"/>
                <a:ea typeface="Calibri" pitchFamily="34" charset="-122"/>
                <a:cs typeface="Calibri" pitchFamily="34" charset="-120"/>
              </a:rPr>
              <a:t> · Rule-Based Evaluation</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Constraint check with unit conversion → FC, PC or NC</a:t>
            </a:r>
            <a:endParaRPr lang="en-US" sz="1050" dirty="0"/>
          </a:p>
        </p:txBody>
      </p:sp>
      <p:sp>
        <p:nvSpPr>
          <p:cNvPr id="30" name="Shape 27"/>
          <p:cNvSpPr/>
          <p:nvPr/>
        </p:nvSpPr>
        <p:spPr>
          <a:xfrm>
            <a:off x="10140696" y="2538374"/>
            <a:ext cx="1593799" cy="855878"/>
          </a:xfrm>
          <a:prstGeom prst="roundRect">
            <a:avLst>
              <a:gd name="adj" fmla="val 6410"/>
            </a:avLst>
          </a:prstGeom>
          <a:solidFill>
            <a:srgbClr val="EFE7FB"/>
          </a:solidFill>
          <a:ln/>
        </p:spPr>
        <p:txBody>
          <a:bodyPr/>
          <a:lstStyle/>
          <a:p>
            <a:endParaRPr lang="en-PK"/>
          </a:p>
        </p:txBody>
      </p:sp>
      <p:sp>
        <p:nvSpPr>
          <p:cNvPr id="31" name="Text 28"/>
          <p:cNvSpPr txBox="1"/>
          <p:nvPr/>
        </p:nvSpPr>
        <p:spPr>
          <a:xfrm>
            <a:off x="10232136" y="2538374"/>
            <a:ext cx="1429207" cy="855878"/>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FC fully met · PC short by ≤ 10% or optional module · NC not met or missing.</a:t>
            </a:r>
            <a:endParaRPr lang="en-US" sz="1000" dirty="0"/>
          </a:p>
        </p:txBody>
      </p:sp>
      <p:sp>
        <p:nvSpPr>
          <p:cNvPr id="32" name="Text 29"/>
          <p:cNvSpPr/>
          <p:nvPr/>
        </p:nvSpPr>
        <p:spPr>
          <a:xfrm>
            <a:off x="7406640" y="3540557"/>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33" name="Shape 30"/>
          <p:cNvSpPr/>
          <p:nvPr/>
        </p:nvSpPr>
        <p:spPr>
          <a:xfrm>
            <a:off x="7717536" y="3485693"/>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34" name="Shape 31"/>
          <p:cNvSpPr/>
          <p:nvPr/>
        </p:nvSpPr>
        <p:spPr>
          <a:xfrm>
            <a:off x="7717536" y="3485693"/>
            <a:ext cx="54864" cy="855878"/>
          </a:xfrm>
          <a:prstGeom prst="rect">
            <a:avLst/>
          </a:prstGeom>
          <a:solidFill>
            <a:srgbClr val="4B1FA0"/>
          </a:solidFill>
          <a:ln/>
        </p:spPr>
        <p:txBody>
          <a:bodyPr/>
          <a:lstStyle/>
          <a:p>
            <a:endParaRPr lang="en-PK"/>
          </a:p>
        </p:txBody>
      </p:sp>
      <p:sp>
        <p:nvSpPr>
          <p:cNvPr id="35" name="Text 32"/>
          <p:cNvSpPr txBox="1"/>
          <p:nvPr/>
        </p:nvSpPr>
        <p:spPr>
          <a:xfrm>
            <a:off x="7845552" y="3485693"/>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FR-3.4</a:t>
            </a:r>
            <a:r>
              <a:rPr lang="en-US" sz="1050" b="1" dirty="0">
                <a:solidFill>
                  <a:srgbClr val="2B0B5E"/>
                </a:solidFill>
                <a:latin typeface="Calibri" pitchFamily="34" charset="0"/>
                <a:ea typeface="Calibri" pitchFamily="34" charset="-122"/>
                <a:cs typeface="Calibri" pitchFamily="34" charset="-120"/>
              </a:rPr>
              <a:t> · Compliance Percentage</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(FC + 0.5 × PC) ÷ rows × 100, for each model</a:t>
            </a:r>
            <a:endParaRPr lang="en-US" sz="1050" dirty="0"/>
          </a:p>
        </p:txBody>
      </p:sp>
      <p:sp>
        <p:nvSpPr>
          <p:cNvPr id="36" name="Shape 33"/>
          <p:cNvSpPr/>
          <p:nvPr/>
        </p:nvSpPr>
        <p:spPr>
          <a:xfrm>
            <a:off x="10140696" y="3485693"/>
            <a:ext cx="1593799" cy="855878"/>
          </a:xfrm>
          <a:prstGeom prst="roundRect">
            <a:avLst>
              <a:gd name="adj" fmla="val 6410"/>
            </a:avLst>
          </a:prstGeom>
          <a:solidFill>
            <a:srgbClr val="EFE7FB"/>
          </a:solidFill>
          <a:ln/>
        </p:spPr>
        <p:txBody>
          <a:bodyPr/>
          <a:lstStyle/>
          <a:p>
            <a:endParaRPr lang="en-PK"/>
          </a:p>
        </p:txBody>
      </p:sp>
      <p:sp>
        <p:nvSpPr>
          <p:cNvPr id="37" name="Text 34"/>
          <p:cNvSpPr txBox="1"/>
          <p:nvPr/>
        </p:nvSpPr>
        <p:spPr>
          <a:xfrm>
            <a:off x="10232136" y="3485693"/>
            <a:ext cx="1429207" cy="855878"/>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Fixed formula, calculated separately for each model.</a:t>
            </a:r>
            <a:endParaRPr lang="en-US" sz="1000" dirty="0"/>
          </a:p>
        </p:txBody>
      </p:sp>
      <p:sp>
        <p:nvSpPr>
          <p:cNvPr id="38" name="Text 35"/>
          <p:cNvSpPr/>
          <p:nvPr/>
        </p:nvSpPr>
        <p:spPr>
          <a:xfrm>
            <a:off x="7406640" y="4487875"/>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39" name="Shape 36"/>
          <p:cNvSpPr/>
          <p:nvPr/>
        </p:nvSpPr>
        <p:spPr>
          <a:xfrm>
            <a:off x="7717536" y="4433011"/>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40" name="Shape 37"/>
          <p:cNvSpPr/>
          <p:nvPr/>
        </p:nvSpPr>
        <p:spPr>
          <a:xfrm>
            <a:off x="7717536" y="4433011"/>
            <a:ext cx="54864" cy="855878"/>
          </a:xfrm>
          <a:prstGeom prst="rect">
            <a:avLst/>
          </a:prstGeom>
          <a:solidFill>
            <a:srgbClr val="4B1FA0"/>
          </a:solidFill>
          <a:ln/>
        </p:spPr>
        <p:txBody>
          <a:bodyPr/>
          <a:lstStyle/>
          <a:p>
            <a:endParaRPr lang="en-PK"/>
          </a:p>
        </p:txBody>
      </p:sp>
      <p:sp>
        <p:nvSpPr>
          <p:cNvPr id="41" name="Text 38"/>
          <p:cNvSpPr txBox="1"/>
          <p:nvPr/>
        </p:nvSpPr>
        <p:spPr>
          <a:xfrm>
            <a:off x="7845552" y="4433011"/>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FR-3.5</a:t>
            </a:r>
            <a:r>
              <a:rPr lang="en-US" sz="1050" b="1" dirty="0">
                <a:solidFill>
                  <a:srgbClr val="2B0B5E"/>
                </a:solidFill>
                <a:latin typeface="Calibri" pitchFamily="34" charset="0"/>
                <a:ea typeface="Calibri" pitchFamily="34" charset="-122"/>
                <a:cs typeface="Calibri" pitchFamily="34" charset="-120"/>
              </a:rPr>
              <a:t> · NC Highlighting</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NC items in red with a disqualification-risk label</a:t>
            </a:r>
            <a:endParaRPr lang="en-US" sz="1050" dirty="0"/>
          </a:p>
        </p:txBody>
      </p:sp>
      <p:sp>
        <p:nvSpPr>
          <p:cNvPr id="42" name="Shape 39"/>
          <p:cNvSpPr/>
          <p:nvPr/>
        </p:nvSpPr>
        <p:spPr>
          <a:xfrm>
            <a:off x="10140696" y="4433011"/>
            <a:ext cx="1593799" cy="855878"/>
          </a:xfrm>
          <a:prstGeom prst="roundRect">
            <a:avLst>
              <a:gd name="adj" fmla="val 6410"/>
            </a:avLst>
          </a:prstGeom>
          <a:solidFill>
            <a:srgbClr val="ECECF1"/>
          </a:solidFill>
          <a:ln/>
        </p:spPr>
        <p:txBody>
          <a:bodyPr/>
          <a:lstStyle/>
          <a:p>
            <a:endParaRPr lang="en-PK"/>
          </a:p>
        </p:txBody>
      </p:sp>
      <p:sp>
        <p:nvSpPr>
          <p:cNvPr id="43" name="Text 40"/>
          <p:cNvSpPr txBox="1"/>
          <p:nvPr/>
        </p:nvSpPr>
        <p:spPr>
          <a:xfrm>
            <a:off x="10232136" y="4433011"/>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Every NC row carries a disqualification-risk label.</a:t>
            </a:r>
            <a:endParaRPr lang="en-US" sz="1000" dirty="0"/>
          </a:p>
        </p:txBody>
      </p:sp>
      <p:sp>
        <p:nvSpPr>
          <p:cNvPr id="44" name="Text 41"/>
          <p:cNvSpPr/>
          <p:nvPr/>
        </p:nvSpPr>
        <p:spPr>
          <a:xfrm>
            <a:off x="7406640" y="5435194"/>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45" name="Shape 42"/>
          <p:cNvSpPr/>
          <p:nvPr/>
        </p:nvSpPr>
        <p:spPr>
          <a:xfrm>
            <a:off x="7717536" y="5380330"/>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46" name="Shape 43"/>
          <p:cNvSpPr/>
          <p:nvPr/>
        </p:nvSpPr>
        <p:spPr>
          <a:xfrm>
            <a:off x="7717536" y="5380330"/>
            <a:ext cx="54864" cy="855878"/>
          </a:xfrm>
          <a:prstGeom prst="rect">
            <a:avLst/>
          </a:prstGeom>
          <a:solidFill>
            <a:srgbClr val="4B1FA0"/>
          </a:solidFill>
          <a:ln/>
        </p:spPr>
        <p:txBody>
          <a:bodyPr/>
          <a:lstStyle/>
          <a:p>
            <a:endParaRPr lang="en-PK"/>
          </a:p>
        </p:txBody>
      </p:sp>
      <p:sp>
        <p:nvSpPr>
          <p:cNvPr id="47" name="Text 44"/>
          <p:cNvSpPr txBox="1"/>
          <p:nvPr/>
        </p:nvSpPr>
        <p:spPr>
          <a:xfrm>
            <a:off x="7845552" y="5380330"/>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FR-3.6</a:t>
            </a:r>
            <a:r>
              <a:rPr lang="en-US" sz="1050" b="1" dirty="0">
                <a:solidFill>
                  <a:srgbClr val="2B0B5E"/>
                </a:solidFill>
                <a:latin typeface="Calibri" pitchFamily="34" charset="0"/>
                <a:ea typeface="Calibri" pitchFamily="34" charset="-122"/>
                <a:cs typeface="Calibri" pitchFamily="34" charset="-120"/>
              </a:rPr>
              <a:t> · Manual Override</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Change any rating, with a required justification</a:t>
            </a:r>
            <a:endParaRPr lang="en-US" sz="1050" dirty="0"/>
          </a:p>
        </p:txBody>
      </p:sp>
      <p:sp>
        <p:nvSpPr>
          <p:cNvPr id="48" name="Shape 45"/>
          <p:cNvSpPr/>
          <p:nvPr/>
        </p:nvSpPr>
        <p:spPr>
          <a:xfrm>
            <a:off x="10140696" y="5380330"/>
            <a:ext cx="1593799" cy="855878"/>
          </a:xfrm>
          <a:prstGeom prst="roundRect">
            <a:avLst>
              <a:gd name="adj" fmla="val 6410"/>
            </a:avLst>
          </a:prstGeom>
          <a:solidFill>
            <a:srgbClr val="EFE7FB"/>
          </a:solidFill>
          <a:ln/>
        </p:spPr>
        <p:txBody>
          <a:bodyPr/>
          <a:lstStyle/>
          <a:p>
            <a:endParaRPr lang="en-PK"/>
          </a:p>
        </p:txBody>
      </p:sp>
      <p:sp>
        <p:nvSpPr>
          <p:cNvPr id="49" name="Text 46"/>
          <p:cNvSpPr txBox="1"/>
          <p:nvPr/>
        </p:nvSpPr>
        <p:spPr>
          <a:xfrm>
            <a:off x="10232136" y="5380330"/>
            <a:ext cx="1429207" cy="855878"/>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A justification note is mandatory for every override.</a:t>
            </a:r>
            <a:endParaRPr lang="en-US" sz="1000" dirty="0"/>
          </a:p>
        </p:txBody>
      </p:sp>
      <p:sp>
        <p:nvSpPr>
          <p:cNvPr id="50" name="Text 47">
            <a:hlinkClick r:id="" action="ppaction://noaction"/>
          </p:cNvPr>
          <p:cNvSpPr/>
          <p:nvPr/>
        </p:nvSpPr>
        <p:spPr>
          <a:xfrm>
            <a:off x="6787591"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51" name="Text 48">
            <a:hlinkClick r:id="rId4" action="ppaction://hlinksldjump" tooltip="Contents"/>
          </p:cNvPr>
          <p:cNvSpPr/>
          <p:nvPr/>
        </p:nvSpPr>
        <p:spPr>
          <a:xfrm>
            <a:off x="7765999"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52" name="Text 49">
            <a:hlinkClick r:id="rId5" action="ppaction://hlinksldjump" tooltip="Module"/>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Module">
                  <a:extLst>
                    <a:ext uri="{A12FA001-AC4F-418D-AE19-62706E023703}">
                      <ahyp:hlinkClr xmlns:ahyp="http://schemas.microsoft.com/office/drawing/2018/hyperlinkcolor" val="tx"/>
                    </a:ext>
                  </a:extLst>
                </a:hlinkClick>
              </a:rPr>
              <a:t>Module</a:t>
            </a:r>
            <a:endParaRPr lang="en-US" sz="1100" dirty="0"/>
          </a:p>
        </p:txBody>
      </p:sp>
      <p:sp>
        <p:nvSpPr>
          <p:cNvPr id="53" name="Text 50">
            <a:hlinkClick r:id="rId6" action="ppaction://hlinksldjump" tooltip="Use case"/>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Use case">
                  <a:extLst>
                    <a:ext uri="{A12FA001-AC4F-418D-AE19-62706E023703}">
                      <ahyp:hlinkClr xmlns:ahyp="http://schemas.microsoft.com/office/drawing/2018/hyperlinkcolor" val="tx"/>
                    </a:ext>
                  </a:extLst>
                </a:hlinkClick>
              </a:rPr>
              <a:t>Use case</a:t>
            </a:r>
            <a:endParaRPr lang="en-US" sz="1100" dirty="0"/>
          </a:p>
        </p:txBody>
      </p:sp>
      <p:sp>
        <p:nvSpPr>
          <p:cNvPr id="54" name="Text 51">
            <a:hlinkClick r:id="rId7"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47120" cy="502920"/>
          </a:xfrm>
          <a:prstGeom prst="rect">
            <a:avLst/>
          </a:prstGeom>
          <a:noFill/>
          <a:ln/>
        </p:spPr>
        <p:txBody>
          <a:bodyPr wrap="square" lIns="0" tIns="0" rIns="0" bIns="0" rtlCol="0" anchor="t"/>
          <a:lstStyle/>
          <a:p>
            <a:pPr marL="0" indent="0">
              <a:buNone/>
            </a:pPr>
            <a:r>
              <a:rPr lang="en-US" sz="2600" b="1" dirty="0">
                <a:solidFill>
                  <a:srgbClr val="4B1FA0"/>
                </a:solidFill>
                <a:latin typeface="Calibri" pitchFamily="34" charset="0"/>
                <a:ea typeface="Calibri" pitchFamily="34" charset="-122"/>
                <a:cs typeface="Calibri" pitchFamily="34" charset="-120"/>
              </a:rPr>
              <a:t>W-14 – </a:t>
            </a:r>
            <a:r>
              <a:rPr lang="en-US" sz="2600" b="1" dirty="0">
                <a:solidFill>
                  <a:srgbClr val="2B0B5E"/>
                </a:solidFill>
                <a:latin typeface="Calibri" pitchFamily="34" charset="0"/>
                <a:ea typeface="Calibri" pitchFamily="34" charset="-122"/>
                <a:cs typeface="Calibri" pitchFamily="34" charset="-120"/>
              </a:rPr>
              <a:t>Compliance Matrix  (2/2)</a:t>
            </a:r>
            <a:endParaRPr lang="en-US" sz="2600" dirty="0"/>
          </a:p>
        </p:txBody>
      </p:sp>
      <p:sp>
        <p:nvSpPr>
          <p:cNvPr id="3" name="Text 1"/>
          <p:cNvSpPr txBox="1"/>
          <p:nvPr/>
        </p:nvSpPr>
        <p:spPr>
          <a:xfrm>
            <a:off x="457200" y="777240"/>
            <a:ext cx="11247120" cy="384048"/>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The rule engine’s results: FC, PC or NC for each requirement, with the reason and the evidence.</a:t>
            </a:r>
            <a:endParaRPr lang="en-US" sz="13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36</a:t>
            </a:r>
            <a:endParaRPr lang="en-US" sz="1000" dirty="0"/>
          </a:p>
        </p:txBody>
      </p:sp>
      <p:sp>
        <p:nvSpPr>
          <p:cNvPr id="5" name="Shape 3"/>
          <p:cNvSpPr/>
          <p:nvPr/>
        </p:nvSpPr>
        <p:spPr>
          <a:xfrm>
            <a:off x="429768" y="1271016"/>
            <a:ext cx="6775704" cy="4255389"/>
          </a:xfrm>
          <a:prstGeom prst="rect">
            <a:avLst/>
          </a:prstGeom>
          <a:solidFill>
            <a:srgbClr val="FFFFFF"/>
          </a:solidFill>
          <a:ln w="12700">
            <a:solidFill>
              <a:srgbClr val="E6E5EC"/>
            </a:solidFill>
            <a:prstDash val="solid"/>
          </a:ln>
        </p:spPr>
        <p:txBody>
          <a:bodyPr/>
          <a:lstStyle/>
          <a:p>
            <a:endParaRPr lang="en-PK"/>
          </a:p>
        </p:txBody>
      </p:sp>
      <p:pic>
        <p:nvPicPr>
          <p:cNvPr id="6" name="Image 0" descr="Compliance Matrix mockup"/>
          <p:cNvPicPr>
            <a:picLocks noChangeAspect="1"/>
          </p:cNvPicPr>
          <p:nvPr/>
        </p:nvPicPr>
        <p:blipFill>
          <a:blip r:embed="rId3"/>
          <a:stretch>
            <a:fillRect/>
          </a:stretch>
        </p:blipFill>
        <p:spPr>
          <a:xfrm>
            <a:off x="457200" y="1298448"/>
            <a:ext cx="6720840" cy="4200525"/>
          </a:xfrm>
          <a:prstGeom prst="rect">
            <a:avLst/>
          </a:prstGeom>
        </p:spPr>
      </p:pic>
      <p:sp>
        <p:nvSpPr>
          <p:cNvPr id="7" name="Shape 4"/>
          <p:cNvSpPr/>
          <p:nvPr/>
        </p:nvSpPr>
        <p:spPr>
          <a:xfrm>
            <a:off x="6225775" y="2334505"/>
            <a:ext cx="709568" cy="218631"/>
          </a:xfrm>
          <a:prstGeom prst="rect">
            <a:avLst/>
          </a:prstGeom>
          <a:solidFill>
            <a:srgbClr val="E5484D">
              <a:alpha val="12000"/>
            </a:srgbClr>
          </a:solidFill>
          <a:ln w="22225">
            <a:solidFill>
              <a:srgbClr val="E5484D"/>
            </a:solidFill>
            <a:prstDash val="solid"/>
          </a:ln>
        </p:spPr>
        <p:txBody>
          <a:bodyPr/>
          <a:lstStyle/>
          <a:p>
            <a:endParaRPr lang="en-PK"/>
          </a:p>
        </p:txBody>
      </p:sp>
      <p:sp>
        <p:nvSpPr>
          <p:cNvPr id="8" name="Text 5"/>
          <p:cNvSpPr/>
          <p:nvPr/>
        </p:nvSpPr>
        <p:spPr>
          <a:xfrm>
            <a:off x="5951455" y="2320376"/>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Shape 6"/>
          <p:cNvSpPr/>
          <p:nvPr/>
        </p:nvSpPr>
        <p:spPr>
          <a:xfrm>
            <a:off x="1759363" y="2133084"/>
            <a:ext cx="1568196" cy="2530670"/>
          </a:xfrm>
          <a:prstGeom prst="rect">
            <a:avLst/>
          </a:prstGeom>
          <a:solidFill>
            <a:srgbClr val="E5484D">
              <a:alpha val="12000"/>
            </a:srgbClr>
          </a:solidFill>
          <a:ln w="22225">
            <a:solidFill>
              <a:srgbClr val="E5484D"/>
            </a:solidFill>
            <a:prstDash val="solid"/>
          </a:ln>
        </p:spPr>
        <p:txBody>
          <a:bodyPr/>
          <a:lstStyle/>
          <a:p>
            <a:endParaRPr lang="en-PK"/>
          </a:p>
        </p:txBody>
      </p:sp>
      <p:sp>
        <p:nvSpPr>
          <p:cNvPr id="10" name="Text 7"/>
          <p:cNvSpPr/>
          <p:nvPr/>
        </p:nvSpPr>
        <p:spPr>
          <a:xfrm>
            <a:off x="1485043" y="3274975"/>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Shape 8"/>
          <p:cNvSpPr/>
          <p:nvPr/>
        </p:nvSpPr>
        <p:spPr>
          <a:xfrm>
            <a:off x="5574913" y="4242389"/>
            <a:ext cx="1015637" cy="512814"/>
          </a:xfrm>
          <a:prstGeom prst="rect">
            <a:avLst/>
          </a:prstGeom>
          <a:solidFill>
            <a:srgbClr val="E5484D">
              <a:alpha val="12000"/>
            </a:srgbClr>
          </a:solidFill>
          <a:ln w="22225">
            <a:solidFill>
              <a:srgbClr val="E5484D"/>
            </a:solidFill>
            <a:prstDash val="solid"/>
          </a:ln>
        </p:spPr>
        <p:txBody>
          <a:bodyPr/>
          <a:lstStyle/>
          <a:p>
            <a:endParaRPr lang="en-PK"/>
          </a:p>
        </p:txBody>
      </p:sp>
      <p:sp>
        <p:nvSpPr>
          <p:cNvPr id="12" name="Text 9"/>
          <p:cNvSpPr/>
          <p:nvPr/>
        </p:nvSpPr>
        <p:spPr>
          <a:xfrm>
            <a:off x="5300593" y="4375352"/>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3" name="Shape 10"/>
          <p:cNvSpPr/>
          <p:nvPr/>
        </p:nvSpPr>
        <p:spPr>
          <a:xfrm>
            <a:off x="5658923" y="3659493"/>
            <a:ext cx="493926" cy="123682"/>
          </a:xfrm>
          <a:prstGeom prst="rect">
            <a:avLst/>
          </a:prstGeom>
          <a:solidFill>
            <a:srgbClr val="E5484D">
              <a:alpha val="12000"/>
            </a:srgbClr>
          </a:solidFill>
          <a:ln w="22225">
            <a:solidFill>
              <a:srgbClr val="E5484D"/>
            </a:solidFill>
            <a:prstDash val="solid"/>
          </a:ln>
        </p:spPr>
        <p:txBody>
          <a:bodyPr/>
          <a:lstStyle/>
          <a:p>
            <a:endParaRPr lang="en-PK"/>
          </a:p>
        </p:txBody>
      </p:sp>
      <p:sp>
        <p:nvSpPr>
          <p:cNvPr id="14" name="Text 11"/>
          <p:cNvSpPr/>
          <p:nvPr/>
        </p:nvSpPr>
        <p:spPr>
          <a:xfrm>
            <a:off x="5384603" y="3597890"/>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5" name="Text 12"/>
          <p:cNvSpPr txBox="1"/>
          <p:nvPr/>
        </p:nvSpPr>
        <p:spPr>
          <a:xfrm>
            <a:off x="457200" y="5626989"/>
            <a:ext cx="6720840" cy="457200"/>
          </a:xfrm>
          <a:prstGeom prst="rect">
            <a:avLst/>
          </a:prstGeom>
          <a:solidFill>
            <a:srgbClr val="FFFFFF"/>
          </a:solidFill>
          <a:ln w="9525">
            <a:solidFill>
              <a:srgbClr val="E6E5EC"/>
            </a:solidFill>
          </a:ln>
        </p:spPr>
        <p:txBody>
          <a:bodyPr wrap="square" lIns="50800" tIns="127000" rIns="127000" bIns="5080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Use case: </a:t>
            </a:r>
            <a:r>
              <a:rPr lang="en-US" sz="1050" dirty="0">
                <a:solidFill>
                  <a:srgbClr val="1A1A22"/>
                </a:solidFill>
                <a:latin typeface="Calibri" pitchFamily="34" charset="0"/>
                <a:ea typeface="Calibri" pitchFamily="34" charset="-122"/>
                <a:cs typeface="Calibri" pitchFamily="34" charset="-120"/>
              </a:rPr>
              <a:t>Generate Compliance Matrix (+ Rate Compliance, Calculate Score)   </a:t>
            </a:r>
            <a:r>
              <a:rPr lang="en-US" sz="1050" dirty="0">
                <a:solidFill>
                  <a:srgbClr val="C9B6F2"/>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rule from the SRS  </a:t>
            </a:r>
            <a:r>
              <a:rPr lang="en-US" sz="1050" dirty="0">
                <a:solidFill>
                  <a:srgbClr val="BDBDC8"/>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condition stated in the FR</a:t>
            </a:r>
            <a:endParaRPr lang="en-US" sz="1050" dirty="0"/>
          </a:p>
        </p:txBody>
      </p:sp>
      <p:sp>
        <p:nvSpPr>
          <p:cNvPr id="16" name="Text 13"/>
          <p:cNvSpPr txBox="1"/>
          <p:nvPr/>
        </p:nvSpPr>
        <p:spPr>
          <a:xfrm>
            <a:off x="7717536" y="1298448"/>
            <a:ext cx="2331720"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FUNCTIONAL REQUIREMENT</a:t>
            </a:r>
            <a:endParaRPr lang="en-US" sz="1000" dirty="0"/>
          </a:p>
        </p:txBody>
      </p:sp>
      <p:sp>
        <p:nvSpPr>
          <p:cNvPr id="17" name="Text 14"/>
          <p:cNvSpPr txBox="1"/>
          <p:nvPr/>
        </p:nvSpPr>
        <p:spPr>
          <a:xfrm>
            <a:off x="10140696" y="1298448"/>
            <a:ext cx="1593799"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BUSINESS RULE</a:t>
            </a:r>
            <a:endParaRPr lang="en-US" sz="1000" dirty="0"/>
          </a:p>
        </p:txBody>
      </p:sp>
      <p:sp>
        <p:nvSpPr>
          <p:cNvPr id="18" name="Text 15"/>
          <p:cNvSpPr/>
          <p:nvPr/>
        </p:nvSpPr>
        <p:spPr>
          <a:xfrm>
            <a:off x="7406640" y="164592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9" name="Shape 16"/>
          <p:cNvSpPr/>
          <p:nvPr/>
        </p:nvSpPr>
        <p:spPr>
          <a:xfrm>
            <a:off x="7717536" y="1591056"/>
            <a:ext cx="2331720" cy="960120"/>
          </a:xfrm>
          <a:prstGeom prst="roundRect">
            <a:avLst>
              <a:gd name="adj" fmla="val 5714"/>
            </a:avLst>
          </a:prstGeom>
          <a:solidFill>
            <a:srgbClr val="FFFFFF"/>
          </a:solidFill>
          <a:ln w="12700">
            <a:solidFill>
              <a:srgbClr val="E6E5EC"/>
            </a:solidFill>
            <a:prstDash val="solid"/>
          </a:ln>
        </p:spPr>
        <p:txBody>
          <a:bodyPr/>
          <a:lstStyle/>
          <a:p>
            <a:endParaRPr lang="en-PK"/>
          </a:p>
        </p:txBody>
      </p:sp>
      <p:sp>
        <p:nvSpPr>
          <p:cNvPr id="20" name="Shape 17"/>
          <p:cNvSpPr/>
          <p:nvPr/>
        </p:nvSpPr>
        <p:spPr>
          <a:xfrm>
            <a:off x="7717536" y="1591056"/>
            <a:ext cx="54864" cy="960120"/>
          </a:xfrm>
          <a:prstGeom prst="rect">
            <a:avLst/>
          </a:prstGeom>
          <a:solidFill>
            <a:srgbClr val="4B1FA0"/>
          </a:solidFill>
          <a:ln/>
        </p:spPr>
        <p:txBody>
          <a:bodyPr/>
          <a:lstStyle/>
          <a:p>
            <a:endParaRPr lang="en-PK"/>
          </a:p>
        </p:txBody>
      </p:sp>
      <p:sp>
        <p:nvSpPr>
          <p:cNvPr id="21" name="Text 18"/>
          <p:cNvSpPr txBox="1"/>
          <p:nvPr/>
        </p:nvSpPr>
        <p:spPr>
          <a:xfrm>
            <a:off x="7845552" y="1591056"/>
            <a:ext cx="2148840" cy="960120"/>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FR-3.7</a:t>
            </a:r>
            <a:r>
              <a:rPr lang="en-US" sz="1050" b="1" dirty="0">
                <a:solidFill>
                  <a:srgbClr val="2B0B5E"/>
                </a:solidFill>
                <a:latin typeface="Calibri" pitchFamily="34" charset="0"/>
                <a:ea typeface="Calibri" pitchFamily="34" charset="-122"/>
                <a:cs typeface="Calibri" pitchFamily="34" charset="-120"/>
              </a:rPr>
              <a:t> · Matrix Export</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Exports the matrix as an Excel (.xlsx) file</a:t>
            </a:r>
            <a:endParaRPr lang="en-US" sz="1050" dirty="0"/>
          </a:p>
        </p:txBody>
      </p:sp>
      <p:sp>
        <p:nvSpPr>
          <p:cNvPr id="22" name="Shape 19"/>
          <p:cNvSpPr/>
          <p:nvPr/>
        </p:nvSpPr>
        <p:spPr>
          <a:xfrm>
            <a:off x="10140696" y="1591056"/>
            <a:ext cx="1593799" cy="960120"/>
          </a:xfrm>
          <a:prstGeom prst="roundRect">
            <a:avLst>
              <a:gd name="adj" fmla="val 5714"/>
            </a:avLst>
          </a:prstGeom>
          <a:solidFill>
            <a:srgbClr val="ECECF1"/>
          </a:solidFill>
          <a:ln/>
        </p:spPr>
        <p:txBody>
          <a:bodyPr/>
          <a:lstStyle/>
          <a:p>
            <a:endParaRPr lang="en-PK"/>
          </a:p>
        </p:txBody>
      </p:sp>
      <p:sp>
        <p:nvSpPr>
          <p:cNvPr id="23" name="Text 20"/>
          <p:cNvSpPr txBox="1"/>
          <p:nvPr/>
        </p:nvSpPr>
        <p:spPr>
          <a:xfrm>
            <a:off x="10232136" y="1591056"/>
            <a:ext cx="1429207" cy="960120"/>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Export is a formatted .xlsx file.</a:t>
            </a:r>
            <a:endParaRPr lang="en-US" sz="1000" dirty="0"/>
          </a:p>
        </p:txBody>
      </p:sp>
      <p:sp>
        <p:nvSpPr>
          <p:cNvPr id="24" name="Text 21"/>
          <p:cNvSpPr/>
          <p:nvPr/>
        </p:nvSpPr>
        <p:spPr>
          <a:xfrm>
            <a:off x="7406640" y="269748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5" name="Shape 22"/>
          <p:cNvSpPr/>
          <p:nvPr/>
        </p:nvSpPr>
        <p:spPr>
          <a:xfrm>
            <a:off x="7717536" y="2642616"/>
            <a:ext cx="2331720" cy="960120"/>
          </a:xfrm>
          <a:prstGeom prst="roundRect">
            <a:avLst>
              <a:gd name="adj" fmla="val 5714"/>
            </a:avLst>
          </a:prstGeom>
          <a:solidFill>
            <a:srgbClr val="FFFFFF"/>
          </a:solidFill>
          <a:ln w="12700">
            <a:solidFill>
              <a:srgbClr val="E6E5EC"/>
            </a:solidFill>
            <a:prstDash val="solid"/>
          </a:ln>
        </p:spPr>
        <p:txBody>
          <a:bodyPr/>
          <a:lstStyle/>
          <a:p>
            <a:endParaRPr lang="en-PK"/>
          </a:p>
        </p:txBody>
      </p:sp>
      <p:sp>
        <p:nvSpPr>
          <p:cNvPr id="26" name="Shape 23"/>
          <p:cNvSpPr/>
          <p:nvPr/>
        </p:nvSpPr>
        <p:spPr>
          <a:xfrm>
            <a:off x="7717536" y="2642616"/>
            <a:ext cx="54864" cy="960120"/>
          </a:xfrm>
          <a:prstGeom prst="rect">
            <a:avLst/>
          </a:prstGeom>
          <a:solidFill>
            <a:srgbClr val="4B1FA0"/>
          </a:solidFill>
          <a:ln/>
        </p:spPr>
        <p:txBody>
          <a:bodyPr/>
          <a:lstStyle/>
          <a:p>
            <a:endParaRPr lang="en-PK"/>
          </a:p>
        </p:txBody>
      </p:sp>
      <p:sp>
        <p:nvSpPr>
          <p:cNvPr id="27" name="Text 24"/>
          <p:cNvSpPr txBox="1"/>
          <p:nvPr/>
        </p:nvSpPr>
        <p:spPr>
          <a:xfrm>
            <a:off x="7845552" y="2642616"/>
            <a:ext cx="2148840" cy="960120"/>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FR-3.8</a:t>
            </a:r>
            <a:r>
              <a:rPr lang="en-US" sz="1050" b="1" dirty="0">
                <a:solidFill>
                  <a:srgbClr val="2B0B5E"/>
                </a:solidFill>
                <a:latin typeface="Calibri" pitchFamily="34" charset="0"/>
                <a:ea typeface="Calibri" pitchFamily="34" charset="-122"/>
                <a:cs typeface="Calibri" pitchFamily="34" charset="-120"/>
              </a:rPr>
              <a:t> · Multi-Model Comparison</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Compares up to 3 OEM models side by side</a:t>
            </a:r>
            <a:endParaRPr lang="en-US" sz="1050" dirty="0"/>
          </a:p>
        </p:txBody>
      </p:sp>
      <p:sp>
        <p:nvSpPr>
          <p:cNvPr id="28" name="Shape 25"/>
          <p:cNvSpPr/>
          <p:nvPr/>
        </p:nvSpPr>
        <p:spPr>
          <a:xfrm>
            <a:off x="10140696" y="2642616"/>
            <a:ext cx="1593799" cy="960120"/>
          </a:xfrm>
          <a:prstGeom prst="roundRect">
            <a:avLst>
              <a:gd name="adj" fmla="val 5714"/>
            </a:avLst>
          </a:prstGeom>
          <a:solidFill>
            <a:srgbClr val="EFE7FB"/>
          </a:solidFill>
          <a:ln/>
        </p:spPr>
        <p:txBody>
          <a:bodyPr/>
          <a:lstStyle/>
          <a:p>
            <a:endParaRPr lang="en-PK"/>
          </a:p>
        </p:txBody>
      </p:sp>
      <p:sp>
        <p:nvSpPr>
          <p:cNvPr id="29" name="Text 26"/>
          <p:cNvSpPr txBox="1"/>
          <p:nvPr/>
        </p:nvSpPr>
        <p:spPr>
          <a:xfrm>
            <a:off x="10232136" y="2642616"/>
            <a:ext cx="1429207" cy="960120"/>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Maximum three models compared at once.</a:t>
            </a:r>
            <a:endParaRPr lang="en-US" sz="1000" dirty="0"/>
          </a:p>
        </p:txBody>
      </p:sp>
      <p:sp>
        <p:nvSpPr>
          <p:cNvPr id="30" name="Text 27"/>
          <p:cNvSpPr/>
          <p:nvPr/>
        </p:nvSpPr>
        <p:spPr>
          <a:xfrm>
            <a:off x="7406640" y="374904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31" name="Shape 28"/>
          <p:cNvSpPr/>
          <p:nvPr/>
        </p:nvSpPr>
        <p:spPr>
          <a:xfrm>
            <a:off x="7717536" y="3694176"/>
            <a:ext cx="2331720" cy="960120"/>
          </a:xfrm>
          <a:prstGeom prst="roundRect">
            <a:avLst>
              <a:gd name="adj" fmla="val 5714"/>
            </a:avLst>
          </a:prstGeom>
          <a:solidFill>
            <a:srgbClr val="FFFFFF"/>
          </a:solidFill>
          <a:ln w="12700">
            <a:solidFill>
              <a:srgbClr val="E6E5EC"/>
            </a:solidFill>
            <a:prstDash val="solid"/>
          </a:ln>
        </p:spPr>
        <p:txBody>
          <a:bodyPr/>
          <a:lstStyle/>
          <a:p>
            <a:endParaRPr lang="en-PK"/>
          </a:p>
        </p:txBody>
      </p:sp>
      <p:sp>
        <p:nvSpPr>
          <p:cNvPr id="32" name="Shape 29"/>
          <p:cNvSpPr/>
          <p:nvPr/>
        </p:nvSpPr>
        <p:spPr>
          <a:xfrm>
            <a:off x="7717536" y="3694176"/>
            <a:ext cx="54864" cy="960120"/>
          </a:xfrm>
          <a:prstGeom prst="rect">
            <a:avLst/>
          </a:prstGeom>
          <a:solidFill>
            <a:srgbClr val="4B1FA0"/>
          </a:solidFill>
          <a:ln/>
        </p:spPr>
        <p:txBody>
          <a:bodyPr/>
          <a:lstStyle/>
          <a:p>
            <a:endParaRPr lang="en-PK"/>
          </a:p>
        </p:txBody>
      </p:sp>
      <p:sp>
        <p:nvSpPr>
          <p:cNvPr id="33" name="Text 30"/>
          <p:cNvSpPr txBox="1"/>
          <p:nvPr/>
        </p:nvSpPr>
        <p:spPr>
          <a:xfrm>
            <a:off x="7845552" y="3694176"/>
            <a:ext cx="2148840" cy="960120"/>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FR-3.9</a:t>
            </a:r>
            <a:r>
              <a:rPr lang="en-US" sz="1050" b="1" dirty="0">
                <a:solidFill>
                  <a:srgbClr val="2B0B5E"/>
                </a:solidFill>
                <a:latin typeface="Calibri" pitchFamily="34" charset="0"/>
                <a:ea typeface="Calibri" pitchFamily="34" charset="-122"/>
                <a:cs typeface="Calibri" pitchFamily="34" charset="-120"/>
              </a:rPr>
              <a:t> · Descriptive Matching</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Embedding search + reranking finds datasheet evidence</a:t>
            </a:r>
            <a:endParaRPr lang="en-US" sz="1050" dirty="0"/>
          </a:p>
        </p:txBody>
      </p:sp>
      <p:sp>
        <p:nvSpPr>
          <p:cNvPr id="34" name="Shape 31"/>
          <p:cNvSpPr/>
          <p:nvPr/>
        </p:nvSpPr>
        <p:spPr>
          <a:xfrm>
            <a:off x="10140696" y="3694176"/>
            <a:ext cx="1593799" cy="960120"/>
          </a:xfrm>
          <a:prstGeom prst="roundRect">
            <a:avLst>
              <a:gd name="adj" fmla="val 5714"/>
            </a:avLst>
          </a:prstGeom>
          <a:solidFill>
            <a:srgbClr val="ECECF1"/>
          </a:solidFill>
          <a:ln/>
        </p:spPr>
        <p:txBody>
          <a:bodyPr/>
          <a:lstStyle/>
          <a:p>
            <a:endParaRPr lang="en-PK"/>
          </a:p>
        </p:txBody>
      </p:sp>
      <p:sp>
        <p:nvSpPr>
          <p:cNvPr id="35" name="Text 32"/>
          <p:cNvSpPr txBox="1"/>
          <p:nvPr/>
        </p:nvSpPr>
        <p:spPr>
          <a:xfrm>
            <a:off x="10232136" y="3694176"/>
            <a:ext cx="1429207" cy="960120"/>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Only for non-constraint requirements; the top-ranked passage is the evidence.</a:t>
            </a:r>
            <a:endParaRPr lang="en-US" sz="1000" dirty="0"/>
          </a:p>
        </p:txBody>
      </p:sp>
      <p:sp>
        <p:nvSpPr>
          <p:cNvPr id="36" name="Text 33"/>
          <p:cNvSpPr/>
          <p:nvPr/>
        </p:nvSpPr>
        <p:spPr>
          <a:xfrm>
            <a:off x="7406640" y="480060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37" name="Shape 34"/>
          <p:cNvSpPr/>
          <p:nvPr/>
        </p:nvSpPr>
        <p:spPr>
          <a:xfrm>
            <a:off x="7717536" y="4745736"/>
            <a:ext cx="2331720" cy="960120"/>
          </a:xfrm>
          <a:prstGeom prst="roundRect">
            <a:avLst>
              <a:gd name="adj" fmla="val 5714"/>
            </a:avLst>
          </a:prstGeom>
          <a:solidFill>
            <a:srgbClr val="FFFFFF"/>
          </a:solidFill>
          <a:ln w="12700">
            <a:solidFill>
              <a:srgbClr val="E6E5EC"/>
            </a:solidFill>
            <a:prstDash val="solid"/>
          </a:ln>
        </p:spPr>
        <p:txBody>
          <a:bodyPr/>
          <a:lstStyle/>
          <a:p>
            <a:endParaRPr lang="en-PK"/>
          </a:p>
        </p:txBody>
      </p:sp>
      <p:sp>
        <p:nvSpPr>
          <p:cNvPr id="38" name="Shape 35"/>
          <p:cNvSpPr/>
          <p:nvPr/>
        </p:nvSpPr>
        <p:spPr>
          <a:xfrm>
            <a:off x="7717536" y="4745736"/>
            <a:ext cx="54864" cy="960120"/>
          </a:xfrm>
          <a:prstGeom prst="rect">
            <a:avLst/>
          </a:prstGeom>
          <a:solidFill>
            <a:srgbClr val="4B1FA0"/>
          </a:solidFill>
          <a:ln/>
        </p:spPr>
        <p:txBody>
          <a:bodyPr/>
          <a:lstStyle/>
          <a:p>
            <a:endParaRPr lang="en-PK"/>
          </a:p>
        </p:txBody>
      </p:sp>
      <p:sp>
        <p:nvSpPr>
          <p:cNvPr id="39" name="Text 36"/>
          <p:cNvSpPr txBox="1"/>
          <p:nvPr/>
        </p:nvSpPr>
        <p:spPr>
          <a:xfrm>
            <a:off x="7845552" y="4745736"/>
            <a:ext cx="2148840" cy="960120"/>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FR-3.10</a:t>
            </a:r>
            <a:r>
              <a:rPr lang="en-US" sz="1050" b="1" dirty="0">
                <a:solidFill>
                  <a:srgbClr val="2B0B5E"/>
                </a:solidFill>
                <a:latin typeface="Calibri" pitchFamily="34" charset="0"/>
                <a:ea typeface="Calibri" pitchFamily="34" charset="-122"/>
                <a:cs typeface="Calibri" pitchFamily="34" charset="-120"/>
              </a:rPr>
              <a:t> · Evidence and Review Flag</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Keeps reason and evidence; weak rows “needs review”</a:t>
            </a:r>
            <a:endParaRPr lang="en-US" sz="1050" dirty="0"/>
          </a:p>
        </p:txBody>
      </p:sp>
      <p:sp>
        <p:nvSpPr>
          <p:cNvPr id="40" name="Shape 37"/>
          <p:cNvSpPr/>
          <p:nvPr/>
        </p:nvSpPr>
        <p:spPr>
          <a:xfrm>
            <a:off x="10140696" y="4745736"/>
            <a:ext cx="1593799" cy="960120"/>
          </a:xfrm>
          <a:prstGeom prst="roundRect">
            <a:avLst>
              <a:gd name="adj" fmla="val 5714"/>
            </a:avLst>
          </a:prstGeom>
          <a:solidFill>
            <a:srgbClr val="EFE7FB"/>
          </a:solidFill>
          <a:ln/>
        </p:spPr>
        <p:txBody>
          <a:bodyPr/>
          <a:lstStyle/>
          <a:p>
            <a:endParaRPr lang="en-PK"/>
          </a:p>
        </p:txBody>
      </p:sp>
      <p:sp>
        <p:nvSpPr>
          <p:cNvPr id="41" name="Text 38"/>
          <p:cNvSpPr txBox="1"/>
          <p:nvPr/>
        </p:nvSpPr>
        <p:spPr>
          <a:xfrm>
            <a:off x="10232136" y="4745736"/>
            <a:ext cx="1429207" cy="960120"/>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“Needs review” when match score &lt; 0.5 or no evidence is found.</a:t>
            </a:r>
            <a:endParaRPr lang="en-US" sz="1000" dirty="0"/>
          </a:p>
        </p:txBody>
      </p:sp>
      <p:sp>
        <p:nvSpPr>
          <p:cNvPr id="42" name="Text 39">
            <a:hlinkClick r:id="" action="ppaction://noaction"/>
          </p:cNvPr>
          <p:cNvSpPr/>
          <p:nvPr/>
        </p:nvSpPr>
        <p:spPr>
          <a:xfrm>
            <a:off x="6787591"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43" name="Text 40">
            <a:hlinkClick r:id="rId4" action="ppaction://hlinksldjump" tooltip="Contents"/>
          </p:cNvPr>
          <p:cNvSpPr/>
          <p:nvPr/>
        </p:nvSpPr>
        <p:spPr>
          <a:xfrm>
            <a:off x="7765999"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44" name="Text 41">
            <a:hlinkClick r:id="rId5" action="ppaction://hlinksldjump" tooltip="Module"/>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Module">
                  <a:extLst>
                    <a:ext uri="{A12FA001-AC4F-418D-AE19-62706E023703}">
                      <ahyp:hlinkClr xmlns:ahyp="http://schemas.microsoft.com/office/drawing/2018/hyperlinkcolor" val="tx"/>
                    </a:ext>
                  </a:extLst>
                </a:hlinkClick>
              </a:rPr>
              <a:t>Module</a:t>
            </a:r>
            <a:endParaRPr lang="en-US" sz="1100" dirty="0"/>
          </a:p>
        </p:txBody>
      </p:sp>
      <p:sp>
        <p:nvSpPr>
          <p:cNvPr id="45" name="Text 42">
            <a:hlinkClick r:id="rId6" action="ppaction://hlinksldjump" tooltip="Use case"/>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Use case">
                  <a:extLst>
                    <a:ext uri="{A12FA001-AC4F-418D-AE19-62706E023703}">
                      <ahyp:hlinkClr xmlns:ahyp="http://schemas.microsoft.com/office/drawing/2018/hyperlinkcolor" val="tx"/>
                    </a:ext>
                  </a:extLst>
                </a:hlinkClick>
              </a:rPr>
              <a:t>Use case</a:t>
            </a:r>
            <a:endParaRPr lang="en-US" sz="1100" dirty="0"/>
          </a:p>
        </p:txBody>
      </p:sp>
      <p:sp>
        <p:nvSpPr>
          <p:cNvPr id="46" name="Text 43">
            <a:hlinkClick r:id="rId7"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47120" cy="502920"/>
          </a:xfrm>
          <a:prstGeom prst="rect">
            <a:avLst/>
          </a:prstGeom>
          <a:noFill/>
          <a:ln/>
        </p:spPr>
        <p:txBody>
          <a:bodyPr wrap="square" lIns="0" tIns="0" rIns="0" bIns="0" rtlCol="0" anchor="t"/>
          <a:lstStyle/>
          <a:p>
            <a:pPr marL="0" indent="0">
              <a:buNone/>
            </a:pPr>
            <a:r>
              <a:rPr lang="en-US" sz="2600" b="1" dirty="0">
                <a:solidFill>
                  <a:srgbClr val="4B1FA0"/>
                </a:solidFill>
                <a:latin typeface="Calibri" pitchFamily="34" charset="0"/>
                <a:ea typeface="Calibri" pitchFamily="34" charset="-122"/>
                <a:cs typeface="Calibri" pitchFamily="34" charset="-120"/>
              </a:rPr>
              <a:t>W-16 – </a:t>
            </a:r>
            <a:r>
              <a:rPr lang="en-US" sz="2600" b="1" dirty="0">
                <a:solidFill>
                  <a:srgbClr val="2B0B5E"/>
                </a:solidFill>
                <a:latin typeface="Calibri" pitchFamily="34" charset="0"/>
                <a:ea typeface="Calibri" pitchFamily="34" charset="-122"/>
                <a:cs typeface="Calibri" pitchFamily="34" charset="-120"/>
              </a:rPr>
              <a:t>Technical Evaluation Criteria Analyser</a:t>
            </a:r>
            <a:endParaRPr lang="en-US" sz="2600" dirty="0"/>
          </a:p>
        </p:txBody>
      </p:sp>
      <p:sp>
        <p:nvSpPr>
          <p:cNvPr id="3" name="Text 1"/>
          <p:cNvSpPr txBox="1"/>
          <p:nvPr/>
        </p:nvSpPr>
        <p:spPr>
          <a:xfrm>
            <a:off x="457200" y="777240"/>
            <a:ext cx="11247120" cy="384048"/>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The RFP’s scoring table, its thresholds and our live running score.</a:t>
            </a:r>
            <a:endParaRPr lang="en-US" sz="13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37</a:t>
            </a:r>
            <a:endParaRPr lang="en-US" sz="1000" dirty="0"/>
          </a:p>
        </p:txBody>
      </p:sp>
      <p:sp>
        <p:nvSpPr>
          <p:cNvPr id="5" name="Shape 3"/>
          <p:cNvSpPr/>
          <p:nvPr/>
        </p:nvSpPr>
        <p:spPr>
          <a:xfrm>
            <a:off x="429768" y="1271016"/>
            <a:ext cx="5235107" cy="4398264"/>
          </a:xfrm>
          <a:prstGeom prst="rect">
            <a:avLst/>
          </a:prstGeom>
          <a:solidFill>
            <a:srgbClr val="FFFFFF"/>
          </a:solidFill>
          <a:ln w="12700">
            <a:solidFill>
              <a:srgbClr val="E6E5EC"/>
            </a:solidFill>
            <a:prstDash val="solid"/>
          </a:ln>
        </p:spPr>
        <p:txBody>
          <a:bodyPr/>
          <a:lstStyle/>
          <a:p>
            <a:endParaRPr lang="en-PK"/>
          </a:p>
        </p:txBody>
      </p:sp>
      <p:pic>
        <p:nvPicPr>
          <p:cNvPr id="6" name="Image 0" descr="Technical Evaluation Criteria Analyser mockup"/>
          <p:cNvPicPr>
            <a:picLocks noChangeAspect="1"/>
          </p:cNvPicPr>
          <p:nvPr/>
        </p:nvPicPr>
        <p:blipFill>
          <a:blip r:embed="rId3"/>
          <a:stretch>
            <a:fillRect/>
          </a:stretch>
        </p:blipFill>
        <p:spPr>
          <a:xfrm>
            <a:off x="457200" y="1298448"/>
            <a:ext cx="5180243" cy="4343400"/>
          </a:xfrm>
          <a:prstGeom prst="rect">
            <a:avLst/>
          </a:prstGeom>
        </p:spPr>
      </p:pic>
      <p:sp>
        <p:nvSpPr>
          <p:cNvPr id="7" name="Shape 4"/>
          <p:cNvSpPr/>
          <p:nvPr/>
        </p:nvSpPr>
        <p:spPr>
          <a:xfrm>
            <a:off x="1460872" y="1796799"/>
            <a:ext cx="4072247" cy="94600"/>
          </a:xfrm>
          <a:prstGeom prst="rect">
            <a:avLst/>
          </a:prstGeom>
          <a:solidFill>
            <a:srgbClr val="E5484D">
              <a:alpha val="12000"/>
            </a:srgbClr>
          </a:solidFill>
          <a:ln w="22225">
            <a:solidFill>
              <a:srgbClr val="E5484D"/>
            </a:solidFill>
            <a:prstDash val="solid"/>
          </a:ln>
        </p:spPr>
        <p:txBody>
          <a:bodyPr/>
          <a:lstStyle/>
          <a:p>
            <a:endParaRPr lang="en-PK"/>
          </a:p>
        </p:txBody>
      </p:sp>
      <p:sp>
        <p:nvSpPr>
          <p:cNvPr id="8" name="Text 5"/>
          <p:cNvSpPr/>
          <p:nvPr/>
        </p:nvSpPr>
        <p:spPr>
          <a:xfrm>
            <a:off x="1186552" y="1720655"/>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Shape 6"/>
          <p:cNvSpPr/>
          <p:nvPr/>
        </p:nvSpPr>
        <p:spPr>
          <a:xfrm>
            <a:off x="1543612" y="3120302"/>
            <a:ext cx="497452" cy="110226"/>
          </a:xfrm>
          <a:prstGeom prst="rect">
            <a:avLst/>
          </a:prstGeom>
          <a:solidFill>
            <a:srgbClr val="E5484D">
              <a:alpha val="12000"/>
            </a:srgbClr>
          </a:solidFill>
          <a:ln w="22225">
            <a:solidFill>
              <a:srgbClr val="E5484D"/>
            </a:solidFill>
            <a:prstDash val="solid"/>
          </a:ln>
        </p:spPr>
        <p:txBody>
          <a:bodyPr/>
          <a:lstStyle/>
          <a:p>
            <a:endParaRPr lang="en-PK"/>
          </a:p>
        </p:txBody>
      </p:sp>
      <p:sp>
        <p:nvSpPr>
          <p:cNvPr id="10" name="Text 7"/>
          <p:cNvSpPr/>
          <p:nvPr/>
        </p:nvSpPr>
        <p:spPr>
          <a:xfrm>
            <a:off x="1269292" y="3051971"/>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Shape 8"/>
          <p:cNvSpPr/>
          <p:nvPr/>
        </p:nvSpPr>
        <p:spPr>
          <a:xfrm>
            <a:off x="2621031" y="2682263"/>
            <a:ext cx="317695" cy="84145"/>
          </a:xfrm>
          <a:prstGeom prst="rect">
            <a:avLst/>
          </a:prstGeom>
          <a:solidFill>
            <a:srgbClr val="E5484D">
              <a:alpha val="12000"/>
            </a:srgbClr>
          </a:solidFill>
          <a:ln w="22225">
            <a:solidFill>
              <a:srgbClr val="E5484D"/>
            </a:solidFill>
            <a:prstDash val="solid"/>
          </a:ln>
        </p:spPr>
        <p:txBody>
          <a:bodyPr/>
          <a:lstStyle/>
          <a:p>
            <a:endParaRPr lang="en-PK"/>
          </a:p>
        </p:txBody>
      </p:sp>
      <p:sp>
        <p:nvSpPr>
          <p:cNvPr id="12" name="Text 9"/>
          <p:cNvSpPr/>
          <p:nvPr/>
        </p:nvSpPr>
        <p:spPr>
          <a:xfrm>
            <a:off x="2346711" y="2600892"/>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3" name="Shape 10"/>
          <p:cNvSpPr/>
          <p:nvPr/>
        </p:nvSpPr>
        <p:spPr>
          <a:xfrm>
            <a:off x="1460872" y="2282953"/>
            <a:ext cx="1560593" cy="699299"/>
          </a:xfrm>
          <a:prstGeom prst="rect">
            <a:avLst/>
          </a:prstGeom>
          <a:solidFill>
            <a:srgbClr val="E5484D">
              <a:alpha val="12000"/>
            </a:srgbClr>
          </a:solidFill>
          <a:ln w="22225">
            <a:solidFill>
              <a:srgbClr val="E5484D"/>
            </a:solidFill>
            <a:prstDash val="solid"/>
          </a:ln>
        </p:spPr>
        <p:txBody>
          <a:bodyPr/>
          <a:lstStyle/>
          <a:p>
            <a:endParaRPr lang="en-PK"/>
          </a:p>
        </p:txBody>
      </p:sp>
      <p:sp>
        <p:nvSpPr>
          <p:cNvPr id="14" name="Text 11"/>
          <p:cNvSpPr/>
          <p:nvPr/>
        </p:nvSpPr>
        <p:spPr>
          <a:xfrm>
            <a:off x="1186552" y="2509158"/>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5" name="Shape 12"/>
          <p:cNvSpPr/>
          <p:nvPr/>
        </p:nvSpPr>
        <p:spPr>
          <a:xfrm>
            <a:off x="1701897" y="2012193"/>
            <a:ext cx="1204002" cy="82740"/>
          </a:xfrm>
          <a:prstGeom prst="rect">
            <a:avLst/>
          </a:prstGeom>
          <a:solidFill>
            <a:srgbClr val="E5484D">
              <a:alpha val="12000"/>
            </a:srgbClr>
          </a:solidFill>
          <a:ln w="22225">
            <a:solidFill>
              <a:srgbClr val="E5484D"/>
            </a:solidFill>
            <a:prstDash val="solid"/>
          </a:ln>
        </p:spPr>
        <p:txBody>
          <a:bodyPr/>
          <a:lstStyle/>
          <a:p>
            <a:endParaRPr lang="en-PK"/>
          </a:p>
        </p:txBody>
      </p:sp>
      <p:sp>
        <p:nvSpPr>
          <p:cNvPr id="16" name="Text 13"/>
          <p:cNvSpPr/>
          <p:nvPr/>
        </p:nvSpPr>
        <p:spPr>
          <a:xfrm>
            <a:off x="1427577" y="1930119"/>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7" name="Shape 14"/>
          <p:cNvSpPr/>
          <p:nvPr/>
        </p:nvSpPr>
        <p:spPr>
          <a:xfrm>
            <a:off x="1730676" y="5419372"/>
            <a:ext cx="2435378" cy="89373"/>
          </a:xfrm>
          <a:prstGeom prst="rect">
            <a:avLst/>
          </a:prstGeom>
          <a:solidFill>
            <a:srgbClr val="E5484D">
              <a:alpha val="12000"/>
            </a:srgbClr>
          </a:solidFill>
          <a:ln w="22225">
            <a:solidFill>
              <a:srgbClr val="E5484D"/>
            </a:solidFill>
            <a:prstDash val="solid"/>
          </a:ln>
        </p:spPr>
        <p:txBody>
          <a:bodyPr/>
          <a:lstStyle/>
          <a:p>
            <a:endParaRPr lang="en-PK"/>
          </a:p>
        </p:txBody>
      </p:sp>
      <p:sp>
        <p:nvSpPr>
          <p:cNvPr id="18" name="Text 15"/>
          <p:cNvSpPr/>
          <p:nvPr/>
        </p:nvSpPr>
        <p:spPr>
          <a:xfrm>
            <a:off x="1456356" y="5340614"/>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19" name="Text 16"/>
          <p:cNvSpPr txBox="1"/>
          <p:nvPr/>
        </p:nvSpPr>
        <p:spPr>
          <a:xfrm>
            <a:off x="457200" y="5760720"/>
            <a:ext cx="6720840" cy="457200"/>
          </a:xfrm>
          <a:prstGeom prst="rect">
            <a:avLst/>
          </a:prstGeom>
          <a:solidFill>
            <a:srgbClr val="FFFFFF"/>
          </a:solidFill>
          <a:ln w="9525">
            <a:solidFill>
              <a:srgbClr val="E6E5EC"/>
            </a:solidFill>
          </a:ln>
        </p:spPr>
        <p:txBody>
          <a:bodyPr wrap="square" lIns="50800" tIns="127000" rIns="127000" bIns="5080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Use case: </a:t>
            </a:r>
            <a:r>
              <a:rPr lang="en-US" sz="1050" dirty="0">
                <a:solidFill>
                  <a:srgbClr val="1A1A22"/>
                </a:solidFill>
                <a:latin typeface="Calibri" pitchFamily="34" charset="0"/>
                <a:ea typeface="Calibri" pitchFamily="34" charset="-122"/>
                <a:cs typeface="Calibri" pitchFamily="34" charset="-120"/>
              </a:rPr>
              <a:t>Track Evaluation Score (+ Extract Scoring Criteria)   </a:t>
            </a:r>
            <a:r>
              <a:rPr lang="en-US" sz="1050" dirty="0">
                <a:solidFill>
                  <a:srgbClr val="C9B6F2"/>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rule from the SRS  </a:t>
            </a:r>
            <a:r>
              <a:rPr lang="en-US" sz="1050" dirty="0">
                <a:solidFill>
                  <a:srgbClr val="BDBDC8"/>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condition stated in the FR</a:t>
            </a:r>
            <a:endParaRPr lang="en-US" sz="1050" dirty="0"/>
          </a:p>
        </p:txBody>
      </p:sp>
      <p:sp>
        <p:nvSpPr>
          <p:cNvPr id="20" name="Text 17"/>
          <p:cNvSpPr txBox="1"/>
          <p:nvPr/>
        </p:nvSpPr>
        <p:spPr>
          <a:xfrm>
            <a:off x="7717536" y="1298448"/>
            <a:ext cx="2331720"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FUNCTIONAL REQUIREMENT</a:t>
            </a:r>
            <a:endParaRPr lang="en-US" sz="1000" dirty="0"/>
          </a:p>
        </p:txBody>
      </p:sp>
      <p:sp>
        <p:nvSpPr>
          <p:cNvPr id="21" name="Text 18"/>
          <p:cNvSpPr txBox="1"/>
          <p:nvPr/>
        </p:nvSpPr>
        <p:spPr>
          <a:xfrm>
            <a:off x="10140696" y="1298448"/>
            <a:ext cx="1593799"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BUSINESS RULE</a:t>
            </a:r>
            <a:endParaRPr lang="en-US" sz="1000" dirty="0"/>
          </a:p>
        </p:txBody>
      </p:sp>
      <p:sp>
        <p:nvSpPr>
          <p:cNvPr id="22" name="Text 19"/>
          <p:cNvSpPr/>
          <p:nvPr/>
        </p:nvSpPr>
        <p:spPr>
          <a:xfrm>
            <a:off x="7406640" y="164592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23" name="Shape 20"/>
          <p:cNvSpPr/>
          <p:nvPr/>
        </p:nvSpPr>
        <p:spPr>
          <a:xfrm>
            <a:off x="7717536" y="1591056"/>
            <a:ext cx="2331720" cy="697992"/>
          </a:xfrm>
          <a:prstGeom prst="roundRect">
            <a:avLst>
              <a:gd name="adj" fmla="val 7860"/>
            </a:avLst>
          </a:prstGeom>
          <a:solidFill>
            <a:srgbClr val="FFFFFF"/>
          </a:solidFill>
          <a:ln w="12700">
            <a:solidFill>
              <a:srgbClr val="E6E5EC"/>
            </a:solidFill>
            <a:prstDash val="solid"/>
          </a:ln>
        </p:spPr>
        <p:txBody>
          <a:bodyPr/>
          <a:lstStyle/>
          <a:p>
            <a:endParaRPr lang="en-PK"/>
          </a:p>
        </p:txBody>
      </p:sp>
      <p:sp>
        <p:nvSpPr>
          <p:cNvPr id="24" name="Shape 21"/>
          <p:cNvSpPr/>
          <p:nvPr/>
        </p:nvSpPr>
        <p:spPr>
          <a:xfrm>
            <a:off x="7717536" y="1591056"/>
            <a:ext cx="54864" cy="697992"/>
          </a:xfrm>
          <a:prstGeom prst="rect">
            <a:avLst/>
          </a:prstGeom>
          <a:solidFill>
            <a:srgbClr val="4B1FA0"/>
          </a:solidFill>
          <a:ln/>
        </p:spPr>
        <p:txBody>
          <a:bodyPr/>
          <a:lstStyle/>
          <a:p>
            <a:endParaRPr lang="en-PK"/>
          </a:p>
        </p:txBody>
      </p:sp>
      <p:sp>
        <p:nvSpPr>
          <p:cNvPr id="25" name="Text 22"/>
          <p:cNvSpPr txBox="1"/>
          <p:nvPr/>
        </p:nvSpPr>
        <p:spPr>
          <a:xfrm>
            <a:off x="7845552" y="1591056"/>
            <a:ext cx="2148840" cy="697992"/>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FR-4.1</a:t>
            </a:r>
            <a:r>
              <a:rPr lang="en-US" sz="1050" b="1" dirty="0">
                <a:solidFill>
                  <a:srgbClr val="2B0B5E"/>
                </a:solidFill>
                <a:latin typeface="Calibri" pitchFamily="34" charset="0"/>
                <a:ea typeface="Calibri" pitchFamily="34" charset="-122"/>
                <a:cs typeface="Calibri" pitchFamily="34" charset="-120"/>
              </a:rPr>
              <a:t> · Scoring Table Extraction</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Reads the RFP’s scoring table into structured data</a:t>
            </a:r>
            <a:endParaRPr lang="en-US" sz="1050" dirty="0"/>
          </a:p>
        </p:txBody>
      </p:sp>
      <p:sp>
        <p:nvSpPr>
          <p:cNvPr id="26" name="Shape 23"/>
          <p:cNvSpPr/>
          <p:nvPr/>
        </p:nvSpPr>
        <p:spPr>
          <a:xfrm>
            <a:off x="10140696" y="1591056"/>
            <a:ext cx="1593799" cy="697992"/>
          </a:xfrm>
          <a:prstGeom prst="roundRect">
            <a:avLst>
              <a:gd name="adj" fmla="val 7860"/>
            </a:avLst>
          </a:prstGeom>
          <a:solidFill>
            <a:srgbClr val="ECECF1"/>
          </a:solidFill>
          <a:ln/>
        </p:spPr>
        <p:txBody>
          <a:bodyPr/>
          <a:lstStyle/>
          <a:p>
            <a:endParaRPr lang="en-PK"/>
          </a:p>
        </p:txBody>
      </p:sp>
      <p:sp>
        <p:nvSpPr>
          <p:cNvPr id="27" name="Text 24"/>
          <p:cNvSpPr txBox="1"/>
          <p:nvPr/>
        </p:nvSpPr>
        <p:spPr>
          <a:xfrm>
            <a:off x="10232136" y="1591056"/>
            <a:ext cx="1429207" cy="697992"/>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Captures criterion, marks and thresholds.</a:t>
            </a:r>
            <a:endParaRPr lang="en-US" sz="1000" dirty="0"/>
          </a:p>
        </p:txBody>
      </p:sp>
      <p:sp>
        <p:nvSpPr>
          <p:cNvPr id="28" name="Text 25"/>
          <p:cNvSpPr/>
          <p:nvPr/>
        </p:nvSpPr>
        <p:spPr>
          <a:xfrm>
            <a:off x="7406640" y="2435352"/>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9" name="Shape 26"/>
          <p:cNvSpPr/>
          <p:nvPr/>
        </p:nvSpPr>
        <p:spPr>
          <a:xfrm>
            <a:off x="7717536" y="2380488"/>
            <a:ext cx="2331720" cy="697992"/>
          </a:xfrm>
          <a:prstGeom prst="roundRect">
            <a:avLst>
              <a:gd name="adj" fmla="val 7860"/>
            </a:avLst>
          </a:prstGeom>
          <a:solidFill>
            <a:srgbClr val="FFFFFF"/>
          </a:solidFill>
          <a:ln w="12700">
            <a:solidFill>
              <a:srgbClr val="E6E5EC"/>
            </a:solidFill>
            <a:prstDash val="solid"/>
          </a:ln>
        </p:spPr>
        <p:txBody>
          <a:bodyPr/>
          <a:lstStyle/>
          <a:p>
            <a:endParaRPr lang="en-PK"/>
          </a:p>
        </p:txBody>
      </p:sp>
      <p:sp>
        <p:nvSpPr>
          <p:cNvPr id="30" name="Shape 27"/>
          <p:cNvSpPr/>
          <p:nvPr/>
        </p:nvSpPr>
        <p:spPr>
          <a:xfrm>
            <a:off x="7717536" y="2380488"/>
            <a:ext cx="54864" cy="697992"/>
          </a:xfrm>
          <a:prstGeom prst="rect">
            <a:avLst/>
          </a:prstGeom>
          <a:solidFill>
            <a:srgbClr val="4B1FA0"/>
          </a:solidFill>
          <a:ln/>
        </p:spPr>
        <p:txBody>
          <a:bodyPr/>
          <a:lstStyle/>
          <a:p>
            <a:endParaRPr lang="en-PK"/>
          </a:p>
        </p:txBody>
      </p:sp>
      <p:sp>
        <p:nvSpPr>
          <p:cNvPr id="31" name="Text 28"/>
          <p:cNvSpPr txBox="1"/>
          <p:nvPr/>
        </p:nvSpPr>
        <p:spPr>
          <a:xfrm>
            <a:off x="7845552" y="2380488"/>
            <a:ext cx="2148840" cy="697992"/>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FR-4.2</a:t>
            </a:r>
            <a:r>
              <a:rPr lang="en-US" sz="1050" b="1" dirty="0">
                <a:solidFill>
                  <a:srgbClr val="2B0B5E"/>
                </a:solidFill>
                <a:latin typeface="Calibri" pitchFamily="34" charset="0"/>
                <a:ea typeface="Calibri" pitchFamily="34" charset="-122"/>
                <a:cs typeface="Calibri" pitchFamily="34" charset="-120"/>
              </a:rPr>
              <a:t> · Marks Display</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Sortable table of marks per category and requirement</a:t>
            </a:r>
            <a:endParaRPr lang="en-US" sz="1050" dirty="0"/>
          </a:p>
        </p:txBody>
      </p:sp>
      <p:sp>
        <p:nvSpPr>
          <p:cNvPr id="32" name="Shape 29"/>
          <p:cNvSpPr/>
          <p:nvPr/>
        </p:nvSpPr>
        <p:spPr>
          <a:xfrm>
            <a:off x="10140696" y="2380488"/>
            <a:ext cx="1593799" cy="697992"/>
          </a:xfrm>
          <a:prstGeom prst="roundRect">
            <a:avLst>
              <a:gd name="adj" fmla="val 7860"/>
            </a:avLst>
          </a:prstGeom>
          <a:solidFill>
            <a:srgbClr val="ECECF1"/>
          </a:solidFill>
          <a:ln/>
        </p:spPr>
        <p:txBody>
          <a:bodyPr/>
          <a:lstStyle/>
          <a:p>
            <a:endParaRPr lang="en-PK"/>
          </a:p>
        </p:txBody>
      </p:sp>
      <p:sp>
        <p:nvSpPr>
          <p:cNvPr id="33" name="Text 30"/>
          <p:cNvSpPr txBox="1"/>
          <p:nvPr/>
        </p:nvSpPr>
        <p:spPr>
          <a:xfrm>
            <a:off x="10232136" y="2380488"/>
            <a:ext cx="1429207" cy="697992"/>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Table is sortable.</a:t>
            </a:r>
            <a:endParaRPr lang="en-US" sz="1000" dirty="0"/>
          </a:p>
        </p:txBody>
      </p:sp>
      <p:sp>
        <p:nvSpPr>
          <p:cNvPr id="34" name="Text 31"/>
          <p:cNvSpPr/>
          <p:nvPr/>
        </p:nvSpPr>
        <p:spPr>
          <a:xfrm>
            <a:off x="7406640" y="3224784"/>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35" name="Shape 32"/>
          <p:cNvSpPr/>
          <p:nvPr/>
        </p:nvSpPr>
        <p:spPr>
          <a:xfrm>
            <a:off x="7717536" y="3169920"/>
            <a:ext cx="2331720" cy="697992"/>
          </a:xfrm>
          <a:prstGeom prst="roundRect">
            <a:avLst>
              <a:gd name="adj" fmla="val 7860"/>
            </a:avLst>
          </a:prstGeom>
          <a:solidFill>
            <a:srgbClr val="FFFFFF"/>
          </a:solidFill>
          <a:ln w="12700">
            <a:solidFill>
              <a:srgbClr val="E6E5EC"/>
            </a:solidFill>
            <a:prstDash val="solid"/>
          </a:ln>
        </p:spPr>
        <p:txBody>
          <a:bodyPr/>
          <a:lstStyle/>
          <a:p>
            <a:endParaRPr lang="en-PK"/>
          </a:p>
        </p:txBody>
      </p:sp>
      <p:sp>
        <p:nvSpPr>
          <p:cNvPr id="36" name="Shape 33"/>
          <p:cNvSpPr/>
          <p:nvPr/>
        </p:nvSpPr>
        <p:spPr>
          <a:xfrm>
            <a:off x="7717536" y="3169920"/>
            <a:ext cx="54864" cy="697992"/>
          </a:xfrm>
          <a:prstGeom prst="rect">
            <a:avLst/>
          </a:prstGeom>
          <a:solidFill>
            <a:srgbClr val="4B1FA0"/>
          </a:solidFill>
          <a:ln/>
        </p:spPr>
        <p:txBody>
          <a:bodyPr/>
          <a:lstStyle/>
          <a:p>
            <a:endParaRPr lang="en-PK"/>
          </a:p>
        </p:txBody>
      </p:sp>
      <p:sp>
        <p:nvSpPr>
          <p:cNvPr id="37" name="Text 34"/>
          <p:cNvSpPr txBox="1"/>
          <p:nvPr/>
        </p:nvSpPr>
        <p:spPr>
          <a:xfrm>
            <a:off x="7845552" y="3169920"/>
            <a:ext cx="2148840" cy="697992"/>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FR-4.3</a:t>
            </a:r>
            <a:r>
              <a:rPr lang="en-US" sz="1050" b="1" dirty="0">
                <a:solidFill>
                  <a:srgbClr val="2B0B5E"/>
                </a:solidFill>
                <a:latin typeface="Calibri" pitchFamily="34" charset="0"/>
                <a:ea typeface="Calibri" pitchFamily="34" charset="-122"/>
                <a:cs typeface="Calibri" pitchFamily="34" charset="-120"/>
              </a:rPr>
              <a:t> · Threshold Display</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Shows the qualifying and disqualification scores</a:t>
            </a:r>
            <a:endParaRPr lang="en-US" sz="1050" dirty="0"/>
          </a:p>
        </p:txBody>
      </p:sp>
      <p:sp>
        <p:nvSpPr>
          <p:cNvPr id="38" name="Shape 35"/>
          <p:cNvSpPr/>
          <p:nvPr/>
        </p:nvSpPr>
        <p:spPr>
          <a:xfrm>
            <a:off x="10140696" y="3169920"/>
            <a:ext cx="1593799" cy="697992"/>
          </a:xfrm>
          <a:prstGeom prst="roundRect">
            <a:avLst>
              <a:gd name="adj" fmla="val 7860"/>
            </a:avLst>
          </a:prstGeom>
          <a:solidFill>
            <a:srgbClr val="ECECF1"/>
          </a:solidFill>
          <a:ln/>
        </p:spPr>
        <p:txBody>
          <a:bodyPr/>
          <a:lstStyle/>
          <a:p>
            <a:endParaRPr lang="en-PK"/>
          </a:p>
        </p:txBody>
      </p:sp>
      <p:sp>
        <p:nvSpPr>
          <p:cNvPr id="39" name="Text 36"/>
          <p:cNvSpPr txBox="1"/>
          <p:nvPr/>
        </p:nvSpPr>
        <p:spPr>
          <a:xfrm>
            <a:off x="10232136" y="3169920"/>
            <a:ext cx="1429207" cy="697992"/>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Thresholds come from the RFP’s scoring section.</a:t>
            </a:r>
            <a:endParaRPr lang="en-US" sz="1000" dirty="0"/>
          </a:p>
        </p:txBody>
      </p:sp>
      <p:sp>
        <p:nvSpPr>
          <p:cNvPr id="40" name="Text 37"/>
          <p:cNvSpPr/>
          <p:nvPr/>
        </p:nvSpPr>
        <p:spPr>
          <a:xfrm>
            <a:off x="7406640" y="4014216"/>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41" name="Shape 38"/>
          <p:cNvSpPr/>
          <p:nvPr/>
        </p:nvSpPr>
        <p:spPr>
          <a:xfrm>
            <a:off x="7717536" y="3959352"/>
            <a:ext cx="2331720" cy="697992"/>
          </a:xfrm>
          <a:prstGeom prst="roundRect">
            <a:avLst>
              <a:gd name="adj" fmla="val 7860"/>
            </a:avLst>
          </a:prstGeom>
          <a:solidFill>
            <a:srgbClr val="FFFFFF"/>
          </a:solidFill>
          <a:ln w="12700">
            <a:solidFill>
              <a:srgbClr val="E6E5EC"/>
            </a:solidFill>
            <a:prstDash val="solid"/>
          </a:ln>
        </p:spPr>
        <p:txBody>
          <a:bodyPr/>
          <a:lstStyle/>
          <a:p>
            <a:endParaRPr lang="en-PK"/>
          </a:p>
        </p:txBody>
      </p:sp>
      <p:sp>
        <p:nvSpPr>
          <p:cNvPr id="42" name="Shape 39"/>
          <p:cNvSpPr/>
          <p:nvPr/>
        </p:nvSpPr>
        <p:spPr>
          <a:xfrm>
            <a:off x="7717536" y="3959352"/>
            <a:ext cx="54864" cy="697992"/>
          </a:xfrm>
          <a:prstGeom prst="rect">
            <a:avLst/>
          </a:prstGeom>
          <a:solidFill>
            <a:srgbClr val="4B1FA0"/>
          </a:solidFill>
          <a:ln/>
        </p:spPr>
        <p:txBody>
          <a:bodyPr/>
          <a:lstStyle/>
          <a:p>
            <a:endParaRPr lang="en-PK"/>
          </a:p>
        </p:txBody>
      </p:sp>
      <p:sp>
        <p:nvSpPr>
          <p:cNvPr id="43" name="Text 40"/>
          <p:cNvSpPr txBox="1"/>
          <p:nvPr/>
        </p:nvSpPr>
        <p:spPr>
          <a:xfrm>
            <a:off x="7845552" y="3959352"/>
            <a:ext cx="2148840" cy="697992"/>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FR-4.4</a:t>
            </a:r>
            <a:r>
              <a:rPr lang="en-US" sz="1050" b="1" dirty="0">
                <a:solidFill>
                  <a:srgbClr val="2B0B5E"/>
                </a:solidFill>
                <a:latin typeface="Calibri" pitchFamily="34" charset="0"/>
                <a:ea typeface="Calibri" pitchFamily="34" charset="-122"/>
                <a:cs typeface="Calibri" pitchFamily="34" charset="-120"/>
              </a:rPr>
              <a:t> · Running Score</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Live score from collected checklist items</a:t>
            </a:r>
            <a:endParaRPr lang="en-US" sz="1050" dirty="0"/>
          </a:p>
        </p:txBody>
      </p:sp>
      <p:sp>
        <p:nvSpPr>
          <p:cNvPr id="44" name="Shape 41"/>
          <p:cNvSpPr/>
          <p:nvPr/>
        </p:nvSpPr>
        <p:spPr>
          <a:xfrm>
            <a:off x="10140696" y="3959352"/>
            <a:ext cx="1593799" cy="697992"/>
          </a:xfrm>
          <a:prstGeom prst="roundRect">
            <a:avLst>
              <a:gd name="adj" fmla="val 7860"/>
            </a:avLst>
          </a:prstGeom>
          <a:solidFill>
            <a:srgbClr val="EFE7FB"/>
          </a:solidFill>
          <a:ln/>
        </p:spPr>
        <p:txBody>
          <a:bodyPr/>
          <a:lstStyle/>
          <a:p>
            <a:endParaRPr lang="en-PK"/>
          </a:p>
        </p:txBody>
      </p:sp>
      <p:sp>
        <p:nvSpPr>
          <p:cNvPr id="45" name="Text 42"/>
          <p:cNvSpPr txBox="1"/>
          <p:nvPr/>
        </p:nvSpPr>
        <p:spPr>
          <a:xfrm>
            <a:off x="10232136" y="3959352"/>
            <a:ext cx="1429207" cy="697992"/>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Sum of marks of criteria whose linked checklist item is collected.</a:t>
            </a:r>
            <a:endParaRPr lang="en-US" sz="1000" dirty="0"/>
          </a:p>
        </p:txBody>
      </p:sp>
      <p:sp>
        <p:nvSpPr>
          <p:cNvPr id="46" name="Text 43"/>
          <p:cNvSpPr/>
          <p:nvPr/>
        </p:nvSpPr>
        <p:spPr>
          <a:xfrm>
            <a:off x="7406640" y="4803648"/>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47" name="Shape 44"/>
          <p:cNvSpPr/>
          <p:nvPr/>
        </p:nvSpPr>
        <p:spPr>
          <a:xfrm>
            <a:off x="7717536" y="4748784"/>
            <a:ext cx="2331720" cy="697992"/>
          </a:xfrm>
          <a:prstGeom prst="roundRect">
            <a:avLst>
              <a:gd name="adj" fmla="val 7860"/>
            </a:avLst>
          </a:prstGeom>
          <a:solidFill>
            <a:srgbClr val="FFFFFF"/>
          </a:solidFill>
          <a:ln w="12700">
            <a:solidFill>
              <a:srgbClr val="E6E5EC"/>
            </a:solidFill>
            <a:prstDash val="solid"/>
          </a:ln>
        </p:spPr>
        <p:txBody>
          <a:bodyPr/>
          <a:lstStyle/>
          <a:p>
            <a:endParaRPr lang="en-PK"/>
          </a:p>
        </p:txBody>
      </p:sp>
      <p:sp>
        <p:nvSpPr>
          <p:cNvPr id="48" name="Shape 45"/>
          <p:cNvSpPr/>
          <p:nvPr/>
        </p:nvSpPr>
        <p:spPr>
          <a:xfrm>
            <a:off x="7717536" y="4748784"/>
            <a:ext cx="54864" cy="697992"/>
          </a:xfrm>
          <a:prstGeom prst="rect">
            <a:avLst/>
          </a:prstGeom>
          <a:solidFill>
            <a:srgbClr val="4B1FA0"/>
          </a:solidFill>
          <a:ln/>
        </p:spPr>
        <p:txBody>
          <a:bodyPr/>
          <a:lstStyle/>
          <a:p>
            <a:endParaRPr lang="en-PK"/>
          </a:p>
        </p:txBody>
      </p:sp>
      <p:sp>
        <p:nvSpPr>
          <p:cNvPr id="49" name="Text 46"/>
          <p:cNvSpPr txBox="1"/>
          <p:nvPr/>
        </p:nvSpPr>
        <p:spPr>
          <a:xfrm>
            <a:off x="7845552" y="4748784"/>
            <a:ext cx="2148840" cy="697992"/>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FR-4.5</a:t>
            </a:r>
            <a:r>
              <a:rPr lang="en-US" sz="1050" b="1" dirty="0">
                <a:solidFill>
                  <a:srgbClr val="2B0B5E"/>
                </a:solidFill>
                <a:latin typeface="Calibri" pitchFamily="34" charset="0"/>
                <a:ea typeface="Calibri" pitchFamily="34" charset="-122"/>
                <a:cs typeface="Calibri" pitchFamily="34" charset="-120"/>
              </a:rPr>
              <a:t> · Below-Threshold Warning</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Warns when the score falls below the qualifying mark</a:t>
            </a:r>
            <a:endParaRPr lang="en-US" sz="1050" dirty="0"/>
          </a:p>
        </p:txBody>
      </p:sp>
      <p:sp>
        <p:nvSpPr>
          <p:cNvPr id="50" name="Shape 47"/>
          <p:cNvSpPr/>
          <p:nvPr/>
        </p:nvSpPr>
        <p:spPr>
          <a:xfrm>
            <a:off x="10140696" y="4748784"/>
            <a:ext cx="1593799" cy="697992"/>
          </a:xfrm>
          <a:prstGeom prst="roundRect">
            <a:avLst>
              <a:gd name="adj" fmla="val 7860"/>
            </a:avLst>
          </a:prstGeom>
          <a:solidFill>
            <a:srgbClr val="ECECF1"/>
          </a:solidFill>
          <a:ln/>
        </p:spPr>
        <p:txBody>
          <a:bodyPr/>
          <a:lstStyle/>
          <a:p>
            <a:endParaRPr lang="en-PK"/>
          </a:p>
        </p:txBody>
      </p:sp>
      <p:sp>
        <p:nvSpPr>
          <p:cNvPr id="51" name="Text 48"/>
          <p:cNvSpPr txBox="1"/>
          <p:nvPr/>
        </p:nvSpPr>
        <p:spPr>
          <a:xfrm>
            <a:off x="10232136" y="4748784"/>
            <a:ext cx="1429207" cy="697992"/>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Shown whenever the score is below the qualifying threshold.</a:t>
            </a:r>
            <a:endParaRPr lang="en-US" sz="1000" dirty="0"/>
          </a:p>
        </p:txBody>
      </p:sp>
      <p:sp>
        <p:nvSpPr>
          <p:cNvPr id="52" name="Text 49"/>
          <p:cNvSpPr/>
          <p:nvPr/>
        </p:nvSpPr>
        <p:spPr>
          <a:xfrm>
            <a:off x="7406640" y="559308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53" name="Shape 50"/>
          <p:cNvSpPr/>
          <p:nvPr/>
        </p:nvSpPr>
        <p:spPr>
          <a:xfrm>
            <a:off x="7717536" y="5538216"/>
            <a:ext cx="2331720" cy="697992"/>
          </a:xfrm>
          <a:prstGeom prst="roundRect">
            <a:avLst>
              <a:gd name="adj" fmla="val 7860"/>
            </a:avLst>
          </a:prstGeom>
          <a:solidFill>
            <a:srgbClr val="FFFFFF"/>
          </a:solidFill>
          <a:ln w="12700">
            <a:solidFill>
              <a:srgbClr val="E6E5EC"/>
            </a:solidFill>
            <a:prstDash val="solid"/>
          </a:ln>
        </p:spPr>
        <p:txBody>
          <a:bodyPr/>
          <a:lstStyle/>
          <a:p>
            <a:endParaRPr lang="en-PK"/>
          </a:p>
        </p:txBody>
      </p:sp>
      <p:sp>
        <p:nvSpPr>
          <p:cNvPr id="54" name="Shape 51"/>
          <p:cNvSpPr/>
          <p:nvPr/>
        </p:nvSpPr>
        <p:spPr>
          <a:xfrm>
            <a:off x="7717536" y="5538216"/>
            <a:ext cx="54864" cy="697992"/>
          </a:xfrm>
          <a:prstGeom prst="rect">
            <a:avLst/>
          </a:prstGeom>
          <a:solidFill>
            <a:srgbClr val="4B1FA0"/>
          </a:solidFill>
          <a:ln/>
        </p:spPr>
        <p:txBody>
          <a:bodyPr/>
          <a:lstStyle/>
          <a:p>
            <a:endParaRPr lang="en-PK"/>
          </a:p>
        </p:txBody>
      </p:sp>
      <p:sp>
        <p:nvSpPr>
          <p:cNvPr id="55" name="Text 52"/>
          <p:cNvSpPr txBox="1"/>
          <p:nvPr/>
        </p:nvSpPr>
        <p:spPr>
          <a:xfrm>
            <a:off x="7845552" y="5538216"/>
            <a:ext cx="2148840" cy="697992"/>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FR-4.6</a:t>
            </a:r>
            <a:r>
              <a:rPr lang="en-US" sz="1050" b="1" dirty="0">
                <a:solidFill>
                  <a:srgbClr val="2B0B5E"/>
                </a:solidFill>
                <a:latin typeface="Calibri" pitchFamily="34" charset="0"/>
                <a:ea typeface="Calibri" pitchFamily="34" charset="-122"/>
                <a:cs typeface="Calibri" pitchFamily="34" charset="-120"/>
              </a:rPr>
              <a:t> · No-Criteria Message</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Clear message when the RFP has no scoring table</a:t>
            </a:r>
            <a:endParaRPr lang="en-US" sz="1050" dirty="0"/>
          </a:p>
        </p:txBody>
      </p:sp>
      <p:sp>
        <p:nvSpPr>
          <p:cNvPr id="56" name="Shape 53"/>
          <p:cNvSpPr/>
          <p:nvPr/>
        </p:nvSpPr>
        <p:spPr>
          <a:xfrm>
            <a:off x="10140696" y="5538216"/>
            <a:ext cx="1593799" cy="697992"/>
          </a:xfrm>
          <a:prstGeom prst="roundRect">
            <a:avLst>
              <a:gd name="adj" fmla="val 7860"/>
            </a:avLst>
          </a:prstGeom>
          <a:solidFill>
            <a:srgbClr val="ECECF1"/>
          </a:solidFill>
          <a:ln/>
        </p:spPr>
        <p:txBody>
          <a:bodyPr/>
          <a:lstStyle/>
          <a:p>
            <a:endParaRPr lang="en-PK"/>
          </a:p>
        </p:txBody>
      </p:sp>
      <p:sp>
        <p:nvSpPr>
          <p:cNvPr id="57" name="Text 54"/>
          <p:cNvSpPr txBox="1"/>
          <p:nvPr/>
        </p:nvSpPr>
        <p:spPr>
          <a:xfrm>
            <a:off x="10232136" y="5538216"/>
            <a:ext cx="1429207" cy="697992"/>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Shown when no scoring table is found.</a:t>
            </a:r>
            <a:endParaRPr lang="en-US" sz="1000" dirty="0"/>
          </a:p>
        </p:txBody>
      </p:sp>
      <p:sp>
        <p:nvSpPr>
          <p:cNvPr id="58" name="Text 55">
            <a:hlinkClick r:id="" action="ppaction://noaction"/>
          </p:cNvPr>
          <p:cNvSpPr/>
          <p:nvPr/>
        </p:nvSpPr>
        <p:spPr>
          <a:xfrm>
            <a:off x="6787591"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59" name="Text 56">
            <a:hlinkClick r:id="rId4" action="ppaction://hlinksldjump" tooltip="Contents"/>
          </p:cNvPr>
          <p:cNvSpPr/>
          <p:nvPr/>
        </p:nvSpPr>
        <p:spPr>
          <a:xfrm>
            <a:off x="7765999"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60" name="Text 57">
            <a:hlinkClick r:id="rId5" action="ppaction://hlinksldjump" tooltip="Module"/>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Module">
                  <a:extLst>
                    <a:ext uri="{A12FA001-AC4F-418D-AE19-62706E023703}">
                      <ahyp:hlinkClr xmlns:ahyp="http://schemas.microsoft.com/office/drawing/2018/hyperlinkcolor" val="tx"/>
                    </a:ext>
                  </a:extLst>
                </a:hlinkClick>
              </a:rPr>
              <a:t>Module</a:t>
            </a:r>
            <a:endParaRPr lang="en-US" sz="1100" dirty="0"/>
          </a:p>
        </p:txBody>
      </p:sp>
      <p:sp>
        <p:nvSpPr>
          <p:cNvPr id="61" name="Text 58">
            <a:hlinkClick r:id="rId6" action="ppaction://hlinksldjump" tooltip="Use case"/>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Use case">
                  <a:extLst>
                    <a:ext uri="{A12FA001-AC4F-418D-AE19-62706E023703}">
                      <ahyp:hlinkClr xmlns:ahyp="http://schemas.microsoft.com/office/drawing/2018/hyperlinkcolor" val="tx"/>
                    </a:ext>
                  </a:extLst>
                </a:hlinkClick>
              </a:rPr>
              <a:t>Use case</a:t>
            </a:r>
            <a:endParaRPr lang="en-US" sz="1100" dirty="0"/>
          </a:p>
        </p:txBody>
      </p:sp>
      <p:sp>
        <p:nvSpPr>
          <p:cNvPr id="62" name="Text 59">
            <a:hlinkClick r:id="rId7"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47120" cy="502920"/>
          </a:xfrm>
          <a:prstGeom prst="rect">
            <a:avLst/>
          </a:prstGeom>
          <a:noFill/>
          <a:ln/>
        </p:spPr>
        <p:txBody>
          <a:bodyPr wrap="square" lIns="0" tIns="0" rIns="0" bIns="0" rtlCol="0" anchor="t"/>
          <a:lstStyle/>
          <a:p>
            <a:pPr marL="0" indent="0">
              <a:buNone/>
            </a:pPr>
            <a:r>
              <a:rPr lang="en-US" sz="2600" b="1" dirty="0">
                <a:solidFill>
                  <a:srgbClr val="4B1FA0"/>
                </a:solidFill>
                <a:latin typeface="Calibri" pitchFamily="34" charset="0"/>
                <a:ea typeface="Calibri" pitchFamily="34" charset="-122"/>
                <a:cs typeface="Calibri" pitchFamily="34" charset="-120"/>
              </a:rPr>
              <a:t>W-18 – </a:t>
            </a:r>
            <a:r>
              <a:rPr lang="en-US" sz="2600" b="1" dirty="0">
                <a:solidFill>
                  <a:srgbClr val="2B0B5E"/>
                </a:solidFill>
                <a:latin typeface="Calibri" pitchFamily="34" charset="0"/>
                <a:ea typeface="Calibri" pitchFamily="34" charset="-122"/>
                <a:cs typeface="Calibri" pitchFamily="34" charset="-120"/>
              </a:rPr>
              <a:t>HLD Diagram &amp; Connectivity Description</a:t>
            </a:r>
            <a:endParaRPr lang="en-US" sz="2600" dirty="0"/>
          </a:p>
        </p:txBody>
      </p:sp>
      <p:sp>
        <p:nvSpPr>
          <p:cNvPr id="3" name="Text 1"/>
          <p:cNvSpPr txBox="1"/>
          <p:nvPr/>
        </p:nvSpPr>
        <p:spPr>
          <a:xfrm>
            <a:off x="457200" y="777240"/>
            <a:ext cx="11247120" cy="384048"/>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The generated HLD network diagram with standard icons and a written connectivity description.</a:t>
            </a:r>
            <a:endParaRPr lang="en-US" sz="13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38</a:t>
            </a:r>
            <a:endParaRPr lang="en-US" sz="1000" dirty="0"/>
          </a:p>
        </p:txBody>
      </p:sp>
      <p:sp>
        <p:nvSpPr>
          <p:cNvPr id="5" name="Shape 3"/>
          <p:cNvSpPr/>
          <p:nvPr/>
        </p:nvSpPr>
        <p:spPr>
          <a:xfrm>
            <a:off x="429768" y="1271016"/>
            <a:ext cx="6775704" cy="4255389"/>
          </a:xfrm>
          <a:prstGeom prst="rect">
            <a:avLst/>
          </a:prstGeom>
          <a:solidFill>
            <a:srgbClr val="FFFFFF"/>
          </a:solidFill>
          <a:ln w="12700">
            <a:solidFill>
              <a:srgbClr val="E6E5EC"/>
            </a:solidFill>
            <a:prstDash val="solid"/>
          </a:ln>
        </p:spPr>
        <p:txBody>
          <a:bodyPr/>
          <a:lstStyle/>
          <a:p>
            <a:endParaRPr lang="en-PK"/>
          </a:p>
        </p:txBody>
      </p:sp>
      <p:pic>
        <p:nvPicPr>
          <p:cNvPr id="6" name="Image 0" descr="HLD Diagram &amp; Connectivity Description mockup"/>
          <p:cNvPicPr>
            <a:picLocks noChangeAspect="1"/>
          </p:cNvPicPr>
          <p:nvPr/>
        </p:nvPicPr>
        <p:blipFill>
          <a:blip r:embed="rId3"/>
          <a:stretch>
            <a:fillRect/>
          </a:stretch>
        </p:blipFill>
        <p:spPr>
          <a:xfrm>
            <a:off x="457200" y="1298448"/>
            <a:ext cx="6720840" cy="4200525"/>
          </a:xfrm>
          <a:prstGeom prst="rect">
            <a:avLst/>
          </a:prstGeom>
        </p:spPr>
      </p:pic>
      <p:sp>
        <p:nvSpPr>
          <p:cNvPr id="7" name="Shape 4"/>
          <p:cNvSpPr/>
          <p:nvPr/>
        </p:nvSpPr>
        <p:spPr>
          <a:xfrm>
            <a:off x="1857375" y="2193758"/>
            <a:ext cx="744062" cy="109170"/>
          </a:xfrm>
          <a:prstGeom prst="rect">
            <a:avLst/>
          </a:prstGeom>
          <a:solidFill>
            <a:srgbClr val="E5484D">
              <a:alpha val="12000"/>
            </a:srgbClr>
          </a:solidFill>
          <a:ln w="22225">
            <a:solidFill>
              <a:srgbClr val="E5484D"/>
            </a:solidFill>
            <a:prstDash val="solid"/>
          </a:ln>
        </p:spPr>
        <p:txBody>
          <a:bodyPr/>
          <a:lstStyle/>
          <a:p>
            <a:endParaRPr lang="en-PK"/>
          </a:p>
        </p:txBody>
      </p:sp>
      <p:sp>
        <p:nvSpPr>
          <p:cNvPr id="8" name="Text 5"/>
          <p:cNvSpPr/>
          <p:nvPr/>
        </p:nvSpPr>
        <p:spPr>
          <a:xfrm>
            <a:off x="1583055" y="2124899"/>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Shape 6"/>
          <p:cNvSpPr/>
          <p:nvPr/>
        </p:nvSpPr>
        <p:spPr>
          <a:xfrm>
            <a:off x="3204715" y="3371728"/>
            <a:ext cx="880433" cy="98012"/>
          </a:xfrm>
          <a:prstGeom prst="rect">
            <a:avLst/>
          </a:prstGeom>
          <a:solidFill>
            <a:srgbClr val="E5484D">
              <a:alpha val="12000"/>
            </a:srgbClr>
          </a:solidFill>
          <a:ln w="22225">
            <a:solidFill>
              <a:srgbClr val="E5484D"/>
            </a:solidFill>
            <a:prstDash val="solid"/>
          </a:ln>
        </p:spPr>
        <p:txBody>
          <a:bodyPr/>
          <a:lstStyle/>
          <a:p>
            <a:endParaRPr lang="en-PK"/>
          </a:p>
        </p:txBody>
      </p:sp>
      <p:sp>
        <p:nvSpPr>
          <p:cNvPr id="10" name="Text 7"/>
          <p:cNvSpPr/>
          <p:nvPr/>
        </p:nvSpPr>
        <p:spPr>
          <a:xfrm>
            <a:off x="2930395" y="3297290"/>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Shape 8"/>
          <p:cNvSpPr/>
          <p:nvPr/>
        </p:nvSpPr>
        <p:spPr>
          <a:xfrm>
            <a:off x="5161496" y="1713833"/>
            <a:ext cx="610097" cy="218631"/>
          </a:xfrm>
          <a:prstGeom prst="rect">
            <a:avLst/>
          </a:prstGeom>
          <a:solidFill>
            <a:srgbClr val="E5484D">
              <a:alpha val="12000"/>
            </a:srgbClr>
          </a:solidFill>
          <a:ln w="22225">
            <a:solidFill>
              <a:srgbClr val="E5484D"/>
            </a:solidFill>
            <a:prstDash val="solid"/>
          </a:ln>
        </p:spPr>
        <p:txBody>
          <a:bodyPr/>
          <a:lstStyle/>
          <a:p>
            <a:endParaRPr lang="en-PK"/>
          </a:p>
        </p:txBody>
      </p:sp>
      <p:sp>
        <p:nvSpPr>
          <p:cNvPr id="12" name="Text 9"/>
          <p:cNvSpPr/>
          <p:nvPr/>
        </p:nvSpPr>
        <p:spPr>
          <a:xfrm>
            <a:off x="4887176" y="1699705"/>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3" name="Shape 10"/>
          <p:cNvSpPr/>
          <p:nvPr/>
        </p:nvSpPr>
        <p:spPr>
          <a:xfrm>
            <a:off x="5818266" y="1713833"/>
            <a:ext cx="1224424" cy="226362"/>
          </a:xfrm>
          <a:prstGeom prst="rect">
            <a:avLst/>
          </a:prstGeom>
          <a:solidFill>
            <a:srgbClr val="E5484D">
              <a:alpha val="12000"/>
            </a:srgbClr>
          </a:solidFill>
          <a:ln w="22225">
            <a:solidFill>
              <a:srgbClr val="E5484D"/>
            </a:solidFill>
            <a:prstDash val="solid"/>
          </a:ln>
        </p:spPr>
        <p:txBody>
          <a:bodyPr/>
          <a:lstStyle/>
          <a:p>
            <a:endParaRPr lang="en-PK"/>
          </a:p>
        </p:txBody>
      </p:sp>
      <p:sp>
        <p:nvSpPr>
          <p:cNvPr id="14" name="Text 11"/>
          <p:cNvSpPr/>
          <p:nvPr/>
        </p:nvSpPr>
        <p:spPr>
          <a:xfrm>
            <a:off x="5543946" y="1703570"/>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5" name="Shape 12"/>
          <p:cNvSpPr/>
          <p:nvPr/>
        </p:nvSpPr>
        <p:spPr>
          <a:xfrm>
            <a:off x="1866710" y="4081150"/>
            <a:ext cx="993833" cy="143007"/>
          </a:xfrm>
          <a:prstGeom prst="rect">
            <a:avLst/>
          </a:prstGeom>
          <a:solidFill>
            <a:srgbClr val="E5484D">
              <a:alpha val="12000"/>
            </a:srgbClr>
          </a:solidFill>
          <a:ln w="22225">
            <a:solidFill>
              <a:srgbClr val="E5484D"/>
            </a:solidFill>
            <a:prstDash val="solid"/>
          </a:ln>
        </p:spPr>
        <p:txBody>
          <a:bodyPr/>
          <a:lstStyle/>
          <a:p>
            <a:endParaRPr lang="en-PK"/>
          </a:p>
        </p:txBody>
      </p:sp>
      <p:sp>
        <p:nvSpPr>
          <p:cNvPr id="16" name="Text 13"/>
          <p:cNvSpPr/>
          <p:nvPr/>
        </p:nvSpPr>
        <p:spPr>
          <a:xfrm>
            <a:off x="1592390" y="4029210"/>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7" name="Text 14"/>
          <p:cNvSpPr txBox="1"/>
          <p:nvPr/>
        </p:nvSpPr>
        <p:spPr>
          <a:xfrm>
            <a:off x="457200" y="5626989"/>
            <a:ext cx="6720840" cy="457200"/>
          </a:xfrm>
          <a:prstGeom prst="rect">
            <a:avLst/>
          </a:prstGeom>
          <a:solidFill>
            <a:srgbClr val="FFFFFF"/>
          </a:solidFill>
          <a:ln w="9525">
            <a:solidFill>
              <a:srgbClr val="E6E5EC"/>
            </a:solidFill>
          </a:ln>
        </p:spPr>
        <p:txBody>
          <a:bodyPr wrap="square" lIns="50800" tIns="127000" rIns="127000" bIns="5080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Use case: </a:t>
            </a:r>
            <a:r>
              <a:rPr lang="en-US" sz="1050" dirty="0">
                <a:solidFill>
                  <a:srgbClr val="1A1A22"/>
                </a:solidFill>
                <a:latin typeface="Calibri" pitchFamily="34" charset="0"/>
                <a:ea typeface="Calibri" pitchFamily="34" charset="-122"/>
                <a:cs typeface="Calibri" pitchFamily="34" charset="-120"/>
              </a:rPr>
              <a:t>Generate HLD Diagram (+ Render Topology, Describe Connectivity)   </a:t>
            </a:r>
            <a:r>
              <a:rPr lang="en-US" sz="1050" dirty="0">
                <a:solidFill>
                  <a:srgbClr val="C9B6F2"/>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rule from the SRS  </a:t>
            </a:r>
            <a:r>
              <a:rPr lang="en-US" sz="1050" dirty="0">
                <a:solidFill>
                  <a:srgbClr val="BDBDC8"/>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condition stated in the FR</a:t>
            </a:r>
            <a:endParaRPr lang="en-US" sz="1050" dirty="0"/>
          </a:p>
        </p:txBody>
      </p:sp>
      <p:sp>
        <p:nvSpPr>
          <p:cNvPr id="18" name="Text 15"/>
          <p:cNvSpPr txBox="1"/>
          <p:nvPr/>
        </p:nvSpPr>
        <p:spPr>
          <a:xfrm>
            <a:off x="7717536" y="1298448"/>
            <a:ext cx="2331720"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FUNCTIONAL REQUIREMENT</a:t>
            </a:r>
            <a:endParaRPr lang="en-US" sz="1000" dirty="0"/>
          </a:p>
        </p:txBody>
      </p:sp>
      <p:sp>
        <p:nvSpPr>
          <p:cNvPr id="19" name="Text 16"/>
          <p:cNvSpPr txBox="1"/>
          <p:nvPr/>
        </p:nvSpPr>
        <p:spPr>
          <a:xfrm>
            <a:off x="10140696" y="1298448"/>
            <a:ext cx="1593799"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BUSINESS RULE</a:t>
            </a:r>
            <a:endParaRPr lang="en-US" sz="1000" dirty="0"/>
          </a:p>
        </p:txBody>
      </p:sp>
      <p:sp>
        <p:nvSpPr>
          <p:cNvPr id="20" name="Text 17"/>
          <p:cNvSpPr/>
          <p:nvPr/>
        </p:nvSpPr>
        <p:spPr>
          <a:xfrm>
            <a:off x="7406640" y="164592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21" name="Shape 18"/>
          <p:cNvSpPr/>
          <p:nvPr/>
        </p:nvSpPr>
        <p:spPr>
          <a:xfrm>
            <a:off x="7717536" y="1591056"/>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22" name="Shape 19"/>
          <p:cNvSpPr/>
          <p:nvPr/>
        </p:nvSpPr>
        <p:spPr>
          <a:xfrm>
            <a:off x="7717536" y="1591056"/>
            <a:ext cx="54864" cy="855878"/>
          </a:xfrm>
          <a:prstGeom prst="rect">
            <a:avLst/>
          </a:prstGeom>
          <a:solidFill>
            <a:srgbClr val="4B1FA0"/>
          </a:solidFill>
          <a:ln/>
        </p:spPr>
        <p:txBody>
          <a:bodyPr/>
          <a:lstStyle/>
          <a:p>
            <a:endParaRPr lang="en-PK"/>
          </a:p>
        </p:txBody>
      </p:sp>
      <p:sp>
        <p:nvSpPr>
          <p:cNvPr id="23" name="Text 20"/>
          <p:cNvSpPr txBox="1"/>
          <p:nvPr/>
        </p:nvSpPr>
        <p:spPr>
          <a:xfrm>
            <a:off x="7845552" y="1591056"/>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FR-5.3</a:t>
            </a:r>
            <a:r>
              <a:rPr lang="en-US" sz="1050" b="1" dirty="0">
                <a:solidFill>
                  <a:srgbClr val="2B0B5E"/>
                </a:solidFill>
                <a:latin typeface="Calibri" pitchFamily="34" charset="0"/>
                <a:ea typeface="Calibri" pitchFamily="34" charset="-122"/>
                <a:cs typeface="Calibri" pitchFamily="34" charset="-120"/>
              </a:rPr>
              <a:t> · Topology Rendering</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Draws the network diagram with Mermaid.js</a:t>
            </a:r>
            <a:endParaRPr lang="en-US" sz="1050" dirty="0"/>
          </a:p>
        </p:txBody>
      </p:sp>
      <p:sp>
        <p:nvSpPr>
          <p:cNvPr id="24" name="Shape 21"/>
          <p:cNvSpPr/>
          <p:nvPr/>
        </p:nvSpPr>
        <p:spPr>
          <a:xfrm>
            <a:off x="10140696" y="1591056"/>
            <a:ext cx="1593799" cy="855878"/>
          </a:xfrm>
          <a:prstGeom prst="roundRect">
            <a:avLst>
              <a:gd name="adj" fmla="val 6410"/>
            </a:avLst>
          </a:prstGeom>
          <a:solidFill>
            <a:srgbClr val="ECECF1"/>
          </a:solidFill>
          <a:ln/>
        </p:spPr>
        <p:txBody>
          <a:bodyPr/>
          <a:lstStyle/>
          <a:p>
            <a:endParaRPr lang="en-PK"/>
          </a:p>
        </p:txBody>
      </p:sp>
      <p:sp>
        <p:nvSpPr>
          <p:cNvPr id="25" name="Text 22"/>
          <p:cNvSpPr txBox="1"/>
          <p:nvPr/>
        </p:nvSpPr>
        <p:spPr>
          <a:xfrm>
            <a:off x="10232136" y="1591056"/>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Mermaid diagram generated from the device JSON.</a:t>
            </a:r>
            <a:endParaRPr lang="en-US" sz="1000" dirty="0"/>
          </a:p>
        </p:txBody>
      </p:sp>
      <p:sp>
        <p:nvSpPr>
          <p:cNvPr id="26" name="Text 23"/>
          <p:cNvSpPr/>
          <p:nvPr/>
        </p:nvSpPr>
        <p:spPr>
          <a:xfrm>
            <a:off x="7406640" y="2593238"/>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7" name="Shape 24"/>
          <p:cNvSpPr/>
          <p:nvPr/>
        </p:nvSpPr>
        <p:spPr>
          <a:xfrm>
            <a:off x="7717536" y="2538374"/>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28" name="Shape 25"/>
          <p:cNvSpPr/>
          <p:nvPr/>
        </p:nvSpPr>
        <p:spPr>
          <a:xfrm>
            <a:off x="7717536" y="2538374"/>
            <a:ext cx="54864" cy="855878"/>
          </a:xfrm>
          <a:prstGeom prst="rect">
            <a:avLst/>
          </a:prstGeom>
          <a:solidFill>
            <a:srgbClr val="4B1FA0"/>
          </a:solidFill>
          <a:ln/>
        </p:spPr>
        <p:txBody>
          <a:bodyPr/>
          <a:lstStyle/>
          <a:p>
            <a:endParaRPr lang="en-PK"/>
          </a:p>
        </p:txBody>
      </p:sp>
      <p:sp>
        <p:nvSpPr>
          <p:cNvPr id="29" name="Text 26"/>
          <p:cNvSpPr txBox="1"/>
          <p:nvPr/>
        </p:nvSpPr>
        <p:spPr>
          <a:xfrm>
            <a:off x="7845552" y="2538374"/>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FR-5.4</a:t>
            </a:r>
            <a:r>
              <a:rPr lang="en-US" sz="1050" b="1" dirty="0">
                <a:solidFill>
                  <a:srgbClr val="2B0B5E"/>
                </a:solidFill>
                <a:latin typeface="Calibri" pitchFamily="34" charset="0"/>
                <a:ea typeface="Calibri" pitchFamily="34" charset="-122"/>
                <a:cs typeface="Calibri" pitchFamily="34" charset="-120"/>
              </a:rPr>
              <a:t> · Standard Icon Set</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One fixed icon for each device type</a:t>
            </a:r>
            <a:endParaRPr lang="en-US" sz="1050" dirty="0"/>
          </a:p>
        </p:txBody>
      </p:sp>
      <p:sp>
        <p:nvSpPr>
          <p:cNvPr id="30" name="Shape 27"/>
          <p:cNvSpPr/>
          <p:nvPr/>
        </p:nvSpPr>
        <p:spPr>
          <a:xfrm>
            <a:off x="10140696" y="2538374"/>
            <a:ext cx="1593799" cy="855878"/>
          </a:xfrm>
          <a:prstGeom prst="roundRect">
            <a:avLst>
              <a:gd name="adj" fmla="val 6410"/>
            </a:avLst>
          </a:prstGeom>
          <a:solidFill>
            <a:srgbClr val="ECECF1"/>
          </a:solidFill>
          <a:ln/>
        </p:spPr>
        <p:txBody>
          <a:bodyPr/>
          <a:lstStyle/>
          <a:p>
            <a:endParaRPr lang="en-PK"/>
          </a:p>
        </p:txBody>
      </p:sp>
      <p:sp>
        <p:nvSpPr>
          <p:cNvPr id="31" name="Text 28"/>
          <p:cNvSpPr txBox="1"/>
          <p:nvPr/>
        </p:nvSpPr>
        <p:spPr>
          <a:xfrm>
            <a:off x="10232136" y="2538374"/>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One fixed icon each for switch, router, firewall, server, storage.</a:t>
            </a:r>
            <a:endParaRPr lang="en-US" sz="1000" dirty="0"/>
          </a:p>
        </p:txBody>
      </p:sp>
      <p:sp>
        <p:nvSpPr>
          <p:cNvPr id="32" name="Text 29"/>
          <p:cNvSpPr/>
          <p:nvPr/>
        </p:nvSpPr>
        <p:spPr>
          <a:xfrm>
            <a:off x="7406640" y="3540557"/>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33" name="Shape 30"/>
          <p:cNvSpPr/>
          <p:nvPr/>
        </p:nvSpPr>
        <p:spPr>
          <a:xfrm>
            <a:off x="7717536" y="3485693"/>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34" name="Shape 31"/>
          <p:cNvSpPr/>
          <p:nvPr/>
        </p:nvSpPr>
        <p:spPr>
          <a:xfrm>
            <a:off x="7717536" y="3485693"/>
            <a:ext cx="54864" cy="855878"/>
          </a:xfrm>
          <a:prstGeom prst="rect">
            <a:avLst/>
          </a:prstGeom>
          <a:solidFill>
            <a:srgbClr val="4B1FA0"/>
          </a:solidFill>
          <a:ln/>
        </p:spPr>
        <p:txBody>
          <a:bodyPr/>
          <a:lstStyle/>
          <a:p>
            <a:endParaRPr lang="en-PK"/>
          </a:p>
        </p:txBody>
      </p:sp>
      <p:sp>
        <p:nvSpPr>
          <p:cNvPr id="35" name="Text 32"/>
          <p:cNvSpPr txBox="1"/>
          <p:nvPr/>
        </p:nvSpPr>
        <p:spPr>
          <a:xfrm>
            <a:off x="7845552" y="3485693"/>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FR-5.5</a:t>
            </a:r>
            <a:r>
              <a:rPr lang="en-US" sz="1050" b="1" dirty="0">
                <a:solidFill>
                  <a:srgbClr val="2B0B5E"/>
                </a:solidFill>
                <a:latin typeface="Calibri" pitchFamily="34" charset="0"/>
                <a:ea typeface="Calibri" pitchFamily="34" charset="-122"/>
                <a:cs typeface="Calibri" pitchFamily="34" charset="-120"/>
              </a:rPr>
              <a:t> · PNG Export</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Exports the diagram as a PNG image</a:t>
            </a:r>
            <a:endParaRPr lang="en-US" sz="1050" dirty="0"/>
          </a:p>
        </p:txBody>
      </p:sp>
      <p:sp>
        <p:nvSpPr>
          <p:cNvPr id="36" name="Shape 33"/>
          <p:cNvSpPr/>
          <p:nvPr/>
        </p:nvSpPr>
        <p:spPr>
          <a:xfrm>
            <a:off x="10140696" y="3485693"/>
            <a:ext cx="1593799" cy="855878"/>
          </a:xfrm>
          <a:prstGeom prst="roundRect">
            <a:avLst>
              <a:gd name="adj" fmla="val 6410"/>
            </a:avLst>
          </a:prstGeom>
          <a:solidFill>
            <a:srgbClr val="ECECF1"/>
          </a:solidFill>
          <a:ln/>
        </p:spPr>
        <p:txBody>
          <a:bodyPr/>
          <a:lstStyle/>
          <a:p>
            <a:endParaRPr lang="en-PK"/>
          </a:p>
        </p:txBody>
      </p:sp>
      <p:sp>
        <p:nvSpPr>
          <p:cNvPr id="37" name="Text 34"/>
          <p:cNvSpPr txBox="1"/>
          <p:nvPr/>
        </p:nvSpPr>
        <p:spPr>
          <a:xfrm>
            <a:off x="10232136" y="3485693"/>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Rendered headless with Playwright.</a:t>
            </a:r>
            <a:endParaRPr lang="en-US" sz="1000" dirty="0"/>
          </a:p>
        </p:txBody>
      </p:sp>
      <p:sp>
        <p:nvSpPr>
          <p:cNvPr id="38" name="Text 35"/>
          <p:cNvSpPr/>
          <p:nvPr/>
        </p:nvSpPr>
        <p:spPr>
          <a:xfrm>
            <a:off x="7406640" y="4487875"/>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39" name="Shape 36"/>
          <p:cNvSpPr/>
          <p:nvPr/>
        </p:nvSpPr>
        <p:spPr>
          <a:xfrm>
            <a:off x="7717536" y="4433011"/>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40" name="Shape 37"/>
          <p:cNvSpPr/>
          <p:nvPr/>
        </p:nvSpPr>
        <p:spPr>
          <a:xfrm>
            <a:off x="7717536" y="4433011"/>
            <a:ext cx="54864" cy="855878"/>
          </a:xfrm>
          <a:prstGeom prst="rect">
            <a:avLst/>
          </a:prstGeom>
          <a:solidFill>
            <a:srgbClr val="4B1FA0"/>
          </a:solidFill>
          <a:ln/>
        </p:spPr>
        <p:txBody>
          <a:bodyPr/>
          <a:lstStyle/>
          <a:p>
            <a:endParaRPr lang="en-PK"/>
          </a:p>
        </p:txBody>
      </p:sp>
      <p:sp>
        <p:nvSpPr>
          <p:cNvPr id="41" name="Text 38"/>
          <p:cNvSpPr txBox="1"/>
          <p:nvPr/>
        </p:nvSpPr>
        <p:spPr>
          <a:xfrm>
            <a:off x="7845552" y="4433011"/>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FR-5.6</a:t>
            </a:r>
            <a:r>
              <a:rPr lang="en-US" sz="1050" b="1" dirty="0">
                <a:solidFill>
                  <a:srgbClr val="2B0B5E"/>
                </a:solidFill>
                <a:latin typeface="Calibri" pitchFamily="34" charset="0"/>
                <a:ea typeface="Calibri" pitchFamily="34" charset="-122"/>
                <a:cs typeface="Calibri" pitchFamily="34" charset="-120"/>
              </a:rPr>
              <a:t> · Editable draw.io Export</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Editable draw.io file (optional)</a:t>
            </a:r>
            <a:endParaRPr lang="en-US" sz="1050" dirty="0"/>
          </a:p>
        </p:txBody>
      </p:sp>
      <p:sp>
        <p:nvSpPr>
          <p:cNvPr id="42" name="Shape 39"/>
          <p:cNvSpPr/>
          <p:nvPr/>
        </p:nvSpPr>
        <p:spPr>
          <a:xfrm>
            <a:off x="10140696" y="4433011"/>
            <a:ext cx="1593799" cy="855878"/>
          </a:xfrm>
          <a:prstGeom prst="roundRect">
            <a:avLst>
              <a:gd name="adj" fmla="val 6410"/>
            </a:avLst>
          </a:prstGeom>
          <a:solidFill>
            <a:srgbClr val="EFE7FB"/>
          </a:solidFill>
          <a:ln/>
        </p:spPr>
        <p:txBody>
          <a:bodyPr/>
          <a:lstStyle/>
          <a:p>
            <a:endParaRPr lang="en-PK"/>
          </a:p>
        </p:txBody>
      </p:sp>
      <p:sp>
        <p:nvSpPr>
          <p:cNvPr id="43" name="Text 40"/>
          <p:cNvSpPr txBox="1"/>
          <p:nvPr/>
        </p:nvSpPr>
        <p:spPr>
          <a:xfrm>
            <a:off x="10232136" y="4433011"/>
            <a:ext cx="1429207" cy="855878"/>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Optional feature, built only if time permits.</a:t>
            </a:r>
            <a:endParaRPr lang="en-US" sz="1000" dirty="0"/>
          </a:p>
        </p:txBody>
      </p:sp>
      <p:sp>
        <p:nvSpPr>
          <p:cNvPr id="44" name="Text 41"/>
          <p:cNvSpPr/>
          <p:nvPr/>
        </p:nvSpPr>
        <p:spPr>
          <a:xfrm>
            <a:off x="7406640" y="5435194"/>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45" name="Shape 42"/>
          <p:cNvSpPr/>
          <p:nvPr/>
        </p:nvSpPr>
        <p:spPr>
          <a:xfrm>
            <a:off x="7717536" y="5380330"/>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46" name="Shape 43"/>
          <p:cNvSpPr/>
          <p:nvPr/>
        </p:nvSpPr>
        <p:spPr>
          <a:xfrm>
            <a:off x="7717536" y="5380330"/>
            <a:ext cx="54864" cy="855878"/>
          </a:xfrm>
          <a:prstGeom prst="rect">
            <a:avLst/>
          </a:prstGeom>
          <a:solidFill>
            <a:srgbClr val="4B1FA0"/>
          </a:solidFill>
          <a:ln/>
        </p:spPr>
        <p:txBody>
          <a:bodyPr/>
          <a:lstStyle/>
          <a:p>
            <a:endParaRPr lang="en-PK"/>
          </a:p>
        </p:txBody>
      </p:sp>
      <p:sp>
        <p:nvSpPr>
          <p:cNvPr id="47" name="Text 44"/>
          <p:cNvSpPr txBox="1"/>
          <p:nvPr/>
        </p:nvSpPr>
        <p:spPr>
          <a:xfrm>
            <a:off x="7845552" y="5380330"/>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FR-5.7</a:t>
            </a:r>
            <a:r>
              <a:rPr lang="en-US" sz="1050" b="1" dirty="0">
                <a:solidFill>
                  <a:srgbClr val="2B0B5E"/>
                </a:solidFill>
                <a:latin typeface="Calibri" pitchFamily="34" charset="0"/>
                <a:ea typeface="Calibri" pitchFamily="34" charset="-122"/>
                <a:cs typeface="Calibri" pitchFamily="34" charset="-120"/>
              </a:rPr>
              <a:t> · Connectivity Description</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2–4 paragraphs explaining the network, by GPT-4o-mini</a:t>
            </a:r>
            <a:endParaRPr lang="en-US" sz="1050" dirty="0"/>
          </a:p>
        </p:txBody>
      </p:sp>
      <p:sp>
        <p:nvSpPr>
          <p:cNvPr id="48" name="Shape 45"/>
          <p:cNvSpPr/>
          <p:nvPr/>
        </p:nvSpPr>
        <p:spPr>
          <a:xfrm>
            <a:off x="10140696" y="5380330"/>
            <a:ext cx="1593799" cy="855878"/>
          </a:xfrm>
          <a:prstGeom prst="roundRect">
            <a:avLst>
              <a:gd name="adj" fmla="val 6410"/>
            </a:avLst>
          </a:prstGeom>
          <a:solidFill>
            <a:srgbClr val="ECECF1"/>
          </a:solidFill>
          <a:ln/>
        </p:spPr>
        <p:txBody>
          <a:bodyPr/>
          <a:lstStyle/>
          <a:p>
            <a:endParaRPr lang="en-PK"/>
          </a:p>
        </p:txBody>
      </p:sp>
      <p:sp>
        <p:nvSpPr>
          <p:cNvPr id="49" name="Text 46"/>
          <p:cNvSpPr txBox="1"/>
          <p:nvPr/>
        </p:nvSpPr>
        <p:spPr>
          <a:xfrm>
            <a:off x="10232136" y="5380330"/>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2–4 paragraphs written from the device graph.</a:t>
            </a:r>
            <a:endParaRPr lang="en-US" sz="1000" dirty="0"/>
          </a:p>
        </p:txBody>
      </p:sp>
      <p:sp>
        <p:nvSpPr>
          <p:cNvPr id="50" name="Text 47">
            <a:hlinkClick r:id="" action="ppaction://noaction"/>
          </p:cNvPr>
          <p:cNvSpPr/>
          <p:nvPr/>
        </p:nvSpPr>
        <p:spPr>
          <a:xfrm>
            <a:off x="6787591"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51" name="Text 48">
            <a:hlinkClick r:id="rId4" action="ppaction://hlinksldjump" tooltip="Contents"/>
          </p:cNvPr>
          <p:cNvSpPr/>
          <p:nvPr/>
        </p:nvSpPr>
        <p:spPr>
          <a:xfrm>
            <a:off x="7765999"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52" name="Text 49">
            <a:hlinkClick r:id="rId5" action="ppaction://hlinksldjump" tooltip="Module"/>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Module">
                  <a:extLst>
                    <a:ext uri="{A12FA001-AC4F-418D-AE19-62706E023703}">
                      <ahyp:hlinkClr xmlns:ahyp="http://schemas.microsoft.com/office/drawing/2018/hyperlinkcolor" val="tx"/>
                    </a:ext>
                  </a:extLst>
                </a:hlinkClick>
              </a:rPr>
              <a:t>Module</a:t>
            </a:r>
            <a:endParaRPr lang="en-US" sz="1100" dirty="0"/>
          </a:p>
        </p:txBody>
      </p:sp>
      <p:sp>
        <p:nvSpPr>
          <p:cNvPr id="53" name="Text 50">
            <a:hlinkClick r:id="rId6" action="ppaction://hlinksldjump" tooltip="Use case"/>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Use case">
                  <a:extLst>
                    <a:ext uri="{A12FA001-AC4F-418D-AE19-62706E023703}">
                      <ahyp:hlinkClr xmlns:ahyp="http://schemas.microsoft.com/office/drawing/2018/hyperlinkcolor" val="tx"/>
                    </a:ext>
                  </a:extLst>
                </a:hlinkClick>
              </a:rPr>
              <a:t>Use case</a:t>
            </a:r>
            <a:endParaRPr lang="en-US" sz="1100" dirty="0"/>
          </a:p>
        </p:txBody>
      </p:sp>
      <p:sp>
        <p:nvSpPr>
          <p:cNvPr id="54" name="Text 51">
            <a:hlinkClick r:id="rId7"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47120" cy="502920"/>
          </a:xfrm>
          <a:prstGeom prst="rect">
            <a:avLst/>
          </a:prstGeom>
          <a:noFill/>
          <a:ln/>
        </p:spPr>
        <p:txBody>
          <a:bodyPr wrap="square" lIns="0" tIns="0" rIns="0" bIns="0" rtlCol="0" anchor="t"/>
          <a:lstStyle/>
          <a:p>
            <a:pPr marL="0" indent="0">
              <a:buNone/>
            </a:pPr>
            <a:r>
              <a:rPr lang="en-US" sz="2600" b="1" dirty="0">
                <a:solidFill>
                  <a:srgbClr val="4B1FA0"/>
                </a:solidFill>
                <a:latin typeface="Calibri" pitchFamily="34" charset="0"/>
                <a:ea typeface="Calibri" pitchFamily="34" charset="-122"/>
                <a:cs typeface="Calibri" pitchFamily="34" charset="-120"/>
              </a:rPr>
              <a:t>W-20 – </a:t>
            </a:r>
            <a:r>
              <a:rPr lang="en-US" sz="2600" b="1" dirty="0">
                <a:solidFill>
                  <a:srgbClr val="2B0B5E"/>
                </a:solidFill>
                <a:latin typeface="Calibri" pitchFamily="34" charset="0"/>
                <a:ea typeface="Calibri" pitchFamily="34" charset="-122"/>
                <a:cs typeface="Calibri" pitchFamily="34" charset="-120"/>
              </a:rPr>
              <a:t>Proposal Review Editor</a:t>
            </a:r>
            <a:endParaRPr lang="en-US" sz="2600" dirty="0"/>
          </a:p>
        </p:txBody>
      </p:sp>
      <p:sp>
        <p:nvSpPr>
          <p:cNvPr id="3" name="Text 1"/>
          <p:cNvSpPr txBox="1"/>
          <p:nvPr/>
        </p:nvSpPr>
        <p:spPr>
          <a:xfrm>
            <a:off x="457200" y="777240"/>
            <a:ext cx="11247120" cy="384048"/>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Edit each section, approve it or request changes, and see the requirement IDs it covers.</a:t>
            </a:r>
            <a:endParaRPr lang="en-US" sz="13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39</a:t>
            </a:r>
            <a:endParaRPr lang="en-US" sz="1000" dirty="0"/>
          </a:p>
        </p:txBody>
      </p:sp>
      <p:sp>
        <p:nvSpPr>
          <p:cNvPr id="5" name="Shape 3"/>
          <p:cNvSpPr/>
          <p:nvPr/>
        </p:nvSpPr>
        <p:spPr>
          <a:xfrm>
            <a:off x="429768" y="1271016"/>
            <a:ext cx="6775704" cy="4255389"/>
          </a:xfrm>
          <a:prstGeom prst="rect">
            <a:avLst/>
          </a:prstGeom>
          <a:solidFill>
            <a:srgbClr val="FFFFFF"/>
          </a:solidFill>
          <a:ln w="12700">
            <a:solidFill>
              <a:srgbClr val="E6E5EC"/>
            </a:solidFill>
            <a:prstDash val="solid"/>
          </a:ln>
        </p:spPr>
        <p:txBody>
          <a:bodyPr/>
          <a:lstStyle/>
          <a:p>
            <a:endParaRPr lang="en-PK"/>
          </a:p>
        </p:txBody>
      </p:sp>
      <p:pic>
        <p:nvPicPr>
          <p:cNvPr id="6" name="Image 0" descr="Proposal Review Editor mockup"/>
          <p:cNvPicPr>
            <a:picLocks noChangeAspect="1"/>
          </p:cNvPicPr>
          <p:nvPr/>
        </p:nvPicPr>
        <p:blipFill>
          <a:blip r:embed="rId3"/>
          <a:stretch>
            <a:fillRect/>
          </a:stretch>
        </p:blipFill>
        <p:spPr>
          <a:xfrm>
            <a:off x="457200" y="1298448"/>
            <a:ext cx="6720840" cy="4200525"/>
          </a:xfrm>
          <a:prstGeom prst="rect">
            <a:avLst/>
          </a:prstGeom>
        </p:spPr>
      </p:pic>
      <p:sp>
        <p:nvSpPr>
          <p:cNvPr id="7" name="Shape 4"/>
          <p:cNvSpPr/>
          <p:nvPr/>
        </p:nvSpPr>
        <p:spPr>
          <a:xfrm>
            <a:off x="5013530" y="2485826"/>
            <a:ext cx="596314" cy="109170"/>
          </a:xfrm>
          <a:prstGeom prst="rect">
            <a:avLst/>
          </a:prstGeom>
          <a:solidFill>
            <a:srgbClr val="E5484D">
              <a:alpha val="12000"/>
            </a:srgbClr>
          </a:solidFill>
          <a:ln w="22225">
            <a:solidFill>
              <a:srgbClr val="E5484D"/>
            </a:solidFill>
            <a:prstDash val="solid"/>
          </a:ln>
        </p:spPr>
        <p:txBody>
          <a:bodyPr/>
          <a:lstStyle/>
          <a:p>
            <a:endParaRPr lang="en-PK"/>
          </a:p>
        </p:txBody>
      </p:sp>
      <p:sp>
        <p:nvSpPr>
          <p:cNvPr id="8" name="Text 5"/>
          <p:cNvSpPr/>
          <p:nvPr/>
        </p:nvSpPr>
        <p:spPr>
          <a:xfrm>
            <a:off x="4739210" y="2416967"/>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Shape 6"/>
          <p:cNvSpPr/>
          <p:nvPr/>
        </p:nvSpPr>
        <p:spPr>
          <a:xfrm>
            <a:off x="4840112" y="4544812"/>
            <a:ext cx="760397" cy="218631"/>
          </a:xfrm>
          <a:prstGeom prst="rect">
            <a:avLst/>
          </a:prstGeom>
          <a:solidFill>
            <a:srgbClr val="E5484D">
              <a:alpha val="12000"/>
            </a:srgbClr>
          </a:solidFill>
          <a:ln w="22225">
            <a:solidFill>
              <a:srgbClr val="E5484D"/>
            </a:solidFill>
            <a:prstDash val="solid"/>
          </a:ln>
        </p:spPr>
        <p:txBody>
          <a:bodyPr/>
          <a:lstStyle/>
          <a:p>
            <a:endParaRPr lang="en-PK"/>
          </a:p>
        </p:txBody>
      </p:sp>
      <p:sp>
        <p:nvSpPr>
          <p:cNvPr id="10" name="Text 7"/>
          <p:cNvSpPr/>
          <p:nvPr/>
        </p:nvSpPr>
        <p:spPr>
          <a:xfrm>
            <a:off x="4565792" y="4530684"/>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Shape 8"/>
          <p:cNvSpPr/>
          <p:nvPr/>
        </p:nvSpPr>
        <p:spPr>
          <a:xfrm>
            <a:off x="3108198" y="4258287"/>
            <a:ext cx="2445639" cy="123172"/>
          </a:xfrm>
          <a:prstGeom prst="rect">
            <a:avLst/>
          </a:prstGeom>
          <a:solidFill>
            <a:srgbClr val="E5484D">
              <a:alpha val="12000"/>
            </a:srgbClr>
          </a:solidFill>
          <a:ln w="22225">
            <a:solidFill>
              <a:srgbClr val="E5484D"/>
            </a:solidFill>
            <a:prstDash val="solid"/>
          </a:ln>
        </p:spPr>
        <p:txBody>
          <a:bodyPr/>
          <a:lstStyle/>
          <a:p>
            <a:endParaRPr lang="en-PK"/>
          </a:p>
        </p:txBody>
      </p:sp>
      <p:sp>
        <p:nvSpPr>
          <p:cNvPr id="12" name="Text 9"/>
          <p:cNvSpPr/>
          <p:nvPr/>
        </p:nvSpPr>
        <p:spPr>
          <a:xfrm>
            <a:off x="2833878" y="4196429"/>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3" name="Shape 10"/>
          <p:cNvSpPr/>
          <p:nvPr/>
        </p:nvSpPr>
        <p:spPr>
          <a:xfrm>
            <a:off x="5861876" y="2145700"/>
            <a:ext cx="1073468" cy="143007"/>
          </a:xfrm>
          <a:prstGeom prst="rect">
            <a:avLst/>
          </a:prstGeom>
          <a:solidFill>
            <a:srgbClr val="E5484D">
              <a:alpha val="12000"/>
            </a:srgbClr>
          </a:solidFill>
          <a:ln w="22225">
            <a:solidFill>
              <a:srgbClr val="E5484D"/>
            </a:solidFill>
            <a:prstDash val="solid"/>
          </a:ln>
        </p:spPr>
        <p:txBody>
          <a:bodyPr/>
          <a:lstStyle/>
          <a:p>
            <a:endParaRPr lang="en-PK"/>
          </a:p>
        </p:txBody>
      </p:sp>
      <p:sp>
        <p:nvSpPr>
          <p:cNvPr id="14" name="Text 11"/>
          <p:cNvSpPr/>
          <p:nvPr/>
        </p:nvSpPr>
        <p:spPr>
          <a:xfrm>
            <a:off x="5587556" y="2093759"/>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5" name="Shape 12"/>
          <p:cNvSpPr/>
          <p:nvPr/>
        </p:nvSpPr>
        <p:spPr>
          <a:xfrm>
            <a:off x="3998841" y="4544812"/>
            <a:ext cx="794599" cy="218631"/>
          </a:xfrm>
          <a:prstGeom prst="rect">
            <a:avLst/>
          </a:prstGeom>
          <a:solidFill>
            <a:srgbClr val="E5484D">
              <a:alpha val="12000"/>
            </a:srgbClr>
          </a:solidFill>
          <a:ln w="22225">
            <a:solidFill>
              <a:srgbClr val="E5484D"/>
            </a:solidFill>
            <a:prstDash val="solid"/>
          </a:ln>
        </p:spPr>
        <p:txBody>
          <a:bodyPr/>
          <a:lstStyle/>
          <a:p>
            <a:endParaRPr lang="en-PK"/>
          </a:p>
        </p:txBody>
      </p:sp>
      <p:sp>
        <p:nvSpPr>
          <p:cNvPr id="16" name="Text 13"/>
          <p:cNvSpPr/>
          <p:nvPr/>
        </p:nvSpPr>
        <p:spPr>
          <a:xfrm>
            <a:off x="3724521" y="4530684"/>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7" name="Text 14"/>
          <p:cNvSpPr txBox="1"/>
          <p:nvPr/>
        </p:nvSpPr>
        <p:spPr>
          <a:xfrm>
            <a:off x="457200" y="5626989"/>
            <a:ext cx="6720840" cy="457200"/>
          </a:xfrm>
          <a:prstGeom prst="rect">
            <a:avLst/>
          </a:prstGeom>
          <a:solidFill>
            <a:srgbClr val="FFFFFF"/>
          </a:solidFill>
          <a:ln w="9525">
            <a:solidFill>
              <a:srgbClr val="E6E5EC"/>
            </a:solidFill>
          </a:ln>
        </p:spPr>
        <p:txBody>
          <a:bodyPr wrap="square" lIns="50800" tIns="127000" rIns="127000" bIns="5080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Use case: </a:t>
            </a:r>
            <a:r>
              <a:rPr lang="en-US" sz="1050" dirty="0">
                <a:solidFill>
                  <a:srgbClr val="1A1A22"/>
                </a:solidFill>
                <a:latin typeface="Calibri" pitchFamily="34" charset="0"/>
                <a:ea typeface="Calibri" pitchFamily="34" charset="-122"/>
                <a:cs typeface="Calibri" pitchFamily="34" charset="-120"/>
              </a:rPr>
              <a:t>Approve Proposal (+ Request Changes) · Link Requirements   </a:t>
            </a:r>
            <a:r>
              <a:rPr lang="en-US" sz="1050" dirty="0">
                <a:solidFill>
                  <a:srgbClr val="C9B6F2"/>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rule from the SRS  </a:t>
            </a:r>
            <a:r>
              <a:rPr lang="en-US" sz="1050" dirty="0">
                <a:solidFill>
                  <a:srgbClr val="BDBDC8"/>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condition stated in the FR</a:t>
            </a:r>
            <a:endParaRPr lang="en-US" sz="1050" dirty="0"/>
          </a:p>
        </p:txBody>
      </p:sp>
      <p:sp>
        <p:nvSpPr>
          <p:cNvPr id="18" name="Text 15"/>
          <p:cNvSpPr txBox="1"/>
          <p:nvPr/>
        </p:nvSpPr>
        <p:spPr>
          <a:xfrm>
            <a:off x="7717536" y="1298448"/>
            <a:ext cx="2331720"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FUNCTIONAL REQUIREMENT</a:t>
            </a:r>
            <a:endParaRPr lang="en-US" sz="1000" dirty="0"/>
          </a:p>
        </p:txBody>
      </p:sp>
      <p:sp>
        <p:nvSpPr>
          <p:cNvPr id="19" name="Text 16"/>
          <p:cNvSpPr txBox="1"/>
          <p:nvPr/>
        </p:nvSpPr>
        <p:spPr>
          <a:xfrm>
            <a:off x="10140696" y="1298448"/>
            <a:ext cx="1593799"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BUSINESS RULE</a:t>
            </a:r>
            <a:endParaRPr lang="en-US" sz="1000" dirty="0"/>
          </a:p>
        </p:txBody>
      </p:sp>
      <p:sp>
        <p:nvSpPr>
          <p:cNvPr id="20" name="Text 17"/>
          <p:cNvSpPr/>
          <p:nvPr/>
        </p:nvSpPr>
        <p:spPr>
          <a:xfrm>
            <a:off x="7406640" y="164592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21" name="Shape 18"/>
          <p:cNvSpPr/>
          <p:nvPr/>
        </p:nvSpPr>
        <p:spPr>
          <a:xfrm>
            <a:off x="7717536" y="1591056"/>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22" name="Shape 19"/>
          <p:cNvSpPr/>
          <p:nvPr/>
        </p:nvSpPr>
        <p:spPr>
          <a:xfrm>
            <a:off x="7717536" y="1591056"/>
            <a:ext cx="54864" cy="855878"/>
          </a:xfrm>
          <a:prstGeom prst="rect">
            <a:avLst/>
          </a:prstGeom>
          <a:solidFill>
            <a:srgbClr val="4B1FA0"/>
          </a:solidFill>
          <a:ln/>
        </p:spPr>
        <p:txBody>
          <a:bodyPr/>
          <a:lstStyle/>
          <a:p>
            <a:endParaRPr lang="en-PK"/>
          </a:p>
        </p:txBody>
      </p:sp>
      <p:sp>
        <p:nvSpPr>
          <p:cNvPr id="23" name="Text 20"/>
          <p:cNvSpPr txBox="1"/>
          <p:nvPr/>
        </p:nvSpPr>
        <p:spPr>
          <a:xfrm>
            <a:off x="7845552" y="1591056"/>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FR-6.7</a:t>
            </a:r>
            <a:r>
              <a:rPr lang="en-US" sz="1050" b="1" dirty="0">
                <a:solidFill>
                  <a:srgbClr val="2B0B5E"/>
                </a:solidFill>
                <a:latin typeface="Calibri" pitchFamily="34" charset="0"/>
                <a:ea typeface="Calibri" pitchFamily="34" charset="-122"/>
                <a:cs typeface="Calibri" pitchFamily="34" charset="-120"/>
              </a:rPr>
              <a:t> · Section Editing</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Engineer edits each section in a rich-text editor</a:t>
            </a:r>
            <a:endParaRPr lang="en-US" sz="1050" dirty="0"/>
          </a:p>
        </p:txBody>
      </p:sp>
      <p:sp>
        <p:nvSpPr>
          <p:cNvPr id="24" name="Shape 21"/>
          <p:cNvSpPr/>
          <p:nvPr/>
        </p:nvSpPr>
        <p:spPr>
          <a:xfrm>
            <a:off x="10140696" y="1591056"/>
            <a:ext cx="1593799" cy="855878"/>
          </a:xfrm>
          <a:prstGeom prst="roundRect">
            <a:avLst>
              <a:gd name="adj" fmla="val 6410"/>
            </a:avLst>
          </a:prstGeom>
          <a:solidFill>
            <a:srgbClr val="ECECF1"/>
          </a:solidFill>
          <a:ln/>
        </p:spPr>
        <p:txBody>
          <a:bodyPr/>
          <a:lstStyle/>
          <a:p>
            <a:endParaRPr lang="en-PK"/>
          </a:p>
        </p:txBody>
      </p:sp>
      <p:sp>
        <p:nvSpPr>
          <p:cNvPr id="25" name="Text 22"/>
          <p:cNvSpPr txBox="1"/>
          <p:nvPr/>
        </p:nvSpPr>
        <p:spPr>
          <a:xfrm>
            <a:off x="10232136" y="1591056"/>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Edited in TipTap before approval.</a:t>
            </a:r>
            <a:endParaRPr lang="en-US" sz="1000" dirty="0"/>
          </a:p>
        </p:txBody>
      </p:sp>
      <p:sp>
        <p:nvSpPr>
          <p:cNvPr id="26" name="Text 23"/>
          <p:cNvSpPr/>
          <p:nvPr/>
        </p:nvSpPr>
        <p:spPr>
          <a:xfrm>
            <a:off x="7406640" y="2593238"/>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7" name="Shape 24"/>
          <p:cNvSpPr/>
          <p:nvPr/>
        </p:nvSpPr>
        <p:spPr>
          <a:xfrm>
            <a:off x="7717536" y="2538374"/>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28" name="Shape 25"/>
          <p:cNvSpPr/>
          <p:nvPr/>
        </p:nvSpPr>
        <p:spPr>
          <a:xfrm>
            <a:off x="7717536" y="2538374"/>
            <a:ext cx="54864" cy="855878"/>
          </a:xfrm>
          <a:prstGeom prst="rect">
            <a:avLst/>
          </a:prstGeom>
          <a:solidFill>
            <a:srgbClr val="4B1FA0"/>
          </a:solidFill>
          <a:ln/>
        </p:spPr>
        <p:txBody>
          <a:bodyPr/>
          <a:lstStyle/>
          <a:p>
            <a:endParaRPr lang="en-PK"/>
          </a:p>
        </p:txBody>
      </p:sp>
      <p:sp>
        <p:nvSpPr>
          <p:cNvPr id="29" name="Text 26"/>
          <p:cNvSpPr txBox="1"/>
          <p:nvPr/>
        </p:nvSpPr>
        <p:spPr>
          <a:xfrm>
            <a:off x="7845552" y="2538374"/>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FR-6.8</a:t>
            </a:r>
            <a:r>
              <a:rPr lang="en-US" sz="1050" b="1" dirty="0">
                <a:solidFill>
                  <a:srgbClr val="2B0B5E"/>
                </a:solidFill>
                <a:latin typeface="Calibri" pitchFamily="34" charset="0"/>
                <a:ea typeface="Calibri" pitchFamily="34" charset="-122"/>
                <a:cs typeface="Calibri" pitchFamily="34" charset="-120"/>
              </a:rPr>
              <a:t> · Reviewer Approval Gate</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No export until every section is approved</a:t>
            </a:r>
            <a:endParaRPr lang="en-US" sz="1050" dirty="0"/>
          </a:p>
        </p:txBody>
      </p:sp>
      <p:sp>
        <p:nvSpPr>
          <p:cNvPr id="30" name="Shape 27"/>
          <p:cNvSpPr/>
          <p:nvPr/>
        </p:nvSpPr>
        <p:spPr>
          <a:xfrm>
            <a:off x="10140696" y="2538374"/>
            <a:ext cx="1593799" cy="855878"/>
          </a:xfrm>
          <a:prstGeom prst="roundRect">
            <a:avLst>
              <a:gd name="adj" fmla="val 6410"/>
            </a:avLst>
          </a:prstGeom>
          <a:solidFill>
            <a:srgbClr val="EFE7FB"/>
          </a:solidFill>
          <a:ln/>
        </p:spPr>
        <p:txBody>
          <a:bodyPr/>
          <a:lstStyle/>
          <a:p>
            <a:endParaRPr lang="en-PK"/>
          </a:p>
        </p:txBody>
      </p:sp>
      <p:sp>
        <p:nvSpPr>
          <p:cNvPr id="31" name="Text 28"/>
          <p:cNvSpPr txBox="1"/>
          <p:nvPr/>
        </p:nvSpPr>
        <p:spPr>
          <a:xfrm>
            <a:off x="10232136" y="2538374"/>
            <a:ext cx="1429207" cy="855878"/>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Export is blocked until every section is approved.</a:t>
            </a:r>
            <a:endParaRPr lang="en-US" sz="1000" dirty="0"/>
          </a:p>
        </p:txBody>
      </p:sp>
      <p:sp>
        <p:nvSpPr>
          <p:cNvPr id="32" name="Text 29"/>
          <p:cNvSpPr/>
          <p:nvPr/>
        </p:nvSpPr>
        <p:spPr>
          <a:xfrm>
            <a:off x="7406640" y="3540557"/>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33" name="Shape 30"/>
          <p:cNvSpPr/>
          <p:nvPr/>
        </p:nvSpPr>
        <p:spPr>
          <a:xfrm>
            <a:off x="7717536" y="3485693"/>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34" name="Shape 31"/>
          <p:cNvSpPr/>
          <p:nvPr/>
        </p:nvSpPr>
        <p:spPr>
          <a:xfrm>
            <a:off x="7717536" y="3485693"/>
            <a:ext cx="54864" cy="855878"/>
          </a:xfrm>
          <a:prstGeom prst="rect">
            <a:avLst/>
          </a:prstGeom>
          <a:solidFill>
            <a:srgbClr val="4B1FA0"/>
          </a:solidFill>
          <a:ln/>
        </p:spPr>
        <p:txBody>
          <a:bodyPr/>
          <a:lstStyle/>
          <a:p>
            <a:endParaRPr lang="en-PK"/>
          </a:p>
        </p:txBody>
      </p:sp>
      <p:sp>
        <p:nvSpPr>
          <p:cNvPr id="35" name="Text 32"/>
          <p:cNvSpPr txBox="1"/>
          <p:nvPr/>
        </p:nvSpPr>
        <p:spPr>
          <a:xfrm>
            <a:off x="7845552" y="3485693"/>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FR-6.11</a:t>
            </a:r>
            <a:r>
              <a:rPr lang="en-US" sz="1050" b="1" dirty="0">
                <a:solidFill>
                  <a:srgbClr val="2B0B5E"/>
                </a:solidFill>
                <a:latin typeface="Calibri" pitchFamily="34" charset="0"/>
                <a:ea typeface="Calibri" pitchFamily="34" charset="-122"/>
                <a:cs typeface="Calibri" pitchFamily="34" charset="-120"/>
              </a:rPr>
              <a:t> · Requirement Linking</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Links each section to the requirement IDs it covers</a:t>
            </a:r>
            <a:endParaRPr lang="en-US" sz="1050" dirty="0"/>
          </a:p>
        </p:txBody>
      </p:sp>
      <p:sp>
        <p:nvSpPr>
          <p:cNvPr id="36" name="Shape 33"/>
          <p:cNvSpPr/>
          <p:nvPr/>
        </p:nvSpPr>
        <p:spPr>
          <a:xfrm>
            <a:off x="10140696" y="3485693"/>
            <a:ext cx="1593799" cy="855878"/>
          </a:xfrm>
          <a:prstGeom prst="roundRect">
            <a:avLst>
              <a:gd name="adj" fmla="val 6410"/>
            </a:avLst>
          </a:prstGeom>
          <a:solidFill>
            <a:srgbClr val="ECECF1"/>
          </a:solidFill>
          <a:ln/>
        </p:spPr>
        <p:txBody>
          <a:bodyPr/>
          <a:lstStyle/>
          <a:p>
            <a:endParaRPr lang="en-PK"/>
          </a:p>
        </p:txBody>
      </p:sp>
      <p:sp>
        <p:nvSpPr>
          <p:cNvPr id="37" name="Text 34"/>
          <p:cNvSpPr txBox="1"/>
          <p:nvPr/>
        </p:nvSpPr>
        <p:spPr>
          <a:xfrm>
            <a:off x="10232136" y="3485693"/>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Each section lists the requirement IDs it covers.</a:t>
            </a:r>
            <a:endParaRPr lang="en-US" sz="1000" dirty="0"/>
          </a:p>
        </p:txBody>
      </p:sp>
      <p:sp>
        <p:nvSpPr>
          <p:cNvPr id="38" name="Text 35"/>
          <p:cNvSpPr/>
          <p:nvPr/>
        </p:nvSpPr>
        <p:spPr>
          <a:xfrm>
            <a:off x="7406640" y="4487875"/>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39" name="Shape 36"/>
          <p:cNvSpPr/>
          <p:nvPr/>
        </p:nvSpPr>
        <p:spPr>
          <a:xfrm>
            <a:off x="7717536" y="4433011"/>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40" name="Shape 37"/>
          <p:cNvSpPr/>
          <p:nvPr/>
        </p:nvSpPr>
        <p:spPr>
          <a:xfrm>
            <a:off x="7717536" y="4433011"/>
            <a:ext cx="54864" cy="855878"/>
          </a:xfrm>
          <a:prstGeom prst="rect">
            <a:avLst/>
          </a:prstGeom>
          <a:solidFill>
            <a:srgbClr val="4B1FA0"/>
          </a:solidFill>
          <a:ln/>
        </p:spPr>
        <p:txBody>
          <a:bodyPr/>
          <a:lstStyle/>
          <a:p>
            <a:endParaRPr lang="en-PK"/>
          </a:p>
        </p:txBody>
      </p:sp>
      <p:sp>
        <p:nvSpPr>
          <p:cNvPr id="41" name="Text 38"/>
          <p:cNvSpPr txBox="1"/>
          <p:nvPr/>
        </p:nvSpPr>
        <p:spPr>
          <a:xfrm>
            <a:off x="7845552" y="4433011"/>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FR-6.12</a:t>
            </a:r>
            <a:r>
              <a:rPr lang="en-US" sz="1050" b="1" dirty="0">
                <a:solidFill>
                  <a:srgbClr val="2B0B5E"/>
                </a:solidFill>
                <a:latin typeface="Calibri" pitchFamily="34" charset="0"/>
                <a:ea typeface="Calibri" pitchFamily="34" charset="-122"/>
                <a:cs typeface="Calibri" pitchFamily="34" charset="-120"/>
              </a:rPr>
              <a:t> · Coverage Check</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Lists requirements not covered by any section</a:t>
            </a:r>
            <a:endParaRPr lang="en-US" sz="1050" dirty="0"/>
          </a:p>
        </p:txBody>
      </p:sp>
      <p:sp>
        <p:nvSpPr>
          <p:cNvPr id="42" name="Shape 39"/>
          <p:cNvSpPr/>
          <p:nvPr/>
        </p:nvSpPr>
        <p:spPr>
          <a:xfrm>
            <a:off x="10140696" y="4433011"/>
            <a:ext cx="1593799" cy="855878"/>
          </a:xfrm>
          <a:prstGeom prst="roundRect">
            <a:avLst>
              <a:gd name="adj" fmla="val 6410"/>
            </a:avLst>
          </a:prstGeom>
          <a:solidFill>
            <a:srgbClr val="ECECF1"/>
          </a:solidFill>
          <a:ln/>
        </p:spPr>
        <p:txBody>
          <a:bodyPr/>
          <a:lstStyle/>
          <a:p>
            <a:endParaRPr lang="en-PK"/>
          </a:p>
        </p:txBody>
      </p:sp>
      <p:sp>
        <p:nvSpPr>
          <p:cNvPr id="43" name="Text 40"/>
          <p:cNvSpPr txBox="1"/>
          <p:nvPr/>
        </p:nvSpPr>
        <p:spPr>
          <a:xfrm>
            <a:off x="10232136" y="4433011"/>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Lists accepted requirements with no section.</a:t>
            </a:r>
            <a:endParaRPr lang="en-US" sz="1000" dirty="0"/>
          </a:p>
        </p:txBody>
      </p:sp>
      <p:sp>
        <p:nvSpPr>
          <p:cNvPr id="44" name="Text 41"/>
          <p:cNvSpPr/>
          <p:nvPr/>
        </p:nvSpPr>
        <p:spPr>
          <a:xfrm>
            <a:off x="7406640" y="5435194"/>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45" name="Shape 42"/>
          <p:cNvSpPr/>
          <p:nvPr/>
        </p:nvSpPr>
        <p:spPr>
          <a:xfrm>
            <a:off x="7717536" y="5380330"/>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46" name="Shape 43"/>
          <p:cNvSpPr/>
          <p:nvPr/>
        </p:nvSpPr>
        <p:spPr>
          <a:xfrm>
            <a:off x="7717536" y="5380330"/>
            <a:ext cx="54864" cy="855878"/>
          </a:xfrm>
          <a:prstGeom prst="rect">
            <a:avLst/>
          </a:prstGeom>
          <a:solidFill>
            <a:srgbClr val="4B1FA0"/>
          </a:solidFill>
          <a:ln/>
        </p:spPr>
        <p:txBody>
          <a:bodyPr/>
          <a:lstStyle/>
          <a:p>
            <a:endParaRPr lang="en-PK"/>
          </a:p>
        </p:txBody>
      </p:sp>
      <p:sp>
        <p:nvSpPr>
          <p:cNvPr id="47" name="Text 44"/>
          <p:cNvSpPr txBox="1"/>
          <p:nvPr/>
        </p:nvSpPr>
        <p:spPr>
          <a:xfrm>
            <a:off x="7845552" y="5380330"/>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FR-13.3</a:t>
            </a:r>
            <a:r>
              <a:rPr lang="en-US" sz="1050" b="1" dirty="0">
                <a:solidFill>
                  <a:srgbClr val="2B0B5E"/>
                </a:solidFill>
                <a:latin typeface="Calibri" pitchFamily="34" charset="0"/>
                <a:ea typeface="Calibri" pitchFamily="34" charset="-122"/>
                <a:cs typeface="Calibri" pitchFamily="34" charset="-120"/>
              </a:rPr>
              <a:t> · Self-Approval Prevention</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Nobody can approve a section they generated</a:t>
            </a:r>
            <a:endParaRPr lang="en-US" sz="1050" dirty="0"/>
          </a:p>
        </p:txBody>
      </p:sp>
      <p:sp>
        <p:nvSpPr>
          <p:cNvPr id="48" name="Shape 45"/>
          <p:cNvSpPr/>
          <p:nvPr/>
        </p:nvSpPr>
        <p:spPr>
          <a:xfrm>
            <a:off x="10140696" y="5380330"/>
            <a:ext cx="1593799" cy="855878"/>
          </a:xfrm>
          <a:prstGeom prst="roundRect">
            <a:avLst>
              <a:gd name="adj" fmla="val 6410"/>
            </a:avLst>
          </a:prstGeom>
          <a:solidFill>
            <a:srgbClr val="EFE7FB"/>
          </a:solidFill>
          <a:ln/>
        </p:spPr>
        <p:txBody>
          <a:bodyPr/>
          <a:lstStyle/>
          <a:p>
            <a:endParaRPr lang="en-PK"/>
          </a:p>
        </p:txBody>
      </p:sp>
      <p:sp>
        <p:nvSpPr>
          <p:cNvPr id="49" name="Text 46"/>
          <p:cNvSpPr txBox="1"/>
          <p:nvPr/>
        </p:nvSpPr>
        <p:spPr>
          <a:xfrm>
            <a:off x="10232136" y="5380330"/>
            <a:ext cx="1429207" cy="855878"/>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Enforced on the server, not only in the UI.</a:t>
            </a:r>
            <a:endParaRPr lang="en-US" sz="1000" dirty="0"/>
          </a:p>
        </p:txBody>
      </p:sp>
      <p:sp>
        <p:nvSpPr>
          <p:cNvPr id="50" name="Text 47">
            <a:hlinkClick r:id="" action="ppaction://noaction"/>
          </p:cNvPr>
          <p:cNvSpPr/>
          <p:nvPr/>
        </p:nvSpPr>
        <p:spPr>
          <a:xfrm>
            <a:off x="6787591"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51" name="Text 48">
            <a:hlinkClick r:id="rId4" action="ppaction://hlinksldjump" tooltip="Contents"/>
          </p:cNvPr>
          <p:cNvSpPr/>
          <p:nvPr/>
        </p:nvSpPr>
        <p:spPr>
          <a:xfrm>
            <a:off x="7765999"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52" name="Text 49">
            <a:hlinkClick r:id="rId5" action="ppaction://hlinksldjump" tooltip="Module"/>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Module">
                  <a:extLst>
                    <a:ext uri="{A12FA001-AC4F-418D-AE19-62706E023703}">
                      <ahyp:hlinkClr xmlns:ahyp="http://schemas.microsoft.com/office/drawing/2018/hyperlinkcolor" val="tx"/>
                    </a:ext>
                  </a:extLst>
                </a:hlinkClick>
              </a:rPr>
              <a:t>Module</a:t>
            </a:r>
            <a:endParaRPr lang="en-US" sz="1100" dirty="0"/>
          </a:p>
        </p:txBody>
      </p:sp>
      <p:sp>
        <p:nvSpPr>
          <p:cNvPr id="53" name="Text 50">
            <a:hlinkClick r:id="rId6" action="ppaction://hlinksldjump" tooltip="Use case"/>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Use case">
                  <a:extLst>
                    <a:ext uri="{A12FA001-AC4F-418D-AE19-62706E023703}">
                      <ahyp:hlinkClr xmlns:ahyp="http://schemas.microsoft.com/office/drawing/2018/hyperlinkcolor" val="tx"/>
                    </a:ext>
                  </a:extLst>
                </a:hlinkClick>
              </a:rPr>
              <a:t>Use case</a:t>
            </a:r>
            <a:endParaRPr lang="en-US" sz="1100" dirty="0"/>
          </a:p>
        </p:txBody>
      </p:sp>
      <p:sp>
        <p:nvSpPr>
          <p:cNvPr id="54" name="Text 51">
            <a:hlinkClick r:id="rId7"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47120" cy="502920"/>
          </a:xfrm>
          <a:prstGeom prst="rect">
            <a:avLst/>
          </a:prstGeom>
          <a:noFill/>
          <a:ln/>
        </p:spPr>
        <p:txBody>
          <a:bodyPr wrap="square" lIns="0" tIns="0" rIns="0" bIns="0" rtlCol="0" anchor="t"/>
          <a:lstStyle/>
          <a:p>
            <a:pPr marL="0" indent="0">
              <a:buNone/>
            </a:pPr>
            <a:r>
              <a:rPr lang="en-US" sz="2600" b="1" dirty="0">
                <a:solidFill>
                  <a:srgbClr val="4B1FA0"/>
                </a:solidFill>
                <a:latin typeface="Calibri" pitchFamily="34" charset="0"/>
                <a:ea typeface="Calibri" pitchFamily="34" charset="-122"/>
                <a:cs typeface="Calibri" pitchFamily="34" charset="-120"/>
              </a:rPr>
              <a:t>W-23 – </a:t>
            </a:r>
            <a:r>
              <a:rPr lang="en-US" sz="2600" b="1" dirty="0">
                <a:solidFill>
                  <a:srgbClr val="2B0B5E"/>
                </a:solidFill>
                <a:latin typeface="Calibri" pitchFamily="34" charset="0"/>
                <a:ea typeface="Calibri" pitchFamily="34" charset="-122"/>
                <a:cs typeface="Calibri" pitchFamily="34" charset="-120"/>
              </a:rPr>
              <a:t>BOQ Editor</a:t>
            </a:r>
            <a:endParaRPr lang="en-US" sz="2600" dirty="0"/>
          </a:p>
        </p:txBody>
      </p:sp>
      <p:sp>
        <p:nvSpPr>
          <p:cNvPr id="3" name="Text 1"/>
          <p:cNvSpPr txBox="1"/>
          <p:nvPr/>
        </p:nvSpPr>
        <p:spPr>
          <a:xfrm>
            <a:off x="457200" y="777240"/>
            <a:ext cx="11247120" cy="384048"/>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The client’s BOQ template filled from the compliance matrix; costing columns left blank.</a:t>
            </a:r>
            <a:endParaRPr lang="en-US" sz="13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40</a:t>
            </a:r>
            <a:endParaRPr lang="en-US" sz="1000" dirty="0"/>
          </a:p>
        </p:txBody>
      </p:sp>
      <p:sp>
        <p:nvSpPr>
          <p:cNvPr id="5" name="Shape 3"/>
          <p:cNvSpPr/>
          <p:nvPr/>
        </p:nvSpPr>
        <p:spPr>
          <a:xfrm>
            <a:off x="429768" y="1271016"/>
            <a:ext cx="6775704" cy="4255389"/>
          </a:xfrm>
          <a:prstGeom prst="rect">
            <a:avLst/>
          </a:prstGeom>
          <a:solidFill>
            <a:srgbClr val="FFFFFF"/>
          </a:solidFill>
          <a:ln w="12700">
            <a:solidFill>
              <a:srgbClr val="E6E5EC"/>
            </a:solidFill>
            <a:prstDash val="solid"/>
          </a:ln>
        </p:spPr>
        <p:txBody>
          <a:bodyPr/>
          <a:lstStyle/>
          <a:p>
            <a:endParaRPr lang="en-PK"/>
          </a:p>
        </p:txBody>
      </p:sp>
      <p:pic>
        <p:nvPicPr>
          <p:cNvPr id="6" name="Image 0" descr="BOQ Editor mockup"/>
          <p:cNvPicPr>
            <a:picLocks noChangeAspect="1"/>
          </p:cNvPicPr>
          <p:nvPr/>
        </p:nvPicPr>
        <p:blipFill>
          <a:blip r:embed="rId3"/>
          <a:stretch>
            <a:fillRect/>
          </a:stretch>
        </p:blipFill>
        <p:spPr>
          <a:xfrm>
            <a:off x="457200" y="1298448"/>
            <a:ext cx="6720840" cy="4200525"/>
          </a:xfrm>
          <a:prstGeom prst="rect">
            <a:avLst/>
          </a:prstGeom>
        </p:spPr>
      </p:pic>
      <p:sp>
        <p:nvSpPr>
          <p:cNvPr id="7" name="Shape 4"/>
          <p:cNvSpPr/>
          <p:nvPr/>
        </p:nvSpPr>
        <p:spPr>
          <a:xfrm>
            <a:off x="1759363" y="2133084"/>
            <a:ext cx="1928741" cy="533890"/>
          </a:xfrm>
          <a:prstGeom prst="rect">
            <a:avLst/>
          </a:prstGeom>
          <a:solidFill>
            <a:srgbClr val="E5484D">
              <a:alpha val="12000"/>
            </a:srgbClr>
          </a:solidFill>
          <a:ln w="22225">
            <a:solidFill>
              <a:srgbClr val="E5484D"/>
            </a:solidFill>
            <a:prstDash val="solid"/>
          </a:ln>
        </p:spPr>
        <p:txBody>
          <a:bodyPr/>
          <a:lstStyle/>
          <a:p>
            <a:endParaRPr lang="en-PK"/>
          </a:p>
        </p:txBody>
      </p:sp>
      <p:sp>
        <p:nvSpPr>
          <p:cNvPr id="8" name="Text 5"/>
          <p:cNvSpPr/>
          <p:nvPr/>
        </p:nvSpPr>
        <p:spPr>
          <a:xfrm>
            <a:off x="1485043" y="2276584"/>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Shape 6"/>
          <p:cNvSpPr/>
          <p:nvPr/>
        </p:nvSpPr>
        <p:spPr>
          <a:xfrm>
            <a:off x="5538085" y="2430840"/>
            <a:ext cx="1397258" cy="109170"/>
          </a:xfrm>
          <a:prstGeom prst="rect">
            <a:avLst/>
          </a:prstGeom>
          <a:solidFill>
            <a:srgbClr val="E5484D">
              <a:alpha val="12000"/>
            </a:srgbClr>
          </a:solidFill>
          <a:ln w="22225">
            <a:solidFill>
              <a:srgbClr val="E5484D"/>
            </a:solidFill>
            <a:prstDash val="solid"/>
          </a:ln>
        </p:spPr>
        <p:txBody>
          <a:bodyPr/>
          <a:lstStyle/>
          <a:p>
            <a:endParaRPr lang="en-PK"/>
          </a:p>
        </p:txBody>
      </p:sp>
      <p:sp>
        <p:nvSpPr>
          <p:cNvPr id="10" name="Text 7"/>
          <p:cNvSpPr/>
          <p:nvPr/>
        </p:nvSpPr>
        <p:spPr>
          <a:xfrm>
            <a:off x="5263765" y="2361980"/>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Shape 8"/>
          <p:cNvSpPr/>
          <p:nvPr/>
        </p:nvSpPr>
        <p:spPr>
          <a:xfrm>
            <a:off x="1843373" y="4539853"/>
            <a:ext cx="1488561" cy="98012"/>
          </a:xfrm>
          <a:prstGeom prst="rect">
            <a:avLst/>
          </a:prstGeom>
          <a:solidFill>
            <a:srgbClr val="E5484D">
              <a:alpha val="12000"/>
            </a:srgbClr>
          </a:solidFill>
          <a:ln w="22225">
            <a:solidFill>
              <a:srgbClr val="E5484D"/>
            </a:solidFill>
            <a:prstDash val="solid"/>
          </a:ln>
        </p:spPr>
        <p:txBody>
          <a:bodyPr/>
          <a:lstStyle/>
          <a:p>
            <a:endParaRPr lang="en-PK"/>
          </a:p>
        </p:txBody>
      </p:sp>
      <p:sp>
        <p:nvSpPr>
          <p:cNvPr id="12" name="Text 9"/>
          <p:cNvSpPr/>
          <p:nvPr/>
        </p:nvSpPr>
        <p:spPr>
          <a:xfrm>
            <a:off x="1569053" y="4465415"/>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3" name="Shape 10"/>
          <p:cNvSpPr/>
          <p:nvPr/>
        </p:nvSpPr>
        <p:spPr>
          <a:xfrm>
            <a:off x="5501768" y="1849111"/>
            <a:ext cx="683096" cy="218631"/>
          </a:xfrm>
          <a:prstGeom prst="rect">
            <a:avLst/>
          </a:prstGeom>
          <a:solidFill>
            <a:srgbClr val="E5484D">
              <a:alpha val="12000"/>
            </a:srgbClr>
          </a:solidFill>
          <a:ln w="22225">
            <a:solidFill>
              <a:srgbClr val="E5484D"/>
            </a:solidFill>
            <a:prstDash val="solid"/>
          </a:ln>
        </p:spPr>
        <p:txBody>
          <a:bodyPr/>
          <a:lstStyle/>
          <a:p>
            <a:endParaRPr lang="en-PK"/>
          </a:p>
        </p:txBody>
      </p:sp>
      <p:sp>
        <p:nvSpPr>
          <p:cNvPr id="14" name="Text 11"/>
          <p:cNvSpPr/>
          <p:nvPr/>
        </p:nvSpPr>
        <p:spPr>
          <a:xfrm>
            <a:off x="5227448" y="1834982"/>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5" name="Shape 12"/>
          <p:cNvSpPr/>
          <p:nvPr/>
        </p:nvSpPr>
        <p:spPr>
          <a:xfrm>
            <a:off x="6231536" y="1849111"/>
            <a:ext cx="811153" cy="218631"/>
          </a:xfrm>
          <a:prstGeom prst="rect">
            <a:avLst/>
          </a:prstGeom>
          <a:solidFill>
            <a:srgbClr val="E5484D">
              <a:alpha val="12000"/>
            </a:srgbClr>
          </a:solidFill>
          <a:ln w="22225">
            <a:solidFill>
              <a:srgbClr val="E5484D"/>
            </a:solidFill>
            <a:prstDash val="solid"/>
          </a:ln>
        </p:spPr>
        <p:txBody>
          <a:bodyPr/>
          <a:lstStyle/>
          <a:p>
            <a:endParaRPr lang="en-PK"/>
          </a:p>
        </p:txBody>
      </p:sp>
      <p:sp>
        <p:nvSpPr>
          <p:cNvPr id="16" name="Text 13"/>
          <p:cNvSpPr/>
          <p:nvPr/>
        </p:nvSpPr>
        <p:spPr>
          <a:xfrm>
            <a:off x="5957216" y="1834982"/>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7" name="Text 14"/>
          <p:cNvSpPr txBox="1"/>
          <p:nvPr/>
        </p:nvSpPr>
        <p:spPr>
          <a:xfrm>
            <a:off x="457200" y="5626989"/>
            <a:ext cx="6720840" cy="457200"/>
          </a:xfrm>
          <a:prstGeom prst="rect">
            <a:avLst/>
          </a:prstGeom>
          <a:solidFill>
            <a:srgbClr val="FFFFFF"/>
          </a:solidFill>
          <a:ln w="9525">
            <a:solidFill>
              <a:srgbClr val="E6E5EC"/>
            </a:solidFill>
          </a:ln>
        </p:spPr>
        <p:txBody>
          <a:bodyPr wrap="square" lIns="50800" tIns="127000" rIns="127000" bIns="5080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Use case: </a:t>
            </a:r>
            <a:r>
              <a:rPr lang="en-US" sz="1050" dirty="0">
                <a:solidFill>
                  <a:srgbClr val="1A1A22"/>
                </a:solidFill>
                <a:latin typeface="Calibri" pitchFamily="34" charset="0"/>
                <a:ea typeface="Calibri" pitchFamily="34" charset="-122"/>
                <a:cs typeface="Calibri" pitchFamily="34" charset="-120"/>
              </a:rPr>
              <a:t>Generate BOQ (+ Import Equipment, Apply BOQ Template)   </a:t>
            </a:r>
            <a:r>
              <a:rPr lang="en-US" sz="1050" dirty="0">
                <a:solidFill>
                  <a:srgbClr val="C9B6F2"/>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rule from the SRS  </a:t>
            </a:r>
            <a:r>
              <a:rPr lang="en-US" sz="1050" dirty="0">
                <a:solidFill>
                  <a:srgbClr val="BDBDC8"/>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condition stated in the FR</a:t>
            </a:r>
            <a:endParaRPr lang="en-US" sz="1050" dirty="0"/>
          </a:p>
        </p:txBody>
      </p:sp>
      <p:sp>
        <p:nvSpPr>
          <p:cNvPr id="18" name="Text 15"/>
          <p:cNvSpPr txBox="1"/>
          <p:nvPr/>
        </p:nvSpPr>
        <p:spPr>
          <a:xfrm>
            <a:off x="7717536" y="1298448"/>
            <a:ext cx="2331720"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FUNCTIONAL REQUIREMENT</a:t>
            </a:r>
            <a:endParaRPr lang="en-US" sz="1000" dirty="0"/>
          </a:p>
        </p:txBody>
      </p:sp>
      <p:sp>
        <p:nvSpPr>
          <p:cNvPr id="19" name="Text 16"/>
          <p:cNvSpPr txBox="1"/>
          <p:nvPr/>
        </p:nvSpPr>
        <p:spPr>
          <a:xfrm>
            <a:off x="10140696" y="1298448"/>
            <a:ext cx="1593799"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BUSINESS RULE</a:t>
            </a:r>
            <a:endParaRPr lang="en-US" sz="1000" dirty="0"/>
          </a:p>
        </p:txBody>
      </p:sp>
      <p:sp>
        <p:nvSpPr>
          <p:cNvPr id="20" name="Text 17"/>
          <p:cNvSpPr/>
          <p:nvPr/>
        </p:nvSpPr>
        <p:spPr>
          <a:xfrm>
            <a:off x="7406640" y="164592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21" name="Shape 18"/>
          <p:cNvSpPr/>
          <p:nvPr/>
        </p:nvSpPr>
        <p:spPr>
          <a:xfrm>
            <a:off x="7717536" y="1591056"/>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22" name="Shape 19"/>
          <p:cNvSpPr/>
          <p:nvPr/>
        </p:nvSpPr>
        <p:spPr>
          <a:xfrm>
            <a:off x="7717536" y="1591056"/>
            <a:ext cx="54864" cy="855878"/>
          </a:xfrm>
          <a:prstGeom prst="rect">
            <a:avLst/>
          </a:prstGeom>
          <a:solidFill>
            <a:srgbClr val="4B1FA0"/>
          </a:solidFill>
          <a:ln/>
        </p:spPr>
        <p:txBody>
          <a:bodyPr/>
          <a:lstStyle/>
          <a:p>
            <a:endParaRPr lang="en-PK"/>
          </a:p>
        </p:txBody>
      </p:sp>
      <p:sp>
        <p:nvSpPr>
          <p:cNvPr id="23" name="Text 20"/>
          <p:cNvSpPr txBox="1"/>
          <p:nvPr/>
        </p:nvSpPr>
        <p:spPr>
          <a:xfrm>
            <a:off x="7845552" y="1591056"/>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FR-7.1</a:t>
            </a:r>
            <a:r>
              <a:rPr lang="en-US" sz="1050" b="1" dirty="0">
                <a:solidFill>
                  <a:srgbClr val="2B0B5E"/>
                </a:solidFill>
                <a:latin typeface="Calibri" pitchFamily="34" charset="0"/>
                <a:ea typeface="Calibri" pitchFamily="34" charset="-122"/>
                <a:cs typeface="Calibri" pitchFamily="34" charset="-120"/>
              </a:rPr>
              <a:t> · BOQ Template Library</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Excel templates for PTCL, OGDCL, Zong and Telenor</a:t>
            </a:r>
            <a:endParaRPr lang="en-US" sz="1050" dirty="0"/>
          </a:p>
        </p:txBody>
      </p:sp>
      <p:sp>
        <p:nvSpPr>
          <p:cNvPr id="24" name="Shape 21"/>
          <p:cNvSpPr/>
          <p:nvPr/>
        </p:nvSpPr>
        <p:spPr>
          <a:xfrm>
            <a:off x="10140696" y="1591056"/>
            <a:ext cx="1593799" cy="855878"/>
          </a:xfrm>
          <a:prstGeom prst="roundRect">
            <a:avLst>
              <a:gd name="adj" fmla="val 6410"/>
            </a:avLst>
          </a:prstGeom>
          <a:solidFill>
            <a:srgbClr val="ECECF1"/>
          </a:solidFill>
          <a:ln/>
        </p:spPr>
        <p:txBody>
          <a:bodyPr/>
          <a:lstStyle/>
          <a:p>
            <a:endParaRPr lang="en-PK"/>
          </a:p>
        </p:txBody>
      </p:sp>
      <p:sp>
        <p:nvSpPr>
          <p:cNvPr id="25" name="Text 22"/>
          <p:cNvSpPr txBox="1"/>
          <p:nvPr/>
        </p:nvSpPr>
        <p:spPr>
          <a:xfrm>
            <a:off x="10232136" y="1591056"/>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One template per client: PTCL, OGDCL, Zong, Telenor.</a:t>
            </a:r>
            <a:endParaRPr lang="en-US" sz="1000" dirty="0"/>
          </a:p>
        </p:txBody>
      </p:sp>
      <p:sp>
        <p:nvSpPr>
          <p:cNvPr id="26" name="Text 23"/>
          <p:cNvSpPr/>
          <p:nvPr/>
        </p:nvSpPr>
        <p:spPr>
          <a:xfrm>
            <a:off x="7406640" y="2593238"/>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7" name="Shape 24"/>
          <p:cNvSpPr/>
          <p:nvPr/>
        </p:nvSpPr>
        <p:spPr>
          <a:xfrm>
            <a:off x="7717536" y="2538374"/>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28" name="Shape 25"/>
          <p:cNvSpPr/>
          <p:nvPr/>
        </p:nvSpPr>
        <p:spPr>
          <a:xfrm>
            <a:off x="7717536" y="2538374"/>
            <a:ext cx="54864" cy="855878"/>
          </a:xfrm>
          <a:prstGeom prst="rect">
            <a:avLst/>
          </a:prstGeom>
          <a:solidFill>
            <a:srgbClr val="4B1FA0"/>
          </a:solidFill>
          <a:ln/>
        </p:spPr>
        <p:txBody>
          <a:bodyPr/>
          <a:lstStyle/>
          <a:p>
            <a:endParaRPr lang="en-PK"/>
          </a:p>
        </p:txBody>
      </p:sp>
      <p:sp>
        <p:nvSpPr>
          <p:cNvPr id="29" name="Text 26"/>
          <p:cNvSpPr txBox="1"/>
          <p:nvPr/>
        </p:nvSpPr>
        <p:spPr>
          <a:xfrm>
            <a:off x="7845552" y="2538374"/>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FR-7.2</a:t>
            </a:r>
            <a:r>
              <a:rPr lang="en-US" sz="1050" b="1" dirty="0">
                <a:solidFill>
                  <a:srgbClr val="2B0B5E"/>
                </a:solidFill>
                <a:latin typeface="Calibri" pitchFamily="34" charset="0"/>
                <a:ea typeface="Calibri" pitchFamily="34" charset="-122"/>
                <a:cs typeface="Calibri" pitchFamily="34" charset="-120"/>
              </a:rPr>
              <a:t> · Auto-Population</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Fills models, descriptions and quantities automatically</a:t>
            </a:r>
            <a:endParaRPr lang="en-US" sz="1050" dirty="0"/>
          </a:p>
        </p:txBody>
      </p:sp>
      <p:sp>
        <p:nvSpPr>
          <p:cNvPr id="30" name="Shape 27"/>
          <p:cNvSpPr/>
          <p:nvPr/>
        </p:nvSpPr>
        <p:spPr>
          <a:xfrm>
            <a:off x="10140696" y="2538374"/>
            <a:ext cx="1593799" cy="855878"/>
          </a:xfrm>
          <a:prstGeom prst="roundRect">
            <a:avLst>
              <a:gd name="adj" fmla="val 6410"/>
            </a:avLst>
          </a:prstGeom>
          <a:solidFill>
            <a:srgbClr val="ECECF1"/>
          </a:solidFill>
          <a:ln/>
        </p:spPr>
        <p:txBody>
          <a:bodyPr/>
          <a:lstStyle/>
          <a:p>
            <a:endParaRPr lang="en-PK"/>
          </a:p>
        </p:txBody>
      </p:sp>
      <p:sp>
        <p:nvSpPr>
          <p:cNvPr id="31" name="Text 28"/>
          <p:cNvSpPr txBox="1"/>
          <p:nvPr/>
        </p:nvSpPr>
        <p:spPr>
          <a:xfrm>
            <a:off x="10232136" y="2538374"/>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Values come from the compliance matrix.</a:t>
            </a:r>
            <a:endParaRPr lang="en-US" sz="1000" dirty="0"/>
          </a:p>
        </p:txBody>
      </p:sp>
      <p:sp>
        <p:nvSpPr>
          <p:cNvPr id="32" name="Text 29"/>
          <p:cNvSpPr/>
          <p:nvPr/>
        </p:nvSpPr>
        <p:spPr>
          <a:xfrm>
            <a:off x="7406640" y="3540557"/>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33" name="Shape 30"/>
          <p:cNvSpPr/>
          <p:nvPr/>
        </p:nvSpPr>
        <p:spPr>
          <a:xfrm>
            <a:off x="7717536" y="3485693"/>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34" name="Shape 31"/>
          <p:cNvSpPr/>
          <p:nvPr/>
        </p:nvSpPr>
        <p:spPr>
          <a:xfrm>
            <a:off x="7717536" y="3485693"/>
            <a:ext cx="54864" cy="855878"/>
          </a:xfrm>
          <a:prstGeom prst="rect">
            <a:avLst/>
          </a:prstGeom>
          <a:solidFill>
            <a:srgbClr val="4B1FA0"/>
          </a:solidFill>
          <a:ln/>
        </p:spPr>
        <p:txBody>
          <a:bodyPr/>
          <a:lstStyle/>
          <a:p>
            <a:endParaRPr lang="en-PK"/>
          </a:p>
        </p:txBody>
      </p:sp>
      <p:sp>
        <p:nvSpPr>
          <p:cNvPr id="35" name="Text 32"/>
          <p:cNvSpPr txBox="1"/>
          <p:nvPr/>
        </p:nvSpPr>
        <p:spPr>
          <a:xfrm>
            <a:off x="7845552" y="3485693"/>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FR-7.3</a:t>
            </a:r>
            <a:r>
              <a:rPr lang="en-US" sz="1050" b="1" dirty="0">
                <a:solidFill>
                  <a:srgbClr val="2B0B5E"/>
                </a:solidFill>
                <a:latin typeface="Calibri" pitchFamily="34" charset="0"/>
                <a:ea typeface="Calibri" pitchFamily="34" charset="-122"/>
                <a:cs typeface="Calibri" pitchFamily="34" charset="-120"/>
              </a:rPr>
              <a:t> · Costing Left Blank</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Cost and margin columns are left for manual entry</a:t>
            </a:r>
            <a:endParaRPr lang="en-US" sz="1050" dirty="0"/>
          </a:p>
        </p:txBody>
      </p:sp>
      <p:sp>
        <p:nvSpPr>
          <p:cNvPr id="36" name="Shape 33"/>
          <p:cNvSpPr/>
          <p:nvPr/>
        </p:nvSpPr>
        <p:spPr>
          <a:xfrm>
            <a:off x="10140696" y="3485693"/>
            <a:ext cx="1593799" cy="855878"/>
          </a:xfrm>
          <a:prstGeom prst="roundRect">
            <a:avLst>
              <a:gd name="adj" fmla="val 6410"/>
            </a:avLst>
          </a:prstGeom>
          <a:solidFill>
            <a:srgbClr val="ECECF1"/>
          </a:solidFill>
          <a:ln/>
        </p:spPr>
        <p:txBody>
          <a:bodyPr/>
          <a:lstStyle/>
          <a:p>
            <a:endParaRPr lang="en-PK"/>
          </a:p>
        </p:txBody>
      </p:sp>
      <p:sp>
        <p:nvSpPr>
          <p:cNvPr id="37" name="Text 34"/>
          <p:cNvSpPr txBox="1"/>
          <p:nvPr/>
        </p:nvSpPr>
        <p:spPr>
          <a:xfrm>
            <a:off x="10232136" y="3485693"/>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Costing, margin and formula columns stay blank.</a:t>
            </a:r>
            <a:endParaRPr lang="en-US" sz="1000" dirty="0"/>
          </a:p>
        </p:txBody>
      </p:sp>
      <p:sp>
        <p:nvSpPr>
          <p:cNvPr id="38" name="Text 35"/>
          <p:cNvSpPr/>
          <p:nvPr/>
        </p:nvSpPr>
        <p:spPr>
          <a:xfrm>
            <a:off x="7406640" y="4487875"/>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39" name="Shape 36"/>
          <p:cNvSpPr/>
          <p:nvPr/>
        </p:nvSpPr>
        <p:spPr>
          <a:xfrm>
            <a:off x="7717536" y="4433011"/>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40" name="Shape 37"/>
          <p:cNvSpPr/>
          <p:nvPr/>
        </p:nvSpPr>
        <p:spPr>
          <a:xfrm>
            <a:off x="7717536" y="4433011"/>
            <a:ext cx="54864" cy="855878"/>
          </a:xfrm>
          <a:prstGeom prst="rect">
            <a:avLst/>
          </a:prstGeom>
          <a:solidFill>
            <a:srgbClr val="4B1FA0"/>
          </a:solidFill>
          <a:ln/>
        </p:spPr>
        <p:txBody>
          <a:bodyPr/>
          <a:lstStyle/>
          <a:p>
            <a:endParaRPr lang="en-PK"/>
          </a:p>
        </p:txBody>
      </p:sp>
      <p:sp>
        <p:nvSpPr>
          <p:cNvPr id="41" name="Text 38"/>
          <p:cNvSpPr txBox="1"/>
          <p:nvPr/>
        </p:nvSpPr>
        <p:spPr>
          <a:xfrm>
            <a:off x="7845552" y="4433011"/>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FR-7.4</a:t>
            </a:r>
            <a:r>
              <a:rPr lang="en-US" sz="1050" b="1" dirty="0">
                <a:solidFill>
                  <a:srgbClr val="2B0B5E"/>
                </a:solidFill>
                <a:latin typeface="Calibri" pitchFamily="34" charset="0"/>
                <a:ea typeface="Calibri" pitchFamily="34" charset="-122"/>
                <a:cs typeface="Calibri" pitchFamily="34" charset="-120"/>
              </a:rPr>
              <a:t> · Line-Item Editing</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Add, edit or remove lines before export</a:t>
            </a:r>
            <a:endParaRPr lang="en-US" sz="1050" dirty="0"/>
          </a:p>
        </p:txBody>
      </p:sp>
      <p:sp>
        <p:nvSpPr>
          <p:cNvPr id="42" name="Shape 39"/>
          <p:cNvSpPr/>
          <p:nvPr/>
        </p:nvSpPr>
        <p:spPr>
          <a:xfrm>
            <a:off x="10140696" y="4433011"/>
            <a:ext cx="1593799" cy="855878"/>
          </a:xfrm>
          <a:prstGeom prst="roundRect">
            <a:avLst>
              <a:gd name="adj" fmla="val 6410"/>
            </a:avLst>
          </a:prstGeom>
          <a:solidFill>
            <a:srgbClr val="ECECF1"/>
          </a:solidFill>
          <a:ln/>
        </p:spPr>
        <p:txBody>
          <a:bodyPr/>
          <a:lstStyle/>
          <a:p>
            <a:endParaRPr lang="en-PK"/>
          </a:p>
        </p:txBody>
      </p:sp>
      <p:sp>
        <p:nvSpPr>
          <p:cNvPr id="43" name="Text 40"/>
          <p:cNvSpPr txBox="1"/>
          <p:nvPr/>
        </p:nvSpPr>
        <p:spPr>
          <a:xfrm>
            <a:off x="10232136" y="4433011"/>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Lines can be changed before export.</a:t>
            </a:r>
            <a:endParaRPr lang="en-US" sz="1000" dirty="0"/>
          </a:p>
        </p:txBody>
      </p:sp>
      <p:sp>
        <p:nvSpPr>
          <p:cNvPr id="44" name="Text 41"/>
          <p:cNvSpPr/>
          <p:nvPr/>
        </p:nvSpPr>
        <p:spPr>
          <a:xfrm>
            <a:off x="7406640" y="5435194"/>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45" name="Shape 42"/>
          <p:cNvSpPr/>
          <p:nvPr/>
        </p:nvSpPr>
        <p:spPr>
          <a:xfrm>
            <a:off x="7717536" y="5380330"/>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46" name="Shape 43"/>
          <p:cNvSpPr/>
          <p:nvPr/>
        </p:nvSpPr>
        <p:spPr>
          <a:xfrm>
            <a:off x="7717536" y="5380330"/>
            <a:ext cx="54864" cy="855878"/>
          </a:xfrm>
          <a:prstGeom prst="rect">
            <a:avLst/>
          </a:prstGeom>
          <a:solidFill>
            <a:srgbClr val="4B1FA0"/>
          </a:solidFill>
          <a:ln/>
        </p:spPr>
        <p:txBody>
          <a:bodyPr/>
          <a:lstStyle/>
          <a:p>
            <a:endParaRPr lang="en-PK"/>
          </a:p>
        </p:txBody>
      </p:sp>
      <p:sp>
        <p:nvSpPr>
          <p:cNvPr id="47" name="Text 44"/>
          <p:cNvSpPr txBox="1"/>
          <p:nvPr/>
        </p:nvSpPr>
        <p:spPr>
          <a:xfrm>
            <a:off x="7845552" y="5380330"/>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FR-7.5</a:t>
            </a:r>
            <a:r>
              <a:rPr lang="en-US" sz="1050" b="1" dirty="0">
                <a:solidFill>
                  <a:srgbClr val="2B0B5E"/>
                </a:solidFill>
                <a:latin typeface="Calibri" pitchFamily="34" charset="0"/>
                <a:ea typeface="Calibri" pitchFamily="34" charset="-122"/>
                <a:cs typeface="Calibri" pitchFamily="34" charset="-120"/>
              </a:rPr>
              <a:t> · BOQ Export</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Exports the completed BOQ as .xlsx</a:t>
            </a:r>
            <a:endParaRPr lang="en-US" sz="1050" dirty="0"/>
          </a:p>
        </p:txBody>
      </p:sp>
      <p:sp>
        <p:nvSpPr>
          <p:cNvPr id="48" name="Shape 45"/>
          <p:cNvSpPr/>
          <p:nvPr/>
        </p:nvSpPr>
        <p:spPr>
          <a:xfrm>
            <a:off x="10140696" y="5380330"/>
            <a:ext cx="1593799" cy="855878"/>
          </a:xfrm>
          <a:prstGeom prst="roundRect">
            <a:avLst>
              <a:gd name="adj" fmla="val 6410"/>
            </a:avLst>
          </a:prstGeom>
          <a:solidFill>
            <a:srgbClr val="ECECF1"/>
          </a:solidFill>
          <a:ln/>
        </p:spPr>
        <p:txBody>
          <a:bodyPr/>
          <a:lstStyle/>
          <a:p>
            <a:endParaRPr lang="en-PK"/>
          </a:p>
        </p:txBody>
      </p:sp>
      <p:sp>
        <p:nvSpPr>
          <p:cNvPr id="49" name="Text 46"/>
          <p:cNvSpPr txBox="1"/>
          <p:nvPr/>
        </p:nvSpPr>
        <p:spPr>
          <a:xfrm>
            <a:off x="10232136" y="5380330"/>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Export is an .xlsx file.</a:t>
            </a:r>
            <a:endParaRPr lang="en-US" sz="1000" dirty="0"/>
          </a:p>
        </p:txBody>
      </p:sp>
      <p:sp>
        <p:nvSpPr>
          <p:cNvPr id="50" name="Text 47">
            <a:hlinkClick r:id="" action="ppaction://noaction"/>
          </p:cNvPr>
          <p:cNvSpPr/>
          <p:nvPr/>
        </p:nvSpPr>
        <p:spPr>
          <a:xfrm>
            <a:off x="6787591"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51" name="Text 48">
            <a:hlinkClick r:id="rId4" action="ppaction://hlinksldjump" tooltip="Contents"/>
          </p:cNvPr>
          <p:cNvSpPr/>
          <p:nvPr/>
        </p:nvSpPr>
        <p:spPr>
          <a:xfrm>
            <a:off x="7765999"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52" name="Text 49">
            <a:hlinkClick r:id="rId5" action="ppaction://hlinksldjump" tooltip="Module"/>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Module">
                  <a:extLst>
                    <a:ext uri="{A12FA001-AC4F-418D-AE19-62706E023703}">
                      <ahyp:hlinkClr xmlns:ahyp="http://schemas.microsoft.com/office/drawing/2018/hyperlinkcolor" val="tx"/>
                    </a:ext>
                  </a:extLst>
                </a:hlinkClick>
              </a:rPr>
              <a:t>Module</a:t>
            </a:r>
            <a:endParaRPr lang="en-US" sz="1100" dirty="0"/>
          </a:p>
        </p:txBody>
      </p:sp>
      <p:sp>
        <p:nvSpPr>
          <p:cNvPr id="53" name="Text 50">
            <a:hlinkClick r:id="rId6" action="ppaction://hlinksldjump" tooltip="Use case"/>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Use case">
                  <a:extLst>
                    <a:ext uri="{A12FA001-AC4F-418D-AE19-62706E023703}">
                      <ahyp:hlinkClr xmlns:ahyp="http://schemas.microsoft.com/office/drawing/2018/hyperlinkcolor" val="tx"/>
                    </a:ext>
                  </a:extLst>
                </a:hlinkClick>
              </a:rPr>
              <a:t>Use case</a:t>
            </a:r>
            <a:endParaRPr lang="en-US" sz="1100" dirty="0"/>
          </a:p>
        </p:txBody>
      </p:sp>
      <p:sp>
        <p:nvSpPr>
          <p:cNvPr id="54" name="Text 51">
            <a:hlinkClick r:id="rId7"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47120" cy="502920"/>
          </a:xfrm>
          <a:prstGeom prst="rect">
            <a:avLst/>
          </a:prstGeom>
          <a:noFill/>
          <a:ln/>
        </p:spPr>
        <p:txBody>
          <a:bodyPr wrap="square" lIns="0" tIns="0" rIns="0" bIns="0" rtlCol="0" anchor="t"/>
          <a:lstStyle/>
          <a:p>
            <a:pPr marL="0" indent="0">
              <a:buNone/>
            </a:pPr>
            <a:r>
              <a:rPr lang="en-US" sz="2600" b="1" dirty="0">
                <a:solidFill>
                  <a:srgbClr val="4B1FA0"/>
                </a:solidFill>
                <a:latin typeface="Calibri" pitchFamily="34" charset="0"/>
                <a:ea typeface="Calibri" pitchFamily="34" charset="-122"/>
                <a:cs typeface="Calibri" pitchFamily="34" charset="-120"/>
              </a:rPr>
              <a:t>W-27 – </a:t>
            </a:r>
            <a:r>
              <a:rPr lang="en-US" sz="2600" b="1" dirty="0">
                <a:solidFill>
                  <a:srgbClr val="2B0B5E"/>
                </a:solidFill>
                <a:latin typeface="Calibri" pitchFamily="34" charset="0"/>
                <a:ea typeface="Calibri" pitchFamily="34" charset="-122"/>
                <a:cs typeface="Calibri" pitchFamily="34" charset="-120"/>
              </a:rPr>
              <a:t>Requirement Traceability View</a:t>
            </a:r>
            <a:endParaRPr lang="en-US" sz="2600" dirty="0"/>
          </a:p>
        </p:txBody>
      </p:sp>
      <p:sp>
        <p:nvSpPr>
          <p:cNvPr id="3" name="Text 1"/>
          <p:cNvSpPr txBox="1"/>
          <p:nvPr/>
        </p:nvSpPr>
        <p:spPr>
          <a:xfrm>
            <a:off x="457200" y="777240"/>
            <a:ext cx="11247120" cy="384048"/>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For each requirement ID: its checklist item, compliance row, proposal section and BOQ line, plus any gaps.</a:t>
            </a:r>
            <a:endParaRPr lang="en-US" sz="13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41</a:t>
            </a:r>
            <a:endParaRPr lang="en-US" sz="1000" dirty="0"/>
          </a:p>
        </p:txBody>
      </p:sp>
      <p:sp>
        <p:nvSpPr>
          <p:cNvPr id="5" name="Shape 3"/>
          <p:cNvSpPr/>
          <p:nvPr/>
        </p:nvSpPr>
        <p:spPr>
          <a:xfrm>
            <a:off x="429768" y="1271016"/>
            <a:ext cx="6775704" cy="4282517"/>
          </a:xfrm>
          <a:prstGeom prst="rect">
            <a:avLst/>
          </a:prstGeom>
          <a:solidFill>
            <a:srgbClr val="FFFFFF"/>
          </a:solidFill>
          <a:ln w="12700">
            <a:solidFill>
              <a:srgbClr val="E6E5EC"/>
            </a:solidFill>
            <a:prstDash val="solid"/>
          </a:ln>
        </p:spPr>
        <p:txBody>
          <a:bodyPr/>
          <a:lstStyle/>
          <a:p>
            <a:endParaRPr lang="en-PK"/>
          </a:p>
        </p:txBody>
      </p:sp>
      <p:pic>
        <p:nvPicPr>
          <p:cNvPr id="6" name="Image 0" descr="Requirement Traceability View mockup"/>
          <p:cNvPicPr>
            <a:picLocks noChangeAspect="1"/>
          </p:cNvPicPr>
          <p:nvPr/>
        </p:nvPicPr>
        <p:blipFill>
          <a:blip r:embed="rId3"/>
          <a:stretch>
            <a:fillRect/>
          </a:stretch>
        </p:blipFill>
        <p:spPr>
          <a:xfrm>
            <a:off x="457200" y="1298448"/>
            <a:ext cx="6720840" cy="4227653"/>
          </a:xfrm>
          <a:prstGeom prst="rect">
            <a:avLst/>
          </a:prstGeom>
        </p:spPr>
      </p:pic>
      <p:sp>
        <p:nvSpPr>
          <p:cNvPr id="7" name="Shape 4"/>
          <p:cNvSpPr/>
          <p:nvPr/>
        </p:nvSpPr>
        <p:spPr>
          <a:xfrm>
            <a:off x="1866710" y="5210406"/>
            <a:ext cx="1027451" cy="143007"/>
          </a:xfrm>
          <a:prstGeom prst="rect">
            <a:avLst/>
          </a:prstGeom>
          <a:solidFill>
            <a:srgbClr val="E5484D">
              <a:alpha val="12000"/>
            </a:srgbClr>
          </a:solidFill>
          <a:ln w="22225">
            <a:solidFill>
              <a:srgbClr val="E5484D"/>
            </a:solidFill>
            <a:prstDash val="solid"/>
          </a:ln>
        </p:spPr>
        <p:txBody>
          <a:bodyPr/>
          <a:lstStyle/>
          <a:p>
            <a:endParaRPr lang="en-PK"/>
          </a:p>
        </p:txBody>
      </p:sp>
      <p:sp>
        <p:nvSpPr>
          <p:cNvPr id="8" name="Text 5"/>
          <p:cNvSpPr/>
          <p:nvPr/>
        </p:nvSpPr>
        <p:spPr>
          <a:xfrm>
            <a:off x="1592390" y="5158465"/>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Text 6"/>
          <p:cNvSpPr txBox="1"/>
          <p:nvPr/>
        </p:nvSpPr>
        <p:spPr>
          <a:xfrm>
            <a:off x="457200" y="5654117"/>
            <a:ext cx="6720840" cy="457200"/>
          </a:xfrm>
          <a:prstGeom prst="rect">
            <a:avLst/>
          </a:prstGeom>
          <a:solidFill>
            <a:srgbClr val="FFFFFF"/>
          </a:solidFill>
          <a:ln w="9525">
            <a:solidFill>
              <a:srgbClr val="E6E5EC"/>
            </a:solidFill>
          </a:ln>
        </p:spPr>
        <p:txBody>
          <a:bodyPr wrap="square" lIns="50800" tIns="127000" rIns="127000" bIns="5080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Use case: </a:t>
            </a:r>
            <a:r>
              <a:rPr lang="en-US" sz="1050" dirty="0">
                <a:solidFill>
                  <a:srgbClr val="1A1A22"/>
                </a:solidFill>
                <a:latin typeface="Calibri" pitchFamily="34" charset="0"/>
                <a:ea typeface="Calibri" pitchFamily="34" charset="-122"/>
                <a:cs typeface="Calibri" pitchFamily="34" charset="-120"/>
              </a:rPr>
              <a:t>Search Project Vault   </a:t>
            </a:r>
            <a:r>
              <a:rPr lang="en-US" sz="1050" dirty="0">
                <a:solidFill>
                  <a:srgbClr val="C9B6F2"/>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rule from the SRS  </a:t>
            </a:r>
            <a:r>
              <a:rPr lang="en-US" sz="1050" dirty="0">
                <a:solidFill>
                  <a:srgbClr val="BDBDC8"/>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condition stated in the FR</a:t>
            </a:r>
            <a:endParaRPr lang="en-US" sz="1050" dirty="0"/>
          </a:p>
        </p:txBody>
      </p:sp>
      <p:sp>
        <p:nvSpPr>
          <p:cNvPr id="10" name="Text 7"/>
          <p:cNvSpPr txBox="1"/>
          <p:nvPr/>
        </p:nvSpPr>
        <p:spPr>
          <a:xfrm>
            <a:off x="7717536" y="1298448"/>
            <a:ext cx="2331720"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FUNCTIONAL REQUIREMENT</a:t>
            </a:r>
            <a:endParaRPr lang="en-US" sz="1000" dirty="0"/>
          </a:p>
        </p:txBody>
      </p:sp>
      <p:sp>
        <p:nvSpPr>
          <p:cNvPr id="11" name="Text 8"/>
          <p:cNvSpPr txBox="1"/>
          <p:nvPr/>
        </p:nvSpPr>
        <p:spPr>
          <a:xfrm>
            <a:off x="10140696" y="1298448"/>
            <a:ext cx="1593799"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BUSINESS RULE</a:t>
            </a:r>
            <a:endParaRPr lang="en-US" sz="1000" dirty="0"/>
          </a:p>
        </p:txBody>
      </p:sp>
      <p:sp>
        <p:nvSpPr>
          <p:cNvPr id="12" name="Text 9"/>
          <p:cNvSpPr/>
          <p:nvPr/>
        </p:nvSpPr>
        <p:spPr>
          <a:xfrm>
            <a:off x="7406640" y="164592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3" name="Shape 10"/>
          <p:cNvSpPr/>
          <p:nvPr/>
        </p:nvSpPr>
        <p:spPr>
          <a:xfrm>
            <a:off x="7717536" y="1591056"/>
            <a:ext cx="2331720" cy="960120"/>
          </a:xfrm>
          <a:prstGeom prst="roundRect">
            <a:avLst>
              <a:gd name="adj" fmla="val 5714"/>
            </a:avLst>
          </a:prstGeom>
          <a:solidFill>
            <a:srgbClr val="FFFFFF"/>
          </a:solidFill>
          <a:ln w="12700">
            <a:solidFill>
              <a:srgbClr val="E6E5EC"/>
            </a:solidFill>
            <a:prstDash val="solid"/>
          </a:ln>
        </p:spPr>
        <p:txBody>
          <a:bodyPr/>
          <a:lstStyle/>
          <a:p>
            <a:endParaRPr lang="en-PK"/>
          </a:p>
        </p:txBody>
      </p:sp>
      <p:sp>
        <p:nvSpPr>
          <p:cNvPr id="14" name="Shape 11"/>
          <p:cNvSpPr/>
          <p:nvPr/>
        </p:nvSpPr>
        <p:spPr>
          <a:xfrm>
            <a:off x="7717536" y="1591056"/>
            <a:ext cx="54864" cy="960120"/>
          </a:xfrm>
          <a:prstGeom prst="rect">
            <a:avLst/>
          </a:prstGeom>
          <a:solidFill>
            <a:srgbClr val="4B1FA0"/>
          </a:solidFill>
          <a:ln/>
        </p:spPr>
        <p:txBody>
          <a:bodyPr/>
          <a:lstStyle/>
          <a:p>
            <a:endParaRPr lang="en-PK"/>
          </a:p>
        </p:txBody>
      </p:sp>
      <p:sp>
        <p:nvSpPr>
          <p:cNvPr id="15" name="Text 12"/>
          <p:cNvSpPr txBox="1"/>
          <p:nvPr/>
        </p:nvSpPr>
        <p:spPr>
          <a:xfrm>
            <a:off x="7845552" y="1591056"/>
            <a:ext cx="2148840" cy="960120"/>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FR-9.7</a:t>
            </a:r>
            <a:r>
              <a:rPr lang="en-US" sz="1050" b="1" dirty="0">
                <a:solidFill>
                  <a:srgbClr val="2B0B5E"/>
                </a:solidFill>
                <a:latin typeface="Calibri" pitchFamily="34" charset="0"/>
                <a:ea typeface="Calibri" pitchFamily="34" charset="-122"/>
                <a:cs typeface="Calibri" pitchFamily="34" charset="-120"/>
              </a:rPr>
              <a:t> · Traceability View</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Shows each requirement’s links and any gaps</a:t>
            </a:r>
            <a:endParaRPr lang="en-US" sz="1050" dirty="0"/>
          </a:p>
        </p:txBody>
      </p:sp>
      <p:sp>
        <p:nvSpPr>
          <p:cNvPr id="16" name="Shape 13"/>
          <p:cNvSpPr/>
          <p:nvPr/>
        </p:nvSpPr>
        <p:spPr>
          <a:xfrm>
            <a:off x="10140696" y="1591056"/>
            <a:ext cx="1593799" cy="960120"/>
          </a:xfrm>
          <a:prstGeom prst="roundRect">
            <a:avLst>
              <a:gd name="adj" fmla="val 5714"/>
            </a:avLst>
          </a:prstGeom>
          <a:solidFill>
            <a:srgbClr val="ECECF1"/>
          </a:solidFill>
          <a:ln/>
        </p:spPr>
        <p:txBody>
          <a:bodyPr/>
          <a:lstStyle/>
          <a:p>
            <a:endParaRPr lang="en-PK"/>
          </a:p>
        </p:txBody>
      </p:sp>
      <p:sp>
        <p:nvSpPr>
          <p:cNvPr id="17" name="Text 14"/>
          <p:cNvSpPr txBox="1"/>
          <p:nvPr/>
        </p:nvSpPr>
        <p:spPr>
          <a:xfrm>
            <a:off x="10232136" y="1591056"/>
            <a:ext cx="1429207" cy="960120"/>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Requirements with no link are listed separately.</a:t>
            </a:r>
            <a:endParaRPr lang="en-US" sz="1000" dirty="0"/>
          </a:p>
        </p:txBody>
      </p:sp>
      <p:sp>
        <p:nvSpPr>
          <p:cNvPr id="18" name="Text 15">
            <a:hlinkClick r:id="" action="ppaction://noaction"/>
          </p:cNvPr>
          <p:cNvSpPr/>
          <p:nvPr/>
        </p:nvSpPr>
        <p:spPr>
          <a:xfrm>
            <a:off x="6787591"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19" name="Text 16">
            <a:hlinkClick r:id="rId4" action="ppaction://hlinksldjump" tooltip="Contents"/>
          </p:cNvPr>
          <p:cNvSpPr/>
          <p:nvPr/>
        </p:nvSpPr>
        <p:spPr>
          <a:xfrm>
            <a:off x="7765999"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20" name="Text 17">
            <a:hlinkClick r:id="rId5" action="ppaction://hlinksldjump" tooltip="Module"/>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Module">
                  <a:extLst>
                    <a:ext uri="{A12FA001-AC4F-418D-AE19-62706E023703}">
                      <ahyp:hlinkClr xmlns:ahyp="http://schemas.microsoft.com/office/drawing/2018/hyperlinkcolor" val="tx"/>
                    </a:ext>
                  </a:extLst>
                </a:hlinkClick>
              </a:rPr>
              <a:t>Module</a:t>
            </a:r>
            <a:endParaRPr lang="en-US" sz="1100" dirty="0"/>
          </a:p>
        </p:txBody>
      </p:sp>
      <p:sp>
        <p:nvSpPr>
          <p:cNvPr id="21" name="Text 18">
            <a:hlinkClick r:id="rId6" action="ppaction://hlinksldjump" tooltip="Use case"/>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Use case">
                  <a:extLst>
                    <a:ext uri="{A12FA001-AC4F-418D-AE19-62706E023703}">
                      <ahyp:hlinkClr xmlns:ahyp="http://schemas.microsoft.com/office/drawing/2018/hyperlinkcolor" val="tx"/>
                    </a:ext>
                  </a:extLst>
                </a:hlinkClick>
              </a:rPr>
              <a:t>Use case</a:t>
            </a:r>
            <a:endParaRPr lang="en-US" sz="1100" dirty="0"/>
          </a:p>
        </p:txBody>
      </p:sp>
      <p:sp>
        <p:nvSpPr>
          <p:cNvPr id="22" name="Text 19">
            <a:hlinkClick r:id="rId7"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47120" cy="502920"/>
          </a:xfrm>
          <a:prstGeom prst="rect">
            <a:avLst/>
          </a:prstGeom>
          <a:noFill/>
          <a:ln/>
        </p:spPr>
        <p:txBody>
          <a:bodyPr wrap="square" lIns="0" tIns="0" rIns="0" bIns="0" rtlCol="0" anchor="t"/>
          <a:lstStyle/>
          <a:p>
            <a:pPr marL="0" indent="0">
              <a:buNone/>
            </a:pPr>
            <a:r>
              <a:rPr lang="en-US" sz="2600" b="1" dirty="0">
                <a:solidFill>
                  <a:srgbClr val="4B1FA0"/>
                </a:solidFill>
                <a:latin typeface="Calibri" pitchFamily="34" charset="0"/>
                <a:ea typeface="Calibri" pitchFamily="34" charset="-122"/>
                <a:cs typeface="Calibri" pitchFamily="34" charset="-120"/>
              </a:rPr>
              <a:t>W-28 – </a:t>
            </a:r>
            <a:r>
              <a:rPr lang="en-US" sz="2600" b="1" dirty="0">
                <a:solidFill>
                  <a:srgbClr val="2B0B5E"/>
                </a:solidFill>
                <a:latin typeface="Calibri" pitchFamily="34" charset="0"/>
                <a:ea typeface="Calibri" pitchFamily="34" charset="-122"/>
                <a:cs typeface="Calibri" pitchFamily="34" charset="-120"/>
              </a:rPr>
              <a:t>Submission Package Builder</a:t>
            </a:r>
            <a:endParaRPr lang="en-US" sz="2600" dirty="0"/>
          </a:p>
        </p:txBody>
      </p:sp>
      <p:sp>
        <p:nvSpPr>
          <p:cNvPr id="3" name="Text 1"/>
          <p:cNvSpPr txBox="1"/>
          <p:nvPr/>
        </p:nvSpPr>
        <p:spPr>
          <a:xfrm>
            <a:off x="457200" y="777240"/>
            <a:ext cx="11247120" cy="384048"/>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Uploaded files matched to the checklist; the readiness check lists blockers and warnings.</a:t>
            </a:r>
            <a:endParaRPr lang="en-US" sz="13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42</a:t>
            </a:r>
            <a:endParaRPr lang="en-US" sz="1000" dirty="0"/>
          </a:p>
        </p:txBody>
      </p:sp>
      <p:sp>
        <p:nvSpPr>
          <p:cNvPr id="5" name="Shape 3"/>
          <p:cNvSpPr/>
          <p:nvPr/>
        </p:nvSpPr>
        <p:spPr>
          <a:xfrm>
            <a:off x="429768" y="1271016"/>
            <a:ext cx="5721371" cy="4398264"/>
          </a:xfrm>
          <a:prstGeom prst="rect">
            <a:avLst/>
          </a:prstGeom>
          <a:solidFill>
            <a:srgbClr val="FFFFFF"/>
          </a:solidFill>
          <a:ln w="12700">
            <a:solidFill>
              <a:srgbClr val="E6E5EC"/>
            </a:solidFill>
            <a:prstDash val="solid"/>
          </a:ln>
        </p:spPr>
        <p:txBody>
          <a:bodyPr/>
          <a:lstStyle/>
          <a:p>
            <a:endParaRPr lang="en-PK"/>
          </a:p>
        </p:txBody>
      </p:sp>
      <p:pic>
        <p:nvPicPr>
          <p:cNvPr id="6" name="Image 0" descr="Submission Package Builder mockup"/>
          <p:cNvPicPr>
            <a:picLocks noChangeAspect="1"/>
          </p:cNvPicPr>
          <p:nvPr/>
        </p:nvPicPr>
        <p:blipFill>
          <a:blip r:embed="rId3"/>
          <a:stretch>
            <a:fillRect/>
          </a:stretch>
        </p:blipFill>
        <p:spPr>
          <a:xfrm>
            <a:off x="457200" y="1298448"/>
            <a:ext cx="5666507" cy="4343400"/>
          </a:xfrm>
          <a:prstGeom prst="rect">
            <a:avLst/>
          </a:prstGeom>
        </p:spPr>
      </p:pic>
      <p:sp>
        <p:nvSpPr>
          <p:cNvPr id="7" name="Shape 4"/>
          <p:cNvSpPr/>
          <p:nvPr/>
        </p:nvSpPr>
        <p:spPr>
          <a:xfrm>
            <a:off x="4014200" y="1955605"/>
            <a:ext cx="1031543" cy="120573"/>
          </a:xfrm>
          <a:prstGeom prst="rect">
            <a:avLst/>
          </a:prstGeom>
          <a:solidFill>
            <a:srgbClr val="E5484D">
              <a:alpha val="12000"/>
            </a:srgbClr>
          </a:solidFill>
          <a:ln w="22225">
            <a:solidFill>
              <a:srgbClr val="E5484D"/>
            </a:solidFill>
            <a:prstDash val="solid"/>
          </a:ln>
        </p:spPr>
        <p:txBody>
          <a:bodyPr/>
          <a:lstStyle/>
          <a:p>
            <a:endParaRPr lang="en-PK"/>
          </a:p>
        </p:txBody>
      </p:sp>
      <p:sp>
        <p:nvSpPr>
          <p:cNvPr id="8" name="Text 5"/>
          <p:cNvSpPr/>
          <p:nvPr/>
        </p:nvSpPr>
        <p:spPr>
          <a:xfrm>
            <a:off x="3739880" y="1892448"/>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Shape 6"/>
          <p:cNvSpPr/>
          <p:nvPr/>
        </p:nvSpPr>
        <p:spPr>
          <a:xfrm>
            <a:off x="1684943" y="2395842"/>
            <a:ext cx="1105756" cy="92044"/>
          </a:xfrm>
          <a:prstGeom prst="rect">
            <a:avLst/>
          </a:prstGeom>
          <a:solidFill>
            <a:srgbClr val="E5484D">
              <a:alpha val="12000"/>
            </a:srgbClr>
          </a:solidFill>
          <a:ln w="22225">
            <a:solidFill>
              <a:srgbClr val="E5484D"/>
            </a:solidFill>
            <a:prstDash val="solid"/>
          </a:ln>
        </p:spPr>
        <p:txBody>
          <a:bodyPr/>
          <a:lstStyle/>
          <a:p>
            <a:endParaRPr lang="en-PK"/>
          </a:p>
        </p:txBody>
      </p:sp>
      <p:sp>
        <p:nvSpPr>
          <p:cNvPr id="10" name="Text 7"/>
          <p:cNvSpPr/>
          <p:nvPr/>
        </p:nvSpPr>
        <p:spPr>
          <a:xfrm>
            <a:off x="1410623" y="2318420"/>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Shape 8"/>
          <p:cNvSpPr/>
          <p:nvPr/>
        </p:nvSpPr>
        <p:spPr>
          <a:xfrm>
            <a:off x="1684943" y="3763895"/>
            <a:ext cx="1105756" cy="92044"/>
          </a:xfrm>
          <a:prstGeom prst="rect">
            <a:avLst/>
          </a:prstGeom>
          <a:solidFill>
            <a:srgbClr val="E5484D">
              <a:alpha val="12000"/>
            </a:srgbClr>
          </a:solidFill>
          <a:ln w="22225">
            <a:solidFill>
              <a:srgbClr val="E5484D"/>
            </a:solidFill>
            <a:prstDash val="solid"/>
          </a:ln>
        </p:spPr>
        <p:txBody>
          <a:bodyPr/>
          <a:lstStyle/>
          <a:p>
            <a:endParaRPr lang="en-PK"/>
          </a:p>
        </p:txBody>
      </p:sp>
      <p:sp>
        <p:nvSpPr>
          <p:cNvPr id="12" name="Text 9"/>
          <p:cNvSpPr/>
          <p:nvPr/>
        </p:nvSpPr>
        <p:spPr>
          <a:xfrm>
            <a:off x="1410623" y="3686473"/>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3" name="Shape 10"/>
          <p:cNvSpPr/>
          <p:nvPr/>
        </p:nvSpPr>
        <p:spPr>
          <a:xfrm>
            <a:off x="5111655" y="5311917"/>
            <a:ext cx="823168" cy="184334"/>
          </a:xfrm>
          <a:prstGeom prst="rect">
            <a:avLst/>
          </a:prstGeom>
          <a:solidFill>
            <a:srgbClr val="E5484D">
              <a:alpha val="12000"/>
            </a:srgbClr>
          </a:solidFill>
          <a:ln w="22225">
            <a:solidFill>
              <a:srgbClr val="E5484D"/>
            </a:solidFill>
            <a:prstDash val="solid"/>
          </a:ln>
        </p:spPr>
        <p:txBody>
          <a:bodyPr/>
          <a:lstStyle/>
          <a:p>
            <a:endParaRPr lang="en-PK"/>
          </a:p>
        </p:txBody>
      </p:sp>
      <p:sp>
        <p:nvSpPr>
          <p:cNvPr id="14" name="Text 11"/>
          <p:cNvSpPr/>
          <p:nvPr/>
        </p:nvSpPr>
        <p:spPr>
          <a:xfrm>
            <a:off x="4837335" y="5280639"/>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5" name="Shape 12"/>
          <p:cNvSpPr/>
          <p:nvPr/>
        </p:nvSpPr>
        <p:spPr>
          <a:xfrm>
            <a:off x="3140921" y="3791195"/>
            <a:ext cx="587802" cy="120573"/>
          </a:xfrm>
          <a:prstGeom prst="rect">
            <a:avLst/>
          </a:prstGeom>
          <a:solidFill>
            <a:srgbClr val="E5484D">
              <a:alpha val="12000"/>
            </a:srgbClr>
          </a:solidFill>
          <a:ln w="22225">
            <a:solidFill>
              <a:srgbClr val="E5484D"/>
            </a:solidFill>
            <a:prstDash val="solid"/>
          </a:ln>
        </p:spPr>
        <p:txBody>
          <a:bodyPr/>
          <a:lstStyle/>
          <a:p>
            <a:endParaRPr lang="en-PK"/>
          </a:p>
        </p:txBody>
      </p:sp>
      <p:sp>
        <p:nvSpPr>
          <p:cNvPr id="16" name="Text 13"/>
          <p:cNvSpPr/>
          <p:nvPr/>
        </p:nvSpPr>
        <p:spPr>
          <a:xfrm>
            <a:off x="2866601" y="3728037"/>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7" name="Text 14"/>
          <p:cNvSpPr txBox="1"/>
          <p:nvPr/>
        </p:nvSpPr>
        <p:spPr>
          <a:xfrm>
            <a:off x="457200" y="5760720"/>
            <a:ext cx="6720840" cy="457200"/>
          </a:xfrm>
          <a:prstGeom prst="rect">
            <a:avLst/>
          </a:prstGeom>
          <a:solidFill>
            <a:srgbClr val="FFFFFF"/>
          </a:solidFill>
          <a:ln w="9525">
            <a:solidFill>
              <a:srgbClr val="E6E5EC"/>
            </a:solidFill>
          </a:ln>
        </p:spPr>
        <p:txBody>
          <a:bodyPr wrap="square" lIns="50800" tIns="127000" rIns="127000" bIns="5080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Use case: </a:t>
            </a:r>
            <a:r>
              <a:rPr lang="en-US" sz="1050" dirty="0">
                <a:solidFill>
                  <a:srgbClr val="1A1A22"/>
                </a:solidFill>
                <a:latin typeface="Calibri" pitchFamily="34" charset="0"/>
                <a:ea typeface="Calibri" pitchFamily="34" charset="-122"/>
                <a:cs typeface="Calibri" pitchFamily="34" charset="-120"/>
              </a:rPr>
              <a:t>Build Submission Package (+ Match Files, Check Readiness)   </a:t>
            </a:r>
            <a:r>
              <a:rPr lang="en-US" sz="1050" dirty="0">
                <a:solidFill>
                  <a:srgbClr val="C9B6F2"/>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rule from the SRS  </a:t>
            </a:r>
            <a:r>
              <a:rPr lang="en-US" sz="1050" dirty="0">
                <a:solidFill>
                  <a:srgbClr val="BDBDC8"/>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condition stated in the FR</a:t>
            </a:r>
            <a:endParaRPr lang="en-US" sz="1050" dirty="0"/>
          </a:p>
        </p:txBody>
      </p:sp>
      <p:sp>
        <p:nvSpPr>
          <p:cNvPr id="18" name="Text 15"/>
          <p:cNvSpPr txBox="1"/>
          <p:nvPr/>
        </p:nvSpPr>
        <p:spPr>
          <a:xfrm>
            <a:off x="7717536" y="1298448"/>
            <a:ext cx="2331720"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FUNCTIONAL REQUIREMENT</a:t>
            </a:r>
            <a:endParaRPr lang="en-US" sz="1000" dirty="0"/>
          </a:p>
        </p:txBody>
      </p:sp>
      <p:sp>
        <p:nvSpPr>
          <p:cNvPr id="19" name="Text 16"/>
          <p:cNvSpPr txBox="1"/>
          <p:nvPr/>
        </p:nvSpPr>
        <p:spPr>
          <a:xfrm>
            <a:off x="10140696" y="1298448"/>
            <a:ext cx="1593799"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BUSINESS RULE</a:t>
            </a:r>
            <a:endParaRPr lang="en-US" sz="1000" dirty="0"/>
          </a:p>
        </p:txBody>
      </p:sp>
      <p:sp>
        <p:nvSpPr>
          <p:cNvPr id="20" name="Text 17"/>
          <p:cNvSpPr/>
          <p:nvPr/>
        </p:nvSpPr>
        <p:spPr>
          <a:xfrm>
            <a:off x="7406640" y="164592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21" name="Shape 18"/>
          <p:cNvSpPr/>
          <p:nvPr/>
        </p:nvSpPr>
        <p:spPr>
          <a:xfrm>
            <a:off x="7717536" y="1591056"/>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22" name="Shape 19"/>
          <p:cNvSpPr/>
          <p:nvPr/>
        </p:nvSpPr>
        <p:spPr>
          <a:xfrm>
            <a:off x="7717536" y="1591056"/>
            <a:ext cx="54864" cy="855878"/>
          </a:xfrm>
          <a:prstGeom prst="rect">
            <a:avLst/>
          </a:prstGeom>
          <a:solidFill>
            <a:srgbClr val="4B1FA0"/>
          </a:solidFill>
          <a:ln/>
        </p:spPr>
        <p:txBody>
          <a:bodyPr/>
          <a:lstStyle/>
          <a:p>
            <a:endParaRPr lang="en-PK"/>
          </a:p>
        </p:txBody>
      </p:sp>
      <p:sp>
        <p:nvSpPr>
          <p:cNvPr id="23" name="Text 20"/>
          <p:cNvSpPr txBox="1"/>
          <p:nvPr/>
        </p:nvSpPr>
        <p:spPr>
          <a:xfrm>
            <a:off x="7845552" y="1591056"/>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FR-10.1</a:t>
            </a:r>
            <a:r>
              <a:rPr lang="en-US" sz="1050" b="1" dirty="0">
                <a:solidFill>
                  <a:srgbClr val="2B0B5E"/>
                </a:solidFill>
                <a:latin typeface="Calibri" pitchFamily="34" charset="0"/>
                <a:ea typeface="Calibri" pitchFamily="34" charset="-122"/>
                <a:cs typeface="Calibri" pitchFamily="34" charset="-120"/>
              </a:rPr>
              <a:t> · Multi-File Upload</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Upload all final submission documents at once</a:t>
            </a:r>
            <a:endParaRPr lang="en-US" sz="1050" dirty="0"/>
          </a:p>
        </p:txBody>
      </p:sp>
      <p:sp>
        <p:nvSpPr>
          <p:cNvPr id="24" name="Shape 21"/>
          <p:cNvSpPr/>
          <p:nvPr/>
        </p:nvSpPr>
        <p:spPr>
          <a:xfrm>
            <a:off x="10140696" y="1591056"/>
            <a:ext cx="1593799" cy="855878"/>
          </a:xfrm>
          <a:prstGeom prst="roundRect">
            <a:avLst>
              <a:gd name="adj" fmla="val 6410"/>
            </a:avLst>
          </a:prstGeom>
          <a:solidFill>
            <a:srgbClr val="ECECF1"/>
          </a:solidFill>
          <a:ln/>
        </p:spPr>
        <p:txBody>
          <a:bodyPr/>
          <a:lstStyle/>
          <a:p>
            <a:endParaRPr lang="en-PK"/>
          </a:p>
        </p:txBody>
      </p:sp>
      <p:sp>
        <p:nvSpPr>
          <p:cNvPr id="25" name="Text 22"/>
          <p:cNvSpPr txBox="1"/>
          <p:nvPr/>
        </p:nvSpPr>
        <p:spPr>
          <a:xfrm>
            <a:off x="10232136" y="1591056"/>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Several files can be uploaded at once.</a:t>
            </a:r>
            <a:endParaRPr lang="en-US" sz="1000" dirty="0"/>
          </a:p>
        </p:txBody>
      </p:sp>
      <p:sp>
        <p:nvSpPr>
          <p:cNvPr id="26" name="Text 23"/>
          <p:cNvSpPr/>
          <p:nvPr/>
        </p:nvSpPr>
        <p:spPr>
          <a:xfrm>
            <a:off x="7406640" y="2593238"/>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7" name="Shape 24"/>
          <p:cNvSpPr/>
          <p:nvPr/>
        </p:nvSpPr>
        <p:spPr>
          <a:xfrm>
            <a:off x="7717536" y="2538374"/>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28" name="Shape 25"/>
          <p:cNvSpPr/>
          <p:nvPr/>
        </p:nvSpPr>
        <p:spPr>
          <a:xfrm>
            <a:off x="7717536" y="2538374"/>
            <a:ext cx="54864" cy="855878"/>
          </a:xfrm>
          <a:prstGeom prst="rect">
            <a:avLst/>
          </a:prstGeom>
          <a:solidFill>
            <a:srgbClr val="4B1FA0"/>
          </a:solidFill>
          <a:ln/>
        </p:spPr>
        <p:txBody>
          <a:bodyPr/>
          <a:lstStyle/>
          <a:p>
            <a:endParaRPr lang="en-PK"/>
          </a:p>
        </p:txBody>
      </p:sp>
      <p:sp>
        <p:nvSpPr>
          <p:cNvPr id="29" name="Text 26"/>
          <p:cNvSpPr txBox="1"/>
          <p:nvPr/>
        </p:nvSpPr>
        <p:spPr>
          <a:xfrm>
            <a:off x="7845552" y="2538374"/>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FR-10.2</a:t>
            </a:r>
            <a:r>
              <a:rPr lang="en-US" sz="1050" b="1" dirty="0">
                <a:solidFill>
                  <a:srgbClr val="2B0B5E"/>
                </a:solidFill>
                <a:latin typeface="Calibri" pitchFamily="34" charset="0"/>
                <a:ea typeface="Calibri" pitchFamily="34" charset="-122"/>
                <a:cs typeface="Calibri" pitchFamily="34" charset="-120"/>
              </a:rPr>
              <a:t> · Checklist Cross-Check</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Matches uploaded files to checklist items</a:t>
            </a:r>
            <a:endParaRPr lang="en-US" sz="1050" dirty="0"/>
          </a:p>
        </p:txBody>
      </p:sp>
      <p:sp>
        <p:nvSpPr>
          <p:cNvPr id="30" name="Shape 27"/>
          <p:cNvSpPr/>
          <p:nvPr/>
        </p:nvSpPr>
        <p:spPr>
          <a:xfrm>
            <a:off x="10140696" y="2538374"/>
            <a:ext cx="1593799" cy="855878"/>
          </a:xfrm>
          <a:prstGeom prst="roundRect">
            <a:avLst>
              <a:gd name="adj" fmla="val 6410"/>
            </a:avLst>
          </a:prstGeom>
          <a:solidFill>
            <a:srgbClr val="ECECF1"/>
          </a:solidFill>
          <a:ln/>
        </p:spPr>
        <p:txBody>
          <a:bodyPr/>
          <a:lstStyle/>
          <a:p>
            <a:endParaRPr lang="en-PK"/>
          </a:p>
        </p:txBody>
      </p:sp>
      <p:sp>
        <p:nvSpPr>
          <p:cNvPr id="31" name="Text 28"/>
          <p:cNvSpPr txBox="1"/>
          <p:nvPr/>
        </p:nvSpPr>
        <p:spPr>
          <a:xfrm>
            <a:off x="10232136" y="2538374"/>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Matched checklist items are marked fulfilled.</a:t>
            </a:r>
            <a:endParaRPr lang="en-US" sz="1000" dirty="0"/>
          </a:p>
        </p:txBody>
      </p:sp>
      <p:sp>
        <p:nvSpPr>
          <p:cNvPr id="32" name="Text 29"/>
          <p:cNvSpPr/>
          <p:nvPr/>
        </p:nvSpPr>
        <p:spPr>
          <a:xfrm>
            <a:off x="7406640" y="3540557"/>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33" name="Shape 30"/>
          <p:cNvSpPr/>
          <p:nvPr/>
        </p:nvSpPr>
        <p:spPr>
          <a:xfrm>
            <a:off x="7717536" y="3485693"/>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34" name="Shape 31"/>
          <p:cNvSpPr/>
          <p:nvPr/>
        </p:nvSpPr>
        <p:spPr>
          <a:xfrm>
            <a:off x="7717536" y="3485693"/>
            <a:ext cx="54864" cy="855878"/>
          </a:xfrm>
          <a:prstGeom prst="rect">
            <a:avLst/>
          </a:prstGeom>
          <a:solidFill>
            <a:srgbClr val="4B1FA0"/>
          </a:solidFill>
          <a:ln/>
        </p:spPr>
        <p:txBody>
          <a:bodyPr/>
          <a:lstStyle/>
          <a:p>
            <a:endParaRPr lang="en-PK"/>
          </a:p>
        </p:txBody>
      </p:sp>
      <p:sp>
        <p:nvSpPr>
          <p:cNvPr id="35" name="Text 32"/>
          <p:cNvSpPr txBox="1"/>
          <p:nvPr/>
        </p:nvSpPr>
        <p:spPr>
          <a:xfrm>
            <a:off x="7845552" y="3485693"/>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FR-10.3</a:t>
            </a:r>
            <a:r>
              <a:rPr lang="en-US" sz="1050" b="1" dirty="0">
                <a:solidFill>
                  <a:srgbClr val="2B0B5E"/>
                </a:solidFill>
                <a:latin typeface="Calibri" pitchFamily="34" charset="0"/>
                <a:ea typeface="Calibri" pitchFamily="34" charset="-122"/>
                <a:cs typeface="Calibri" pitchFamily="34" charset="-120"/>
              </a:rPr>
              <a:t> · Blocking Error List</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Lists mandatory items that are still missing</a:t>
            </a:r>
            <a:endParaRPr lang="en-US" sz="1050" dirty="0"/>
          </a:p>
        </p:txBody>
      </p:sp>
      <p:sp>
        <p:nvSpPr>
          <p:cNvPr id="36" name="Shape 33"/>
          <p:cNvSpPr/>
          <p:nvPr/>
        </p:nvSpPr>
        <p:spPr>
          <a:xfrm>
            <a:off x="10140696" y="3485693"/>
            <a:ext cx="1593799" cy="855878"/>
          </a:xfrm>
          <a:prstGeom prst="roundRect">
            <a:avLst>
              <a:gd name="adj" fmla="val 6410"/>
            </a:avLst>
          </a:prstGeom>
          <a:solidFill>
            <a:srgbClr val="ECECF1"/>
          </a:solidFill>
          <a:ln/>
        </p:spPr>
        <p:txBody>
          <a:bodyPr/>
          <a:lstStyle/>
          <a:p>
            <a:endParaRPr lang="en-PK"/>
          </a:p>
        </p:txBody>
      </p:sp>
      <p:sp>
        <p:nvSpPr>
          <p:cNvPr id="37" name="Text 34"/>
          <p:cNvSpPr txBox="1"/>
          <p:nvPr/>
        </p:nvSpPr>
        <p:spPr>
          <a:xfrm>
            <a:off x="10232136" y="3485693"/>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Shown before packaging starts.</a:t>
            </a:r>
            <a:endParaRPr lang="en-US" sz="1000" dirty="0"/>
          </a:p>
        </p:txBody>
      </p:sp>
      <p:sp>
        <p:nvSpPr>
          <p:cNvPr id="38" name="Text 35"/>
          <p:cNvSpPr/>
          <p:nvPr/>
        </p:nvSpPr>
        <p:spPr>
          <a:xfrm>
            <a:off x="7406640" y="4487875"/>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39" name="Shape 36"/>
          <p:cNvSpPr/>
          <p:nvPr/>
        </p:nvSpPr>
        <p:spPr>
          <a:xfrm>
            <a:off x="7717536" y="4433011"/>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40" name="Shape 37"/>
          <p:cNvSpPr/>
          <p:nvPr/>
        </p:nvSpPr>
        <p:spPr>
          <a:xfrm>
            <a:off x="7717536" y="4433011"/>
            <a:ext cx="54864" cy="855878"/>
          </a:xfrm>
          <a:prstGeom prst="rect">
            <a:avLst/>
          </a:prstGeom>
          <a:solidFill>
            <a:srgbClr val="4B1FA0"/>
          </a:solidFill>
          <a:ln/>
        </p:spPr>
        <p:txBody>
          <a:bodyPr/>
          <a:lstStyle/>
          <a:p>
            <a:endParaRPr lang="en-PK"/>
          </a:p>
        </p:txBody>
      </p:sp>
      <p:sp>
        <p:nvSpPr>
          <p:cNvPr id="41" name="Text 38"/>
          <p:cNvSpPr txBox="1"/>
          <p:nvPr/>
        </p:nvSpPr>
        <p:spPr>
          <a:xfrm>
            <a:off x="7845552" y="4433011"/>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FR-10.4</a:t>
            </a:r>
            <a:r>
              <a:rPr lang="en-US" sz="1050" b="1" dirty="0">
                <a:solidFill>
                  <a:srgbClr val="2B0B5E"/>
                </a:solidFill>
                <a:latin typeface="Calibri" pitchFamily="34" charset="0"/>
                <a:ea typeface="Calibri" pitchFamily="34" charset="-122"/>
                <a:cs typeface="Calibri" pitchFamily="34" charset="-120"/>
              </a:rPr>
              <a:t> · ZIP Generation</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Builds the ZIP with a standard folder structure</a:t>
            </a:r>
            <a:endParaRPr lang="en-US" sz="1050" dirty="0"/>
          </a:p>
        </p:txBody>
      </p:sp>
      <p:sp>
        <p:nvSpPr>
          <p:cNvPr id="42" name="Shape 39"/>
          <p:cNvSpPr/>
          <p:nvPr/>
        </p:nvSpPr>
        <p:spPr>
          <a:xfrm>
            <a:off x="10140696" y="4433011"/>
            <a:ext cx="1593799" cy="855878"/>
          </a:xfrm>
          <a:prstGeom prst="roundRect">
            <a:avLst>
              <a:gd name="adj" fmla="val 6410"/>
            </a:avLst>
          </a:prstGeom>
          <a:solidFill>
            <a:srgbClr val="ECECF1"/>
          </a:solidFill>
          <a:ln/>
        </p:spPr>
        <p:txBody>
          <a:bodyPr/>
          <a:lstStyle/>
          <a:p>
            <a:endParaRPr lang="en-PK"/>
          </a:p>
        </p:txBody>
      </p:sp>
      <p:sp>
        <p:nvSpPr>
          <p:cNvPr id="43" name="Text 40"/>
          <p:cNvSpPr txBox="1"/>
          <p:nvPr/>
        </p:nvSpPr>
        <p:spPr>
          <a:xfrm>
            <a:off x="10232136" y="4433011"/>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ZIP always uses four standard folders.</a:t>
            </a:r>
            <a:endParaRPr lang="en-US" sz="1000" dirty="0"/>
          </a:p>
        </p:txBody>
      </p:sp>
      <p:sp>
        <p:nvSpPr>
          <p:cNvPr id="44" name="Text 41"/>
          <p:cNvSpPr/>
          <p:nvPr/>
        </p:nvSpPr>
        <p:spPr>
          <a:xfrm>
            <a:off x="7406640" y="5435194"/>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45" name="Shape 42"/>
          <p:cNvSpPr/>
          <p:nvPr/>
        </p:nvSpPr>
        <p:spPr>
          <a:xfrm>
            <a:off x="7717536" y="5380330"/>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46" name="Shape 43"/>
          <p:cNvSpPr/>
          <p:nvPr/>
        </p:nvSpPr>
        <p:spPr>
          <a:xfrm>
            <a:off x="7717536" y="5380330"/>
            <a:ext cx="54864" cy="855878"/>
          </a:xfrm>
          <a:prstGeom prst="rect">
            <a:avLst/>
          </a:prstGeom>
          <a:solidFill>
            <a:srgbClr val="4B1FA0"/>
          </a:solidFill>
          <a:ln/>
        </p:spPr>
        <p:txBody>
          <a:bodyPr/>
          <a:lstStyle/>
          <a:p>
            <a:endParaRPr lang="en-PK"/>
          </a:p>
        </p:txBody>
      </p:sp>
      <p:sp>
        <p:nvSpPr>
          <p:cNvPr id="47" name="Text 44"/>
          <p:cNvSpPr txBox="1"/>
          <p:nvPr/>
        </p:nvSpPr>
        <p:spPr>
          <a:xfrm>
            <a:off x="7845552" y="5380330"/>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FR-10.7</a:t>
            </a:r>
            <a:r>
              <a:rPr lang="en-US" sz="1050" b="1" dirty="0">
                <a:solidFill>
                  <a:srgbClr val="2B0B5E"/>
                </a:solidFill>
                <a:latin typeface="Calibri" pitchFamily="34" charset="0"/>
                <a:ea typeface="Calibri" pitchFamily="34" charset="-122"/>
                <a:cs typeface="Calibri" pitchFamily="34" charset="-120"/>
              </a:rPr>
              <a:t> · Readiness Check</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Blockers stop packaging; warnings are only shown</a:t>
            </a:r>
            <a:endParaRPr lang="en-US" sz="1050" dirty="0"/>
          </a:p>
        </p:txBody>
      </p:sp>
      <p:sp>
        <p:nvSpPr>
          <p:cNvPr id="48" name="Shape 45"/>
          <p:cNvSpPr/>
          <p:nvPr/>
        </p:nvSpPr>
        <p:spPr>
          <a:xfrm>
            <a:off x="10140696" y="5380330"/>
            <a:ext cx="1593799" cy="855878"/>
          </a:xfrm>
          <a:prstGeom prst="roundRect">
            <a:avLst>
              <a:gd name="adj" fmla="val 6410"/>
            </a:avLst>
          </a:prstGeom>
          <a:solidFill>
            <a:srgbClr val="EFE7FB"/>
          </a:solidFill>
          <a:ln/>
        </p:spPr>
        <p:txBody>
          <a:bodyPr/>
          <a:lstStyle/>
          <a:p>
            <a:endParaRPr lang="en-PK"/>
          </a:p>
        </p:txBody>
      </p:sp>
      <p:sp>
        <p:nvSpPr>
          <p:cNvPr id="49" name="Text 46"/>
          <p:cNvSpPr txBox="1"/>
          <p:nvPr/>
        </p:nvSpPr>
        <p:spPr>
          <a:xfrm>
            <a:off x="10232136" y="5380330"/>
            <a:ext cx="1429207" cy="855878"/>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Blockers stop the ZIP; warnings are only shown.</a:t>
            </a:r>
            <a:endParaRPr lang="en-US" sz="1000" dirty="0"/>
          </a:p>
        </p:txBody>
      </p:sp>
      <p:sp>
        <p:nvSpPr>
          <p:cNvPr id="50" name="Text 47">
            <a:hlinkClick r:id="" action="ppaction://noaction"/>
          </p:cNvPr>
          <p:cNvSpPr/>
          <p:nvPr/>
        </p:nvSpPr>
        <p:spPr>
          <a:xfrm>
            <a:off x="6787591"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51" name="Text 48">
            <a:hlinkClick r:id="rId4" action="ppaction://hlinksldjump" tooltip="Contents"/>
          </p:cNvPr>
          <p:cNvSpPr/>
          <p:nvPr/>
        </p:nvSpPr>
        <p:spPr>
          <a:xfrm>
            <a:off x="7765999"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52" name="Text 49">
            <a:hlinkClick r:id="rId5" action="ppaction://hlinksldjump" tooltip="Module"/>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Module">
                  <a:extLst>
                    <a:ext uri="{A12FA001-AC4F-418D-AE19-62706E023703}">
                      <ahyp:hlinkClr xmlns:ahyp="http://schemas.microsoft.com/office/drawing/2018/hyperlinkcolor" val="tx"/>
                    </a:ext>
                  </a:extLst>
                </a:hlinkClick>
              </a:rPr>
              <a:t>Module</a:t>
            </a:r>
            <a:endParaRPr lang="en-US" sz="1100" dirty="0"/>
          </a:p>
        </p:txBody>
      </p:sp>
      <p:sp>
        <p:nvSpPr>
          <p:cNvPr id="53" name="Text 50">
            <a:hlinkClick r:id="rId6" action="ppaction://hlinksldjump" tooltip="Use case"/>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Use case">
                  <a:extLst>
                    <a:ext uri="{A12FA001-AC4F-418D-AE19-62706E023703}">
                      <ahyp:hlinkClr xmlns:ahyp="http://schemas.microsoft.com/office/drawing/2018/hyperlinkcolor" val="tx"/>
                    </a:ext>
                  </a:extLst>
                </a:hlinkClick>
              </a:rPr>
              <a:t>Use case</a:t>
            </a:r>
            <a:endParaRPr lang="en-US" sz="1100" dirty="0"/>
          </a:p>
        </p:txBody>
      </p:sp>
      <p:sp>
        <p:nvSpPr>
          <p:cNvPr id="54" name="Text 51">
            <a:hlinkClick r:id="rId7"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47120" cy="502920"/>
          </a:xfrm>
          <a:prstGeom prst="rect">
            <a:avLst/>
          </a:prstGeom>
          <a:noFill/>
          <a:ln/>
        </p:spPr>
        <p:txBody>
          <a:bodyPr wrap="square" lIns="0" tIns="0" rIns="0" bIns="0" rtlCol="0" anchor="t"/>
          <a:lstStyle/>
          <a:p>
            <a:pPr marL="0" indent="0">
              <a:buNone/>
            </a:pPr>
            <a:r>
              <a:rPr lang="en-US" sz="2600" b="1" dirty="0">
                <a:solidFill>
                  <a:srgbClr val="4B1FA0"/>
                </a:solidFill>
                <a:latin typeface="Calibri" pitchFamily="34" charset="0"/>
                <a:ea typeface="Calibri" pitchFamily="34" charset="-122"/>
                <a:cs typeface="Calibri" pitchFamily="34" charset="-120"/>
              </a:rPr>
              <a:t>W-41 – </a:t>
            </a:r>
            <a:r>
              <a:rPr lang="en-US" sz="2600" b="1" dirty="0">
                <a:solidFill>
                  <a:srgbClr val="2B0B5E"/>
                </a:solidFill>
                <a:latin typeface="Calibri" pitchFamily="34" charset="0"/>
                <a:ea typeface="Calibri" pitchFamily="34" charset="-122"/>
                <a:cs typeface="Calibri" pitchFamily="34" charset="-120"/>
              </a:rPr>
              <a:t>Audit Log</a:t>
            </a:r>
            <a:endParaRPr lang="en-US" sz="2600" dirty="0"/>
          </a:p>
        </p:txBody>
      </p:sp>
      <p:sp>
        <p:nvSpPr>
          <p:cNvPr id="3" name="Text 1"/>
          <p:cNvSpPr txBox="1"/>
          <p:nvPr/>
        </p:nvSpPr>
        <p:spPr>
          <a:xfrm>
            <a:off x="457200" y="777240"/>
            <a:ext cx="11247120" cy="384048"/>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Every important action recorded, filterable and exportable; records can never be edited.</a:t>
            </a:r>
            <a:endParaRPr lang="en-US" sz="13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43</a:t>
            </a:r>
            <a:endParaRPr lang="en-US" sz="1000" dirty="0"/>
          </a:p>
        </p:txBody>
      </p:sp>
      <p:sp>
        <p:nvSpPr>
          <p:cNvPr id="5" name="Shape 3"/>
          <p:cNvSpPr/>
          <p:nvPr/>
        </p:nvSpPr>
        <p:spPr>
          <a:xfrm>
            <a:off x="429768" y="1271016"/>
            <a:ext cx="6775704" cy="4255389"/>
          </a:xfrm>
          <a:prstGeom prst="rect">
            <a:avLst/>
          </a:prstGeom>
          <a:solidFill>
            <a:srgbClr val="FFFFFF"/>
          </a:solidFill>
          <a:ln w="12700">
            <a:solidFill>
              <a:srgbClr val="E6E5EC"/>
            </a:solidFill>
            <a:prstDash val="solid"/>
          </a:ln>
        </p:spPr>
        <p:txBody>
          <a:bodyPr/>
          <a:lstStyle/>
          <a:p>
            <a:endParaRPr lang="en-PK"/>
          </a:p>
        </p:txBody>
      </p:sp>
      <p:pic>
        <p:nvPicPr>
          <p:cNvPr id="6" name="Image 0" descr="Audit Log mockup"/>
          <p:cNvPicPr>
            <a:picLocks noChangeAspect="1"/>
          </p:cNvPicPr>
          <p:nvPr/>
        </p:nvPicPr>
        <p:blipFill>
          <a:blip r:embed="rId3"/>
          <a:stretch>
            <a:fillRect/>
          </a:stretch>
        </p:blipFill>
        <p:spPr>
          <a:xfrm>
            <a:off x="457200" y="1298448"/>
            <a:ext cx="6720840" cy="4200525"/>
          </a:xfrm>
          <a:prstGeom prst="rect">
            <a:avLst/>
          </a:prstGeom>
        </p:spPr>
      </p:pic>
      <p:sp>
        <p:nvSpPr>
          <p:cNvPr id="7" name="Shape 4"/>
          <p:cNvSpPr/>
          <p:nvPr/>
        </p:nvSpPr>
        <p:spPr>
          <a:xfrm>
            <a:off x="1759363" y="1945008"/>
            <a:ext cx="1986207" cy="122734"/>
          </a:xfrm>
          <a:prstGeom prst="rect">
            <a:avLst/>
          </a:prstGeom>
          <a:solidFill>
            <a:srgbClr val="E5484D">
              <a:alpha val="12000"/>
            </a:srgbClr>
          </a:solidFill>
          <a:ln w="22225">
            <a:solidFill>
              <a:srgbClr val="E5484D"/>
            </a:solidFill>
            <a:prstDash val="solid"/>
          </a:ln>
        </p:spPr>
        <p:txBody>
          <a:bodyPr/>
          <a:lstStyle/>
          <a:p>
            <a:endParaRPr lang="en-PK"/>
          </a:p>
        </p:txBody>
      </p:sp>
      <p:sp>
        <p:nvSpPr>
          <p:cNvPr id="8" name="Text 5"/>
          <p:cNvSpPr/>
          <p:nvPr/>
        </p:nvSpPr>
        <p:spPr>
          <a:xfrm>
            <a:off x="1485043" y="1882931"/>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Shape 6"/>
          <p:cNvSpPr/>
          <p:nvPr/>
        </p:nvSpPr>
        <p:spPr>
          <a:xfrm>
            <a:off x="5224796" y="3193862"/>
            <a:ext cx="1813227" cy="210026"/>
          </a:xfrm>
          <a:prstGeom prst="rect">
            <a:avLst/>
          </a:prstGeom>
          <a:solidFill>
            <a:srgbClr val="E5484D">
              <a:alpha val="12000"/>
            </a:srgbClr>
          </a:solidFill>
          <a:ln w="22225">
            <a:solidFill>
              <a:srgbClr val="E5484D"/>
            </a:solidFill>
            <a:prstDash val="solid"/>
          </a:ln>
        </p:spPr>
        <p:txBody>
          <a:bodyPr/>
          <a:lstStyle/>
          <a:p>
            <a:endParaRPr lang="en-PK"/>
          </a:p>
        </p:txBody>
      </p:sp>
      <p:sp>
        <p:nvSpPr>
          <p:cNvPr id="10" name="Text 7"/>
          <p:cNvSpPr/>
          <p:nvPr/>
        </p:nvSpPr>
        <p:spPr>
          <a:xfrm>
            <a:off x="4950476" y="3175431"/>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Shape 8"/>
          <p:cNvSpPr/>
          <p:nvPr/>
        </p:nvSpPr>
        <p:spPr>
          <a:xfrm>
            <a:off x="6360396" y="2797875"/>
            <a:ext cx="575093" cy="218631"/>
          </a:xfrm>
          <a:prstGeom prst="rect">
            <a:avLst/>
          </a:prstGeom>
          <a:solidFill>
            <a:srgbClr val="E5484D">
              <a:alpha val="12000"/>
            </a:srgbClr>
          </a:solidFill>
          <a:ln w="22225">
            <a:solidFill>
              <a:srgbClr val="E5484D"/>
            </a:solidFill>
            <a:prstDash val="solid"/>
          </a:ln>
        </p:spPr>
        <p:txBody>
          <a:bodyPr/>
          <a:lstStyle/>
          <a:p>
            <a:endParaRPr lang="en-PK"/>
          </a:p>
        </p:txBody>
      </p:sp>
      <p:sp>
        <p:nvSpPr>
          <p:cNvPr id="12" name="Text 9"/>
          <p:cNvSpPr/>
          <p:nvPr/>
        </p:nvSpPr>
        <p:spPr>
          <a:xfrm>
            <a:off x="6086076" y="2783747"/>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3" name="Shape 10"/>
          <p:cNvSpPr/>
          <p:nvPr/>
        </p:nvSpPr>
        <p:spPr>
          <a:xfrm>
            <a:off x="1990246" y="2212427"/>
            <a:ext cx="401675" cy="107347"/>
          </a:xfrm>
          <a:prstGeom prst="rect">
            <a:avLst/>
          </a:prstGeom>
          <a:solidFill>
            <a:srgbClr val="E5484D">
              <a:alpha val="12000"/>
            </a:srgbClr>
          </a:solidFill>
          <a:ln w="22225">
            <a:solidFill>
              <a:srgbClr val="E5484D"/>
            </a:solidFill>
            <a:prstDash val="solid"/>
          </a:ln>
        </p:spPr>
        <p:txBody>
          <a:bodyPr/>
          <a:lstStyle/>
          <a:p>
            <a:endParaRPr lang="en-PK"/>
          </a:p>
        </p:txBody>
      </p:sp>
      <p:sp>
        <p:nvSpPr>
          <p:cNvPr id="14" name="Text 11"/>
          <p:cNvSpPr/>
          <p:nvPr/>
        </p:nvSpPr>
        <p:spPr>
          <a:xfrm>
            <a:off x="1715926" y="2142656"/>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5" name="Shape 12"/>
          <p:cNvSpPr/>
          <p:nvPr/>
        </p:nvSpPr>
        <p:spPr>
          <a:xfrm>
            <a:off x="6163861" y="1781435"/>
            <a:ext cx="878829" cy="218631"/>
          </a:xfrm>
          <a:prstGeom prst="rect">
            <a:avLst/>
          </a:prstGeom>
          <a:solidFill>
            <a:srgbClr val="E5484D">
              <a:alpha val="12000"/>
            </a:srgbClr>
          </a:solidFill>
          <a:ln w="22225">
            <a:solidFill>
              <a:srgbClr val="E5484D"/>
            </a:solidFill>
            <a:prstDash val="solid"/>
          </a:ln>
        </p:spPr>
        <p:txBody>
          <a:bodyPr/>
          <a:lstStyle/>
          <a:p>
            <a:endParaRPr lang="en-PK"/>
          </a:p>
        </p:txBody>
      </p:sp>
      <p:sp>
        <p:nvSpPr>
          <p:cNvPr id="16" name="Text 13"/>
          <p:cNvSpPr/>
          <p:nvPr/>
        </p:nvSpPr>
        <p:spPr>
          <a:xfrm>
            <a:off x="5889541" y="1767307"/>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17" name="Text 14"/>
          <p:cNvSpPr txBox="1"/>
          <p:nvPr/>
        </p:nvSpPr>
        <p:spPr>
          <a:xfrm>
            <a:off x="457200" y="5626989"/>
            <a:ext cx="6720840" cy="457200"/>
          </a:xfrm>
          <a:prstGeom prst="rect">
            <a:avLst/>
          </a:prstGeom>
          <a:solidFill>
            <a:srgbClr val="FFFFFF"/>
          </a:solidFill>
          <a:ln w="9525">
            <a:solidFill>
              <a:srgbClr val="E6E5EC"/>
            </a:solidFill>
          </a:ln>
        </p:spPr>
        <p:txBody>
          <a:bodyPr wrap="square" lIns="50800" tIns="127000" rIns="127000" bIns="5080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Use case: </a:t>
            </a:r>
            <a:r>
              <a:rPr lang="en-US" sz="1050" dirty="0">
                <a:solidFill>
                  <a:srgbClr val="1A1A22"/>
                </a:solidFill>
                <a:latin typeface="Calibri" pitchFamily="34" charset="0"/>
                <a:ea typeface="Calibri" pitchFamily="34" charset="-122"/>
                <a:cs typeface="Calibri" pitchFamily="34" charset="-120"/>
              </a:rPr>
              <a:t>View Audit Log   </a:t>
            </a:r>
            <a:r>
              <a:rPr lang="en-US" sz="1050" dirty="0">
                <a:solidFill>
                  <a:srgbClr val="C9B6F2"/>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rule from the SRS  </a:t>
            </a:r>
            <a:r>
              <a:rPr lang="en-US" sz="1050" dirty="0">
                <a:solidFill>
                  <a:srgbClr val="BDBDC8"/>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condition stated in the FR</a:t>
            </a:r>
            <a:endParaRPr lang="en-US" sz="1050" dirty="0"/>
          </a:p>
        </p:txBody>
      </p:sp>
      <p:sp>
        <p:nvSpPr>
          <p:cNvPr id="18" name="Text 15"/>
          <p:cNvSpPr txBox="1"/>
          <p:nvPr/>
        </p:nvSpPr>
        <p:spPr>
          <a:xfrm>
            <a:off x="7717536" y="1298448"/>
            <a:ext cx="2331720"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FUNCTIONAL REQUIREMENT</a:t>
            </a:r>
            <a:endParaRPr lang="en-US" sz="1000" dirty="0"/>
          </a:p>
        </p:txBody>
      </p:sp>
      <p:sp>
        <p:nvSpPr>
          <p:cNvPr id="19" name="Text 16"/>
          <p:cNvSpPr txBox="1"/>
          <p:nvPr/>
        </p:nvSpPr>
        <p:spPr>
          <a:xfrm>
            <a:off x="10140696" y="1298448"/>
            <a:ext cx="1593799"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BUSINESS RULE</a:t>
            </a:r>
            <a:endParaRPr lang="en-US" sz="1000" dirty="0"/>
          </a:p>
        </p:txBody>
      </p:sp>
      <p:sp>
        <p:nvSpPr>
          <p:cNvPr id="20" name="Text 17"/>
          <p:cNvSpPr/>
          <p:nvPr/>
        </p:nvSpPr>
        <p:spPr>
          <a:xfrm>
            <a:off x="7406640" y="164592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21" name="Shape 18"/>
          <p:cNvSpPr/>
          <p:nvPr/>
        </p:nvSpPr>
        <p:spPr>
          <a:xfrm>
            <a:off x="7717536" y="1591056"/>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22" name="Shape 19"/>
          <p:cNvSpPr/>
          <p:nvPr/>
        </p:nvSpPr>
        <p:spPr>
          <a:xfrm>
            <a:off x="7717536" y="1591056"/>
            <a:ext cx="54864" cy="855878"/>
          </a:xfrm>
          <a:prstGeom prst="rect">
            <a:avLst/>
          </a:prstGeom>
          <a:solidFill>
            <a:srgbClr val="4B1FA0"/>
          </a:solidFill>
          <a:ln/>
        </p:spPr>
        <p:txBody>
          <a:bodyPr/>
          <a:lstStyle/>
          <a:p>
            <a:endParaRPr lang="en-PK"/>
          </a:p>
        </p:txBody>
      </p:sp>
      <p:sp>
        <p:nvSpPr>
          <p:cNvPr id="23" name="Text 20"/>
          <p:cNvSpPr txBox="1"/>
          <p:nvPr/>
        </p:nvSpPr>
        <p:spPr>
          <a:xfrm>
            <a:off x="7845552" y="1591056"/>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FR-15.1</a:t>
            </a:r>
            <a:r>
              <a:rPr lang="en-US" sz="1050" b="1" dirty="0">
                <a:solidFill>
                  <a:srgbClr val="2B0B5E"/>
                </a:solidFill>
                <a:latin typeface="Calibri" pitchFamily="34" charset="0"/>
                <a:ea typeface="Calibri" pitchFamily="34" charset="-122"/>
                <a:cs typeface="Calibri" pitchFamily="34" charset="-120"/>
              </a:rPr>
              <a:t> · Audit Record</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Every important action is recorded</a:t>
            </a:r>
            <a:endParaRPr lang="en-US" sz="1050" dirty="0"/>
          </a:p>
        </p:txBody>
      </p:sp>
      <p:sp>
        <p:nvSpPr>
          <p:cNvPr id="24" name="Shape 21"/>
          <p:cNvSpPr/>
          <p:nvPr/>
        </p:nvSpPr>
        <p:spPr>
          <a:xfrm>
            <a:off x="10140696" y="1591056"/>
            <a:ext cx="1593799" cy="855878"/>
          </a:xfrm>
          <a:prstGeom prst="roundRect">
            <a:avLst>
              <a:gd name="adj" fmla="val 6410"/>
            </a:avLst>
          </a:prstGeom>
          <a:solidFill>
            <a:srgbClr val="ECECF1"/>
          </a:solidFill>
          <a:ln/>
        </p:spPr>
        <p:txBody>
          <a:bodyPr/>
          <a:lstStyle/>
          <a:p>
            <a:endParaRPr lang="en-PK"/>
          </a:p>
        </p:txBody>
      </p:sp>
      <p:sp>
        <p:nvSpPr>
          <p:cNvPr id="25" name="Text 22"/>
          <p:cNvSpPr txBox="1"/>
          <p:nvPr/>
        </p:nvSpPr>
        <p:spPr>
          <a:xfrm>
            <a:off x="10232136" y="1591056"/>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Every significant action is recorded.</a:t>
            </a:r>
            <a:endParaRPr lang="en-US" sz="1000" dirty="0"/>
          </a:p>
        </p:txBody>
      </p:sp>
      <p:sp>
        <p:nvSpPr>
          <p:cNvPr id="26" name="Text 23"/>
          <p:cNvSpPr/>
          <p:nvPr/>
        </p:nvSpPr>
        <p:spPr>
          <a:xfrm>
            <a:off x="7406640" y="2593238"/>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7" name="Shape 24"/>
          <p:cNvSpPr/>
          <p:nvPr/>
        </p:nvSpPr>
        <p:spPr>
          <a:xfrm>
            <a:off x="7717536" y="2538374"/>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28" name="Shape 25"/>
          <p:cNvSpPr/>
          <p:nvPr/>
        </p:nvSpPr>
        <p:spPr>
          <a:xfrm>
            <a:off x="7717536" y="2538374"/>
            <a:ext cx="54864" cy="855878"/>
          </a:xfrm>
          <a:prstGeom prst="rect">
            <a:avLst/>
          </a:prstGeom>
          <a:solidFill>
            <a:srgbClr val="4B1FA0"/>
          </a:solidFill>
          <a:ln/>
        </p:spPr>
        <p:txBody>
          <a:bodyPr/>
          <a:lstStyle/>
          <a:p>
            <a:endParaRPr lang="en-PK"/>
          </a:p>
        </p:txBody>
      </p:sp>
      <p:sp>
        <p:nvSpPr>
          <p:cNvPr id="29" name="Text 26"/>
          <p:cNvSpPr txBox="1"/>
          <p:nvPr/>
        </p:nvSpPr>
        <p:spPr>
          <a:xfrm>
            <a:off x="7845552" y="2538374"/>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FR-15.2</a:t>
            </a:r>
            <a:r>
              <a:rPr lang="en-US" sz="1050" b="1" dirty="0">
                <a:solidFill>
                  <a:srgbClr val="2B0B5E"/>
                </a:solidFill>
                <a:latin typeface="Calibri" pitchFamily="34" charset="0"/>
                <a:ea typeface="Calibri" pitchFamily="34" charset="-122"/>
                <a:cs typeface="Calibri" pitchFamily="34" charset="-120"/>
              </a:rPr>
              <a:t> · Audit Record Fields</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Who, what, which project, when, and details</a:t>
            </a:r>
            <a:endParaRPr lang="en-US" sz="1050" dirty="0"/>
          </a:p>
        </p:txBody>
      </p:sp>
      <p:sp>
        <p:nvSpPr>
          <p:cNvPr id="30" name="Shape 27"/>
          <p:cNvSpPr/>
          <p:nvPr/>
        </p:nvSpPr>
        <p:spPr>
          <a:xfrm>
            <a:off x="10140696" y="2538374"/>
            <a:ext cx="1593799" cy="855878"/>
          </a:xfrm>
          <a:prstGeom prst="roundRect">
            <a:avLst>
              <a:gd name="adj" fmla="val 6410"/>
            </a:avLst>
          </a:prstGeom>
          <a:solidFill>
            <a:srgbClr val="ECECF1"/>
          </a:solidFill>
          <a:ln/>
        </p:spPr>
        <p:txBody>
          <a:bodyPr/>
          <a:lstStyle/>
          <a:p>
            <a:endParaRPr lang="en-PK"/>
          </a:p>
        </p:txBody>
      </p:sp>
      <p:sp>
        <p:nvSpPr>
          <p:cNvPr id="31" name="Text 28"/>
          <p:cNvSpPr txBox="1"/>
          <p:nvPr/>
        </p:nvSpPr>
        <p:spPr>
          <a:xfrm>
            <a:off x="10232136" y="2538374"/>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Stores user, action, project, time and details_json.</a:t>
            </a:r>
            <a:endParaRPr lang="en-US" sz="1000" dirty="0"/>
          </a:p>
        </p:txBody>
      </p:sp>
      <p:sp>
        <p:nvSpPr>
          <p:cNvPr id="32" name="Text 29"/>
          <p:cNvSpPr/>
          <p:nvPr/>
        </p:nvSpPr>
        <p:spPr>
          <a:xfrm>
            <a:off x="7406640" y="3540557"/>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33" name="Shape 30"/>
          <p:cNvSpPr/>
          <p:nvPr/>
        </p:nvSpPr>
        <p:spPr>
          <a:xfrm>
            <a:off x="7717536" y="3485693"/>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34" name="Shape 31"/>
          <p:cNvSpPr/>
          <p:nvPr/>
        </p:nvSpPr>
        <p:spPr>
          <a:xfrm>
            <a:off x="7717536" y="3485693"/>
            <a:ext cx="54864" cy="855878"/>
          </a:xfrm>
          <a:prstGeom prst="rect">
            <a:avLst/>
          </a:prstGeom>
          <a:solidFill>
            <a:srgbClr val="4B1FA0"/>
          </a:solidFill>
          <a:ln/>
        </p:spPr>
        <p:txBody>
          <a:bodyPr/>
          <a:lstStyle/>
          <a:p>
            <a:endParaRPr lang="en-PK"/>
          </a:p>
        </p:txBody>
      </p:sp>
      <p:sp>
        <p:nvSpPr>
          <p:cNvPr id="35" name="Text 32"/>
          <p:cNvSpPr txBox="1"/>
          <p:nvPr/>
        </p:nvSpPr>
        <p:spPr>
          <a:xfrm>
            <a:off x="7845552" y="3485693"/>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FR-15.3</a:t>
            </a:r>
            <a:r>
              <a:rPr lang="en-US" sz="1050" b="1" dirty="0">
                <a:solidFill>
                  <a:srgbClr val="2B0B5E"/>
                </a:solidFill>
                <a:latin typeface="Calibri" pitchFamily="34" charset="0"/>
                <a:ea typeface="Calibri" pitchFamily="34" charset="-122"/>
                <a:cs typeface="Calibri" pitchFamily="34" charset="-120"/>
              </a:rPr>
              <a:t> · Audit Log Filtering</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Filter by user, project, action and date</a:t>
            </a:r>
            <a:endParaRPr lang="en-US" sz="1050" dirty="0"/>
          </a:p>
        </p:txBody>
      </p:sp>
      <p:sp>
        <p:nvSpPr>
          <p:cNvPr id="36" name="Shape 33"/>
          <p:cNvSpPr/>
          <p:nvPr/>
        </p:nvSpPr>
        <p:spPr>
          <a:xfrm>
            <a:off x="10140696" y="3485693"/>
            <a:ext cx="1593799" cy="855878"/>
          </a:xfrm>
          <a:prstGeom prst="roundRect">
            <a:avLst>
              <a:gd name="adj" fmla="val 6410"/>
            </a:avLst>
          </a:prstGeom>
          <a:solidFill>
            <a:srgbClr val="ECECF1"/>
          </a:solidFill>
          <a:ln/>
        </p:spPr>
        <p:txBody>
          <a:bodyPr/>
          <a:lstStyle/>
          <a:p>
            <a:endParaRPr lang="en-PK"/>
          </a:p>
        </p:txBody>
      </p:sp>
      <p:sp>
        <p:nvSpPr>
          <p:cNvPr id="37" name="Text 34"/>
          <p:cNvSpPr txBox="1"/>
          <p:nvPr/>
        </p:nvSpPr>
        <p:spPr>
          <a:xfrm>
            <a:off x="10232136" y="3485693"/>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Filter by user, project, action and date.</a:t>
            </a:r>
            <a:endParaRPr lang="en-US" sz="1000" dirty="0"/>
          </a:p>
        </p:txBody>
      </p:sp>
      <p:sp>
        <p:nvSpPr>
          <p:cNvPr id="38" name="Text 35"/>
          <p:cNvSpPr/>
          <p:nvPr/>
        </p:nvSpPr>
        <p:spPr>
          <a:xfrm>
            <a:off x="7406640" y="4487875"/>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39" name="Shape 36"/>
          <p:cNvSpPr/>
          <p:nvPr/>
        </p:nvSpPr>
        <p:spPr>
          <a:xfrm>
            <a:off x="7717536" y="4433011"/>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40" name="Shape 37"/>
          <p:cNvSpPr/>
          <p:nvPr/>
        </p:nvSpPr>
        <p:spPr>
          <a:xfrm>
            <a:off x="7717536" y="4433011"/>
            <a:ext cx="54864" cy="855878"/>
          </a:xfrm>
          <a:prstGeom prst="rect">
            <a:avLst/>
          </a:prstGeom>
          <a:solidFill>
            <a:srgbClr val="4B1FA0"/>
          </a:solidFill>
          <a:ln/>
        </p:spPr>
        <p:txBody>
          <a:bodyPr/>
          <a:lstStyle/>
          <a:p>
            <a:endParaRPr lang="en-PK"/>
          </a:p>
        </p:txBody>
      </p:sp>
      <p:sp>
        <p:nvSpPr>
          <p:cNvPr id="41" name="Text 38"/>
          <p:cNvSpPr txBox="1"/>
          <p:nvPr/>
        </p:nvSpPr>
        <p:spPr>
          <a:xfrm>
            <a:off x="7845552" y="4433011"/>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FR-15.4</a:t>
            </a:r>
            <a:r>
              <a:rPr lang="en-US" sz="1050" b="1" dirty="0">
                <a:solidFill>
                  <a:srgbClr val="2B0B5E"/>
                </a:solidFill>
                <a:latin typeface="Calibri" pitchFamily="34" charset="0"/>
                <a:ea typeface="Calibri" pitchFamily="34" charset="-122"/>
                <a:cs typeface="Calibri" pitchFamily="34" charset="-120"/>
              </a:rPr>
              <a:t> · Insert-Only Records</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Records can never be edited or deleted</a:t>
            </a:r>
            <a:endParaRPr lang="en-US" sz="1050" dirty="0"/>
          </a:p>
        </p:txBody>
      </p:sp>
      <p:sp>
        <p:nvSpPr>
          <p:cNvPr id="42" name="Shape 39"/>
          <p:cNvSpPr/>
          <p:nvPr/>
        </p:nvSpPr>
        <p:spPr>
          <a:xfrm>
            <a:off x="10140696" y="4433011"/>
            <a:ext cx="1593799" cy="855878"/>
          </a:xfrm>
          <a:prstGeom prst="roundRect">
            <a:avLst>
              <a:gd name="adj" fmla="val 6410"/>
            </a:avLst>
          </a:prstGeom>
          <a:solidFill>
            <a:srgbClr val="EFE7FB"/>
          </a:solidFill>
          <a:ln/>
        </p:spPr>
        <p:txBody>
          <a:bodyPr/>
          <a:lstStyle/>
          <a:p>
            <a:endParaRPr lang="en-PK"/>
          </a:p>
        </p:txBody>
      </p:sp>
      <p:sp>
        <p:nvSpPr>
          <p:cNvPr id="43" name="Text 40"/>
          <p:cNvSpPr txBox="1"/>
          <p:nvPr/>
        </p:nvSpPr>
        <p:spPr>
          <a:xfrm>
            <a:off x="10232136" y="4433011"/>
            <a:ext cx="1429207" cy="855878"/>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No UPDATE or DELETE, enforced by the database.</a:t>
            </a:r>
            <a:endParaRPr lang="en-US" sz="1000" dirty="0"/>
          </a:p>
        </p:txBody>
      </p:sp>
      <p:sp>
        <p:nvSpPr>
          <p:cNvPr id="44" name="Text 41"/>
          <p:cNvSpPr/>
          <p:nvPr/>
        </p:nvSpPr>
        <p:spPr>
          <a:xfrm>
            <a:off x="7406640" y="5435194"/>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45" name="Shape 42"/>
          <p:cNvSpPr/>
          <p:nvPr/>
        </p:nvSpPr>
        <p:spPr>
          <a:xfrm>
            <a:off x="7717536" y="5380330"/>
            <a:ext cx="2331720" cy="855878"/>
          </a:xfrm>
          <a:prstGeom prst="roundRect">
            <a:avLst>
              <a:gd name="adj" fmla="val 6410"/>
            </a:avLst>
          </a:prstGeom>
          <a:solidFill>
            <a:srgbClr val="FFFFFF"/>
          </a:solidFill>
          <a:ln w="12700">
            <a:solidFill>
              <a:srgbClr val="E6E5EC"/>
            </a:solidFill>
            <a:prstDash val="solid"/>
          </a:ln>
        </p:spPr>
        <p:txBody>
          <a:bodyPr/>
          <a:lstStyle/>
          <a:p>
            <a:endParaRPr lang="en-PK"/>
          </a:p>
        </p:txBody>
      </p:sp>
      <p:sp>
        <p:nvSpPr>
          <p:cNvPr id="46" name="Shape 43"/>
          <p:cNvSpPr/>
          <p:nvPr/>
        </p:nvSpPr>
        <p:spPr>
          <a:xfrm>
            <a:off x="7717536" y="5380330"/>
            <a:ext cx="54864" cy="855878"/>
          </a:xfrm>
          <a:prstGeom prst="rect">
            <a:avLst/>
          </a:prstGeom>
          <a:solidFill>
            <a:srgbClr val="4B1FA0"/>
          </a:solidFill>
          <a:ln/>
        </p:spPr>
        <p:txBody>
          <a:bodyPr/>
          <a:lstStyle/>
          <a:p>
            <a:endParaRPr lang="en-PK"/>
          </a:p>
        </p:txBody>
      </p:sp>
      <p:sp>
        <p:nvSpPr>
          <p:cNvPr id="47" name="Text 44"/>
          <p:cNvSpPr txBox="1"/>
          <p:nvPr/>
        </p:nvSpPr>
        <p:spPr>
          <a:xfrm>
            <a:off x="7845552" y="5380330"/>
            <a:ext cx="2148840" cy="855878"/>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FR-15.5</a:t>
            </a:r>
            <a:r>
              <a:rPr lang="en-US" sz="1050" b="1" dirty="0">
                <a:solidFill>
                  <a:srgbClr val="2B0B5E"/>
                </a:solidFill>
                <a:latin typeface="Calibri" pitchFamily="34" charset="0"/>
                <a:ea typeface="Calibri" pitchFamily="34" charset="-122"/>
                <a:cs typeface="Calibri" pitchFamily="34" charset="-120"/>
              </a:rPr>
              <a:t> · CSV Export</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Export the filtered log as a CSV file</a:t>
            </a:r>
            <a:endParaRPr lang="en-US" sz="1050" dirty="0"/>
          </a:p>
        </p:txBody>
      </p:sp>
      <p:sp>
        <p:nvSpPr>
          <p:cNvPr id="48" name="Shape 45"/>
          <p:cNvSpPr/>
          <p:nvPr/>
        </p:nvSpPr>
        <p:spPr>
          <a:xfrm>
            <a:off x="10140696" y="5380330"/>
            <a:ext cx="1593799" cy="855878"/>
          </a:xfrm>
          <a:prstGeom prst="roundRect">
            <a:avLst>
              <a:gd name="adj" fmla="val 6410"/>
            </a:avLst>
          </a:prstGeom>
          <a:solidFill>
            <a:srgbClr val="ECECF1"/>
          </a:solidFill>
          <a:ln/>
        </p:spPr>
        <p:txBody>
          <a:bodyPr/>
          <a:lstStyle/>
          <a:p>
            <a:endParaRPr lang="en-PK"/>
          </a:p>
        </p:txBody>
      </p:sp>
      <p:sp>
        <p:nvSpPr>
          <p:cNvPr id="49" name="Text 46"/>
          <p:cNvSpPr txBox="1"/>
          <p:nvPr/>
        </p:nvSpPr>
        <p:spPr>
          <a:xfrm>
            <a:off x="10232136" y="5380330"/>
            <a:ext cx="1429207" cy="855878"/>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Exports the filtered log as CSV.</a:t>
            </a:r>
            <a:endParaRPr lang="en-US" sz="1000" dirty="0"/>
          </a:p>
        </p:txBody>
      </p:sp>
      <p:sp>
        <p:nvSpPr>
          <p:cNvPr id="50" name="Text 47">
            <a:hlinkClick r:id="" action="ppaction://noaction"/>
          </p:cNvPr>
          <p:cNvSpPr/>
          <p:nvPr/>
        </p:nvSpPr>
        <p:spPr>
          <a:xfrm>
            <a:off x="6787591"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51" name="Text 48">
            <a:hlinkClick r:id="rId4" action="ppaction://hlinksldjump" tooltip="Contents"/>
          </p:cNvPr>
          <p:cNvSpPr/>
          <p:nvPr/>
        </p:nvSpPr>
        <p:spPr>
          <a:xfrm>
            <a:off x="7765999"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52" name="Text 49">
            <a:hlinkClick r:id="rId5" action="ppaction://hlinksldjump" tooltip="Module"/>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Module">
                  <a:extLst>
                    <a:ext uri="{A12FA001-AC4F-418D-AE19-62706E023703}">
                      <ahyp:hlinkClr xmlns:ahyp="http://schemas.microsoft.com/office/drawing/2018/hyperlinkcolor" val="tx"/>
                    </a:ext>
                  </a:extLst>
                </a:hlinkClick>
              </a:rPr>
              <a:t>Module</a:t>
            </a:r>
            <a:endParaRPr lang="en-US" sz="1100" dirty="0"/>
          </a:p>
        </p:txBody>
      </p:sp>
      <p:sp>
        <p:nvSpPr>
          <p:cNvPr id="53" name="Text 50">
            <a:hlinkClick r:id="rId6" action="ppaction://hlinksldjump" tooltip="Use case"/>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Use case">
                  <a:extLst>
                    <a:ext uri="{A12FA001-AC4F-418D-AE19-62706E023703}">
                      <ahyp:hlinkClr xmlns:ahyp="http://schemas.microsoft.com/office/drawing/2018/hyperlinkcolor" val="tx"/>
                    </a:ext>
                  </a:extLst>
                </a:hlinkClick>
              </a:rPr>
              <a:t>Use case</a:t>
            </a:r>
            <a:endParaRPr lang="en-US" sz="1100" dirty="0"/>
          </a:p>
        </p:txBody>
      </p:sp>
      <p:sp>
        <p:nvSpPr>
          <p:cNvPr id="54" name="Text 51">
            <a:hlinkClick r:id="rId7"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47120" cy="502920"/>
          </a:xfrm>
          <a:prstGeom prst="rect">
            <a:avLst/>
          </a:prstGeom>
          <a:noFill/>
          <a:ln/>
        </p:spPr>
        <p:txBody>
          <a:bodyPr wrap="square" lIns="0" tIns="0" rIns="0" bIns="0" rtlCol="0" anchor="t"/>
          <a:lstStyle/>
          <a:p>
            <a:pPr marL="0" indent="0">
              <a:buNone/>
            </a:pPr>
            <a:r>
              <a:rPr lang="en-US" sz="2600" b="1" dirty="0">
                <a:solidFill>
                  <a:srgbClr val="4B1FA0"/>
                </a:solidFill>
                <a:latin typeface="Calibri" pitchFamily="34" charset="0"/>
                <a:ea typeface="Calibri" pitchFamily="34" charset="-122"/>
                <a:cs typeface="Calibri" pitchFamily="34" charset="-120"/>
              </a:rPr>
              <a:t>M-03 · M-07 – </a:t>
            </a:r>
            <a:r>
              <a:rPr lang="en-US" sz="2600" b="1" dirty="0">
                <a:solidFill>
                  <a:srgbClr val="2B0B5E"/>
                </a:solidFill>
                <a:latin typeface="Calibri" pitchFamily="34" charset="0"/>
                <a:ea typeface="Calibri" pitchFamily="34" charset="-122"/>
                <a:cs typeface="Calibri" pitchFamily="34" charset="-120"/>
              </a:rPr>
              <a:t>Mobile Approvals and Document Capture</a:t>
            </a:r>
            <a:endParaRPr lang="en-US" sz="2600" dirty="0"/>
          </a:p>
        </p:txBody>
      </p:sp>
      <p:sp>
        <p:nvSpPr>
          <p:cNvPr id="3" name="Text 1"/>
          <p:cNvSpPr txBox="1"/>
          <p:nvPr/>
        </p:nvSpPr>
        <p:spPr>
          <a:xfrm>
            <a:off x="457200" y="777240"/>
            <a:ext cx="11247120" cy="384048"/>
          </a:xfrm>
          <a:prstGeom prst="rect">
            <a:avLst/>
          </a:prstGeom>
          <a:noFill/>
          <a:ln/>
        </p:spPr>
        <p:txBody>
          <a:bodyPr wrap="square" lIns="0" tIns="0" rIns="0" bIns="0" rtlCol="0" anchor="t"/>
          <a:lstStyle/>
          <a:p>
            <a:pPr marL="0" indent="0">
              <a:buNone/>
            </a:pPr>
            <a:r>
              <a:rPr lang="en-US" sz="1300" dirty="0">
                <a:solidFill>
                  <a:srgbClr val="5E5E6B"/>
                </a:solidFill>
                <a:latin typeface="Calibri" pitchFamily="34" charset="0"/>
                <a:ea typeface="Calibri" pitchFamily="34" charset="-122"/>
                <a:cs typeface="Calibri" pitchFamily="34" charset="-120"/>
              </a:rPr>
              <a:t>Reviewers approve on the phone; engineers capture checklist documents with the camera.</a:t>
            </a:r>
            <a:endParaRPr lang="en-US" sz="1300" dirty="0"/>
          </a:p>
        </p:txBody>
      </p:sp>
      <p:sp>
        <p:nvSpPr>
          <p:cNvPr id="4" name="Text 2"/>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44</a:t>
            </a:r>
            <a:endParaRPr lang="en-US" sz="1000" dirty="0"/>
          </a:p>
        </p:txBody>
      </p:sp>
      <p:sp>
        <p:nvSpPr>
          <p:cNvPr id="5" name="Shape 3"/>
          <p:cNvSpPr/>
          <p:nvPr/>
        </p:nvSpPr>
        <p:spPr>
          <a:xfrm>
            <a:off x="795528" y="1271016"/>
            <a:ext cx="2009394" cy="4398264"/>
          </a:xfrm>
          <a:prstGeom prst="rect">
            <a:avLst/>
          </a:prstGeom>
          <a:solidFill>
            <a:srgbClr val="FFFFFF"/>
          </a:solidFill>
          <a:ln w="12700">
            <a:solidFill>
              <a:srgbClr val="E6E5EC"/>
            </a:solidFill>
            <a:prstDash val="solid"/>
          </a:ln>
        </p:spPr>
        <p:txBody>
          <a:bodyPr/>
          <a:lstStyle/>
          <a:p>
            <a:endParaRPr lang="en-PK"/>
          </a:p>
        </p:txBody>
      </p:sp>
      <p:pic>
        <p:nvPicPr>
          <p:cNvPr id="6" name="Image 0" descr="Mobile Approvals mockup"/>
          <p:cNvPicPr>
            <a:picLocks noChangeAspect="1"/>
          </p:cNvPicPr>
          <p:nvPr/>
        </p:nvPicPr>
        <p:blipFill>
          <a:blip r:embed="rId3"/>
          <a:stretch>
            <a:fillRect/>
          </a:stretch>
        </p:blipFill>
        <p:spPr>
          <a:xfrm>
            <a:off x="822960" y="1298448"/>
            <a:ext cx="1954530" cy="4343400"/>
          </a:xfrm>
          <a:prstGeom prst="rect">
            <a:avLst/>
          </a:prstGeom>
        </p:spPr>
      </p:pic>
      <p:sp>
        <p:nvSpPr>
          <p:cNvPr id="7" name="Shape 4"/>
          <p:cNvSpPr/>
          <p:nvPr/>
        </p:nvSpPr>
        <p:spPr>
          <a:xfrm>
            <a:off x="1805654" y="4557610"/>
            <a:ext cx="841534" cy="283933"/>
          </a:xfrm>
          <a:prstGeom prst="rect">
            <a:avLst/>
          </a:prstGeom>
          <a:solidFill>
            <a:srgbClr val="E5484D">
              <a:alpha val="12000"/>
            </a:srgbClr>
          </a:solidFill>
          <a:ln w="22225">
            <a:solidFill>
              <a:srgbClr val="E5484D"/>
            </a:solidFill>
            <a:prstDash val="solid"/>
          </a:ln>
        </p:spPr>
        <p:txBody>
          <a:bodyPr/>
          <a:lstStyle/>
          <a:p>
            <a:endParaRPr lang="en-PK"/>
          </a:p>
        </p:txBody>
      </p:sp>
      <p:sp>
        <p:nvSpPr>
          <p:cNvPr id="8" name="Text 5"/>
          <p:cNvSpPr/>
          <p:nvPr/>
        </p:nvSpPr>
        <p:spPr>
          <a:xfrm>
            <a:off x="1531334" y="4576132"/>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Shape 6"/>
          <p:cNvSpPr/>
          <p:nvPr/>
        </p:nvSpPr>
        <p:spPr>
          <a:xfrm>
            <a:off x="3721608" y="1271016"/>
            <a:ext cx="2009394" cy="4398264"/>
          </a:xfrm>
          <a:prstGeom prst="rect">
            <a:avLst/>
          </a:prstGeom>
          <a:solidFill>
            <a:srgbClr val="FFFFFF"/>
          </a:solidFill>
          <a:ln w="12700">
            <a:solidFill>
              <a:srgbClr val="E6E5EC"/>
            </a:solidFill>
            <a:prstDash val="solid"/>
          </a:ln>
        </p:spPr>
        <p:txBody>
          <a:bodyPr/>
          <a:lstStyle/>
          <a:p>
            <a:endParaRPr lang="en-PK"/>
          </a:p>
        </p:txBody>
      </p:sp>
      <p:pic>
        <p:nvPicPr>
          <p:cNvPr id="10" name="Image 1" descr="Mobile Document Capture mockup"/>
          <p:cNvPicPr>
            <a:picLocks noChangeAspect="1"/>
          </p:cNvPicPr>
          <p:nvPr/>
        </p:nvPicPr>
        <p:blipFill>
          <a:blip r:embed="rId4"/>
          <a:stretch>
            <a:fillRect/>
          </a:stretch>
        </p:blipFill>
        <p:spPr>
          <a:xfrm>
            <a:off x="3749040" y="1298448"/>
            <a:ext cx="1954530" cy="4343400"/>
          </a:xfrm>
          <a:prstGeom prst="rect">
            <a:avLst/>
          </a:prstGeom>
        </p:spPr>
      </p:pic>
      <p:sp>
        <p:nvSpPr>
          <p:cNvPr id="11" name="Shape 7"/>
          <p:cNvSpPr/>
          <p:nvPr/>
        </p:nvSpPr>
        <p:spPr>
          <a:xfrm>
            <a:off x="3949922" y="3227528"/>
            <a:ext cx="770954" cy="283933"/>
          </a:xfrm>
          <a:prstGeom prst="rect">
            <a:avLst/>
          </a:prstGeom>
          <a:solidFill>
            <a:srgbClr val="E5484D">
              <a:alpha val="12000"/>
            </a:srgbClr>
          </a:solidFill>
          <a:ln w="22225">
            <a:solidFill>
              <a:srgbClr val="E5484D"/>
            </a:solidFill>
            <a:prstDash val="solid"/>
          </a:ln>
        </p:spPr>
        <p:txBody>
          <a:bodyPr/>
          <a:lstStyle/>
          <a:p>
            <a:endParaRPr lang="en-PK"/>
          </a:p>
        </p:txBody>
      </p:sp>
      <p:sp>
        <p:nvSpPr>
          <p:cNvPr id="12" name="Text 8"/>
          <p:cNvSpPr/>
          <p:nvPr/>
        </p:nvSpPr>
        <p:spPr>
          <a:xfrm>
            <a:off x="3675602" y="3246051"/>
            <a:ext cx="246888" cy="246888"/>
          </a:xfrm>
          <a:prstGeom prst="ellipse">
            <a:avLst/>
          </a:prstGeom>
          <a:solidFill>
            <a:srgbClr val="E5484D"/>
          </a:solidFill>
          <a:ln w="15875">
            <a:solidFill>
              <a:srgbClr val="FFFFFF"/>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3" name="Text 9"/>
          <p:cNvSpPr txBox="1"/>
          <p:nvPr/>
        </p:nvSpPr>
        <p:spPr>
          <a:xfrm>
            <a:off x="457200" y="5760720"/>
            <a:ext cx="6720840" cy="457200"/>
          </a:xfrm>
          <a:prstGeom prst="rect">
            <a:avLst/>
          </a:prstGeom>
          <a:solidFill>
            <a:srgbClr val="FFFFFF"/>
          </a:solidFill>
          <a:ln w="9525">
            <a:solidFill>
              <a:srgbClr val="E6E5EC"/>
            </a:solidFill>
          </a:ln>
        </p:spPr>
        <p:txBody>
          <a:bodyPr wrap="square" lIns="50800" tIns="127000" rIns="127000" bIns="50800" rtlCol="0" anchor="ctr"/>
          <a:lstStyle/>
          <a:p>
            <a:pPr marL="0" indent="0">
              <a:buNone/>
            </a:pPr>
            <a:r>
              <a:rPr lang="en-US" sz="1050" b="1" dirty="0">
                <a:solidFill>
                  <a:srgbClr val="4B1FA0"/>
                </a:solidFill>
                <a:latin typeface="Calibri" pitchFamily="34" charset="0"/>
                <a:ea typeface="Calibri" pitchFamily="34" charset="-122"/>
                <a:cs typeface="Calibri" pitchFamily="34" charset="-120"/>
              </a:rPr>
              <a:t>Use case: </a:t>
            </a:r>
            <a:r>
              <a:rPr lang="en-US" sz="1050" dirty="0">
                <a:solidFill>
                  <a:srgbClr val="1A1A22"/>
                </a:solidFill>
                <a:latin typeface="Calibri" pitchFamily="34" charset="0"/>
                <a:ea typeface="Calibri" pitchFamily="34" charset="-122"/>
                <a:cs typeface="Calibri" pitchFamily="34" charset="-120"/>
              </a:rPr>
              <a:t>Approve Proposal · Manage Checklist   </a:t>
            </a:r>
            <a:r>
              <a:rPr lang="en-US" sz="1050" dirty="0">
                <a:solidFill>
                  <a:srgbClr val="C9B6F2"/>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rule from the SRS  </a:t>
            </a:r>
            <a:r>
              <a:rPr lang="en-US" sz="1050" dirty="0">
                <a:solidFill>
                  <a:srgbClr val="BDBDC8"/>
                </a:solidFill>
                <a:latin typeface="Calibri" pitchFamily="34" charset="0"/>
                <a:ea typeface="Calibri" pitchFamily="34" charset="-122"/>
                <a:cs typeface="Calibri" pitchFamily="34" charset="-120"/>
              </a:rPr>
              <a:t>■</a:t>
            </a:r>
            <a:r>
              <a:rPr lang="en-US" sz="1050" dirty="0">
                <a:solidFill>
                  <a:srgbClr val="5E5E6B"/>
                </a:solidFill>
                <a:latin typeface="Calibri" pitchFamily="34" charset="0"/>
                <a:ea typeface="Calibri" pitchFamily="34" charset="-122"/>
                <a:cs typeface="Calibri" pitchFamily="34" charset="-120"/>
              </a:rPr>
              <a:t> condition stated in the FR</a:t>
            </a:r>
            <a:endParaRPr lang="en-US" sz="1050" dirty="0"/>
          </a:p>
        </p:txBody>
      </p:sp>
      <p:sp>
        <p:nvSpPr>
          <p:cNvPr id="14" name="Text 10"/>
          <p:cNvSpPr txBox="1"/>
          <p:nvPr/>
        </p:nvSpPr>
        <p:spPr>
          <a:xfrm>
            <a:off x="7717536" y="1298448"/>
            <a:ext cx="2331720"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FUNCTIONAL REQUIREMENT</a:t>
            </a:r>
            <a:endParaRPr lang="en-US" sz="1000" dirty="0"/>
          </a:p>
        </p:txBody>
      </p:sp>
      <p:sp>
        <p:nvSpPr>
          <p:cNvPr id="15" name="Text 11"/>
          <p:cNvSpPr txBox="1"/>
          <p:nvPr/>
        </p:nvSpPr>
        <p:spPr>
          <a:xfrm>
            <a:off x="10140696" y="1298448"/>
            <a:ext cx="1593799" cy="228600"/>
          </a:xfrm>
          <a:prstGeom prst="rect">
            <a:avLst/>
          </a:prstGeom>
          <a:noFill/>
          <a:ln/>
        </p:spPr>
        <p:txBody>
          <a:bodyPr wrap="square" lIns="0" tIns="0" rIns="0" bIns="0" rtlCol="0" anchor="t"/>
          <a:lstStyle/>
          <a:p>
            <a:pPr marL="0" indent="0">
              <a:buNone/>
            </a:pPr>
            <a:r>
              <a:rPr lang="en-US" sz="1000" b="1" kern="0" spc="100" dirty="0">
                <a:solidFill>
                  <a:srgbClr val="4B1FA0"/>
                </a:solidFill>
                <a:latin typeface="Calibri" pitchFamily="34" charset="0"/>
                <a:ea typeface="Calibri" pitchFamily="34" charset="-122"/>
                <a:cs typeface="Calibri" pitchFamily="34" charset="-120"/>
              </a:rPr>
              <a:t>BUSINESS RULE</a:t>
            </a:r>
            <a:endParaRPr lang="en-US" sz="1000" dirty="0"/>
          </a:p>
        </p:txBody>
      </p:sp>
      <p:sp>
        <p:nvSpPr>
          <p:cNvPr id="16" name="Text 12"/>
          <p:cNvSpPr/>
          <p:nvPr/>
        </p:nvSpPr>
        <p:spPr>
          <a:xfrm>
            <a:off x="7406640" y="164592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7" name="Shape 13"/>
          <p:cNvSpPr/>
          <p:nvPr/>
        </p:nvSpPr>
        <p:spPr>
          <a:xfrm>
            <a:off x="7717536" y="1591056"/>
            <a:ext cx="2331720" cy="960120"/>
          </a:xfrm>
          <a:prstGeom prst="roundRect">
            <a:avLst>
              <a:gd name="adj" fmla="val 5714"/>
            </a:avLst>
          </a:prstGeom>
          <a:solidFill>
            <a:srgbClr val="FFFFFF"/>
          </a:solidFill>
          <a:ln w="12700">
            <a:solidFill>
              <a:srgbClr val="E6E5EC"/>
            </a:solidFill>
            <a:prstDash val="solid"/>
          </a:ln>
        </p:spPr>
        <p:txBody>
          <a:bodyPr/>
          <a:lstStyle/>
          <a:p>
            <a:endParaRPr lang="en-PK"/>
          </a:p>
        </p:txBody>
      </p:sp>
      <p:sp>
        <p:nvSpPr>
          <p:cNvPr id="18" name="Shape 14"/>
          <p:cNvSpPr/>
          <p:nvPr/>
        </p:nvSpPr>
        <p:spPr>
          <a:xfrm>
            <a:off x="7717536" y="1591056"/>
            <a:ext cx="54864" cy="960120"/>
          </a:xfrm>
          <a:prstGeom prst="rect">
            <a:avLst/>
          </a:prstGeom>
          <a:solidFill>
            <a:srgbClr val="4B1FA0"/>
          </a:solidFill>
          <a:ln/>
        </p:spPr>
        <p:txBody>
          <a:bodyPr/>
          <a:lstStyle/>
          <a:p>
            <a:endParaRPr lang="en-PK"/>
          </a:p>
        </p:txBody>
      </p:sp>
      <p:sp>
        <p:nvSpPr>
          <p:cNvPr id="19" name="Text 15"/>
          <p:cNvSpPr txBox="1"/>
          <p:nvPr/>
        </p:nvSpPr>
        <p:spPr>
          <a:xfrm>
            <a:off x="7845552" y="1591056"/>
            <a:ext cx="2148840" cy="960120"/>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FR-18.3</a:t>
            </a:r>
            <a:r>
              <a:rPr lang="en-US" sz="1050" b="1" dirty="0">
                <a:solidFill>
                  <a:srgbClr val="2B0B5E"/>
                </a:solidFill>
                <a:latin typeface="Calibri" pitchFamily="34" charset="0"/>
                <a:ea typeface="Calibri" pitchFamily="34" charset="-122"/>
                <a:cs typeface="Calibri" pitchFamily="34" charset="-120"/>
              </a:rPr>
              <a:t> · Mobile Proposal Review</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Approve or request changes from the phone</a:t>
            </a:r>
            <a:endParaRPr lang="en-US" sz="1050" dirty="0"/>
          </a:p>
        </p:txBody>
      </p:sp>
      <p:sp>
        <p:nvSpPr>
          <p:cNvPr id="20" name="Shape 16"/>
          <p:cNvSpPr/>
          <p:nvPr/>
        </p:nvSpPr>
        <p:spPr>
          <a:xfrm>
            <a:off x="10140696" y="1591056"/>
            <a:ext cx="1593799" cy="960120"/>
          </a:xfrm>
          <a:prstGeom prst="roundRect">
            <a:avLst>
              <a:gd name="adj" fmla="val 5714"/>
            </a:avLst>
          </a:prstGeom>
          <a:solidFill>
            <a:srgbClr val="EFE7FB"/>
          </a:solidFill>
          <a:ln/>
        </p:spPr>
        <p:txBody>
          <a:bodyPr/>
          <a:lstStyle/>
          <a:p>
            <a:endParaRPr lang="en-PK"/>
          </a:p>
        </p:txBody>
      </p:sp>
      <p:sp>
        <p:nvSpPr>
          <p:cNvPr id="21" name="Text 17"/>
          <p:cNvSpPr txBox="1"/>
          <p:nvPr/>
        </p:nvSpPr>
        <p:spPr>
          <a:xfrm>
            <a:off x="10232136" y="1591056"/>
            <a:ext cx="1429207" cy="960120"/>
          </a:xfrm>
          <a:prstGeom prst="rect">
            <a:avLst/>
          </a:prstGeom>
          <a:noFill/>
          <a:ln/>
        </p:spPr>
        <p:txBody>
          <a:bodyPr wrap="square" lIns="0" tIns="0" rIns="0" bIns="0" rtlCol="0" anchor="ctr"/>
          <a:lstStyle/>
          <a:p>
            <a:pPr marL="0" indent="0">
              <a:buNone/>
            </a:pPr>
            <a:r>
              <a:rPr lang="en-US" sz="1000" dirty="0">
                <a:solidFill>
                  <a:srgbClr val="2B0B5E"/>
                </a:solidFill>
                <a:latin typeface="Calibri" pitchFamily="34" charset="0"/>
                <a:ea typeface="Calibri" pitchFamily="34" charset="-122"/>
                <a:cs typeface="Calibri" pitchFamily="34" charset="-120"/>
              </a:rPr>
              <a:t>Self-approval block (FR-13.3) also applies on mobile.</a:t>
            </a:r>
            <a:endParaRPr lang="en-US" sz="1000" dirty="0"/>
          </a:p>
        </p:txBody>
      </p:sp>
      <p:sp>
        <p:nvSpPr>
          <p:cNvPr id="22" name="Text 18"/>
          <p:cNvSpPr/>
          <p:nvPr/>
        </p:nvSpPr>
        <p:spPr>
          <a:xfrm>
            <a:off x="7406640" y="2697480"/>
            <a:ext cx="246888" cy="246888"/>
          </a:xfrm>
          <a:prstGeom prst="ellipse">
            <a:avLst/>
          </a:prstGeom>
          <a:solidFill>
            <a:srgbClr val="E5484D"/>
          </a:solid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3" name="Shape 19"/>
          <p:cNvSpPr/>
          <p:nvPr/>
        </p:nvSpPr>
        <p:spPr>
          <a:xfrm>
            <a:off x="7717536" y="2642616"/>
            <a:ext cx="2331720" cy="960120"/>
          </a:xfrm>
          <a:prstGeom prst="roundRect">
            <a:avLst>
              <a:gd name="adj" fmla="val 5714"/>
            </a:avLst>
          </a:prstGeom>
          <a:solidFill>
            <a:srgbClr val="FFFFFF"/>
          </a:solidFill>
          <a:ln w="12700">
            <a:solidFill>
              <a:srgbClr val="E6E5EC"/>
            </a:solidFill>
            <a:prstDash val="solid"/>
          </a:ln>
        </p:spPr>
        <p:txBody>
          <a:bodyPr/>
          <a:lstStyle/>
          <a:p>
            <a:endParaRPr lang="en-PK"/>
          </a:p>
        </p:txBody>
      </p:sp>
      <p:sp>
        <p:nvSpPr>
          <p:cNvPr id="24" name="Shape 20"/>
          <p:cNvSpPr/>
          <p:nvPr/>
        </p:nvSpPr>
        <p:spPr>
          <a:xfrm>
            <a:off x="7717536" y="2642616"/>
            <a:ext cx="54864" cy="960120"/>
          </a:xfrm>
          <a:prstGeom prst="rect">
            <a:avLst/>
          </a:prstGeom>
          <a:solidFill>
            <a:srgbClr val="4B1FA0"/>
          </a:solidFill>
          <a:ln/>
        </p:spPr>
        <p:txBody>
          <a:bodyPr/>
          <a:lstStyle/>
          <a:p>
            <a:endParaRPr lang="en-PK"/>
          </a:p>
        </p:txBody>
      </p:sp>
      <p:sp>
        <p:nvSpPr>
          <p:cNvPr id="25" name="Text 21"/>
          <p:cNvSpPr txBox="1"/>
          <p:nvPr/>
        </p:nvSpPr>
        <p:spPr>
          <a:xfrm>
            <a:off x="7845552" y="2642616"/>
            <a:ext cx="2148840" cy="960120"/>
          </a:xfrm>
          <a:prstGeom prst="rect">
            <a:avLst/>
          </a:prstGeom>
          <a:noFill/>
          <a:ln/>
        </p:spPr>
        <p:txBody>
          <a:bodyPr wrap="square" lIns="0" tIns="0" rIns="0" bIns="0" rtlCol="0" anchor="ctr"/>
          <a:lstStyle/>
          <a:p>
            <a:pPr marL="0" indent="0">
              <a:spcAft>
                <a:spcPts val="200"/>
              </a:spcAft>
              <a:buNone/>
            </a:pPr>
            <a:r>
              <a:rPr lang="en-US" sz="1050" b="1" dirty="0">
                <a:solidFill>
                  <a:srgbClr val="4B1FA0"/>
                </a:solidFill>
                <a:latin typeface="Calibri" pitchFamily="34" charset="0"/>
                <a:ea typeface="Calibri" pitchFamily="34" charset="-122"/>
                <a:cs typeface="Calibri" pitchFamily="34" charset="-120"/>
              </a:rPr>
              <a:t>FR-18.4</a:t>
            </a:r>
            <a:r>
              <a:rPr lang="en-US" sz="1050" b="1" dirty="0">
                <a:solidFill>
                  <a:srgbClr val="2B0B5E"/>
                </a:solidFill>
                <a:latin typeface="Calibri" pitchFamily="34" charset="0"/>
                <a:ea typeface="Calibri" pitchFamily="34" charset="-122"/>
                <a:cs typeface="Calibri" pitchFamily="34" charset="-120"/>
              </a:rPr>
              <a:t> · Document Capture</a:t>
            </a:r>
            <a:endParaRPr lang="en-US" sz="1050" dirty="0"/>
          </a:p>
          <a:p>
            <a:pPr marL="0" indent="0">
              <a:spcAft>
                <a:spcPts val="200"/>
              </a:spcAft>
              <a:buNone/>
            </a:pPr>
            <a:r>
              <a:rPr lang="en-US" sz="1000" dirty="0">
                <a:solidFill>
                  <a:srgbClr val="5E5E6B"/>
                </a:solidFill>
                <a:latin typeface="Calibri" pitchFamily="34" charset="0"/>
                <a:ea typeface="Calibri" pitchFamily="34" charset="-122"/>
                <a:cs typeface="Calibri" pitchFamily="34" charset="-120"/>
              </a:rPr>
              <a:t>Photo or file attached to a checklist item</a:t>
            </a:r>
            <a:endParaRPr lang="en-US" sz="1050" dirty="0"/>
          </a:p>
        </p:txBody>
      </p:sp>
      <p:sp>
        <p:nvSpPr>
          <p:cNvPr id="26" name="Shape 22"/>
          <p:cNvSpPr/>
          <p:nvPr/>
        </p:nvSpPr>
        <p:spPr>
          <a:xfrm>
            <a:off x="10140696" y="2642616"/>
            <a:ext cx="1593799" cy="960120"/>
          </a:xfrm>
          <a:prstGeom prst="roundRect">
            <a:avLst>
              <a:gd name="adj" fmla="val 5714"/>
            </a:avLst>
          </a:prstGeom>
          <a:solidFill>
            <a:srgbClr val="ECECF1"/>
          </a:solidFill>
          <a:ln/>
        </p:spPr>
        <p:txBody>
          <a:bodyPr/>
          <a:lstStyle/>
          <a:p>
            <a:endParaRPr lang="en-PK"/>
          </a:p>
        </p:txBody>
      </p:sp>
      <p:sp>
        <p:nvSpPr>
          <p:cNvPr id="27" name="Text 23"/>
          <p:cNvSpPr txBox="1"/>
          <p:nvPr/>
        </p:nvSpPr>
        <p:spPr>
          <a:xfrm>
            <a:off x="10232136" y="2642616"/>
            <a:ext cx="1429207" cy="960120"/>
          </a:xfrm>
          <a:prstGeom prst="rect">
            <a:avLst/>
          </a:prstGeom>
          <a:noFill/>
          <a:ln/>
        </p:spPr>
        <p:txBody>
          <a:bodyPr wrap="square" lIns="0" tIns="0" rIns="0" bIns="0" rtlCol="0" anchor="ctr"/>
          <a:lstStyle/>
          <a:p>
            <a:pPr marL="0" indent="0">
              <a:buNone/>
            </a:pPr>
            <a:r>
              <a:rPr lang="en-US" sz="1000" dirty="0">
                <a:solidFill>
                  <a:srgbClr val="1A1A22"/>
                </a:solidFill>
                <a:latin typeface="Calibri" pitchFamily="34" charset="0"/>
                <a:ea typeface="Calibri" pitchFamily="34" charset="-122"/>
                <a:cs typeface="Calibri" pitchFamily="34" charset="-120"/>
              </a:rPr>
              <a:t>File is stored in the project vault.</a:t>
            </a:r>
            <a:endParaRPr lang="en-US" sz="1000" dirty="0"/>
          </a:p>
        </p:txBody>
      </p:sp>
      <p:sp>
        <p:nvSpPr>
          <p:cNvPr id="28" name="Text 24">
            <a:hlinkClick r:id="" action="ppaction://noaction"/>
          </p:cNvPr>
          <p:cNvSpPr/>
          <p:nvPr/>
        </p:nvSpPr>
        <p:spPr>
          <a:xfrm>
            <a:off x="6787591"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29" name="Text 25">
            <a:hlinkClick r:id="rId5" action="ppaction://hlinksldjump" tooltip="Contents"/>
          </p:cNvPr>
          <p:cNvSpPr/>
          <p:nvPr/>
        </p:nvSpPr>
        <p:spPr>
          <a:xfrm>
            <a:off x="7765999"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5"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30" name="Text 26">
            <a:hlinkClick r:id="rId6" action="ppaction://hlinksldjump" tooltip="Module"/>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6" action="ppaction://hlinksldjump" tooltip="Module">
                  <a:extLst>
                    <a:ext uri="{A12FA001-AC4F-418D-AE19-62706E023703}">
                      <ahyp:hlinkClr xmlns:ahyp="http://schemas.microsoft.com/office/drawing/2018/hyperlinkcolor" val="tx"/>
                    </a:ext>
                  </a:extLst>
                </a:hlinkClick>
              </a:rPr>
              <a:t>Module</a:t>
            </a:r>
            <a:endParaRPr lang="en-US" sz="1100" dirty="0"/>
          </a:p>
        </p:txBody>
      </p:sp>
      <p:sp>
        <p:nvSpPr>
          <p:cNvPr id="31" name="Text 27">
            <a:hlinkClick r:id="rId7" action="ppaction://hlinksldjump" tooltip="Use case"/>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7" action="ppaction://hlinksldjump" tooltip="Use case">
                  <a:extLst>
                    <a:ext uri="{A12FA001-AC4F-418D-AE19-62706E023703}">
                      <ahyp:hlinkClr xmlns:ahyp="http://schemas.microsoft.com/office/drawing/2018/hyperlinkcolor" val="tx"/>
                    </a:ext>
                  </a:extLst>
                </a:hlinkClick>
              </a:rPr>
              <a:t>Use case</a:t>
            </a:r>
            <a:endParaRPr lang="en-US" sz="1100" dirty="0"/>
          </a:p>
        </p:txBody>
      </p:sp>
      <p:sp>
        <p:nvSpPr>
          <p:cNvPr id="32" name="Text 28">
            <a:hlinkClick r:id="rId8"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8"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F9F9FB"/>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marL="0" indent="0">
              <a:buNone/>
            </a:pPr>
            <a:r>
              <a:rPr lang="en-US" sz="1100" b="1" kern="0" spc="200" dirty="0">
                <a:solidFill>
                  <a:srgbClr val="4B1FA0"/>
                </a:solidFill>
                <a:latin typeface="Calibri" pitchFamily="34" charset="0"/>
                <a:ea typeface="Calibri" pitchFamily="34" charset="-122"/>
                <a:cs typeface="Calibri" pitchFamily="34" charset="-120"/>
              </a:rPr>
              <a:t>NON-FUNCTIONAL REQUIREMENTS · </a:t>
            </a:r>
            <a:endParaRPr lang="en-US" sz="1100" dirty="0"/>
          </a:p>
        </p:txBody>
      </p:sp>
      <p:sp>
        <p:nvSpPr>
          <p:cNvPr id="3" name="Text 1"/>
          <p:cNvSpPr txBox="1"/>
          <p:nvPr/>
        </p:nvSpPr>
        <p:spPr>
          <a:xfrm>
            <a:off x="457200" y="530352"/>
            <a:ext cx="11247120" cy="566928"/>
          </a:xfrm>
          <a:prstGeom prst="rect">
            <a:avLst/>
          </a:prstGeom>
          <a:noFill/>
          <a:ln/>
        </p:spPr>
        <p:txBody>
          <a:bodyPr wrap="square" lIns="0" tIns="0" rIns="0" bIns="0" rtlCol="0" anchor="t"/>
          <a:lstStyle/>
          <a:p>
            <a:pPr marL="0" indent="0">
              <a:buNone/>
            </a:pPr>
            <a:r>
              <a:rPr lang="en-US" sz="2800" b="1" dirty="0">
                <a:solidFill>
                  <a:srgbClr val="2B0B5E"/>
                </a:solidFill>
                <a:latin typeface="Calibri" pitchFamily="34" charset="0"/>
                <a:ea typeface="Calibri" pitchFamily="34" charset="-122"/>
                <a:cs typeface="Calibri" pitchFamily="34" charset="-120"/>
              </a:rPr>
              <a:t>Non-Functional Requirements</a:t>
            </a:r>
            <a:endParaRPr lang="en-US" sz="2800" dirty="0"/>
          </a:p>
        </p:txBody>
      </p:sp>
      <p:sp>
        <p:nvSpPr>
          <p:cNvPr id="4" name="Text 2"/>
          <p:cNvSpPr txBox="1"/>
          <p:nvPr/>
        </p:nvSpPr>
        <p:spPr>
          <a:xfrm>
            <a:off x="8046720" y="292608"/>
            <a:ext cx="3685032" cy="256032"/>
          </a:xfrm>
          <a:prstGeom prst="rect">
            <a:avLst/>
          </a:prstGeom>
          <a:noFill/>
          <a:ln/>
        </p:spPr>
        <p:txBody>
          <a:bodyPr wrap="square" lIns="0" tIns="0" rIns="0" bIns="0" rtlCol="0" anchor="t"/>
          <a:lstStyle/>
          <a:p>
            <a:pPr marL="0" indent="0" algn="r">
              <a:buNone/>
            </a:pPr>
            <a:endParaRPr lang="en-US" sz="1100" dirty="0"/>
          </a:p>
        </p:txBody>
      </p:sp>
      <p:sp>
        <p:nvSpPr>
          <p:cNvPr id="5" name="Text 3"/>
          <p:cNvSpPr txBox="1"/>
          <p:nvPr/>
        </p:nvSpPr>
        <p:spPr>
          <a:xfrm>
            <a:off x="457200" y="6400800"/>
            <a:ext cx="3657600" cy="228600"/>
          </a:xfrm>
          <a:prstGeom prst="rect">
            <a:avLst/>
          </a:prstGeom>
          <a:noFill/>
          <a:ln/>
        </p:spPr>
        <p:txBody>
          <a:bodyPr wrap="square" lIns="0" tIns="0" rIns="0" bIns="0" rtlCol="0" anchor="t"/>
          <a:lstStyle/>
          <a:p>
            <a:pPr marL="0" indent="0">
              <a:buNone/>
            </a:pPr>
            <a:r>
              <a:rPr lang="en-US" sz="1000" dirty="0">
                <a:solidFill>
                  <a:srgbClr val="6B6B78"/>
                </a:solidFill>
                <a:latin typeface="Calibri" pitchFamily="34" charset="0"/>
                <a:ea typeface="Calibri" pitchFamily="34" charset="-122"/>
                <a:cs typeface="Calibri" pitchFamily="34" charset="-120"/>
              </a:rPr>
              <a:t>PropBot · SRS Presentation   45</a:t>
            </a:r>
            <a:endParaRPr lang="en-US" sz="1000" dirty="0"/>
          </a:p>
        </p:txBody>
      </p:sp>
      <p:sp>
        <p:nvSpPr>
          <p:cNvPr id="6" name="Shape 4"/>
          <p:cNvSpPr/>
          <p:nvPr/>
        </p:nvSpPr>
        <p:spPr>
          <a:xfrm>
            <a:off x="457200" y="1234440"/>
            <a:ext cx="5559552" cy="2377440"/>
          </a:xfrm>
          <a:prstGeom prst="roundRect">
            <a:avLst>
              <a:gd name="adj" fmla="val 3846"/>
            </a:avLst>
          </a:prstGeom>
          <a:solidFill>
            <a:srgbClr val="FFFFFF"/>
          </a:solidFill>
          <a:ln w="12700">
            <a:solidFill>
              <a:srgbClr val="E6E5EC"/>
            </a:solidFill>
            <a:prstDash val="solid"/>
          </a:ln>
        </p:spPr>
        <p:txBody>
          <a:bodyPr/>
          <a:lstStyle/>
          <a:p>
            <a:endParaRPr lang="en-PK"/>
          </a:p>
        </p:txBody>
      </p:sp>
      <p:sp>
        <p:nvSpPr>
          <p:cNvPr id="7" name="Text 5"/>
          <p:cNvSpPr txBox="1"/>
          <p:nvPr/>
        </p:nvSpPr>
        <p:spPr>
          <a:xfrm>
            <a:off x="658368" y="1362456"/>
            <a:ext cx="2743200" cy="347472"/>
          </a:xfrm>
          <a:prstGeom prst="rect">
            <a:avLst/>
          </a:prstGeom>
          <a:noFill/>
          <a:ln/>
        </p:spPr>
        <p:txBody>
          <a:bodyPr wrap="square" lIns="0" tIns="0" rIns="0" bIns="0" rtlCol="0" anchor="t"/>
          <a:lstStyle/>
          <a:p>
            <a:pPr marL="0" indent="0">
              <a:buNone/>
            </a:pPr>
            <a:r>
              <a:rPr lang="en-US" sz="1800" b="1" dirty="0">
                <a:solidFill>
                  <a:srgbClr val="2B0B5E"/>
                </a:solidFill>
                <a:latin typeface="Calibri" pitchFamily="34" charset="0"/>
                <a:ea typeface="Calibri" pitchFamily="34" charset="-122"/>
                <a:cs typeface="Calibri" pitchFamily="34" charset="-120"/>
              </a:rPr>
              <a:t>Performance</a:t>
            </a:r>
            <a:endParaRPr lang="en-US" sz="1800" dirty="0"/>
          </a:p>
        </p:txBody>
      </p:sp>
      <p:sp>
        <p:nvSpPr>
          <p:cNvPr id="8" name="Text 6"/>
          <p:cNvSpPr txBox="1"/>
          <p:nvPr/>
        </p:nvSpPr>
        <p:spPr>
          <a:xfrm>
            <a:off x="2834640" y="1389888"/>
            <a:ext cx="3017520" cy="292608"/>
          </a:xfrm>
          <a:prstGeom prst="rect">
            <a:avLst/>
          </a:prstGeom>
          <a:noFill/>
          <a:ln/>
        </p:spPr>
        <p:txBody>
          <a:bodyPr wrap="square" lIns="0" tIns="0" rIns="0" bIns="0" rtlCol="0" anchor="t"/>
          <a:lstStyle/>
          <a:p>
            <a:pPr marL="0" indent="0" algn="r">
              <a:buNone/>
            </a:pPr>
            <a:r>
              <a:rPr lang="en-US" sz="1100" b="1" dirty="0">
                <a:solidFill>
                  <a:srgbClr val="4B1FA0"/>
                </a:solidFill>
                <a:latin typeface="Calibri" pitchFamily="34" charset="0"/>
                <a:ea typeface="Calibri" pitchFamily="34" charset="-122"/>
                <a:cs typeface="Calibri" pitchFamily="34" charset="-120"/>
              </a:rPr>
              <a:t>Fast enough to use during a bid</a:t>
            </a:r>
            <a:endParaRPr lang="en-US" sz="1100" dirty="0"/>
          </a:p>
        </p:txBody>
      </p:sp>
      <p:sp>
        <p:nvSpPr>
          <p:cNvPr id="9" name="Text 7"/>
          <p:cNvSpPr txBox="1"/>
          <p:nvPr/>
        </p:nvSpPr>
        <p:spPr>
          <a:xfrm>
            <a:off x="658368" y="1801368"/>
            <a:ext cx="5166360" cy="1764792"/>
          </a:xfrm>
          <a:prstGeom prst="rect">
            <a:avLst/>
          </a:prstGeom>
          <a:noFill/>
          <a:ln/>
        </p:spPr>
        <p:txBody>
          <a:bodyPr wrap="square" lIns="0" tIns="0" rIns="0" bIns="0" rtlCol="0" anchor="t"/>
          <a:lstStyle/>
          <a:p>
            <a:pPr marL="177800" indent="-177800">
              <a:spcAft>
                <a:spcPts val="800"/>
              </a:spcAft>
              <a:buSzPct val="100000"/>
              <a:buChar char="•"/>
            </a:pPr>
            <a:r>
              <a:rPr lang="en-US" sz="1450" dirty="0">
                <a:solidFill>
                  <a:srgbClr val="1A1A22"/>
                </a:solidFill>
                <a:latin typeface="Calibri" pitchFamily="34" charset="0"/>
                <a:ea typeface="Calibri" pitchFamily="34" charset="-122"/>
                <a:cs typeface="Calibri" pitchFamily="34" charset="-120"/>
              </a:rPr>
              <a:t>Sections shown in 60 s; full extraction in 180 s (100-page text RFP)</a:t>
            </a:r>
            <a:endParaRPr lang="en-US" sz="1450" dirty="0"/>
          </a:p>
          <a:p>
            <a:pPr marL="177800" indent="-177800">
              <a:spcAft>
                <a:spcPts val="800"/>
              </a:spcAft>
              <a:buSzPct val="100000"/>
              <a:buChar char="•"/>
            </a:pPr>
            <a:r>
              <a:rPr lang="en-US" sz="1450" dirty="0">
                <a:solidFill>
                  <a:srgbClr val="1A1A22"/>
                </a:solidFill>
                <a:latin typeface="Calibri" pitchFamily="34" charset="0"/>
                <a:ea typeface="Calibri" pitchFamily="34" charset="-122"/>
                <a:cs typeface="Calibri" pitchFamily="34" charset="-120"/>
              </a:rPr>
              <a:t>Compliance for 100 rows × 3 models in 30 s</a:t>
            </a:r>
            <a:endParaRPr lang="en-US" sz="1450" dirty="0"/>
          </a:p>
          <a:p>
            <a:pPr marL="177800" indent="-177800">
              <a:spcAft>
                <a:spcPts val="800"/>
              </a:spcAft>
              <a:buSzPct val="100000"/>
              <a:buChar char="•"/>
            </a:pPr>
            <a:r>
              <a:rPr lang="en-US" sz="1450" dirty="0">
                <a:solidFill>
                  <a:srgbClr val="1A1A22"/>
                </a:solidFill>
                <a:latin typeface="Calibri" pitchFamily="34" charset="0"/>
                <a:ea typeface="Calibri" pitchFamily="34" charset="-122"/>
                <a:cs typeface="Calibri" pitchFamily="34" charset="-120"/>
              </a:rPr>
              <a:t>4-section proposal in 60 s (parallel calls); vault search in 3 s</a:t>
            </a:r>
            <a:endParaRPr lang="en-US" sz="1450" dirty="0"/>
          </a:p>
          <a:p>
            <a:pPr marL="177800" indent="-177800">
              <a:spcAft>
                <a:spcPts val="800"/>
              </a:spcAft>
              <a:buSzPct val="100000"/>
              <a:buChar char="•"/>
            </a:pPr>
            <a:r>
              <a:rPr lang="en-US" sz="1450" dirty="0">
                <a:solidFill>
                  <a:srgbClr val="1A1A22"/>
                </a:solidFill>
                <a:latin typeface="Calibri" pitchFamily="34" charset="0"/>
                <a:ea typeface="Calibri" pitchFamily="34" charset="-122"/>
                <a:cs typeface="Calibri" pitchFamily="34" charset="-120"/>
              </a:rPr>
              <a:t>Login and token checks in 500 ms with 20 users</a:t>
            </a:r>
            <a:endParaRPr lang="en-US" sz="1450" dirty="0"/>
          </a:p>
        </p:txBody>
      </p:sp>
      <p:sp>
        <p:nvSpPr>
          <p:cNvPr id="10" name="Shape 8"/>
          <p:cNvSpPr/>
          <p:nvPr/>
        </p:nvSpPr>
        <p:spPr>
          <a:xfrm>
            <a:off x="6172200" y="1234440"/>
            <a:ext cx="5559552" cy="2377440"/>
          </a:xfrm>
          <a:prstGeom prst="roundRect">
            <a:avLst>
              <a:gd name="adj" fmla="val 3846"/>
            </a:avLst>
          </a:prstGeom>
          <a:solidFill>
            <a:srgbClr val="F4F0FB"/>
          </a:solidFill>
          <a:ln w="12700">
            <a:solidFill>
              <a:srgbClr val="E6E5EC"/>
            </a:solidFill>
            <a:prstDash val="solid"/>
          </a:ln>
        </p:spPr>
        <p:txBody>
          <a:bodyPr/>
          <a:lstStyle/>
          <a:p>
            <a:endParaRPr lang="en-PK"/>
          </a:p>
        </p:txBody>
      </p:sp>
      <p:sp>
        <p:nvSpPr>
          <p:cNvPr id="11" name="Text 9"/>
          <p:cNvSpPr txBox="1"/>
          <p:nvPr/>
        </p:nvSpPr>
        <p:spPr>
          <a:xfrm>
            <a:off x="6373368" y="1362456"/>
            <a:ext cx="2743200" cy="347472"/>
          </a:xfrm>
          <a:prstGeom prst="rect">
            <a:avLst/>
          </a:prstGeom>
          <a:noFill/>
          <a:ln/>
        </p:spPr>
        <p:txBody>
          <a:bodyPr wrap="square" lIns="0" tIns="0" rIns="0" bIns="0" rtlCol="0" anchor="t"/>
          <a:lstStyle/>
          <a:p>
            <a:pPr marL="0" indent="0">
              <a:buNone/>
            </a:pPr>
            <a:r>
              <a:rPr lang="en-US" sz="1800" b="1" dirty="0">
                <a:solidFill>
                  <a:srgbClr val="2B0B5E"/>
                </a:solidFill>
                <a:latin typeface="Calibri" pitchFamily="34" charset="0"/>
                <a:ea typeface="Calibri" pitchFamily="34" charset="-122"/>
                <a:cs typeface="Calibri" pitchFamily="34" charset="-120"/>
              </a:rPr>
              <a:t>Security</a:t>
            </a:r>
            <a:endParaRPr lang="en-US" sz="1800" dirty="0"/>
          </a:p>
        </p:txBody>
      </p:sp>
      <p:sp>
        <p:nvSpPr>
          <p:cNvPr id="12" name="Text 10"/>
          <p:cNvSpPr txBox="1"/>
          <p:nvPr/>
        </p:nvSpPr>
        <p:spPr>
          <a:xfrm>
            <a:off x="8549640" y="1389888"/>
            <a:ext cx="3017520" cy="292608"/>
          </a:xfrm>
          <a:prstGeom prst="rect">
            <a:avLst/>
          </a:prstGeom>
          <a:noFill/>
          <a:ln/>
        </p:spPr>
        <p:txBody>
          <a:bodyPr wrap="square" lIns="0" tIns="0" rIns="0" bIns="0" rtlCol="0" anchor="t"/>
          <a:lstStyle/>
          <a:p>
            <a:pPr marL="0" indent="0" algn="r">
              <a:buNone/>
            </a:pPr>
            <a:r>
              <a:rPr lang="en-US" sz="1100" b="1" dirty="0">
                <a:solidFill>
                  <a:srgbClr val="4B1FA0"/>
                </a:solidFill>
                <a:latin typeface="Calibri" pitchFamily="34" charset="0"/>
                <a:ea typeface="Calibri" pitchFamily="34" charset="-122"/>
                <a:cs typeface="Calibri" pitchFamily="34" charset="-120"/>
              </a:rPr>
              <a:t>Roles, isolation, safe uploads</a:t>
            </a:r>
            <a:endParaRPr lang="en-US" sz="1100" dirty="0"/>
          </a:p>
        </p:txBody>
      </p:sp>
      <p:sp>
        <p:nvSpPr>
          <p:cNvPr id="13" name="Text 11"/>
          <p:cNvSpPr txBox="1"/>
          <p:nvPr/>
        </p:nvSpPr>
        <p:spPr>
          <a:xfrm>
            <a:off x="6373368" y="1801368"/>
            <a:ext cx="5166360" cy="1764792"/>
          </a:xfrm>
          <a:prstGeom prst="rect">
            <a:avLst/>
          </a:prstGeom>
          <a:noFill/>
          <a:ln/>
        </p:spPr>
        <p:txBody>
          <a:bodyPr wrap="square" lIns="0" tIns="0" rIns="0" bIns="0" rtlCol="0" anchor="t"/>
          <a:lstStyle/>
          <a:p>
            <a:pPr marL="177800" indent="-177800">
              <a:spcAft>
                <a:spcPts val="800"/>
              </a:spcAft>
              <a:buSzPct val="100000"/>
              <a:buChar char="•"/>
            </a:pPr>
            <a:r>
              <a:rPr lang="en-US" sz="1450" dirty="0">
                <a:solidFill>
                  <a:srgbClr val="1A1A22"/>
                </a:solidFill>
                <a:latin typeface="Calibri" pitchFamily="34" charset="0"/>
                <a:ea typeface="Calibri" pitchFamily="34" charset="-122"/>
                <a:cs typeface="Calibri" pitchFamily="34" charset="-120"/>
              </a:rPr>
              <a:t>5 roles; a refused request returns no data; companies fully isolated</a:t>
            </a:r>
            <a:endParaRPr lang="en-US" sz="1450" dirty="0"/>
          </a:p>
          <a:p>
            <a:pPr marL="177800" indent="-177800">
              <a:spcAft>
                <a:spcPts val="800"/>
              </a:spcAft>
              <a:buSzPct val="100000"/>
              <a:buChar char="•"/>
            </a:pPr>
            <a:r>
              <a:rPr lang="en-US" sz="1450" dirty="0">
                <a:solidFill>
                  <a:srgbClr val="1A1A22"/>
                </a:solidFill>
                <a:latin typeface="Calibri" pitchFamily="34" charset="0"/>
                <a:ea typeface="Calibri" pitchFamily="34" charset="-122"/>
                <a:cs typeface="Calibri" pitchFamily="34" charset="-120"/>
              </a:rPr>
              <a:t>No self-approval, even if the UI is bypassed</a:t>
            </a:r>
            <a:endParaRPr lang="en-US" sz="1450" dirty="0"/>
          </a:p>
          <a:p>
            <a:pPr marL="177800" indent="-177800">
              <a:spcAft>
                <a:spcPts val="800"/>
              </a:spcAft>
              <a:buSzPct val="100000"/>
              <a:buChar char="•"/>
            </a:pPr>
            <a:r>
              <a:rPr lang="en-US" sz="1450" dirty="0">
                <a:solidFill>
                  <a:srgbClr val="1A1A22"/>
                </a:solidFill>
                <a:latin typeface="Calibri" pitchFamily="34" charset="0"/>
                <a:ea typeface="Calibri" pitchFamily="34" charset="-122"/>
                <a:cs typeface="Calibri" pitchFamily="34" charset="-120"/>
              </a:rPr>
              <a:t>Lockout after 5 failed logins in 15 min; rate limits</a:t>
            </a:r>
            <a:endParaRPr lang="en-US" sz="1450" dirty="0"/>
          </a:p>
          <a:p>
            <a:pPr marL="177800" indent="-177800">
              <a:spcAft>
                <a:spcPts val="800"/>
              </a:spcAft>
              <a:buSzPct val="100000"/>
              <a:buChar char="•"/>
            </a:pPr>
            <a:r>
              <a:rPr lang="en-US" sz="1450" dirty="0">
                <a:solidFill>
                  <a:srgbClr val="1A1A22"/>
                </a:solidFill>
                <a:latin typeface="Calibri" pitchFamily="34" charset="0"/>
                <a:ea typeface="Calibri" pitchFamily="34" charset="-122"/>
                <a:cs typeface="Calibri" pitchFamily="34" charset="-120"/>
              </a:rPr>
              <a:t>Uploads type-checked and virus-scanned (ClamAV); HTTPS with TLS 1.2+</a:t>
            </a:r>
            <a:endParaRPr lang="en-US" sz="1450" dirty="0"/>
          </a:p>
        </p:txBody>
      </p:sp>
      <p:sp>
        <p:nvSpPr>
          <p:cNvPr id="14" name="Shape 12"/>
          <p:cNvSpPr/>
          <p:nvPr/>
        </p:nvSpPr>
        <p:spPr>
          <a:xfrm>
            <a:off x="457200" y="3749040"/>
            <a:ext cx="5559552" cy="2377440"/>
          </a:xfrm>
          <a:prstGeom prst="roundRect">
            <a:avLst>
              <a:gd name="adj" fmla="val 3846"/>
            </a:avLst>
          </a:prstGeom>
          <a:solidFill>
            <a:srgbClr val="F4F0FB"/>
          </a:solidFill>
          <a:ln w="12700">
            <a:solidFill>
              <a:srgbClr val="E6E5EC"/>
            </a:solidFill>
            <a:prstDash val="solid"/>
          </a:ln>
        </p:spPr>
        <p:txBody>
          <a:bodyPr/>
          <a:lstStyle/>
          <a:p>
            <a:endParaRPr lang="en-PK"/>
          </a:p>
        </p:txBody>
      </p:sp>
      <p:sp>
        <p:nvSpPr>
          <p:cNvPr id="15" name="Text 13"/>
          <p:cNvSpPr txBox="1"/>
          <p:nvPr/>
        </p:nvSpPr>
        <p:spPr>
          <a:xfrm>
            <a:off x="658368" y="3877056"/>
            <a:ext cx="2743200" cy="347472"/>
          </a:xfrm>
          <a:prstGeom prst="rect">
            <a:avLst/>
          </a:prstGeom>
          <a:noFill/>
          <a:ln/>
        </p:spPr>
        <p:txBody>
          <a:bodyPr wrap="square" lIns="0" tIns="0" rIns="0" bIns="0" rtlCol="0" anchor="t"/>
          <a:lstStyle/>
          <a:p>
            <a:pPr marL="0" indent="0">
              <a:buNone/>
            </a:pPr>
            <a:r>
              <a:rPr lang="en-US" sz="1800" b="1" dirty="0">
                <a:solidFill>
                  <a:srgbClr val="2B0B5E"/>
                </a:solidFill>
                <a:latin typeface="Calibri" pitchFamily="34" charset="0"/>
                <a:ea typeface="Calibri" pitchFamily="34" charset="-122"/>
                <a:cs typeface="Calibri" pitchFamily="34" charset="-120"/>
              </a:rPr>
              <a:t>Usability</a:t>
            </a:r>
            <a:endParaRPr lang="en-US" sz="1800" dirty="0"/>
          </a:p>
        </p:txBody>
      </p:sp>
      <p:sp>
        <p:nvSpPr>
          <p:cNvPr id="16" name="Text 14"/>
          <p:cNvSpPr txBox="1"/>
          <p:nvPr/>
        </p:nvSpPr>
        <p:spPr>
          <a:xfrm>
            <a:off x="2834640" y="3904488"/>
            <a:ext cx="3017520" cy="292608"/>
          </a:xfrm>
          <a:prstGeom prst="rect">
            <a:avLst/>
          </a:prstGeom>
          <a:noFill/>
          <a:ln/>
        </p:spPr>
        <p:txBody>
          <a:bodyPr wrap="square" lIns="0" tIns="0" rIns="0" bIns="0" rtlCol="0" anchor="t"/>
          <a:lstStyle/>
          <a:p>
            <a:pPr marL="0" indent="0" algn="r">
              <a:buNone/>
            </a:pPr>
            <a:r>
              <a:rPr lang="en-US" sz="1100" b="1" dirty="0">
                <a:solidFill>
                  <a:srgbClr val="4B1FA0"/>
                </a:solidFill>
                <a:latin typeface="Calibri" pitchFamily="34" charset="0"/>
                <a:ea typeface="Calibri" pitchFamily="34" charset="-122"/>
                <a:cs typeface="Calibri" pitchFamily="34" charset="-120"/>
              </a:rPr>
              <a:t>Easy to act on</a:t>
            </a:r>
            <a:endParaRPr lang="en-US" sz="1100" dirty="0"/>
          </a:p>
        </p:txBody>
      </p:sp>
      <p:sp>
        <p:nvSpPr>
          <p:cNvPr id="17" name="Text 15"/>
          <p:cNvSpPr txBox="1"/>
          <p:nvPr/>
        </p:nvSpPr>
        <p:spPr>
          <a:xfrm>
            <a:off x="658368" y="4315968"/>
            <a:ext cx="5166360" cy="1764792"/>
          </a:xfrm>
          <a:prstGeom prst="rect">
            <a:avLst/>
          </a:prstGeom>
          <a:noFill/>
          <a:ln/>
        </p:spPr>
        <p:txBody>
          <a:bodyPr wrap="square" lIns="0" tIns="0" rIns="0" bIns="0" rtlCol="0" anchor="t"/>
          <a:lstStyle/>
          <a:p>
            <a:pPr marL="177800" indent="-177800">
              <a:spcAft>
                <a:spcPts val="800"/>
              </a:spcAft>
              <a:buSzPct val="100000"/>
              <a:buChar char="•"/>
            </a:pPr>
            <a:r>
              <a:rPr lang="en-US" sz="1450" dirty="0">
                <a:solidFill>
                  <a:srgbClr val="1A1A22"/>
                </a:solidFill>
                <a:latin typeface="Calibri" pitchFamily="34" charset="0"/>
                <a:ea typeface="Calibri" pitchFamily="34" charset="-122"/>
                <a:cs typeface="Calibri" pitchFamily="34" charset="-120"/>
              </a:rPr>
              <a:t>One click or tap to mark a checklist item collected</a:t>
            </a:r>
            <a:endParaRPr lang="en-US" sz="1450" dirty="0"/>
          </a:p>
          <a:p>
            <a:pPr marL="177800" indent="-177800">
              <a:spcAft>
                <a:spcPts val="800"/>
              </a:spcAft>
              <a:buSzPct val="100000"/>
              <a:buChar char="•"/>
            </a:pPr>
            <a:r>
              <a:rPr lang="en-US" sz="1450" dirty="0">
                <a:solidFill>
                  <a:srgbClr val="1A1A22"/>
                </a:solidFill>
                <a:latin typeface="Calibri" pitchFamily="34" charset="0"/>
                <a:ea typeface="Calibri" pitchFamily="34" charset="-122"/>
                <a:cs typeface="Calibri" pitchFamily="34" charset="-120"/>
              </a:rPr>
              <a:t>Status is never shown by colour alone (FC / PC / NC labels)</a:t>
            </a:r>
            <a:endParaRPr lang="en-US" sz="1450" dirty="0"/>
          </a:p>
          <a:p>
            <a:pPr marL="177800" indent="-177800">
              <a:spcAft>
                <a:spcPts val="800"/>
              </a:spcAft>
              <a:buSzPct val="100000"/>
              <a:buChar char="•"/>
            </a:pPr>
            <a:r>
              <a:rPr lang="en-US" sz="1450" dirty="0">
                <a:solidFill>
                  <a:srgbClr val="1A1A22"/>
                </a:solidFill>
                <a:latin typeface="Calibri" pitchFamily="34" charset="0"/>
                <a:ea typeface="Calibri" pitchFamily="34" charset="-122"/>
                <a:cs typeface="Calibri" pitchFamily="34" charset="-120"/>
              </a:rPr>
              <a:t>Progress shown for any task longer than 5 s</a:t>
            </a:r>
            <a:endParaRPr lang="en-US" sz="1450" dirty="0"/>
          </a:p>
          <a:p>
            <a:pPr marL="177800" indent="-177800">
              <a:spcAft>
                <a:spcPts val="800"/>
              </a:spcAft>
              <a:buSzPct val="100000"/>
              <a:buChar char="•"/>
            </a:pPr>
            <a:r>
              <a:rPr lang="en-US" sz="1450" dirty="0">
                <a:solidFill>
                  <a:srgbClr val="1A1A22"/>
                </a:solidFill>
                <a:latin typeface="Calibri" pitchFamily="34" charset="0"/>
                <a:ea typeface="Calibri" pitchFamily="34" charset="-122"/>
                <a:cs typeface="Calibri" pitchFamily="34" charset="-120"/>
              </a:rPr>
              <a:t>Mobile shows only the functions of the user’s role</a:t>
            </a:r>
            <a:endParaRPr lang="en-US" sz="1450" dirty="0"/>
          </a:p>
        </p:txBody>
      </p:sp>
      <p:sp>
        <p:nvSpPr>
          <p:cNvPr id="18" name="Shape 16"/>
          <p:cNvSpPr/>
          <p:nvPr/>
        </p:nvSpPr>
        <p:spPr>
          <a:xfrm>
            <a:off x="6172200" y="3749040"/>
            <a:ext cx="5559552" cy="2377440"/>
          </a:xfrm>
          <a:prstGeom prst="roundRect">
            <a:avLst>
              <a:gd name="adj" fmla="val 3846"/>
            </a:avLst>
          </a:prstGeom>
          <a:solidFill>
            <a:srgbClr val="FFFFFF"/>
          </a:solidFill>
          <a:ln w="12700">
            <a:solidFill>
              <a:srgbClr val="E6E5EC"/>
            </a:solidFill>
            <a:prstDash val="solid"/>
          </a:ln>
        </p:spPr>
        <p:txBody>
          <a:bodyPr/>
          <a:lstStyle/>
          <a:p>
            <a:endParaRPr lang="en-PK"/>
          </a:p>
        </p:txBody>
      </p:sp>
      <p:sp>
        <p:nvSpPr>
          <p:cNvPr id="19" name="Text 17"/>
          <p:cNvSpPr txBox="1"/>
          <p:nvPr/>
        </p:nvSpPr>
        <p:spPr>
          <a:xfrm>
            <a:off x="6373368" y="3877056"/>
            <a:ext cx="2743200" cy="347472"/>
          </a:xfrm>
          <a:prstGeom prst="rect">
            <a:avLst/>
          </a:prstGeom>
          <a:noFill/>
          <a:ln/>
        </p:spPr>
        <p:txBody>
          <a:bodyPr wrap="square" lIns="0" tIns="0" rIns="0" bIns="0" rtlCol="0" anchor="t"/>
          <a:lstStyle/>
          <a:p>
            <a:pPr marL="0" indent="0">
              <a:buNone/>
            </a:pPr>
            <a:r>
              <a:rPr lang="en-US" sz="1800" b="1" dirty="0">
                <a:solidFill>
                  <a:srgbClr val="2B0B5E"/>
                </a:solidFill>
                <a:latin typeface="Calibri" pitchFamily="34" charset="0"/>
                <a:ea typeface="Calibri" pitchFamily="34" charset="-122"/>
                <a:cs typeface="Calibri" pitchFamily="34" charset="-120"/>
              </a:rPr>
              <a:t>Reliability</a:t>
            </a:r>
            <a:endParaRPr lang="en-US" sz="1800" dirty="0"/>
          </a:p>
        </p:txBody>
      </p:sp>
      <p:sp>
        <p:nvSpPr>
          <p:cNvPr id="20" name="Text 18"/>
          <p:cNvSpPr txBox="1"/>
          <p:nvPr/>
        </p:nvSpPr>
        <p:spPr>
          <a:xfrm>
            <a:off x="8549640" y="3904488"/>
            <a:ext cx="3017520" cy="292608"/>
          </a:xfrm>
          <a:prstGeom prst="rect">
            <a:avLst/>
          </a:prstGeom>
          <a:noFill/>
          <a:ln/>
        </p:spPr>
        <p:txBody>
          <a:bodyPr wrap="square" lIns="0" tIns="0" rIns="0" bIns="0" rtlCol="0" anchor="t"/>
          <a:lstStyle/>
          <a:p>
            <a:pPr marL="0" indent="0" algn="r">
              <a:buNone/>
            </a:pPr>
            <a:r>
              <a:rPr lang="en-US" sz="1100" b="1" dirty="0">
                <a:solidFill>
                  <a:srgbClr val="4B1FA0"/>
                </a:solidFill>
                <a:latin typeface="Calibri" pitchFamily="34" charset="0"/>
                <a:ea typeface="Calibri" pitchFamily="34" charset="-122"/>
                <a:cs typeface="Calibri" pitchFamily="34" charset="-120"/>
              </a:rPr>
              <a:t>Recoverable and fail-safe</a:t>
            </a:r>
            <a:endParaRPr lang="en-US" sz="1100" dirty="0"/>
          </a:p>
        </p:txBody>
      </p:sp>
      <p:sp>
        <p:nvSpPr>
          <p:cNvPr id="21" name="Text 19"/>
          <p:cNvSpPr txBox="1"/>
          <p:nvPr/>
        </p:nvSpPr>
        <p:spPr>
          <a:xfrm>
            <a:off x="6373368" y="4315968"/>
            <a:ext cx="5166360" cy="1764792"/>
          </a:xfrm>
          <a:prstGeom prst="rect">
            <a:avLst/>
          </a:prstGeom>
          <a:noFill/>
          <a:ln/>
        </p:spPr>
        <p:txBody>
          <a:bodyPr wrap="square" lIns="0" tIns="0" rIns="0" bIns="0" rtlCol="0" anchor="t"/>
          <a:lstStyle/>
          <a:p>
            <a:pPr marL="177800" indent="-177800">
              <a:spcAft>
                <a:spcPts val="800"/>
              </a:spcAft>
              <a:buSzPct val="100000"/>
              <a:buChar char="•"/>
            </a:pPr>
            <a:r>
              <a:rPr lang="en-US" sz="1450" dirty="0">
                <a:solidFill>
                  <a:srgbClr val="1A1A22"/>
                </a:solidFill>
                <a:latin typeface="Calibri" pitchFamily="34" charset="0"/>
                <a:ea typeface="Calibri" pitchFamily="34" charset="-122"/>
                <a:cs typeface="Calibri" pitchFamily="34" charset="-120"/>
              </a:rPr>
              <a:t>99% uptime in office hours; automatic restart within 5 min</a:t>
            </a:r>
            <a:endParaRPr lang="en-US" sz="1450" dirty="0"/>
          </a:p>
          <a:p>
            <a:pPr marL="177800" indent="-177800">
              <a:spcAft>
                <a:spcPts val="800"/>
              </a:spcAft>
              <a:buSzPct val="100000"/>
              <a:buChar char="•"/>
            </a:pPr>
            <a:r>
              <a:rPr lang="en-US" sz="1450" dirty="0">
                <a:solidFill>
                  <a:srgbClr val="1A1A22"/>
                </a:solidFill>
                <a:latin typeface="Calibri" pitchFamily="34" charset="0"/>
                <a:ea typeface="Calibri" pitchFamily="34" charset="-122"/>
                <a:cs typeface="Calibri" pitchFamily="34" charset="-120"/>
              </a:rPr>
              <a:t>Daily backups kept 14 days; RPO 24 h, RTO 4 h</a:t>
            </a:r>
            <a:endParaRPr lang="en-US" sz="1450" dirty="0"/>
          </a:p>
          <a:p>
            <a:pPr marL="177800" indent="-177800">
              <a:spcAft>
                <a:spcPts val="800"/>
              </a:spcAft>
              <a:buSzPct val="100000"/>
              <a:buChar char="•"/>
            </a:pPr>
            <a:r>
              <a:rPr lang="en-US" sz="1450" dirty="0">
                <a:solidFill>
                  <a:srgbClr val="1A1A22"/>
                </a:solidFill>
                <a:latin typeface="Calibri" pitchFamily="34" charset="0"/>
                <a:ea typeface="Calibri" pitchFamily="34" charset="-122"/>
                <a:cs typeface="Calibri" pitchFamily="34" charset="-120"/>
              </a:rPr>
              <a:t>A failed AI step never overwrites saved work</a:t>
            </a:r>
            <a:endParaRPr lang="en-US" sz="1450" dirty="0"/>
          </a:p>
          <a:p>
            <a:pPr marL="177800" indent="-177800">
              <a:spcAft>
                <a:spcPts val="800"/>
              </a:spcAft>
              <a:buSzPct val="100000"/>
              <a:buChar char="•"/>
            </a:pPr>
            <a:r>
              <a:rPr lang="en-US" sz="1450" dirty="0">
                <a:solidFill>
                  <a:srgbClr val="1A1A22"/>
                </a:solidFill>
                <a:latin typeface="Calibri" pitchFamily="34" charset="0"/>
                <a:ea typeface="Calibri" pitchFamily="34" charset="-122"/>
                <a:cs typeface="Calibri" pitchFamily="34" charset="-120"/>
              </a:rPr>
              <a:t>OpenAI outage: error and retry; non-AI features keep working</a:t>
            </a:r>
            <a:endParaRPr lang="en-US" sz="1450" dirty="0"/>
          </a:p>
        </p:txBody>
      </p:sp>
      <p:sp>
        <p:nvSpPr>
          <p:cNvPr id="22" name="Text 20">
            <a:hlinkClick r:id="" action="ppaction://noaction"/>
          </p:cNvPr>
          <p:cNvSpPr/>
          <p:nvPr/>
        </p:nvSpPr>
        <p:spPr>
          <a:xfrm>
            <a:off x="8826703"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 action="ppaction://noaction"/>
              </a:rPr>
              <a:t>← Back</a:t>
            </a:r>
            <a:endParaRPr lang="en-US" sz="1100" dirty="0"/>
          </a:p>
        </p:txBody>
      </p:sp>
      <p:sp>
        <p:nvSpPr>
          <p:cNvPr id="23" name="Text 21">
            <a:hlinkClick r:id="rId3" action="ppaction://hlinksldjump" tooltip="Contents"/>
          </p:cNvPr>
          <p:cNvSpPr/>
          <p:nvPr/>
        </p:nvSpPr>
        <p:spPr>
          <a:xfrm>
            <a:off x="9805111" y="6355080"/>
            <a:ext cx="950976"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Contents</a:t>
            </a:r>
            <a:endParaRPr lang="en-US" sz="1100" dirty="0"/>
          </a:p>
        </p:txBody>
      </p:sp>
      <p:sp>
        <p:nvSpPr>
          <p:cNvPr id="24" name="Text 22">
            <a:hlinkClick r:id="rId4" action="ppaction://hlinksldjump" tooltip="Next"/>
          </p:cNvPr>
          <p:cNvSpPr/>
          <p:nvPr/>
        </p:nvSpPr>
        <p:spPr>
          <a:xfrm>
            <a:off x="10865815" y="6355080"/>
            <a:ext cx="868680" cy="310896"/>
          </a:xfrm>
          <a:prstGeom prst="roundRect">
            <a:avLst>
              <a:gd name="adj" fmla="val 23529"/>
            </a:avLst>
          </a:prstGeom>
          <a:solidFill>
            <a:srgbClr val="FFFFFF"/>
          </a:solidFill>
          <a:ln w="12700">
            <a:solidFill>
              <a:srgbClr val="4B1FA0"/>
            </a:solidFill>
          </a:ln>
        </p:spPr>
        <p:txBody>
          <a:bodyPr wrap="square" lIns="0" tIns="0" rIns="0" bIns="0" rtlCol="0" anchor="ctr"/>
          <a:lstStyle/>
          <a:p>
            <a:pPr marL="0" indent="0" algn="ctr">
              <a:buNone/>
            </a:pPr>
            <a:r>
              <a:rPr lang="en-US" sz="1100" b="1" u="none" dirty="0">
                <a:solidFill>
                  <a:srgbClr val="4B1FA0"/>
                </a:solidFill>
                <a:latin typeface="Calibri" pitchFamily="34" charset="0"/>
                <a:ea typeface="Calibri" pitchFamily="34" charset="-122"/>
                <a:cs typeface="Calibri" pitchFamily="34" charset="-120"/>
                <a:hlinkClick r:id="rId4" action="ppaction://hlinksldjump" tooltip="Next">
                  <a:extLst>
                    <a:ext uri="{A12FA001-AC4F-418D-AE19-62706E023703}">
                      <ahyp:hlinkClr xmlns:ahyp="http://schemas.microsoft.com/office/drawing/2018/hyperlinkcolor" val="tx"/>
                    </a:ext>
                  </a:extLst>
                </a:hlinkClick>
              </a:rPr>
              <a:t>Next →</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2B0B5E"/>
        </a:solidFill>
        <a:effectLst/>
      </p:bgPr>
    </p:bg>
    <p:spTree>
      <p:nvGrpSpPr>
        <p:cNvPr id="1" name=""/>
        <p:cNvGrpSpPr/>
        <p:nvPr/>
      </p:nvGrpSpPr>
      <p:grpSpPr>
        <a:xfrm>
          <a:off x="0" y="0"/>
          <a:ext cx="0" cy="0"/>
          <a:chOff x="0" y="0"/>
          <a:chExt cx="0" cy="0"/>
        </a:xfrm>
      </p:grpSpPr>
      <p:sp>
        <p:nvSpPr>
          <p:cNvPr id="2" name="Shape 0"/>
          <p:cNvSpPr/>
          <p:nvPr/>
        </p:nvSpPr>
        <p:spPr>
          <a:xfrm>
            <a:off x="7863840" y="0"/>
            <a:ext cx="4327855" cy="6858000"/>
          </a:xfrm>
          <a:prstGeom prst="rect">
            <a:avLst/>
          </a:prstGeom>
          <a:solidFill>
            <a:srgbClr val="4B1FA0"/>
          </a:solidFill>
          <a:ln/>
        </p:spPr>
        <p:txBody>
          <a:bodyPr/>
          <a:lstStyle/>
          <a:p>
            <a:endParaRPr lang="en-PK"/>
          </a:p>
        </p:txBody>
      </p:sp>
      <p:sp>
        <p:nvSpPr>
          <p:cNvPr id="3" name="Text 1"/>
          <p:cNvSpPr txBox="1"/>
          <p:nvPr/>
        </p:nvSpPr>
        <p:spPr>
          <a:xfrm>
            <a:off x="640080" y="1463040"/>
            <a:ext cx="6858000" cy="274320"/>
          </a:xfrm>
          <a:prstGeom prst="rect">
            <a:avLst/>
          </a:prstGeom>
          <a:noFill/>
          <a:ln/>
        </p:spPr>
        <p:txBody>
          <a:bodyPr wrap="square" lIns="0" tIns="0" rIns="0" bIns="0" rtlCol="0" anchor="t"/>
          <a:lstStyle/>
          <a:p>
            <a:pPr marL="0" indent="0">
              <a:buNone/>
            </a:pPr>
            <a:r>
              <a:rPr lang="en-US" sz="1100" b="1" kern="0" spc="200" dirty="0">
                <a:solidFill>
                  <a:srgbClr val="C9B6F2"/>
                </a:solidFill>
                <a:latin typeface="Calibri" pitchFamily="34" charset="0"/>
                <a:ea typeface="Calibri" pitchFamily="34" charset="-122"/>
                <a:cs typeface="Calibri" pitchFamily="34" charset="-120"/>
              </a:rPr>
              <a:t>PROPBOT · SRS PRESENTATION</a:t>
            </a:r>
            <a:endParaRPr lang="en-US" sz="1100" dirty="0"/>
          </a:p>
        </p:txBody>
      </p:sp>
      <p:sp>
        <p:nvSpPr>
          <p:cNvPr id="4" name="Text 2"/>
          <p:cNvSpPr txBox="1"/>
          <p:nvPr/>
        </p:nvSpPr>
        <p:spPr>
          <a:xfrm>
            <a:off x="640080" y="2011680"/>
            <a:ext cx="6858000" cy="1005840"/>
          </a:xfrm>
          <a:prstGeom prst="rect">
            <a:avLst/>
          </a:prstGeom>
          <a:noFill/>
          <a:ln/>
        </p:spPr>
        <p:txBody>
          <a:bodyPr wrap="square" lIns="0" tIns="0" rIns="0" bIns="0" rtlCol="0" anchor="t"/>
          <a:lstStyle/>
          <a:p>
            <a:pPr marL="0" indent="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5" name="Text 3"/>
          <p:cNvSpPr txBox="1"/>
          <p:nvPr/>
        </p:nvSpPr>
        <p:spPr>
          <a:xfrm>
            <a:off x="640080" y="3063240"/>
            <a:ext cx="6858000" cy="548640"/>
          </a:xfrm>
          <a:prstGeom prst="rect">
            <a:avLst/>
          </a:prstGeom>
          <a:noFill/>
          <a:ln/>
        </p:spPr>
        <p:txBody>
          <a:bodyPr wrap="square" lIns="0" tIns="0" rIns="0" bIns="0" rtlCol="0" anchor="t"/>
          <a:lstStyle/>
          <a:p>
            <a:pPr marL="0" indent="0">
              <a:buNone/>
            </a:pPr>
            <a:r>
              <a:rPr lang="en-US" sz="2200" dirty="0">
                <a:solidFill>
                  <a:srgbClr val="E4DAF8"/>
                </a:solidFill>
                <a:latin typeface="Calibri" pitchFamily="34" charset="0"/>
                <a:ea typeface="Calibri" pitchFamily="34" charset="-122"/>
                <a:cs typeface="Calibri" pitchFamily="34" charset="-120"/>
              </a:rPr>
              <a:t>Questions are welcome</a:t>
            </a:r>
            <a:endParaRPr lang="en-US" sz="2200" dirty="0"/>
          </a:p>
        </p:txBody>
      </p:sp>
      <p:sp>
        <p:nvSpPr>
          <p:cNvPr id="6" name="Text 4"/>
          <p:cNvSpPr txBox="1"/>
          <p:nvPr/>
        </p:nvSpPr>
        <p:spPr>
          <a:xfrm>
            <a:off x="640080" y="4206240"/>
            <a:ext cx="6858000" cy="731520"/>
          </a:xfrm>
          <a:prstGeom prst="rect">
            <a:avLst/>
          </a:prstGeom>
          <a:noFill/>
          <a:ln/>
        </p:spPr>
        <p:txBody>
          <a:bodyPr wrap="square" lIns="0" tIns="0" rIns="0" bIns="0" rtlCol="0" anchor="t"/>
          <a:lstStyle/>
          <a:p>
            <a:pPr marL="0" indent="0">
              <a:buNone/>
            </a:pPr>
            <a:r>
              <a:rPr lang="en-US" sz="1400" dirty="0">
                <a:solidFill>
                  <a:srgbClr val="C9B6F2"/>
                </a:solidFill>
                <a:latin typeface="Calibri" pitchFamily="34" charset="0"/>
                <a:ea typeface="Calibri" pitchFamily="34" charset="-122"/>
                <a:cs typeface="Calibri" pitchFamily="34" charset="-120"/>
              </a:rPr>
              <a:t>Alina Raza · Anna Munir · Ayesha Noor</a:t>
            </a:r>
            <a:endParaRPr lang="en-US" sz="1400" dirty="0"/>
          </a:p>
          <a:p>
            <a:pPr marL="0" indent="0">
              <a:buNone/>
            </a:pPr>
            <a:r>
              <a:rPr lang="en-US" sz="1400" dirty="0">
                <a:solidFill>
                  <a:srgbClr val="C9B6F2"/>
                </a:solidFill>
                <a:latin typeface="Calibri" pitchFamily="34" charset="0"/>
                <a:ea typeface="Calibri" pitchFamily="34" charset="-122"/>
                <a:cs typeface="Calibri" pitchFamily="34" charset="-120"/>
              </a:rPr>
              <a:t>Supervisor: Dr. Memoona Malik</a:t>
            </a:r>
            <a:endParaRPr lang="en-US" sz="1400" dirty="0"/>
          </a:p>
        </p:txBody>
      </p:sp>
      <p:sp>
        <p:nvSpPr>
          <p:cNvPr id="7" name="Text 5">
            <a:hlinkClick r:id="rId3" action="ppaction://hlinksldjump" tooltip="Contents"/>
          </p:cNvPr>
          <p:cNvSpPr/>
          <p:nvPr/>
        </p:nvSpPr>
        <p:spPr>
          <a:xfrm>
            <a:off x="8503920" y="2011680"/>
            <a:ext cx="2926080" cy="457200"/>
          </a:xfrm>
          <a:prstGeom prst="roundRect">
            <a:avLst>
              <a:gd name="adj" fmla="val 16000"/>
            </a:avLst>
          </a:prstGeom>
          <a:solidFill>
            <a:srgbClr val="FFFFFF"/>
          </a:solidFill>
          <a:ln/>
        </p:spPr>
        <p:txBody>
          <a:bodyPr wrap="square" lIns="0" tIns="0" rIns="0" bIns="0" rtlCol="0" anchor="ctr"/>
          <a:lstStyle/>
          <a:p>
            <a:pPr marL="0" indent="0" algn="ctr">
              <a:buNone/>
            </a:pPr>
            <a:r>
              <a:rPr lang="en-US" sz="1400" b="1" u="none" dirty="0">
                <a:solidFill>
                  <a:srgbClr val="2B0B5E"/>
                </a:solidFill>
                <a:latin typeface="Calibri" pitchFamily="34" charset="0"/>
                <a:ea typeface="Calibri" pitchFamily="34" charset="-122"/>
                <a:cs typeface="Calibri" pitchFamily="34" charset="-120"/>
                <a:hlinkClick r:id="rId3" action="ppaction://hlinksldjump" tooltip="Contents">
                  <a:extLst>
                    <a:ext uri="{A12FA001-AC4F-418D-AE19-62706E023703}">
                      <ahyp:hlinkClr xmlns:ahyp="http://schemas.microsoft.com/office/drawing/2018/hyperlinkcolor" val="tx"/>
                    </a:ext>
                  </a:extLst>
                </a:hlinkClick>
              </a:rPr>
              <a:t>Contents</a:t>
            </a:r>
            <a:endParaRPr lang="en-US" sz="1400" dirty="0"/>
          </a:p>
        </p:txBody>
      </p:sp>
      <p:sp>
        <p:nvSpPr>
          <p:cNvPr id="8" name="Text 6">
            <a:hlinkClick r:id="rId4" action="ppaction://hlinksldjump" tooltip="Use case diagram"/>
          </p:cNvPr>
          <p:cNvSpPr/>
          <p:nvPr/>
        </p:nvSpPr>
        <p:spPr>
          <a:xfrm>
            <a:off x="8503920" y="2697480"/>
            <a:ext cx="2926080" cy="457200"/>
          </a:xfrm>
          <a:prstGeom prst="roundRect">
            <a:avLst>
              <a:gd name="adj" fmla="val 16000"/>
            </a:avLst>
          </a:prstGeom>
          <a:solidFill>
            <a:srgbClr val="FFFFFF"/>
          </a:solidFill>
          <a:ln/>
        </p:spPr>
        <p:txBody>
          <a:bodyPr wrap="square" lIns="0" tIns="0" rIns="0" bIns="0" rtlCol="0" anchor="ctr"/>
          <a:lstStyle/>
          <a:p>
            <a:pPr marL="0" indent="0" algn="ctr">
              <a:buNone/>
            </a:pPr>
            <a:r>
              <a:rPr lang="en-US" sz="1400" b="1" u="none" dirty="0">
                <a:solidFill>
                  <a:srgbClr val="2B0B5E"/>
                </a:solidFill>
                <a:latin typeface="Calibri" pitchFamily="34" charset="0"/>
                <a:ea typeface="Calibri" pitchFamily="34" charset="-122"/>
                <a:cs typeface="Calibri" pitchFamily="34" charset="-120"/>
                <a:hlinkClick r:id="rId4" action="ppaction://hlinksldjump" tooltip="Use case diagram">
                  <a:extLst>
                    <a:ext uri="{A12FA001-AC4F-418D-AE19-62706E023703}">
                      <ahyp:hlinkClr xmlns:ahyp="http://schemas.microsoft.com/office/drawing/2018/hyperlinkcolor" val="tx"/>
                    </a:ext>
                  </a:extLst>
                </a:hlinkClick>
              </a:rPr>
              <a:t>Use case diagram</a:t>
            </a:r>
            <a:endParaRPr lang="en-US" sz="1400" dirty="0"/>
          </a:p>
        </p:txBody>
      </p:sp>
      <p:sp>
        <p:nvSpPr>
          <p:cNvPr id="9" name="Text 7">
            <a:hlinkClick r:id="rId5" action="ppaction://hlinksldjump" tooltip="Key mockups"/>
          </p:cNvPr>
          <p:cNvSpPr/>
          <p:nvPr/>
        </p:nvSpPr>
        <p:spPr>
          <a:xfrm>
            <a:off x="8503920" y="3383280"/>
            <a:ext cx="2926080" cy="457200"/>
          </a:xfrm>
          <a:prstGeom prst="roundRect">
            <a:avLst>
              <a:gd name="adj" fmla="val 16000"/>
            </a:avLst>
          </a:prstGeom>
          <a:solidFill>
            <a:srgbClr val="FFFFFF"/>
          </a:solidFill>
          <a:ln/>
        </p:spPr>
        <p:txBody>
          <a:bodyPr wrap="square" lIns="0" tIns="0" rIns="0" bIns="0" rtlCol="0" anchor="ctr"/>
          <a:lstStyle/>
          <a:p>
            <a:pPr marL="0" indent="0" algn="ctr">
              <a:buNone/>
            </a:pPr>
            <a:r>
              <a:rPr lang="en-US" sz="1400" b="1" u="none" dirty="0">
                <a:solidFill>
                  <a:srgbClr val="2B0B5E"/>
                </a:solidFill>
                <a:latin typeface="Calibri" pitchFamily="34" charset="0"/>
                <a:ea typeface="Calibri" pitchFamily="34" charset="-122"/>
                <a:cs typeface="Calibri" pitchFamily="34" charset="-120"/>
                <a:hlinkClick r:id="rId5" action="ppaction://hlinksldjump" tooltip="Key mockups">
                  <a:extLst>
                    <a:ext uri="{A12FA001-AC4F-418D-AE19-62706E023703}">
                      <ahyp:hlinkClr xmlns:ahyp="http://schemas.microsoft.com/office/drawing/2018/hyperlinkcolor" val="tx"/>
                    </a:ext>
                  </a:extLst>
                </a:hlinkClick>
              </a:rPr>
              <a:t>Key mockups</a:t>
            </a:r>
            <a:endParaRPr lang="en-US" sz="1400" dirty="0"/>
          </a:p>
        </p:txBody>
      </p:sp>
      <p:sp>
        <p:nvSpPr>
          <p:cNvPr id="10" name="Text 8">
            <a:hlinkClick r:id="rId6" action="ppaction://hlinksldjump" tooltip="Modules"/>
          </p:cNvPr>
          <p:cNvSpPr/>
          <p:nvPr/>
        </p:nvSpPr>
        <p:spPr>
          <a:xfrm>
            <a:off x="8503920" y="4069080"/>
            <a:ext cx="2926080" cy="457200"/>
          </a:xfrm>
          <a:prstGeom prst="roundRect">
            <a:avLst>
              <a:gd name="adj" fmla="val 16000"/>
            </a:avLst>
          </a:prstGeom>
          <a:solidFill>
            <a:srgbClr val="FFFFFF"/>
          </a:solidFill>
          <a:ln/>
        </p:spPr>
        <p:txBody>
          <a:bodyPr wrap="square" lIns="0" tIns="0" rIns="0" bIns="0" rtlCol="0" anchor="ctr"/>
          <a:lstStyle/>
          <a:p>
            <a:pPr marL="0" indent="0" algn="ctr">
              <a:buNone/>
            </a:pPr>
            <a:r>
              <a:rPr lang="en-US" sz="1400" b="1" u="none" dirty="0">
                <a:solidFill>
                  <a:srgbClr val="2B0B5E"/>
                </a:solidFill>
                <a:latin typeface="Calibri" pitchFamily="34" charset="0"/>
                <a:ea typeface="Calibri" pitchFamily="34" charset="-122"/>
                <a:cs typeface="Calibri" pitchFamily="34" charset="-120"/>
                <a:hlinkClick r:id="rId6" action="ppaction://hlinksldjump" tooltip="Modules">
                  <a:extLst>
                    <a:ext uri="{A12FA001-AC4F-418D-AE19-62706E023703}">
                      <ahyp:hlinkClr xmlns:ahyp="http://schemas.microsoft.com/office/drawing/2018/hyperlinkcolor" val="tx"/>
                    </a:ext>
                  </a:extLst>
                </a:hlinkClick>
              </a:rPr>
              <a:t>Modules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fa6f11e4-4dbf-4601-bfe8-16329fa244a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2669E8C9025834D9371F81F68034611" ma:contentTypeVersion="5" ma:contentTypeDescription="Create a new document." ma:contentTypeScope="" ma:versionID="66bedcdb286710ab449e20aa6919cf76">
  <xsd:schema xmlns:xsd="http://www.w3.org/2001/XMLSchema" xmlns:xs="http://www.w3.org/2001/XMLSchema" xmlns:p="http://schemas.microsoft.com/office/2006/metadata/properties" xmlns:ns3="fa6f11e4-4dbf-4601-bfe8-16329fa244a2" targetNamespace="http://schemas.microsoft.com/office/2006/metadata/properties" ma:root="true" ma:fieldsID="1e88a790e4b7c96861b54c62f3fd6216" ns3:_="">
    <xsd:import namespace="fa6f11e4-4dbf-4601-bfe8-16329fa244a2"/>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6f11e4-4dbf-4601-bfe8-16329fa244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565BB5-8F64-4B8F-AA98-1F971548315B}">
  <ds:schemaRefs>
    <ds:schemaRef ds:uri="http://schemas.microsoft.com/sharepoint/v3/contenttype/forms"/>
  </ds:schemaRefs>
</ds:datastoreItem>
</file>

<file path=customXml/itemProps2.xml><?xml version="1.0" encoding="utf-8"?>
<ds:datastoreItem xmlns:ds="http://schemas.openxmlformats.org/officeDocument/2006/customXml" ds:itemID="{5602CA1F-36F9-4060-8801-B2EB3F8D48FE}">
  <ds:schemaRefs>
    <ds:schemaRef ds:uri="fa6f11e4-4dbf-4601-bfe8-16329fa244a2"/>
    <ds:schemaRef ds:uri="http://schemas.microsoft.com/office/2006/documentManagement/types"/>
    <ds:schemaRef ds:uri="http://purl.org/dc/dcmitype/"/>
    <ds:schemaRef ds:uri="http://www.w3.org/XML/1998/namespace"/>
    <ds:schemaRef ds:uri="http://schemas.microsoft.com/office/infopath/2007/PartnerControls"/>
    <ds:schemaRef ds:uri="http://schemas.microsoft.com/office/2006/metadata/properties"/>
    <ds:schemaRef ds:uri="http://purl.org/dc/elements/1.1/"/>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4877977A-89A6-4FF6-B46D-6DA397FAAE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6f11e4-4dbf-4601-bfe8-16329fa244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TotalTime>
  <Words>7556</Words>
  <Application>Microsoft Office PowerPoint</Application>
  <PresentationFormat>Widescreen</PresentationFormat>
  <Paragraphs>1497</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PropBot SRS Presentation</dc:title>
  <dc:subject>PptxGenJS Presentation</dc:subject>
  <dc:creator>Alina Raza, Anna Munir, Ayesha Noor</dc:creator>
  <cp:lastModifiedBy>(FA23-BSE-015) ALINA RAZA</cp:lastModifiedBy>
  <cp:revision>3</cp:revision>
  <dcterms:created xsi:type="dcterms:W3CDTF">2026-10-28T22:12:45Z</dcterms:created>
  <dcterms:modified xsi:type="dcterms:W3CDTF">2026-10-28T22:27:50Z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0x010100D2669E8C9025834D9371F81F68034611</vt:lpwstr>
  </property>
</Properties>
</file>